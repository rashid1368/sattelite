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728" autoAdjust="0"/>
    <p:restoredTop sz="94610"/>
  </p:normalViewPr>
  <p:slideViewPr>
    <p:cSldViewPr snapToGrid="0" snapToObjects="1">
      <p:cViewPr varScale="1">
        <p:scale>
          <a:sx n="86" d="100"/>
          <a:sy n="86" d="100"/>
        </p:scale>
        <p:origin x="60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9671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بسم الله الرحمن الرحیم. سلام و عرض ادب خدمت اساتید محترم و حضار گرامی.</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عنوان پایان‌نامه: بررسی رابطه بین آسیب‌های دوران کودکی و سبک‌های هویتی با میانجی‌گری سبک‌های حل تعارض. استاد راهنما: دکتر فاطمه حسنی.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روانشناسی بالینی همواره به دنبال کشف عوامل مؤثر در شکل‌گیری شخصیت، هویت و سازوکارهای مقابله‌ای است. آسیب‌های دوران کودکی مانند بی‌توجهی هیجانی، طلاق والدین و سوءرفتار، علاوه بر تأثیر لحظه‌ای، در شکل‌گیری سازوکارهای روانی عمیق مانند سبک‌های هویتی و الگوهای حل تعارض اثرگذارند (شفلر و همکاران، ۲۰۱۹). افراد دارای هویت سردرگم در موقعیت‌های چالش‌برانگیز از راهبردهای ناسازگارانه‌تر استفاده می‌کنند (لویکس و همکاران، ۲۰۰۸). با این حال نقش میانجی‌گرانه سبک‌های حل تعارض هنوز روشن نیست. پرسش اصلی: آیا بین آسیب‌های کودکی و سبک‌های هویتی رابطه معنادار وجود دارد و آیا سبک‌های حل تعارض این رابطه را میانجی‌گری می‌کنند؟</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آسیب‌های روانشناختی دوران کودکی از مهم‌ترین عوامل خطر در تحول شخصیت هستند (تراکگیانی، ۲۰۲۵). این آسیب‌ها اغلب خاموش و نادیده گرفته می‌شوند (شرت و ریداوت، ۲۰۲۴). شناخت مسیر آسیب تا هویت از طریق حل تعارض به درمانگران در طراحی مداخلات CBT، طرحواره‌درمانی و ACT کمک می‌کند، در پیشگیری کاربرد دارد و در درمان اختلالات شخصیت مرزی و اجتنابی راهگشاست (رلینی و همکاران، ۲۰۱۲). از نظر علمی نیز مدل‌های سه‌متغیره میانجی کمتر آزموده شده‌اند.</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اصلی: تعیین نقش میانجی سبک‌های حل تعارض در رابطه بین آسیب‌های دوران کودکی و سبک‌های هویتی در دانشجویان. اهداف جزئی: تعیین رابطه آسیب‌های کودکی با سبک‌های هویتی، با سبک‌های حل تعارض، و رابطه سبک‌های هویتی با سبک‌های حل تعارض.</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فرضیه اصلی: سبک‌های حل تعارض در رابطه بین آسیب‌های دوران کودکی و سبک‌های هویتی نقش میانجی دارد. فرضیه‌های جزئی: ۱) آسیب‌های کودکی و سبک‌های هویتی رابطه معنادار دارند. ۲) آسیب‌های کودکی و سبک‌های حل تعارض رابطه معنادار دارند. ۳) سبک‌های هویتی و سبک‌های حل تعارض رابطه معنادار دارند.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آسیب‌های دوران کودکی متغیر مستقل، سبک‌های هویتی متغیر وابسته و سبک‌های حل تعارض متغیر میانجی هستند. تعاریف مفهومی از منابع نظری و تعاریف عملیاتی بر اساس نمره در پرسش‌نامه‌های استاندارد است.</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پژوهش حاضر از نظر هدف، بنیادی و از نظر روش، توصیفی‌ـ‌همبستگی است که با استفاده از مدل‌یابی معادلات ساختاری انجام شد. داده‌ها به روش پیمایشی و از طریق پرسش‌نامه‌های استاندارد جمع‌آوری شدند. جامعه آماری: دانشجویان شاغل به تحصیل در شهر تهران در سال تحصیلی ۱۴۰۴ تا ۱۴۰۵. در مجموع ۲۰۰ نفر شرکت کردند و نمونه‌گیری به شیوه در دسترس و از طریق انتشار پرسش‌نامه در بسترهای مجازی انجام شد.</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برای گردآوری داده‌ها از پرسش‌نامه آسیب‌های دوران کودکی فلیتی، پرسش‌نامه سبک‌های هویتی برزونسکی و پرسش‌نامه سبک‌های حل تعارض ویکز و فیشر و اوری استفاده شد. داده‌ها با نرم‌افزارهای SPSS نسخه ۲۷ و SmartPLS نسخه ۳ تحلیل شدند. در تحلیل داده‌ها از آمار توصیفی، ضریب همبستگی اسپیرمن و مدل‌یابی معادلات ساختاری استفاده شد.</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۹۴ درصد افراد نمونه زن و ۶ درصد مرد بودند. بیشتر افراد (۳۶ درصد) بین ۱۸ تا ۲۳ سال، ۲۲ درصد بین ۲۴ تا ۲۹، ۱۹ درصد بین ۳۰ تا ۳۵، ۱۳ درصد بین ۳۶ تا ۴۰ و ۱۰ درصد بین ۴۱ تا ۵۰ سال سن داشتند. بیشترین نسبت نمونه (۷۵ درصد) کارشناسی، ۲۰ درصد کارشناسی ارشد و ۵ درصد دکتری یا بالاتر بودند.</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سبک‌های حل تعارض در رابطه بین آسیب‌های کودکی و هر چهار بعد هویت نقش میانجی معنادار دارد. مسیر غیرمستقیم به هویت اطلاعاتی (β=-0.18، t=3.26، p=0.001)، هویت هنجاری (β=-0.10، t=3.17، p=0.002) و تعهد (β=-0.13، t=3.23، p=0.001) منفی و معنادار و به هویت سردرگم/اجتنابی (β=0.13، t=3.18، p=0.001) مثبت و معنادار است.</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رابطه آسیب‌های کودکی با هویت اطلاعاتی (β=-0.23، p=0.006)، هویت هنجاری (β=-0.22، p=0.034) و تعهد (β=-0.15، p=0.029) منفی و معنادار و با هویت سردرگمی/اجتنابی (β=0.11، p=0.033) مثبت و معنادار است.</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مقدار معناداری کوچک‌تر از ۰/۰۰۱ و ضریب مسیر برابر با ۰/۳۵- است؛ لذا رابطه بین آسیب‌های دوران کودکی و سبک‌های حل تعارض منفی و معنادار است و فرضیه تأیید می‌شود.</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رابطه سبک‌های حل تعارض با هویت اطلاعاتی (β=0.51)، هویت هنجاری (β=0.28) و تعهد (β=0.37) مثبت و معنادار و با هویت سردرگمی/اجتنابی (β=-0.37) منفی و معنادار است؛ همه مسیرها در سطح p&lt;0.001 معنادارند. قوی‌ترین رابطه با هویت اطلاعاتی است.</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همه فرضیه‌های پژوهش تأیید شدند و تمام ۱۳ مسیر بررسی‌شده معنادار بودند. خلاصه: حل تعارض نقش میانجی دارد؛ آسیب کودکی با هویت اطلاعاتی، هنجاری و تعهد رابطه منفی و با هویت سردرگم رابطه مثبت دارد؛ آسیب کودکی با حل تعارض سازنده رابطه منفی دارد؛ حل تعارض با هویت اطلاعاتی، هنجاری و تعهد رابطه مثبت و با هویت سردرگم رابطه منفی دارد.</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 آسیب‌های کودکی بر اساس یادآوری سنجیده شد. ۲) ۹۴ درصد نمونه زن بودند. ۳) متغیرهایی مانند ویژگی‌های شخصیتی، سبک دلبستگی و حمایت اجتماعی بررسی نشدند. ۴) پژوهش مقطعی بود. ۵) تعمیم به گروه‌های دیگر باید با احتیاط باشد. ۶) روابط نباید علّی تفسیر شوند.</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پیشنهادهای پژوهشی بر اساس یافته‌ها و محدودیت‌های پژوهش ارائه شده‌اند: نمونه متوازن جنسیتی، طرح‌های طولی، بررسی متغیرهای میانجی و تعدیل‌گر دیگر، روش‌های چندمنبعی، بررسی جداگانه ابعاد هویت و حل تعارض، آزمون مدل در گروه‌های دیگر و طرح‌های مداخله‌ای.</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پیشنهادهای کاربردی: توجه مشاوران به سابقه آسیب‌های کودکی، برنامه‌های آموزش حل تعارض سازنده، توجه به مشکلات هویتی، تقویت فرایندهای هویتی سازنده، گنجاندن آموزش حل تعارض در برنامه‌های پیشگیری دانشگاه‌ها، توجه به مهارت‌های ارتباطی، جایگزینی الگوهای اجتنابی و کارگاه‌های مهارت‌های زندگی.</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از استاد راهنمای گرامی، اساتید محترم داور و حضار ارجمند سپاسگزارم. آماده پاسخگویی به پرسش‌ها هستم.</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7.png"/><Relationship Id="rId4" Type="http://schemas.openxmlformats.org/officeDocument/2006/relationships/image" Target="../media/image34.png"/><Relationship Id="rId9"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45.png"/><Relationship Id="rId5" Type="http://schemas.openxmlformats.org/officeDocument/2006/relationships/image" Target="../media/image41.png"/><Relationship Id="rId10" Type="http://schemas.openxmlformats.org/officeDocument/2006/relationships/image" Target="../media/image44.png"/><Relationship Id="rId4" Type="http://schemas.openxmlformats.org/officeDocument/2006/relationships/image" Target="../media/image12.png"/><Relationship Id="rId9"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0F5257">
              <a:alpha val="6000"/>
            </a:srgbClr>
          </a:solidFill>
          <a:ln w="12700">
            <a:solidFill>
              <a:srgbClr val="0F5257">
                <a:alpha val="0"/>
              </a:srgbClr>
            </a:solidFill>
            <a:prstDash val="solid"/>
          </a:ln>
        </p:spPr>
      </p:sp>
      <p:sp>
        <p:nvSpPr>
          <p:cNvPr id="3" name="Shape 1"/>
          <p:cNvSpPr/>
          <p:nvPr/>
        </p:nvSpPr>
        <p:spPr>
          <a:xfrm>
            <a:off x="10241280" y="4754880"/>
            <a:ext cx="3108960" cy="3108960"/>
          </a:xfrm>
          <a:prstGeom prst="ellipse">
            <a:avLst/>
          </a:prstGeom>
          <a:solidFill>
            <a:srgbClr val="6D597A">
              <a:alpha val="6000"/>
            </a:srgbClr>
          </a:solidFill>
          <a:ln w="12700">
            <a:solidFill>
              <a:srgbClr val="6D597A">
                <a:alpha val="0"/>
              </a:srgbClr>
            </a:solidFill>
            <a:prstDash val="solid"/>
          </a:ln>
        </p:spPr>
      </p:sp>
      <p:sp>
        <p:nvSpPr>
          <p:cNvPr id="4" name="Shape 2"/>
          <p:cNvSpPr/>
          <p:nvPr/>
        </p:nvSpPr>
        <p:spPr>
          <a:xfrm>
            <a:off x="9692640" y="4572000"/>
            <a:ext cx="457200" cy="457200"/>
          </a:xfrm>
          <a:prstGeom prst="ellipse">
            <a:avLst/>
          </a:prstGeom>
          <a:solidFill>
            <a:srgbClr val="D9674A">
              <a:alpha val="30000"/>
            </a:srgbClr>
          </a:solidFill>
          <a:ln w="12700">
            <a:solidFill>
              <a:srgbClr val="D9674A">
                <a:alpha val="0"/>
              </a:srgbClr>
            </a:solidFill>
            <a:prstDash val="solid"/>
          </a:ln>
        </p:spPr>
      </p:sp>
      <p:pic>
        <p:nvPicPr>
          <p:cNvPr id="5" name="A01_z_1" descr="img/bism.png"/>
          <p:cNvPicPr>
            <a:picLocks noChangeAspect="1"/>
          </p:cNvPicPr>
          <p:nvPr/>
        </p:nvPicPr>
        <p:blipFill>
          <a:blip r:embed="rId3"/>
          <a:stretch>
            <a:fillRect/>
          </a:stretch>
        </p:blipFill>
        <p:spPr>
          <a:xfrm>
            <a:off x="3261208" y="1485957"/>
            <a:ext cx="5669280" cy="3886085"/>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450" fill="hold"/>
                                        <p:tgtEl>
                                          <p:spTgt spid="5"/>
                                        </p:tgtEl>
                                        <p:attrNameLst>
                                          <p:attrName>ppt_w</p:attrName>
                                        </p:attrNameLst>
                                      </p:cBhvr>
                                      <p:tavLst>
                                        <p:tav tm="0">
                                          <p:val>
                                            <p:fltVal val="0"/>
                                          </p:val>
                                        </p:tav>
                                        <p:tav tm="100000">
                                          <p:val>
                                            <p:strVal val="#ppt_w"/>
                                          </p:val>
                                        </p:tav>
                                      </p:tavLst>
                                    </p:anim>
                                    <p:anim calcmode="lin" valueType="num">
                                      <p:cBhvr>
                                        <p:cTn id="8" dur="450" fill="hold"/>
                                        <p:tgtEl>
                                          <p:spTgt spid="5"/>
                                        </p:tgtEl>
                                        <p:attrNameLst>
                                          <p:attrName>ppt_h</p:attrName>
                                        </p:attrNameLst>
                                      </p:cBhvr>
                                      <p:tavLst>
                                        <p:tav tm="0">
                                          <p:val>
                                            <p:fltVal val="0"/>
                                          </p:val>
                                        </p:tav>
                                        <p:tav tm="100000">
                                          <p:val>
                                            <p:strVal val="#ppt_h"/>
                                          </p:val>
                                        </p:tav>
                                      </p:tavLst>
                                    </p:anim>
                                    <p:animEffect transition="in" filter="fade">
                                      <p:cBhvr>
                                        <p:cTn id="9"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88720" y="-1188720"/>
            <a:ext cx="3291840" cy="3291840"/>
          </a:xfrm>
          <a:prstGeom prst="ellipse">
            <a:avLst/>
          </a:prstGeom>
          <a:solidFill>
            <a:srgbClr val="D9674A">
              <a:alpha val="8000"/>
            </a:srgbClr>
          </a:solidFill>
          <a:ln w="12700">
            <a:solidFill>
              <a:srgbClr val="D9674A">
                <a:alpha val="0"/>
              </a:srgbClr>
            </a:solidFill>
            <a:prstDash val="solid"/>
          </a:ln>
        </p:spPr>
      </p:sp>
      <p:sp>
        <p:nvSpPr>
          <p:cNvPr id="3" name="Shape 1"/>
          <p:cNvSpPr/>
          <p:nvPr/>
        </p:nvSpPr>
        <p:spPr>
          <a:xfrm>
            <a:off x="9966960" y="4480560"/>
            <a:ext cx="3291840" cy="3291840"/>
          </a:xfrm>
          <a:prstGeom prst="ellipse">
            <a:avLst/>
          </a:prstGeom>
          <a:solidFill>
            <a:srgbClr val="0F5257">
              <a:alpha val="8000"/>
            </a:srgbClr>
          </a:solidFill>
          <a:ln w="12700">
            <a:solidFill>
              <a:srgbClr val="0F5257">
                <a:alpha val="0"/>
              </a:srgbClr>
            </a:solidFill>
            <a:prstDash val="solid"/>
          </a:ln>
        </p:spPr>
      </p:sp>
      <p:sp>
        <p:nvSpPr>
          <p:cNvPr id="4" name="Shape 2"/>
          <p:cNvSpPr/>
          <p:nvPr/>
        </p:nvSpPr>
        <p:spPr>
          <a:xfrm>
            <a:off x="10972800" y="548640"/>
            <a:ext cx="548640" cy="548640"/>
          </a:xfrm>
          <a:prstGeom prst="ellipse">
            <a:avLst/>
          </a:prstGeom>
          <a:solidFill>
            <a:srgbClr val="6D597A">
              <a:alpha val="20000"/>
            </a:srgbClr>
          </a:solidFill>
          <a:ln w="12700">
            <a:solidFill>
              <a:srgbClr val="6D597A">
                <a:alpha val="0"/>
              </a:srgbClr>
            </a:solidFill>
            <a:prstDash val="solid"/>
          </a:ln>
        </p:spPr>
      </p:sp>
      <p:sp>
        <p:nvSpPr>
          <p:cNvPr id="5" name="Shape 3"/>
          <p:cNvSpPr/>
          <p:nvPr/>
        </p:nvSpPr>
        <p:spPr>
          <a:xfrm>
            <a:off x="822960" y="5760720"/>
            <a:ext cx="365760" cy="365760"/>
          </a:xfrm>
          <a:prstGeom prst="ellipse">
            <a:avLst/>
          </a:prstGeom>
          <a:solidFill>
            <a:srgbClr val="E9B44C">
              <a:alpha val="40000"/>
            </a:srgbClr>
          </a:solidFill>
          <a:ln w="12700">
            <a:solidFill>
              <a:srgbClr val="E9B44C">
                <a:alpha val="0"/>
              </a:srgbClr>
            </a:solidFill>
            <a:prstDash val="solid"/>
          </a:ln>
        </p:spPr>
      </p:sp>
      <p:pic>
        <p:nvPicPr>
          <p:cNvPr id="6" name="Image 0" descr="img/logo.png"/>
          <p:cNvPicPr>
            <a:picLocks noChangeAspect="1"/>
          </p:cNvPicPr>
          <p:nvPr/>
        </p:nvPicPr>
        <p:blipFill>
          <a:blip r:embed="rId3"/>
          <a:stretch>
            <a:fillRect/>
          </a:stretch>
        </p:blipFill>
        <p:spPr>
          <a:xfrm>
            <a:off x="5769864" y="320040"/>
            <a:ext cx="658368" cy="914400"/>
          </a:xfrm>
          <a:prstGeom prst="rect">
            <a:avLst/>
          </a:prstGeom>
        </p:spPr>
      </p:pic>
      <p:sp>
        <p:nvSpPr>
          <p:cNvPr id="7" name="Text 4"/>
          <p:cNvSpPr txBox="1"/>
          <p:nvPr/>
        </p:nvSpPr>
        <p:spPr>
          <a:xfrm>
            <a:off x="2286000" y="1298448"/>
            <a:ext cx="7616952" cy="347472"/>
          </a:xfrm>
          <a:prstGeom prst="rect">
            <a:avLst/>
          </a:prstGeom>
          <a:noFill/>
          <a:ln/>
        </p:spPr>
        <p:txBody>
          <a:bodyPr wrap="square" lIns="0" tIns="0" rIns="0" bIns="0" rtlCol="0" anchor="t"/>
          <a:lstStyle/>
          <a:p>
            <a:pPr marL="0" indent="0" algn="ctr" rtl="1">
              <a:buNone/>
            </a:pPr>
            <a:r>
              <a:rPr lang="fa-IR" altLang="en-US" sz="1600" b="1" dirty="0">
                <a:solidFill>
                  <a:srgbClr val="263238"/>
                </a:solidFill>
                <a:latin typeface="Tahoma" pitchFamily="34" charset="0"/>
                <a:ea typeface="Tahoma" pitchFamily="34" charset="-122"/>
                <a:cs typeface="Tahoma" pitchFamily="34" charset="-120"/>
              </a:rPr>
              <a:t>دانشگاه علوم پزشکی آزاد اسلامی تهران</a:t>
            </a:r>
            <a:endParaRPr lang="fa-IR" sz="1600" dirty="0"/>
          </a:p>
        </p:txBody>
      </p:sp>
      <p:sp>
        <p:nvSpPr>
          <p:cNvPr id="8" name="Text 5"/>
          <p:cNvSpPr txBox="1"/>
          <p:nvPr/>
        </p:nvSpPr>
        <p:spPr>
          <a:xfrm>
            <a:off x="2286000" y="1645920"/>
            <a:ext cx="7616952" cy="310896"/>
          </a:xfrm>
          <a:prstGeom prst="rect">
            <a:avLst/>
          </a:prstGeom>
          <a:noFill/>
          <a:ln/>
        </p:spPr>
        <p:txBody>
          <a:bodyPr wrap="square" lIns="0" tIns="0" rIns="0" bIns="0" rtlCol="0" anchor="t"/>
          <a:lstStyle/>
          <a:p>
            <a:pPr marL="0" indent="0" algn="ctr" rtl="1">
              <a:buNone/>
            </a:pPr>
            <a:r>
              <a:rPr lang="fa-IR" altLang="en-US" sz="1300" dirty="0">
                <a:solidFill>
                  <a:srgbClr val="6B7B83"/>
                </a:solidFill>
                <a:latin typeface="Tahoma" pitchFamily="34" charset="0"/>
                <a:ea typeface="Tahoma" pitchFamily="34" charset="-122"/>
                <a:cs typeface="Tahoma" pitchFamily="34" charset="-120"/>
              </a:rPr>
              <a:t>دانشکده بهزیستی و علوم اجتماعی سلامت</a:t>
            </a:r>
            <a:endParaRPr lang="fa-IR" sz="1300" dirty="0"/>
          </a:p>
        </p:txBody>
      </p:sp>
      <p:sp>
        <p:nvSpPr>
          <p:cNvPr id="10" name="A02_z_3"/>
          <p:cNvSpPr txBox="1"/>
          <p:nvPr/>
        </p:nvSpPr>
        <p:spPr>
          <a:xfrm>
            <a:off x="1280160" y="2446020"/>
            <a:ext cx="9628632" cy="1280160"/>
          </a:xfrm>
          <a:prstGeom prst="rect">
            <a:avLst/>
          </a:prstGeom>
          <a:noFill/>
          <a:ln/>
        </p:spPr>
        <p:txBody>
          <a:bodyPr wrap="square" lIns="0" tIns="0" rIns="0" bIns="0" rtlCol="0" anchor="ctr"/>
          <a:lstStyle/>
          <a:p>
            <a:pPr marL="0" indent="0" algn="ctr" rtl="1">
              <a:buNone/>
            </a:pPr>
            <a:r>
              <a:rPr lang="fa-IR" altLang="en-US" sz="3000" b="1" dirty="0">
                <a:solidFill>
                  <a:srgbClr val="0F5257"/>
                </a:solidFill>
                <a:latin typeface="Tahoma" pitchFamily="34" charset="0"/>
                <a:ea typeface="Tahoma" pitchFamily="34" charset="-122"/>
                <a:cs typeface="Tahoma" pitchFamily="34" charset="-120"/>
              </a:rPr>
              <a:t>بررسی رابطه بین آسیب‌های دوران کودکی و سبک‌های هویتی با میانجی‌گری سبک‌های حل تعارض</a:t>
            </a:r>
            <a:endParaRPr lang="fa-IR" sz="3000" dirty="0"/>
          </a:p>
        </p:txBody>
      </p:sp>
      <p:sp>
        <p:nvSpPr>
          <p:cNvPr id="11" name="A03_f_4b"/>
          <p:cNvSpPr/>
          <p:nvPr/>
        </p:nvSpPr>
        <p:spPr>
          <a:xfrm>
            <a:off x="7635240" y="4160520"/>
            <a:ext cx="2286000" cy="457200"/>
          </a:xfrm>
          <a:prstGeom prst="roundRect">
            <a:avLst>
              <a:gd name="adj" fmla="val 24000"/>
            </a:avLst>
          </a:prstGeom>
          <a:solidFill>
            <a:srgbClr val="FBECE7"/>
          </a:solidFill>
          <a:ln w="12700">
            <a:solidFill>
              <a:srgbClr val="FBECE7"/>
            </a:solidFill>
            <a:prstDash val="solid"/>
          </a:ln>
        </p:spPr>
      </p:sp>
      <p:sp>
        <p:nvSpPr>
          <p:cNvPr id="12" name="A03_f_5"/>
          <p:cNvSpPr txBox="1"/>
          <p:nvPr/>
        </p:nvSpPr>
        <p:spPr>
          <a:xfrm>
            <a:off x="7726680" y="4160520"/>
            <a:ext cx="2103120" cy="457200"/>
          </a:xfrm>
          <a:prstGeom prst="rect">
            <a:avLst/>
          </a:prstGeom>
          <a:noFill/>
          <a:ln/>
        </p:spPr>
        <p:txBody>
          <a:bodyPr wrap="square" lIns="0" tIns="0" rIns="0" bIns="0" rtlCol="0" anchor="ctr"/>
          <a:lstStyle/>
          <a:p>
            <a:pPr marL="0" indent="0" algn="ctr" rtl="1">
              <a:buNone/>
            </a:pPr>
            <a:r>
              <a:rPr lang="fa-IR" altLang="en-US" sz="1300" b="1" dirty="0">
                <a:solidFill>
                  <a:srgbClr val="D9674A"/>
                </a:solidFill>
                <a:latin typeface="Tahoma" pitchFamily="34" charset="0"/>
                <a:ea typeface="Tahoma" pitchFamily="34" charset="-122"/>
                <a:cs typeface="Tahoma" pitchFamily="34" charset="-120"/>
              </a:rPr>
              <a:t>آسیب‌های دوران کودکی</a:t>
            </a:r>
            <a:endParaRPr lang="fa-IR" sz="1300" dirty="0"/>
          </a:p>
        </p:txBody>
      </p:sp>
      <p:sp>
        <p:nvSpPr>
          <p:cNvPr id="13" name="A03_f_6b"/>
          <p:cNvSpPr/>
          <p:nvPr/>
        </p:nvSpPr>
        <p:spPr>
          <a:xfrm>
            <a:off x="4956048" y="4160520"/>
            <a:ext cx="2286000" cy="457200"/>
          </a:xfrm>
          <a:prstGeom prst="roundRect">
            <a:avLst>
              <a:gd name="adj" fmla="val 24000"/>
            </a:avLst>
          </a:prstGeom>
          <a:solidFill>
            <a:srgbClr val="E6F2F1"/>
          </a:solidFill>
          <a:ln w="12700">
            <a:solidFill>
              <a:srgbClr val="E6F2F1"/>
            </a:solidFill>
            <a:prstDash val="solid"/>
          </a:ln>
        </p:spPr>
      </p:sp>
      <p:sp>
        <p:nvSpPr>
          <p:cNvPr id="14" name="A03_f_7"/>
          <p:cNvSpPr txBox="1"/>
          <p:nvPr/>
        </p:nvSpPr>
        <p:spPr>
          <a:xfrm>
            <a:off x="5047488" y="4160520"/>
            <a:ext cx="2103120" cy="457200"/>
          </a:xfrm>
          <a:prstGeom prst="rect">
            <a:avLst/>
          </a:prstGeom>
          <a:noFill/>
          <a:ln/>
        </p:spPr>
        <p:txBody>
          <a:bodyPr wrap="square" lIns="0" tIns="0" rIns="0" bIns="0" rtlCol="0" anchor="ctr"/>
          <a:lstStyle/>
          <a:p>
            <a:pPr marL="0" indent="0" algn="ctr" rtl="1">
              <a:buNone/>
            </a:pPr>
            <a:r>
              <a:rPr lang="fa-IR" altLang="en-US" sz="1300" b="1" dirty="0">
                <a:solidFill>
                  <a:srgbClr val="2A9D8F"/>
                </a:solidFill>
                <a:latin typeface="Tahoma" pitchFamily="34" charset="0"/>
                <a:ea typeface="Tahoma" pitchFamily="34" charset="-122"/>
                <a:cs typeface="Tahoma" pitchFamily="34" charset="-120"/>
              </a:rPr>
              <a:t>سبک‌های حل تعارض</a:t>
            </a:r>
            <a:endParaRPr lang="fa-IR" sz="1300" dirty="0"/>
          </a:p>
        </p:txBody>
      </p:sp>
      <p:sp>
        <p:nvSpPr>
          <p:cNvPr id="15" name="A03_f_8b"/>
          <p:cNvSpPr/>
          <p:nvPr/>
        </p:nvSpPr>
        <p:spPr>
          <a:xfrm>
            <a:off x="2276856" y="4160520"/>
            <a:ext cx="2286000" cy="457200"/>
          </a:xfrm>
          <a:prstGeom prst="roundRect">
            <a:avLst>
              <a:gd name="adj" fmla="val 24000"/>
            </a:avLst>
          </a:prstGeom>
          <a:solidFill>
            <a:srgbClr val="EFEAF3"/>
          </a:solidFill>
          <a:ln w="12700">
            <a:solidFill>
              <a:srgbClr val="EFEAF3"/>
            </a:solidFill>
            <a:prstDash val="solid"/>
          </a:ln>
        </p:spPr>
      </p:sp>
      <p:sp>
        <p:nvSpPr>
          <p:cNvPr id="16" name="A03_f_9"/>
          <p:cNvSpPr txBox="1"/>
          <p:nvPr/>
        </p:nvSpPr>
        <p:spPr>
          <a:xfrm>
            <a:off x="2368296" y="4160520"/>
            <a:ext cx="2103120" cy="457200"/>
          </a:xfrm>
          <a:prstGeom prst="rect">
            <a:avLst/>
          </a:prstGeom>
          <a:noFill/>
          <a:ln/>
        </p:spPr>
        <p:txBody>
          <a:bodyPr wrap="square" lIns="0" tIns="0" rIns="0" bIns="0" rtlCol="0" anchor="ctr"/>
          <a:lstStyle/>
          <a:p>
            <a:pPr marL="0" indent="0" algn="ctr" rtl="1">
              <a:buNone/>
            </a:pPr>
            <a:r>
              <a:rPr lang="fa-IR" altLang="en-US" sz="1300" b="1" dirty="0">
                <a:solidFill>
                  <a:srgbClr val="6D597A"/>
                </a:solidFill>
                <a:latin typeface="Tahoma" pitchFamily="34" charset="0"/>
                <a:ea typeface="Tahoma" pitchFamily="34" charset="-122"/>
                <a:cs typeface="Tahoma" pitchFamily="34" charset="-120"/>
              </a:rPr>
              <a:t>سبک‌های هویتی</a:t>
            </a:r>
            <a:endParaRPr lang="fa-IR" sz="1300" dirty="0"/>
          </a:p>
        </p:txBody>
      </p:sp>
      <p:sp>
        <p:nvSpPr>
          <p:cNvPr id="17" name="A04_f_10b"/>
          <p:cNvSpPr/>
          <p:nvPr/>
        </p:nvSpPr>
        <p:spPr>
          <a:xfrm>
            <a:off x="6172200" y="4983480"/>
            <a:ext cx="3566160" cy="960120"/>
          </a:xfrm>
          <a:prstGeom prst="roundRect">
            <a:avLst>
              <a:gd name="adj" fmla="val 11429"/>
            </a:avLst>
          </a:prstGeom>
          <a:solidFill>
            <a:srgbClr val="F4F6F7"/>
          </a:solidFill>
          <a:ln w="12700">
            <a:solidFill>
              <a:srgbClr val="F4F6F7"/>
            </a:solidFill>
            <a:prstDash val="solid"/>
          </a:ln>
        </p:spPr>
      </p:sp>
      <p:sp>
        <p:nvSpPr>
          <p:cNvPr id="18" name="A04_f_11"/>
          <p:cNvSpPr txBox="1"/>
          <p:nvPr/>
        </p:nvSpPr>
        <p:spPr>
          <a:xfrm>
            <a:off x="6263640" y="5029200"/>
            <a:ext cx="3383280" cy="868680"/>
          </a:xfrm>
          <a:prstGeom prst="rect">
            <a:avLst/>
          </a:prstGeom>
          <a:noFill/>
          <a:ln/>
        </p:spPr>
        <p:txBody>
          <a:bodyPr wrap="square" lIns="0" tIns="0" rIns="0" bIns="0" rtlCol="0" anchor="ctr"/>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استاد راهنما</a:t>
            </a:r>
            <a:endParaRPr lang="fa-IR" sz="1400" dirty="0"/>
          </a:p>
          <a:p>
            <a:pPr marL="0" indent="0" algn="ctr" rtl="1">
              <a:buNone/>
            </a:pPr>
            <a:r>
              <a:rPr lang="fa-IR" altLang="en-US" sz="1600" b="1" dirty="0">
                <a:solidFill>
                  <a:srgbClr val="263238"/>
                </a:solidFill>
                <a:latin typeface="Tahoma" pitchFamily="34" charset="0"/>
                <a:ea typeface="Tahoma" pitchFamily="34" charset="-122"/>
                <a:cs typeface="Tahoma" pitchFamily="34" charset="-120"/>
              </a:rPr>
              <a:t>سرکار خانم دکتر فاطمه حسنی</a:t>
            </a:r>
            <a:endParaRPr lang="fa-IR" sz="1400" dirty="0"/>
          </a:p>
        </p:txBody>
      </p:sp>
      <p:sp>
        <p:nvSpPr>
          <p:cNvPr id="19" name="A04_f_12b"/>
          <p:cNvSpPr/>
          <p:nvPr/>
        </p:nvSpPr>
        <p:spPr>
          <a:xfrm>
            <a:off x="2450592" y="4983480"/>
            <a:ext cx="3566160" cy="960120"/>
          </a:xfrm>
          <a:prstGeom prst="roundRect">
            <a:avLst>
              <a:gd name="adj" fmla="val 11429"/>
            </a:avLst>
          </a:prstGeom>
          <a:solidFill>
            <a:srgbClr val="F4F6F7"/>
          </a:solidFill>
          <a:ln w="12700">
            <a:solidFill>
              <a:srgbClr val="F4F6F7"/>
            </a:solidFill>
            <a:prstDash val="solid"/>
          </a:ln>
        </p:spPr>
      </p:sp>
      <p:sp>
        <p:nvSpPr>
          <p:cNvPr id="20" name="A04_f_13"/>
          <p:cNvSpPr txBox="1"/>
          <p:nvPr/>
        </p:nvSpPr>
        <p:spPr>
          <a:xfrm>
            <a:off x="2542032" y="5029200"/>
            <a:ext cx="3383280" cy="868680"/>
          </a:xfrm>
          <a:prstGeom prst="rect">
            <a:avLst/>
          </a:prstGeom>
          <a:noFill/>
          <a:ln/>
        </p:spPr>
        <p:txBody>
          <a:bodyPr wrap="square" lIns="0" tIns="0" rIns="0" bIns="0" rtlCol="0" anchor="ctr"/>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نگارش</a:t>
            </a:r>
            <a:endParaRPr lang="fa-IR" sz="1400" dirty="0"/>
          </a:p>
          <a:p>
            <a:pPr marL="0" indent="0" algn="ctr" rtl="1">
              <a:buNone/>
            </a:pPr>
            <a:r>
              <a:rPr lang="fa-IR" altLang="en-US" sz="1600" b="1" dirty="0">
                <a:solidFill>
                  <a:srgbClr val="263238"/>
                </a:solidFill>
                <a:latin typeface="Tahoma" pitchFamily="34" charset="0"/>
                <a:ea typeface="Tahoma" pitchFamily="34" charset="-122"/>
                <a:cs typeface="Tahoma" pitchFamily="34" charset="-120"/>
              </a:rPr>
              <a:t>پریسا باقری</a:t>
            </a:r>
            <a:endParaRPr lang="fa-IR" sz="1400" dirty="0"/>
          </a:p>
        </p:txBody>
      </p:sp>
      <p:sp>
        <p:nvSpPr>
          <p:cNvPr id="21" name="A05_f_14"/>
          <p:cNvSpPr txBox="1"/>
          <p:nvPr/>
        </p:nvSpPr>
        <p:spPr>
          <a:xfrm>
            <a:off x="4727448" y="6126480"/>
            <a:ext cx="2743200" cy="320040"/>
          </a:xfrm>
          <a:prstGeom prst="rect">
            <a:avLst/>
          </a:prstGeom>
          <a:noFill/>
          <a:ln/>
        </p:spPr>
        <p:txBody>
          <a:bodyPr wrap="square" lIns="0" tIns="0" rIns="0" bIns="0" rtlCol="0" anchor="t"/>
          <a:lstStyle/>
          <a:p>
            <a:pPr marL="0" indent="0" algn="ctr" rtl="1">
              <a:buNone/>
            </a:pPr>
            <a:r>
              <a:rPr lang="fa-IR" altLang="en-US" sz="1300" dirty="0">
                <a:solidFill>
                  <a:srgbClr val="6B7B83"/>
                </a:solidFill>
                <a:latin typeface="Tahoma" pitchFamily="34" charset="0"/>
                <a:ea typeface="Tahoma" pitchFamily="34" charset="-122"/>
                <a:cs typeface="Tahoma" pitchFamily="34" charset="-120"/>
              </a:rPr>
              <a:t>پاییز ۱۴۰۵</a:t>
            </a:r>
            <a:endParaRPr lang="fa-IR" sz="13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450" fill="hold"/>
                                        <p:tgtEl>
                                          <p:spTgt spid="10"/>
                                        </p:tgtEl>
                                        <p:attrNameLst>
                                          <p:attrName>ppt_w</p:attrName>
                                        </p:attrNameLst>
                                      </p:cBhvr>
                                      <p:tavLst>
                                        <p:tav tm="0">
                                          <p:val>
                                            <p:fltVal val="0"/>
                                          </p:val>
                                        </p:tav>
                                        <p:tav tm="100000">
                                          <p:val>
                                            <p:strVal val="#ppt_w"/>
                                          </p:val>
                                        </p:tav>
                                      </p:tavLst>
                                    </p:anim>
                                    <p:anim calcmode="lin" valueType="num">
                                      <p:cBhvr>
                                        <p:cTn id="8" dur="450" fill="hold"/>
                                        <p:tgtEl>
                                          <p:spTgt spid="10"/>
                                        </p:tgtEl>
                                        <p:attrNameLst>
                                          <p:attrName>ppt_h</p:attrName>
                                        </p:attrNameLst>
                                      </p:cBhvr>
                                      <p:tavLst>
                                        <p:tav tm="0">
                                          <p:val>
                                            <p:fltVal val="0"/>
                                          </p:val>
                                        </p:tav>
                                        <p:tav tm="100000">
                                          <p:val>
                                            <p:strVal val="#ppt_h"/>
                                          </p:val>
                                        </p:tav>
                                      </p:tavLst>
                                    </p:anim>
                                    <p:animEffect transition="in" filter="fade">
                                      <p:cBhvr>
                                        <p:cTn id="9" dur="450"/>
                                        <p:tgtEl>
                                          <p:spTgt spid="10"/>
                                        </p:tgtEl>
                                      </p:cBhvr>
                                    </p:animEffect>
                                  </p:childTnLst>
                                </p:cTn>
                              </p:par>
                            </p:childTnLst>
                          </p:cTn>
                        </p:par>
                        <p:par>
                          <p:cTn id="10" fill="hold">
                            <p:stCondLst>
                              <p:cond delay="450"/>
                            </p:stCondLst>
                            <p:childTnLst>
                              <p:par>
                                <p:cTn id="11" presetID="10"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5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50"/>
                                        <p:tgtEl>
                                          <p:spTgt spid="16"/>
                                        </p:tgtEl>
                                      </p:cBhvr>
                                    </p:animEffect>
                                  </p:childTnLst>
                                </p:cTn>
                              </p:par>
                            </p:childTnLst>
                          </p:cTn>
                        </p:par>
                        <p:par>
                          <p:cTn id="29" fill="hold">
                            <p:stCondLst>
                              <p:cond delay="900"/>
                            </p:stCondLst>
                            <p:childTnLst>
                              <p:par>
                                <p:cTn id="30" presetID="10" presetClass="entr" presetSubtype="0" fill="hold"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450"/>
                                        <p:tgtEl>
                                          <p:spTgt spid="19"/>
                                        </p:tgtEl>
                                      </p:cBhvr>
                                    </p:animEffect>
                                  </p:childTnLst>
                                </p:cTn>
                              </p:par>
                              <p:par>
                                <p:cTn id="39" presetID="10"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50"/>
                                        <p:tgtEl>
                                          <p:spTgt spid="20"/>
                                        </p:tgtEl>
                                      </p:cBhvr>
                                    </p:animEffect>
                                  </p:childTnLst>
                                </p:cTn>
                              </p:par>
                            </p:childTnLst>
                          </p:cTn>
                        </p:par>
                        <p:par>
                          <p:cTn id="42" fill="hold">
                            <p:stCondLst>
                              <p:cond delay="1350"/>
                            </p:stCondLst>
                            <p:childTnLst>
                              <p:par>
                                <p:cTn id="43" presetID="10" presetClass="entr" presetSubtype="0" fill="hold" nodeType="after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بیان مسئله</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۳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A01_f_15b"/>
          <p:cNvSpPr/>
          <p:nvPr/>
        </p:nvSpPr>
        <p:spPr>
          <a:xfrm>
            <a:off x="8001000" y="1234440"/>
            <a:ext cx="3703320" cy="2743200"/>
          </a:xfrm>
          <a:prstGeom prst="roundRect">
            <a:avLst>
              <a:gd name="adj" fmla="val 4000"/>
            </a:avLst>
          </a:prstGeom>
          <a:solidFill>
            <a:srgbClr val="FBECE7"/>
          </a:solidFill>
          <a:ln w="12700">
            <a:solidFill>
              <a:srgbClr val="FBECE7"/>
            </a:solidFill>
            <a:prstDash val="solid"/>
          </a:ln>
        </p:spPr>
      </p:sp>
      <p:sp>
        <p:nvSpPr>
          <p:cNvPr id="11" name="A01_f_16c"/>
          <p:cNvSpPr/>
          <p:nvPr/>
        </p:nvSpPr>
        <p:spPr>
          <a:xfrm>
            <a:off x="11018520" y="1417320"/>
            <a:ext cx="548640" cy="548640"/>
          </a:xfrm>
          <a:prstGeom prst="ellipse">
            <a:avLst/>
          </a:prstGeom>
          <a:solidFill>
            <a:srgbClr val="D9674A"/>
          </a:solidFill>
          <a:ln w="12700">
            <a:solidFill>
              <a:srgbClr val="D9674A"/>
            </a:solidFill>
            <a:prstDash val="solid"/>
          </a:ln>
        </p:spPr>
      </p:sp>
      <p:pic>
        <p:nvPicPr>
          <p:cNvPr id="12" name="A01_f_16i" descr="preencoded.png"/>
          <p:cNvPicPr>
            <a:picLocks noChangeAspect="1"/>
          </p:cNvPicPr>
          <p:nvPr/>
        </p:nvPicPr>
        <p:blipFill>
          <a:blip r:embed="rId4"/>
          <a:stretch>
            <a:fillRect/>
          </a:stretch>
        </p:blipFill>
        <p:spPr>
          <a:xfrm>
            <a:off x="11139221" y="1538021"/>
            <a:ext cx="307238" cy="307238"/>
          </a:xfrm>
          <a:prstGeom prst="rect">
            <a:avLst/>
          </a:prstGeom>
        </p:spPr>
      </p:pic>
      <p:sp>
        <p:nvSpPr>
          <p:cNvPr id="13" name="A01_f_17"/>
          <p:cNvSpPr txBox="1"/>
          <p:nvPr/>
        </p:nvSpPr>
        <p:spPr>
          <a:xfrm>
            <a:off x="8183880" y="1417320"/>
            <a:ext cx="2697480" cy="548640"/>
          </a:xfrm>
          <a:prstGeom prst="rect">
            <a:avLst/>
          </a:prstGeom>
          <a:noFill/>
          <a:ln/>
        </p:spPr>
        <p:txBody>
          <a:bodyPr wrap="square" lIns="0" tIns="0" rIns="0" bIns="0" rtlCol="0" anchor="ctr"/>
          <a:lstStyle/>
          <a:p>
            <a:pPr marL="0" indent="0" algn="r" rtl="1">
              <a:buNone/>
            </a:pPr>
            <a:r>
              <a:rPr lang="fa-IR" altLang="en-US" sz="1700" b="1" dirty="0">
                <a:solidFill>
                  <a:srgbClr val="D9674A"/>
                </a:solidFill>
                <a:latin typeface="Tahoma" pitchFamily="34" charset="0"/>
                <a:ea typeface="Tahoma" pitchFamily="34" charset="-122"/>
                <a:cs typeface="Tahoma" pitchFamily="34" charset="-120"/>
              </a:rPr>
              <a:t>آسیب‌های دوران کودکی</a:t>
            </a:r>
            <a:endParaRPr lang="fa-IR" sz="1700" dirty="0"/>
          </a:p>
        </p:txBody>
      </p:sp>
      <p:sp>
        <p:nvSpPr>
          <p:cNvPr id="14" name="A01_f_18"/>
          <p:cNvSpPr txBox="1"/>
          <p:nvPr/>
        </p:nvSpPr>
        <p:spPr>
          <a:xfrm>
            <a:off x="8183880" y="2103120"/>
            <a:ext cx="3337560" cy="1737360"/>
          </a:xfrm>
          <a:prstGeom prst="rect">
            <a:avLst/>
          </a:prstGeom>
          <a:noFill/>
          <a:ln/>
        </p:spPr>
        <p:txBody>
          <a:bodyPr wrap="square" lIns="0" tIns="0" rIns="0" bIns="0" rtlCol="0" anchor="t"/>
          <a:lstStyle/>
          <a:p>
            <a:pPr marL="342900" indent="-342900" algn="r" rtl="1">
              <a:spcAft>
                <a:spcPts val="800"/>
              </a:spcAft>
              <a:buSzPct val="100000"/>
              <a:buChar char="•"/>
            </a:pPr>
            <a:r>
              <a:rPr lang="fa-IR" altLang="en-US" sz="1350" dirty="0">
                <a:solidFill>
                  <a:srgbClr val="263238"/>
                </a:solidFill>
                <a:latin typeface="Tahoma" pitchFamily="34" charset="0"/>
                <a:ea typeface="Tahoma" pitchFamily="34" charset="-122"/>
                <a:cs typeface="Tahoma" pitchFamily="34" charset="-120"/>
              </a:rPr>
              <a:t>دوران کودکی: مرحله حساس شکل‌گیری دلبستگی، تنظیم هیجانی و تصویر از خود</a:t>
            </a:r>
            <a:endParaRPr lang="fa-IR" sz="1350" dirty="0"/>
          </a:p>
          <a:p>
            <a:pPr marL="342900" indent="-342900" algn="r" rtl="1">
              <a:spcAft>
                <a:spcPts val="800"/>
              </a:spcAft>
              <a:buSzPct val="100000"/>
              <a:buChar char="•"/>
            </a:pPr>
            <a:r>
              <a:rPr lang="fa-IR" altLang="en-US" sz="1350" dirty="0">
                <a:solidFill>
                  <a:srgbClr val="263238"/>
                </a:solidFill>
                <a:latin typeface="Tahoma" pitchFamily="34" charset="0"/>
                <a:ea typeface="Tahoma" pitchFamily="34" charset="-122"/>
                <a:cs typeface="Tahoma" pitchFamily="34" charset="-120"/>
              </a:rPr>
              <a:t>غفلت، طلاق والدین و سوءرفتار → اثرات بلندمدت شناختی، هیجانی و رفتاری</a:t>
            </a:r>
            <a:endParaRPr lang="fa-IR" sz="1350" dirty="0"/>
          </a:p>
        </p:txBody>
      </p:sp>
      <p:sp>
        <p:nvSpPr>
          <p:cNvPr id="15" name="A02_f_19b"/>
          <p:cNvSpPr/>
          <p:nvPr/>
        </p:nvSpPr>
        <p:spPr>
          <a:xfrm>
            <a:off x="4251960" y="1234440"/>
            <a:ext cx="3703320" cy="2743200"/>
          </a:xfrm>
          <a:prstGeom prst="roundRect">
            <a:avLst>
              <a:gd name="adj" fmla="val 4000"/>
            </a:avLst>
          </a:prstGeom>
          <a:solidFill>
            <a:srgbClr val="E6F2F1"/>
          </a:solidFill>
          <a:ln w="12700">
            <a:solidFill>
              <a:srgbClr val="E6F2F1"/>
            </a:solidFill>
            <a:prstDash val="solid"/>
          </a:ln>
        </p:spPr>
      </p:sp>
      <p:sp>
        <p:nvSpPr>
          <p:cNvPr id="16" name="A02_f_20c"/>
          <p:cNvSpPr/>
          <p:nvPr/>
        </p:nvSpPr>
        <p:spPr>
          <a:xfrm>
            <a:off x="7269480" y="1417320"/>
            <a:ext cx="548640" cy="548640"/>
          </a:xfrm>
          <a:prstGeom prst="ellipse">
            <a:avLst/>
          </a:prstGeom>
          <a:solidFill>
            <a:srgbClr val="2A9D8F"/>
          </a:solidFill>
          <a:ln w="12700">
            <a:solidFill>
              <a:srgbClr val="2A9D8F"/>
            </a:solidFill>
            <a:prstDash val="solid"/>
          </a:ln>
        </p:spPr>
      </p:sp>
      <p:pic>
        <p:nvPicPr>
          <p:cNvPr id="17" name="A02_f_20i" descr="preencoded.png"/>
          <p:cNvPicPr>
            <a:picLocks noChangeAspect="1"/>
          </p:cNvPicPr>
          <p:nvPr/>
        </p:nvPicPr>
        <p:blipFill>
          <a:blip r:embed="rId5"/>
          <a:stretch>
            <a:fillRect/>
          </a:stretch>
        </p:blipFill>
        <p:spPr>
          <a:xfrm>
            <a:off x="7390181" y="1538021"/>
            <a:ext cx="307238" cy="307238"/>
          </a:xfrm>
          <a:prstGeom prst="rect">
            <a:avLst/>
          </a:prstGeom>
        </p:spPr>
      </p:pic>
      <p:sp>
        <p:nvSpPr>
          <p:cNvPr id="18" name="A02_f_21"/>
          <p:cNvSpPr txBox="1"/>
          <p:nvPr/>
        </p:nvSpPr>
        <p:spPr>
          <a:xfrm>
            <a:off x="4434840" y="1417320"/>
            <a:ext cx="2697480" cy="548640"/>
          </a:xfrm>
          <a:prstGeom prst="rect">
            <a:avLst/>
          </a:prstGeom>
          <a:noFill/>
          <a:ln/>
        </p:spPr>
        <p:txBody>
          <a:bodyPr wrap="square" lIns="0" tIns="0" rIns="0" bIns="0" rtlCol="0" anchor="ctr"/>
          <a:lstStyle/>
          <a:p>
            <a:pPr marL="0" indent="0" algn="r" rtl="1">
              <a:buNone/>
            </a:pPr>
            <a:r>
              <a:rPr lang="fa-IR" altLang="en-US" sz="1700" b="1" dirty="0">
                <a:solidFill>
                  <a:srgbClr val="2A9D8F"/>
                </a:solidFill>
                <a:latin typeface="Tahoma" pitchFamily="34" charset="0"/>
                <a:ea typeface="Tahoma" pitchFamily="34" charset="-122"/>
                <a:cs typeface="Tahoma" pitchFamily="34" charset="-120"/>
              </a:rPr>
              <a:t>سبک‌های حل تعارض</a:t>
            </a:r>
            <a:endParaRPr lang="fa-IR" sz="1700" dirty="0"/>
          </a:p>
        </p:txBody>
      </p:sp>
      <p:sp>
        <p:nvSpPr>
          <p:cNvPr id="19" name="A02_f_22"/>
          <p:cNvSpPr txBox="1"/>
          <p:nvPr/>
        </p:nvSpPr>
        <p:spPr>
          <a:xfrm>
            <a:off x="4434840" y="2103120"/>
            <a:ext cx="3337560" cy="1737360"/>
          </a:xfrm>
          <a:prstGeom prst="rect">
            <a:avLst/>
          </a:prstGeom>
          <a:noFill/>
          <a:ln/>
        </p:spPr>
        <p:txBody>
          <a:bodyPr wrap="square" lIns="0" tIns="0" rIns="0" bIns="0" rtlCol="0" anchor="t"/>
          <a:lstStyle/>
          <a:p>
            <a:pPr marL="342900" indent="-342900" algn="r" rtl="1">
              <a:spcAft>
                <a:spcPts val="800"/>
              </a:spcAft>
              <a:buSzPct val="100000"/>
              <a:buChar char="•"/>
            </a:pPr>
            <a:r>
              <a:rPr lang="fa-IR" altLang="en-US" sz="1350" dirty="0">
                <a:solidFill>
                  <a:srgbClr val="263238"/>
                </a:solidFill>
                <a:latin typeface="Tahoma" pitchFamily="34" charset="0"/>
                <a:ea typeface="Tahoma" pitchFamily="34" charset="-122"/>
                <a:cs typeface="Tahoma" pitchFamily="34" charset="-120"/>
              </a:rPr>
              <a:t>تجربه تروما در کودکی → الگوهای مقابله‌ای ناکارآمد در بزرگسالی</a:t>
            </a:r>
            <a:endParaRPr lang="fa-IR" sz="1350" dirty="0"/>
          </a:p>
          <a:p>
            <a:pPr marL="342900" indent="-342900" algn="r" rtl="1">
              <a:spcAft>
                <a:spcPts val="800"/>
              </a:spcAft>
              <a:buSzPct val="100000"/>
              <a:buChar char="•"/>
            </a:pPr>
            <a:r>
              <a:rPr lang="fa-IR" altLang="en-US" sz="1350" dirty="0">
                <a:solidFill>
                  <a:srgbClr val="263238"/>
                </a:solidFill>
                <a:latin typeface="Tahoma" pitchFamily="34" charset="0"/>
                <a:ea typeface="Tahoma" pitchFamily="34" charset="-122"/>
                <a:cs typeface="Tahoma" pitchFamily="34" charset="-120"/>
              </a:rPr>
              <a:t>رشد در خانواده‌های پرتعارض → سبک‌های اجتنابی یا پرخاشگرانه</a:t>
            </a:r>
            <a:endParaRPr lang="fa-IR" sz="1350" dirty="0"/>
          </a:p>
        </p:txBody>
      </p:sp>
      <p:sp>
        <p:nvSpPr>
          <p:cNvPr id="20" name="A03_f_23b"/>
          <p:cNvSpPr/>
          <p:nvPr/>
        </p:nvSpPr>
        <p:spPr>
          <a:xfrm>
            <a:off x="502920" y="1234440"/>
            <a:ext cx="3703320" cy="2743200"/>
          </a:xfrm>
          <a:prstGeom prst="roundRect">
            <a:avLst>
              <a:gd name="adj" fmla="val 4000"/>
            </a:avLst>
          </a:prstGeom>
          <a:solidFill>
            <a:srgbClr val="EFEAF3"/>
          </a:solidFill>
          <a:ln w="12700">
            <a:solidFill>
              <a:srgbClr val="EFEAF3"/>
            </a:solidFill>
            <a:prstDash val="solid"/>
          </a:ln>
        </p:spPr>
      </p:sp>
      <p:sp>
        <p:nvSpPr>
          <p:cNvPr id="21" name="A03_f_24c"/>
          <p:cNvSpPr/>
          <p:nvPr/>
        </p:nvSpPr>
        <p:spPr>
          <a:xfrm>
            <a:off x="3520440" y="1417320"/>
            <a:ext cx="548640" cy="548640"/>
          </a:xfrm>
          <a:prstGeom prst="ellipse">
            <a:avLst/>
          </a:prstGeom>
          <a:solidFill>
            <a:srgbClr val="6D597A"/>
          </a:solidFill>
          <a:ln w="12700">
            <a:solidFill>
              <a:srgbClr val="6D597A"/>
            </a:solidFill>
            <a:prstDash val="solid"/>
          </a:ln>
        </p:spPr>
      </p:sp>
      <p:pic>
        <p:nvPicPr>
          <p:cNvPr id="22" name="A03_f_24i" descr="preencoded.png"/>
          <p:cNvPicPr>
            <a:picLocks noChangeAspect="1"/>
          </p:cNvPicPr>
          <p:nvPr/>
        </p:nvPicPr>
        <p:blipFill>
          <a:blip r:embed="rId6"/>
          <a:stretch>
            <a:fillRect/>
          </a:stretch>
        </p:blipFill>
        <p:spPr>
          <a:xfrm>
            <a:off x="3641141" y="1538021"/>
            <a:ext cx="307238" cy="307238"/>
          </a:xfrm>
          <a:prstGeom prst="rect">
            <a:avLst/>
          </a:prstGeom>
        </p:spPr>
      </p:pic>
      <p:sp>
        <p:nvSpPr>
          <p:cNvPr id="23" name="A03_f_25"/>
          <p:cNvSpPr txBox="1"/>
          <p:nvPr/>
        </p:nvSpPr>
        <p:spPr>
          <a:xfrm>
            <a:off x="685800" y="1417320"/>
            <a:ext cx="2697480" cy="548640"/>
          </a:xfrm>
          <a:prstGeom prst="rect">
            <a:avLst/>
          </a:prstGeom>
          <a:noFill/>
          <a:ln/>
        </p:spPr>
        <p:txBody>
          <a:bodyPr wrap="square" lIns="0" tIns="0" rIns="0" bIns="0" rtlCol="0" anchor="ctr"/>
          <a:lstStyle/>
          <a:p>
            <a:pPr marL="0" indent="0" algn="r" rtl="1">
              <a:buNone/>
            </a:pPr>
            <a:r>
              <a:rPr lang="fa-IR" altLang="en-US" sz="1700" b="1" dirty="0">
                <a:solidFill>
                  <a:srgbClr val="6D597A"/>
                </a:solidFill>
                <a:latin typeface="Tahoma" pitchFamily="34" charset="0"/>
                <a:ea typeface="Tahoma" pitchFamily="34" charset="-122"/>
                <a:cs typeface="Tahoma" pitchFamily="34" charset="-120"/>
              </a:rPr>
              <a:t>سبک‌های هویتی</a:t>
            </a:r>
            <a:endParaRPr lang="fa-IR" sz="1700" dirty="0"/>
          </a:p>
        </p:txBody>
      </p:sp>
      <p:sp>
        <p:nvSpPr>
          <p:cNvPr id="24" name="A03_f_26"/>
          <p:cNvSpPr txBox="1"/>
          <p:nvPr/>
        </p:nvSpPr>
        <p:spPr>
          <a:xfrm>
            <a:off x="685800" y="2103120"/>
            <a:ext cx="3337560" cy="1737360"/>
          </a:xfrm>
          <a:prstGeom prst="rect">
            <a:avLst/>
          </a:prstGeom>
          <a:noFill/>
          <a:ln/>
        </p:spPr>
        <p:txBody>
          <a:bodyPr wrap="square" lIns="0" tIns="0" rIns="0" bIns="0" rtlCol="0" anchor="t"/>
          <a:lstStyle/>
          <a:p>
            <a:pPr marL="342900" indent="-342900" algn="r" rtl="1">
              <a:spcAft>
                <a:spcPts val="800"/>
              </a:spcAft>
              <a:buSzPct val="100000"/>
              <a:buChar char="•"/>
            </a:pPr>
            <a:r>
              <a:rPr lang="fa-IR" altLang="en-US" sz="1350" dirty="0">
                <a:solidFill>
                  <a:srgbClr val="263238"/>
                </a:solidFill>
                <a:latin typeface="Tahoma" pitchFamily="34" charset="0"/>
                <a:ea typeface="Tahoma" pitchFamily="34" charset="-122"/>
                <a:cs typeface="Tahoma" pitchFamily="34" charset="-120"/>
              </a:rPr>
              <a:t>سبک‌های هویتی برزونسکی: اطلاعاتی، هنجاری، سردرگم/اجتنابی</a:t>
            </a:r>
            <a:endParaRPr lang="fa-IR" sz="1350" dirty="0"/>
          </a:p>
          <a:p>
            <a:pPr marL="342900" indent="-342900" algn="r" rtl="1">
              <a:spcAft>
                <a:spcPts val="800"/>
              </a:spcAft>
              <a:buSzPct val="100000"/>
              <a:buChar char="•"/>
            </a:pPr>
            <a:r>
              <a:rPr lang="fa-IR" altLang="en-US" sz="1350" dirty="0">
                <a:solidFill>
                  <a:srgbClr val="263238"/>
                </a:solidFill>
                <a:latin typeface="Tahoma" pitchFamily="34" charset="0"/>
                <a:ea typeface="Tahoma" pitchFamily="34" charset="-122"/>
                <a:cs typeface="Tahoma" pitchFamily="34" charset="-120"/>
              </a:rPr>
              <a:t>هویت سردرگم ↔ راهبردهای ناسازگارانه در موقعیت‌های بین‌فردی</a:t>
            </a:r>
            <a:endParaRPr lang="fa-IR" sz="1350" dirty="0"/>
          </a:p>
        </p:txBody>
      </p:sp>
      <p:sp>
        <p:nvSpPr>
          <p:cNvPr id="25" name="A02_f_27"/>
          <p:cNvSpPr/>
          <p:nvPr/>
        </p:nvSpPr>
        <p:spPr>
          <a:xfrm flipH="1">
            <a:off x="7726680" y="2606040"/>
            <a:ext cx="246888" cy="0"/>
          </a:xfrm>
          <a:prstGeom prst="line">
            <a:avLst/>
          </a:prstGeom>
          <a:noFill/>
          <a:ln w="28575">
            <a:solidFill>
              <a:srgbClr val="6B7B83"/>
            </a:solidFill>
            <a:prstDash val="solid"/>
            <a:tailEnd type="triangle"/>
          </a:ln>
        </p:spPr>
      </p:sp>
      <p:sp>
        <p:nvSpPr>
          <p:cNvPr id="26" name="A03_f_28"/>
          <p:cNvSpPr/>
          <p:nvPr/>
        </p:nvSpPr>
        <p:spPr>
          <a:xfrm flipH="1">
            <a:off x="3977640" y="2606040"/>
            <a:ext cx="246888" cy="0"/>
          </a:xfrm>
          <a:prstGeom prst="line">
            <a:avLst/>
          </a:prstGeom>
          <a:noFill/>
          <a:ln w="28575">
            <a:solidFill>
              <a:srgbClr val="6B7B83"/>
            </a:solidFill>
            <a:prstDash val="solid"/>
            <a:tailEnd type="triangle"/>
          </a:ln>
        </p:spPr>
      </p:sp>
      <p:sp>
        <p:nvSpPr>
          <p:cNvPr id="27" name="A04_f_29b"/>
          <p:cNvSpPr/>
          <p:nvPr/>
        </p:nvSpPr>
        <p:spPr>
          <a:xfrm>
            <a:off x="6720840" y="4251960"/>
            <a:ext cx="4983480" cy="1783080"/>
          </a:xfrm>
          <a:prstGeom prst="roundRect">
            <a:avLst>
              <a:gd name="adj" fmla="val 6154"/>
            </a:avLst>
          </a:prstGeom>
          <a:solidFill>
            <a:srgbClr val="FBF3E1"/>
          </a:solidFill>
          <a:ln w="12700">
            <a:solidFill>
              <a:srgbClr val="FBF3E1"/>
            </a:solidFill>
            <a:prstDash val="solid"/>
          </a:ln>
        </p:spPr>
      </p:sp>
      <p:sp>
        <p:nvSpPr>
          <p:cNvPr id="28" name="A04_f_30c"/>
          <p:cNvSpPr/>
          <p:nvPr/>
        </p:nvSpPr>
        <p:spPr>
          <a:xfrm>
            <a:off x="10972800" y="4407408"/>
            <a:ext cx="548640" cy="548640"/>
          </a:xfrm>
          <a:prstGeom prst="ellipse">
            <a:avLst/>
          </a:prstGeom>
          <a:solidFill>
            <a:srgbClr val="E9B44C"/>
          </a:solidFill>
          <a:ln w="12700">
            <a:solidFill>
              <a:srgbClr val="E9B44C"/>
            </a:solidFill>
            <a:prstDash val="solid"/>
          </a:ln>
        </p:spPr>
      </p:sp>
      <p:pic>
        <p:nvPicPr>
          <p:cNvPr id="29" name="A04_f_30i" descr="preencoded.png"/>
          <p:cNvPicPr>
            <a:picLocks noChangeAspect="1"/>
          </p:cNvPicPr>
          <p:nvPr/>
        </p:nvPicPr>
        <p:blipFill>
          <a:blip r:embed="rId7"/>
          <a:stretch>
            <a:fillRect/>
          </a:stretch>
        </p:blipFill>
        <p:spPr>
          <a:xfrm>
            <a:off x="11093501" y="4528109"/>
            <a:ext cx="307238" cy="307238"/>
          </a:xfrm>
          <a:prstGeom prst="rect">
            <a:avLst/>
          </a:prstGeom>
        </p:spPr>
      </p:pic>
      <p:sp>
        <p:nvSpPr>
          <p:cNvPr id="30" name="A04_f_31"/>
          <p:cNvSpPr txBox="1"/>
          <p:nvPr/>
        </p:nvSpPr>
        <p:spPr>
          <a:xfrm>
            <a:off x="6903720" y="4407408"/>
            <a:ext cx="3931920" cy="548640"/>
          </a:xfrm>
          <a:prstGeom prst="rect">
            <a:avLst/>
          </a:prstGeom>
          <a:noFill/>
          <a:ln/>
        </p:spPr>
        <p:txBody>
          <a:bodyPr wrap="square" lIns="0" tIns="0" rIns="0" bIns="0" rtlCol="0" anchor="ctr"/>
          <a:lstStyle/>
          <a:p>
            <a:pPr marL="0" indent="0" algn="r" rtl="1">
              <a:buNone/>
            </a:pPr>
            <a:r>
              <a:rPr lang="fa-IR" altLang="en-US" sz="1700" b="1" dirty="0">
                <a:solidFill>
                  <a:srgbClr val="9A6B12"/>
                </a:solidFill>
                <a:latin typeface="Tahoma" pitchFamily="34" charset="0"/>
                <a:ea typeface="Tahoma" pitchFamily="34" charset="-122"/>
                <a:cs typeface="Tahoma" pitchFamily="34" charset="-120"/>
              </a:rPr>
              <a:t>خلأ پژوهشی</a:t>
            </a:r>
            <a:endParaRPr lang="fa-IR" sz="1700" dirty="0"/>
          </a:p>
        </p:txBody>
      </p:sp>
      <p:sp>
        <p:nvSpPr>
          <p:cNvPr id="31" name="A04_f_32"/>
          <p:cNvSpPr txBox="1"/>
          <p:nvPr/>
        </p:nvSpPr>
        <p:spPr>
          <a:xfrm>
            <a:off x="6903720" y="5010912"/>
            <a:ext cx="4617720" cy="960120"/>
          </a:xfrm>
          <a:prstGeom prst="rect">
            <a:avLst/>
          </a:prstGeom>
          <a:noFill/>
          <a:ln/>
        </p:spPr>
        <p:txBody>
          <a:bodyPr wrap="square" lIns="0" tIns="0" rIns="0" bIns="0" rtlCol="0" anchor="t"/>
          <a:lstStyle/>
          <a:p>
            <a:pPr marL="0" indent="0" algn="r" rtl="1">
              <a:buNone/>
            </a:pPr>
            <a:r>
              <a:rPr lang="fa-IR" altLang="en-US" sz="1350" dirty="0">
                <a:solidFill>
                  <a:srgbClr val="263238"/>
                </a:solidFill>
                <a:latin typeface="Tahoma" pitchFamily="34" charset="0"/>
                <a:ea typeface="Tahoma" pitchFamily="34" charset="-122"/>
                <a:cs typeface="Tahoma" pitchFamily="34" charset="-120"/>
              </a:rPr>
              <a:t>بیشتر پژوهش‌ها فقط رابطه دوجانبه دو متغیر را بررسی کرده‌اند؛ نقش میانجی سبک‌های حل تعارض در مدل‌های سه‌متغیره کمتر آزموده شده است</a:t>
            </a:r>
            <a:endParaRPr lang="fa-IR" sz="1350" dirty="0"/>
          </a:p>
        </p:txBody>
      </p:sp>
      <p:sp>
        <p:nvSpPr>
          <p:cNvPr id="32" name="A05_f_33b"/>
          <p:cNvSpPr/>
          <p:nvPr/>
        </p:nvSpPr>
        <p:spPr>
          <a:xfrm>
            <a:off x="502920" y="4251960"/>
            <a:ext cx="5989320" cy="1783080"/>
          </a:xfrm>
          <a:prstGeom prst="roundRect">
            <a:avLst>
              <a:gd name="adj" fmla="val 6154"/>
            </a:avLst>
          </a:prstGeom>
          <a:solidFill>
            <a:srgbClr val="0F5257"/>
          </a:solidFill>
          <a:ln w="12700">
            <a:solidFill>
              <a:srgbClr val="0F5257"/>
            </a:solidFill>
            <a:prstDash val="solid"/>
          </a:ln>
        </p:spPr>
      </p:sp>
      <p:sp>
        <p:nvSpPr>
          <p:cNvPr id="33" name="A05_f_34c"/>
          <p:cNvSpPr/>
          <p:nvPr/>
        </p:nvSpPr>
        <p:spPr>
          <a:xfrm>
            <a:off x="5760720" y="4407408"/>
            <a:ext cx="548640" cy="548640"/>
          </a:xfrm>
          <a:prstGeom prst="ellipse">
            <a:avLst/>
          </a:prstGeom>
          <a:solidFill>
            <a:srgbClr val="FFFFFF"/>
          </a:solidFill>
          <a:ln w="12700">
            <a:solidFill>
              <a:srgbClr val="FFFFFF"/>
            </a:solidFill>
            <a:prstDash val="solid"/>
          </a:ln>
        </p:spPr>
      </p:sp>
      <p:pic>
        <p:nvPicPr>
          <p:cNvPr id="34" name="A05_f_34i" descr="preencoded.png"/>
          <p:cNvPicPr>
            <a:picLocks noChangeAspect="1"/>
          </p:cNvPicPr>
          <p:nvPr/>
        </p:nvPicPr>
        <p:blipFill>
          <a:blip r:embed="rId8"/>
          <a:stretch>
            <a:fillRect/>
          </a:stretch>
        </p:blipFill>
        <p:spPr>
          <a:xfrm>
            <a:off x="5881421" y="4528109"/>
            <a:ext cx="307238" cy="307238"/>
          </a:xfrm>
          <a:prstGeom prst="rect">
            <a:avLst/>
          </a:prstGeom>
        </p:spPr>
      </p:pic>
      <p:sp>
        <p:nvSpPr>
          <p:cNvPr id="35" name="A05_f_35"/>
          <p:cNvSpPr txBox="1"/>
          <p:nvPr/>
        </p:nvSpPr>
        <p:spPr>
          <a:xfrm>
            <a:off x="685800" y="4407408"/>
            <a:ext cx="4937760" cy="548640"/>
          </a:xfrm>
          <a:prstGeom prst="rect">
            <a:avLst/>
          </a:prstGeom>
          <a:noFill/>
          <a:ln/>
        </p:spPr>
        <p:txBody>
          <a:bodyPr wrap="square" lIns="0" tIns="0" rIns="0" bIns="0" rtlCol="0" anchor="ctr"/>
          <a:lstStyle/>
          <a:p>
            <a:pPr marL="0" indent="0" algn="r" rtl="1">
              <a:buNone/>
            </a:pPr>
            <a:r>
              <a:rPr lang="fa-IR" altLang="en-US" sz="1700" b="1" dirty="0">
                <a:solidFill>
                  <a:srgbClr val="FFFFFF"/>
                </a:solidFill>
                <a:latin typeface="Tahoma" pitchFamily="34" charset="0"/>
                <a:ea typeface="Tahoma" pitchFamily="34" charset="-122"/>
                <a:cs typeface="Tahoma" pitchFamily="34" charset="-120"/>
              </a:rPr>
              <a:t>پرسش اصلی پژوهش</a:t>
            </a:r>
            <a:endParaRPr lang="fa-IR" sz="1700" dirty="0"/>
          </a:p>
        </p:txBody>
      </p:sp>
      <p:sp>
        <p:nvSpPr>
          <p:cNvPr id="36" name="A05_f_36"/>
          <p:cNvSpPr txBox="1"/>
          <p:nvPr/>
        </p:nvSpPr>
        <p:spPr>
          <a:xfrm>
            <a:off x="685800" y="5010912"/>
            <a:ext cx="5623560" cy="960120"/>
          </a:xfrm>
          <a:prstGeom prst="rect">
            <a:avLst/>
          </a:prstGeom>
          <a:noFill/>
          <a:ln/>
        </p:spPr>
        <p:txBody>
          <a:bodyPr wrap="square" lIns="0" tIns="0" rIns="0" bIns="0" rtlCol="0" anchor="t"/>
          <a:lstStyle/>
          <a:p>
            <a:pPr marL="0" indent="0" algn="r" rtl="1">
              <a:buNone/>
            </a:pPr>
            <a:r>
              <a:rPr lang="fa-IR" altLang="en-US" sz="1400" dirty="0">
                <a:solidFill>
                  <a:srgbClr val="FFFFFF"/>
                </a:solidFill>
                <a:latin typeface="Tahoma" pitchFamily="34" charset="0"/>
                <a:ea typeface="Tahoma" pitchFamily="34" charset="-122"/>
                <a:cs typeface="Tahoma" pitchFamily="34" charset="-120"/>
              </a:rPr>
              <a:t>آیا بین آسیب‌های دوران کودکی و سبک‌های هویتی رابطه معناداری وجود دارد و آیا سبک‌های حل تعارض می‌توانند این رابطه را میانجی‌گری کنند؟</a:t>
            </a:r>
            <a:endParaRPr lang="fa-IR"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childTnLst>
                          </p:cTn>
                        </p:par>
                        <p:par>
                          <p:cTn id="20" fill="hold">
                            <p:stCondLst>
                              <p:cond delay="300"/>
                            </p:stCondLst>
                            <p:childTnLst>
                              <p:par>
                                <p:cTn id="21" presetID="10"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5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par>
                          <p:cTn id="39" fill="hold">
                            <p:stCondLst>
                              <p:cond delay="600"/>
                            </p:stCondLst>
                            <p:childTnLst>
                              <p:par>
                                <p:cTn id="40" presetID="10" presetClass="entr" presetSubtype="0" fill="hold"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par>
                                <p:cTn id="43" presetID="10"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450"/>
                                        <p:tgtEl>
                                          <p:spTgt spid="21"/>
                                        </p:tgtEl>
                                      </p:cBhvr>
                                    </p:animEffect>
                                  </p:childTnLst>
                                </p:cTn>
                              </p:par>
                              <p:par>
                                <p:cTn id="46" presetID="10" presetClass="entr" presetSubtype="0" fill="hold"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50"/>
                                        <p:tgtEl>
                                          <p:spTgt spid="22"/>
                                        </p:tgtEl>
                                      </p:cBhvr>
                                    </p:animEffect>
                                  </p:childTnLst>
                                </p:cTn>
                              </p:par>
                              <p:par>
                                <p:cTn id="49" presetID="10"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50"/>
                                        <p:tgtEl>
                                          <p:spTgt spid="26"/>
                                        </p:tgtEl>
                                      </p:cBhvr>
                                    </p:animEffect>
                                  </p:childTnLst>
                                </p:cTn>
                              </p:par>
                            </p:childTnLst>
                          </p:cTn>
                        </p:par>
                        <p:par>
                          <p:cTn id="58" fill="hold">
                            <p:stCondLst>
                              <p:cond delay="900"/>
                            </p:stCondLst>
                            <p:childTnLst>
                              <p:par>
                                <p:cTn id="59" presetID="10" presetClass="entr" presetSubtype="0" fill="hold" nodeType="after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50"/>
                                        <p:tgtEl>
                                          <p:spTgt spid="27"/>
                                        </p:tgtEl>
                                      </p:cBhvr>
                                    </p:animEffect>
                                  </p:childTnLst>
                                </p:cTn>
                              </p:par>
                              <p:par>
                                <p:cTn id="62" presetID="10" presetClass="entr" presetSubtype="0"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5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50"/>
                                        <p:tgtEl>
                                          <p:spTgt spid="29"/>
                                        </p:tgtEl>
                                      </p:cBhvr>
                                    </p:animEffect>
                                  </p:childTnLst>
                                </p:cTn>
                              </p:par>
                              <p:par>
                                <p:cTn id="68" presetID="10" presetClass="entr" presetSubtype="0" fill="hold"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50"/>
                                        <p:tgtEl>
                                          <p:spTgt spid="30"/>
                                        </p:tgtEl>
                                      </p:cBhvr>
                                    </p:animEffect>
                                  </p:childTnLst>
                                </p:cTn>
                              </p:par>
                              <p:par>
                                <p:cTn id="71" presetID="10" presetClass="entr" presetSubtype="0" fill="hold"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50"/>
                                        <p:tgtEl>
                                          <p:spTgt spid="31"/>
                                        </p:tgtEl>
                                      </p:cBhvr>
                                    </p:animEffect>
                                  </p:childTnLst>
                                </p:cTn>
                              </p:par>
                            </p:childTnLst>
                          </p:cTn>
                        </p:par>
                        <p:par>
                          <p:cTn id="74" fill="hold">
                            <p:stCondLst>
                              <p:cond delay="1200"/>
                            </p:stCondLst>
                            <p:childTnLst>
                              <p:par>
                                <p:cTn id="75" presetID="10" presetClass="entr" presetSubtype="0" fill="hold" nodeType="after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450"/>
                                        <p:tgtEl>
                                          <p:spTgt spid="32"/>
                                        </p:tgtEl>
                                      </p:cBhvr>
                                    </p:animEffect>
                                  </p:childTnLst>
                                </p:cTn>
                              </p:par>
                              <p:par>
                                <p:cTn id="78" presetID="10" presetClass="entr" presetSubtype="0" fill="hold"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450"/>
                                        <p:tgtEl>
                                          <p:spTgt spid="33"/>
                                        </p:tgtEl>
                                      </p:cBhvr>
                                    </p:animEffect>
                                  </p:childTnLst>
                                </p:cTn>
                              </p:par>
                              <p:par>
                                <p:cTn id="81" presetID="10" presetClass="entr" presetSubtype="0" fill="hold" nodeType="with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450"/>
                                        <p:tgtEl>
                                          <p:spTgt spid="34"/>
                                        </p:tgtEl>
                                      </p:cBhvr>
                                    </p:animEffect>
                                  </p:childTnLst>
                                </p:cTn>
                              </p:par>
                              <p:par>
                                <p:cTn id="84" presetID="10" presetClass="entr" presetSubtype="0" fill="hold" nodeType="with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450"/>
                                        <p:tgtEl>
                                          <p:spTgt spid="35"/>
                                        </p:tgtEl>
                                      </p:cBhvr>
                                    </p:animEffect>
                                  </p:childTnLst>
                                </p:cTn>
                              </p:par>
                              <p:par>
                                <p:cTn id="87" presetID="10" presetClass="entr" presetSubtype="0"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اهمیت و ضرورت پژوهش</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۴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A01_z_37b"/>
          <p:cNvSpPr/>
          <p:nvPr/>
        </p:nvSpPr>
        <p:spPr>
          <a:xfrm>
            <a:off x="8138160" y="1280160"/>
            <a:ext cx="3566160" cy="2331720"/>
          </a:xfrm>
          <a:prstGeom prst="roundRect">
            <a:avLst>
              <a:gd name="adj" fmla="val 4706"/>
            </a:avLst>
          </a:prstGeom>
          <a:solidFill>
            <a:srgbClr val="FBECE7"/>
          </a:solidFill>
          <a:ln w="12700">
            <a:solidFill>
              <a:srgbClr val="FBECE7"/>
            </a:solidFill>
            <a:prstDash val="solid"/>
          </a:ln>
        </p:spPr>
      </p:sp>
      <p:sp>
        <p:nvSpPr>
          <p:cNvPr id="11" name="A01_z_38c"/>
          <p:cNvSpPr/>
          <p:nvPr/>
        </p:nvSpPr>
        <p:spPr>
          <a:xfrm>
            <a:off x="10927080" y="1508760"/>
            <a:ext cx="566928" cy="566928"/>
          </a:xfrm>
          <a:prstGeom prst="ellipse">
            <a:avLst/>
          </a:prstGeom>
          <a:solidFill>
            <a:srgbClr val="D9674A"/>
          </a:solidFill>
          <a:ln w="12700">
            <a:solidFill>
              <a:srgbClr val="D9674A"/>
            </a:solidFill>
            <a:prstDash val="solid"/>
          </a:ln>
        </p:spPr>
      </p:sp>
      <p:pic>
        <p:nvPicPr>
          <p:cNvPr id="12" name="A01_z_38i" descr="preencoded.png"/>
          <p:cNvPicPr>
            <a:picLocks noChangeAspect="1"/>
          </p:cNvPicPr>
          <p:nvPr/>
        </p:nvPicPr>
        <p:blipFill>
          <a:blip r:embed="rId4"/>
          <a:stretch>
            <a:fillRect/>
          </a:stretch>
        </p:blipFill>
        <p:spPr>
          <a:xfrm>
            <a:off x="11051804" y="1633484"/>
            <a:ext cx="317480" cy="317480"/>
          </a:xfrm>
          <a:prstGeom prst="rect">
            <a:avLst/>
          </a:prstGeom>
        </p:spPr>
      </p:pic>
      <p:sp>
        <p:nvSpPr>
          <p:cNvPr id="13" name="A01_z_39"/>
          <p:cNvSpPr txBox="1"/>
          <p:nvPr/>
        </p:nvSpPr>
        <p:spPr>
          <a:xfrm>
            <a:off x="8321040" y="1508760"/>
            <a:ext cx="2514600" cy="566928"/>
          </a:xfrm>
          <a:prstGeom prst="rect">
            <a:avLst/>
          </a:prstGeom>
          <a:noFill/>
          <a:ln/>
        </p:spPr>
        <p:txBody>
          <a:bodyPr wrap="square" lIns="0" tIns="0" rIns="0" bIns="0" rtlCol="0" anchor="ctr"/>
          <a:lstStyle/>
          <a:p>
            <a:pPr marL="0" indent="0" algn="r" rtl="1">
              <a:buNone/>
            </a:pPr>
            <a:r>
              <a:rPr lang="fa-IR" altLang="en-US" sz="1700" b="1" dirty="0">
                <a:solidFill>
                  <a:srgbClr val="D9674A"/>
                </a:solidFill>
                <a:latin typeface="Tahoma" pitchFamily="34" charset="0"/>
                <a:ea typeface="Tahoma" pitchFamily="34" charset="-122"/>
                <a:cs typeface="Tahoma" pitchFamily="34" charset="-120"/>
              </a:rPr>
              <a:t>عامل خطر کلیدی</a:t>
            </a:r>
            <a:endParaRPr lang="fa-IR" sz="1700" dirty="0"/>
          </a:p>
        </p:txBody>
      </p:sp>
      <p:sp>
        <p:nvSpPr>
          <p:cNvPr id="14" name="A01_z_40"/>
          <p:cNvSpPr txBox="1"/>
          <p:nvPr/>
        </p:nvSpPr>
        <p:spPr>
          <a:xfrm>
            <a:off x="8366760" y="2194560"/>
            <a:ext cx="3108960" cy="128016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آسیب‌های کودکی از مهم‌ترین عوامل خطر در تحول شخصیت، رفتار اجتماعی و سلامت روان بزرگسالی</a:t>
            </a:r>
            <a:endParaRPr lang="fa-IR" sz="1400" dirty="0"/>
          </a:p>
        </p:txBody>
      </p:sp>
      <p:sp>
        <p:nvSpPr>
          <p:cNvPr id="15" name="A02_z_41b"/>
          <p:cNvSpPr/>
          <p:nvPr/>
        </p:nvSpPr>
        <p:spPr>
          <a:xfrm>
            <a:off x="4297680" y="1280160"/>
            <a:ext cx="3566160" cy="2331720"/>
          </a:xfrm>
          <a:prstGeom prst="roundRect">
            <a:avLst>
              <a:gd name="adj" fmla="val 4706"/>
            </a:avLst>
          </a:prstGeom>
          <a:solidFill>
            <a:srgbClr val="EFEAF3"/>
          </a:solidFill>
          <a:ln w="12700">
            <a:solidFill>
              <a:srgbClr val="EFEAF3"/>
            </a:solidFill>
            <a:prstDash val="solid"/>
          </a:ln>
        </p:spPr>
      </p:sp>
      <p:sp>
        <p:nvSpPr>
          <p:cNvPr id="16" name="A02_z_42c"/>
          <p:cNvSpPr/>
          <p:nvPr/>
        </p:nvSpPr>
        <p:spPr>
          <a:xfrm>
            <a:off x="7086600" y="1508760"/>
            <a:ext cx="566928" cy="566928"/>
          </a:xfrm>
          <a:prstGeom prst="ellipse">
            <a:avLst/>
          </a:prstGeom>
          <a:solidFill>
            <a:srgbClr val="6D597A"/>
          </a:solidFill>
          <a:ln w="12700">
            <a:solidFill>
              <a:srgbClr val="6D597A"/>
            </a:solidFill>
            <a:prstDash val="solid"/>
          </a:ln>
        </p:spPr>
      </p:sp>
      <p:pic>
        <p:nvPicPr>
          <p:cNvPr id="17" name="A02_z_42i" descr="preencoded.png"/>
          <p:cNvPicPr>
            <a:picLocks noChangeAspect="1"/>
          </p:cNvPicPr>
          <p:nvPr/>
        </p:nvPicPr>
        <p:blipFill>
          <a:blip r:embed="rId5"/>
          <a:stretch>
            <a:fillRect/>
          </a:stretch>
        </p:blipFill>
        <p:spPr>
          <a:xfrm>
            <a:off x="7211324" y="1633484"/>
            <a:ext cx="317480" cy="317480"/>
          </a:xfrm>
          <a:prstGeom prst="rect">
            <a:avLst/>
          </a:prstGeom>
        </p:spPr>
      </p:pic>
      <p:sp>
        <p:nvSpPr>
          <p:cNvPr id="18" name="A02_z_43"/>
          <p:cNvSpPr txBox="1"/>
          <p:nvPr/>
        </p:nvSpPr>
        <p:spPr>
          <a:xfrm>
            <a:off x="4480560" y="1508760"/>
            <a:ext cx="2514600" cy="566928"/>
          </a:xfrm>
          <a:prstGeom prst="rect">
            <a:avLst/>
          </a:prstGeom>
          <a:noFill/>
          <a:ln/>
        </p:spPr>
        <p:txBody>
          <a:bodyPr wrap="square" lIns="0" tIns="0" rIns="0" bIns="0" rtlCol="0" anchor="ctr"/>
          <a:lstStyle/>
          <a:p>
            <a:pPr marL="0" indent="0" algn="r" rtl="1">
              <a:buNone/>
            </a:pPr>
            <a:r>
              <a:rPr lang="fa-IR" altLang="en-US" sz="1700" b="1" dirty="0">
                <a:solidFill>
                  <a:srgbClr val="6D597A"/>
                </a:solidFill>
                <a:latin typeface="Tahoma" pitchFamily="34" charset="0"/>
                <a:ea typeface="Tahoma" pitchFamily="34" charset="-122"/>
                <a:cs typeface="Tahoma" pitchFamily="34" charset="-120"/>
              </a:rPr>
              <a:t>پنهان و نادیده‌گرفته</a:t>
            </a:r>
            <a:endParaRPr lang="fa-IR" sz="1700" dirty="0"/>
          </a:p>
        </p:txBody>
      </p:sp>
      <p:sp>
        <p:nvSpPr>
          <p:cNvPr id="19" name="A02_z_44"/>
          <p:cNvSpPr txBox="1"/>
          <p:nvPr/>
        </p:nvSpPr>
        <p:spPr>
          <a:xfrm>
            <a:off x="4526280" y="2194560"/>
            <a:ext cx="3108960" cy="128016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بروز خاموش و مزمن؛ بسیاری از مراجعان پیوند علائم خود با تجربیات اولیه را نمی‌شناسند</a:t>
            </a:r>
            <a:endParaRPr lang="fa-IR" sz="1400" dirty="0"/>
          </a:p>
        </p:txBody>
      </p:sp>
      <p:sp>
        <p:nvSpPr>
          <p:cNvPr id="20" name="A03_z_45b"/>
          <p:cNvSpPr/>
          <p:nvPr/>
        </p:nvSpPr>
        <p:spPr>
          <a:xfrm>
            <a:off x="457200" y="1280160"/>
            <a:ext cx="3566160" cy="2331720"/>
          </a:xfrm>
          <a:prstGeom prst="roundRect">
            <a:avLst>
              <a:gd name="adj" fmla="val 4706"/>
            </a:avLst>
          </a:prstGeom>
          <a:solidFill>
            <a:srgbClr val="E6F2F1"/>
          </a:solidFill>
          <a:ln w="12700">
            <a:solidFill>
              <a:srgbClr val="E6F2F1"/>
            </a:solidFill>
            <a:prstDash val="solid"/>
          </a:ln>
        </p:spPr>
      </p:sp>
      <p:sp>
        <p:nvSpPr>
          <p:cNvPr id="21" name="A03_z_46c"/>
          <p:cNvSpPr/>
          <p:nvPr/>
        </p:nvSpPr>
        <p:spPr>
          <a:xfrm>
            <a:off x="3246120" y="1508760"/>
            <a:ext cx="566928" cy="566928"/>
          </a:xfrm>
          <a:prstGeom prst="ellipse">
            <a:avLst/>
          </a:prstGeom>
          <a:solidFill>
            <a:srgbClr val="2A9D8F"/>
          </a:solidFill>
          <a:ln w="12700">
            <a:solidFill>
              <a:srgbClr val="2A9D8F"/>
            </a:solidFill>
            <a:prstDash val="solid"/>
          </a:ln>
        </p:spPr>
      </p:sp>
      <p:pic>
        <p:nvPicPr>
          <p:cNvPr id="22" name="A03_z_46i" descr="preencoded.png"/>
          <p:cNvPicPr>
            <a:picLocks noChangeAspect="1"/>
          </p:cNvPicPr>
          <p:nvPr/>
        </p:nvPicPr>
        <p:blipFill>
          <a:blip r:embed="rId6"/>
          <a:stretch>
            <a:fillRect/>
          </a:stretch>
        </p:blipFill>
        <p:spPr>
          <a:xfrm>
            <a:off x="3370844" y="1633484"/>
            <a:ext cx="317480" cy="317480"/>
          </a:xfrm>
          <a:prstGeom prst="rect">
            <a:avLst/>
          </a:prstGeom>
        </p:spPr>
      </p:pic>
      <p:sp>
        <p:nvSpPr>
          <p:cNvPr id="23" name="A03_z_47"/>
          <p:cNvSpPr txBox="1"/>
          <p:nvPr/>
        </p:nvSpPr>
        <p:spPr>
          <a:xfrm>
            <a:off x="640080" y="1508760"/>
            <a:ext cx="2514600" cy="566928"/>
          </a:xfrm>
          <a:prstGeom prst="rect">
            <a:avLst/>
          </a:prstGeom>
          <a:noFill/>
          <a:ln/>
        </p:spPr>
        <p:txBody>
          <a:bodyPr wrap="square" lIns="0" tIns="0" rIns="0" bIns="0" rtlCol="0" anchor="ctr"/>
          <a:lstStyle/>
          <a:p>
            <a:pPr marL="0" indent="0" algn="r" rtl="1">
              <a:buNone/>
            </a:pPr>
            <a:r>
              <a:rPr lang="fa-IR" altLang="en-US" sz="1700" b="1" dirty="0">
                <a:solidFill>
                  <a:srgbClr val="2A9D8F"/>
                </a:solidFill>
                <a:latin typeface="Tahoma" pitchFamily="34" charset="0"/>
                <a:ea typeface="Tahoma" pitchFamily="34" charset="-122"/>
                <a:cs typeface="Tahoma" pitchFamily="34" charset="-120"/>
              </a:rPr>
              <a:t>راهگشای درمان بالینی</a:t>
            </a:r>
            <a:endParaRPr lang="fa-IR" sz="1700" dirty="0"/>
          </a:p>
        </p:txBody>
      </p:sp>
      <p:sp>
        <p:nvSpPr>
          <p:cNvPr id="24" name="A03_z_48"/>
          <p:cNvSpPr txBox="1"/>
          <p:nvPr/>
        </p:nvSpPr>
        <p:spPr>
          <a:xfrm>
            <a:off x="685800" y="2194560"/>
            <a:ext cx="3108960" cy="128016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راهنمای طراحی مداخلات هدفمند: شناختی‌ـ‌رفتاری، طرحواره‌درمانی و ACT</a:t>
            </a:r>
            <a:endParaRPr lang="fa-IR" sz="1400" dirty="0"/>
          </a:p>
        </p:txBody>
      </p:sp>
      <p:sp>
        <p:nvSpPr>
          <p:cNvPr id="25" name="A04_z_49b"/>
          <p:cNvSpPr/>
          <p:nvPr/>
        </p:nvSpPr>
        <p:spPr>
          <a:xfrm>
            <a:off x="8138160" y="3886200"/>
            <a:ext cx="3566160" cy="2331720"/>
          </a:xfrm>
          <a:prstGeom prst="roundRect">
            <a:avLst>
              <a:gd name="adj" fmla="val 4706"/>
            </a:avLst>
          </a:prstGeom>
          <a:solidFill>
            <a:srgbClr val="E6F2F1"/>
          </a:solidFill>
          <a:ln w="12700">
            <a:solidFill>
              <a:srgbClr val="E6F2F1"/>
            </a:solidFill>
            <a:prstDash val="solid"/>
          </a:ln>
        </p:spPr>
      </p:sp>
      <p:sp>
        <p:nvSpPr>
          <p:cNvPr id="26" name="A04_z_50c"/>
          <p:cNvSpPr/>
          <p:nvPr/>
        </p:nvSpPr>
        <p:spPr>
          <a:xfrm>
            <a:off x="10927080" y="4114800"/>
            <a:ext cx="566928" cy="566928"/>
          </a:xfrm>
          <a:prstGeom prst="ellipse">
            <a:avLst/>
          </a:prstGeom>
          <a:solidFill>
            <a:srgbClr val="2A9D8F"/>
          </a:solidFill>
          <a:ln w="12700">
            <a:solidFill>
              <a:srgbClr val="2A9D8F"/>
            </a:solidFill>
            <a:prstDash val="solid"/>
          </a:ln>
        </p:spPr>
      </p:sp>
      <p:pic>
        <p:nvPicPr>
          <p:cNvPr id="27" name="A04_z_50i" descr="preencoded.png"/>
          <p:cNvPicPr>
            <a:picLocks noChangeAspect="1"/>
          </p:cNvPicPr>
          <p:nvPr/>
        </p:nvPicPr>
        <p:blipFill>
          <a:blip r:embed="rId7"/>
          <a:stretch>
            <a:fillRect/>
          </a:stretch>
        </p:blipFill>
        <p:spPr>
          <a:xfrm>
            <a:off x="11051804" y="4239524"/>
            <a:ext cx="317480" cy="317480"/>
          </a:xfrm>
          <a:prstGeom prst="rect">
            <a:avLst/>
          </a:prstGeom>
        </p:spPr>
      </p:pic>
      <p:sp>
        <p:nvSpPr>
          <p:cNvPr id="28" name="A04_z_51"/>
          <p:cNvSpPr txBox="1"/>
          <p:nvPr/>
        </p:nvSpPr>
        <p:spPr>
          <a:xfrm>
            <a:off x="8321040" y="4114800"/>
            <a:ext cx="2514600" cy="566928"/>
          </a:xfrm>
          <a:prstGeom prst="rect">
            <a:avLst/>
          </a:prstGeom>
          <a:noFill/>
          <a:ln/>
        </p:spPr>
        <p:txBody>
          <a:bodyPr wrap="square" lIns="0" tIns="0" rIns="0" bIns="0" rtlCol="0" anchor="ctr"/>
          <a:lstStyle/>
          <a:p>
            <a:pPr marL="0" indent="0" algn="r" rtl="1">
              <a:buNone/>
            </a:pPr>
            <a:r>
              <a:rPr lang="fa-IR" altLang="en-US" sz="1700" b="1" dirty="0">
                <a:solidFill>
                  <a:srgbClr val="2A9D8F"/>
                </a:solidFill>
                <a:latin typeface="Tahoma" pitchFamily="34" charset="0"/>
                <a:ea typeface="Tahoma" pitchFamily="34" charset="-122"/>
                <a:cs typeface="Tahoma" pitchFamily="34" charset="-120"/>
              </a:rPr>
              <a:t>کاربرد پیشگیرانه</a:t>
            </a:r>
            <a:endParaRPr lang="fa-IR" sz="1700" dirty="0"/>
          </a:p>
        </p:txBody>
      </p:sp>
      <p:sp>
        <p:nvSpPr>
          <p:cNvPr id="29" name="A04_z_52"/>
          <p:cNvSpPr txBox="1"/>
          <p:nvPr/>
        </p:nvSpPr>
        <p:spPr>
          <a:xfrm>
            <a:off x="8366760" y="4800600"/>
            <a:ext cx="3108960" cy="128016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برنامه‌ریزی آموزش‌های پیشگیرانه برای خانواده‌ها، مدارس و نهادهای حمایتی</a:t>
            </a:r>
            <a:endParaRPr lang="fa-IR" sz="1400" dirty="0"/>
          </a:p>
        </p:txBody>
      </p:sp>
      <p:sp>
        <p:nvSpPr>
          <p:cNvPr id="30" name="A05_z_53b"/>
          <p:cNvSpPr/>
          <p:nvPr/>
        </p:nvSpPr>
        <p:spPr>
          <a:xfrm>
            <a:off x="4297680" y="3886200"/>
            <a:ext cx="3566160" cy="2331720"/>
          </a:xfrm>
          <a:prstGeom prst="roundRect">
            <a:avLst>
              <a:gd name="adj" fmla="val 4706"/>
            </a:avLst>
          </a:prstGeom>
          <a:solidFill>
            <a:srgbClr val="FBECE7"/>
          </a:solidFill>
          <a:ln w="12700">
            <a:solidFill>
              <a:srgbClr val="FBECE7"/>
            </a:solidFill>
            <a:prstDash val="solid"/>
          </a:ln>
        </p:spPr>
      </p:sp>
      <p:sp>
        <p:nvSpPr>
          <p:cNvPr id="31" name="A05_z_54c"/>
          <p:cNvSpPr/>
          <p:nvPr/>
        </p:nvSpPr>
        <p:spPr>
          <a:xfrm>
            <a:off x="7086600" y="4114800"/>
            <a:ext cx="566928" cy="566928"/>
          </a:xfrm>
          <a:prstGeom prst="ellipse">
            <a:avLst/>
          </a:prstGeom>
          <a:solidFill>
            <a:srgbClr val="D9674A"/>
          </a:solidFill>
          <a:ln w="12700">
            <a:solidFill>
              <a:srgbClr val="D9674A"/>
            </a:solidFill>
            <a:prstDash val="solid"/>
          </a:ln>
        </p:spPr>
      </p:sp>
      <p:pic>
        <p:nvPicPr>
          <p:cNvPr id="32" name="A05_z_54i" descr="preencoded.png"/>
          <p:cNvPicPr>
            <a:picLocks noChangeAspect="1"/>
          </p:cNvPicPr>
          <p:nvPr/>
        </p:nvPicPr>
        <p:blipFill>
          <a:blip r:embed="rId8"/>
          <a:stretch>
            <a:fillRect/>
          </a:stretch>
        </p:blipFill>
        <p:spPr>
          <a:xfrm>
            <a:off x="7211324" y="4239524"/>
            <a:ext cx="317480" cy="317480"/>
          </a:xfrm>
          <a:prstGeom prst="rect">
            <a:avLst/>
          </a:prstGeom>
        </p:spPr>
      </p:pic>
      <p:sp>
        <p:nvSpPr>
          <p:cNvPr id="33" name="A05_z_55"/>
          <p:cNvSpPr txBox="1"/>
          <p:nvPr/>
        </p:nvSpPr>
        <p:spPr>
          <a:xfrm>
            <a:off x="4480560" y="4114800"/>
            <a:ext cx="2514600" cy="566928"/>
          </a:xfrm>
          <a:prstGeom prst="rect">
            <a:avLst/>
          </a:prstGeom>
          <a:noFill/>
          <a:ln/>
        </p:spPr>
        <p:txBody>
          <a:bodyPr wrap="square" lIns="0" tIns="0" rIns="0" bIns="0" rtlCol="0" anchor="ctr"/>
          <a:lstStyle/>
          <a:p>
            <a:pPr marL="0" indent="0" algn="r" rtl="1">
              <a:buNone/>
            </a:pPr>
            <a:r>
              <a:rPr lang="fa-IR" altLang="en-US" sz="1700" b="1" dirty="0">
                <a:solidFill>
                  <a:srgbClr val="D9674A"/>
                </a:solidFill>
                <a:latin typeface="Tahoma" pitchFamily="34" charset="0"/>
                <a:ea typeface="Tahoma" pitchFamily="34" charset="-122"/>
                <a:cs typeface="Tahoma" pitchFamily="34" charset="-120"/>
              </a:rPr>
              <a:t>اختلالات شخصیت</a:t>
            </a:r>
            <a:endParaRPr lang="fa-IR" sz="1700" dirty="0"/>
          </a:p>
        </p:txBody>
      </p:sp>
      <p:sp>
        <p:nvSpPr>
          <p:cNvPr id="34" name="A05_z_56"/>
          <p:cNvSpPr txBox="1"/>
          <p:nvPr/>
        </p:nvSpPr>
        <p:spPr>
          <a:xfrm>
            <a:off x="4526280" y="4800600"/>
            <a:ext cx="3108960" cy="128016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درک مسیر تروما ← حل تعارض ناکارآمد ← هویت؛ غنای تشخیص و درمان (مرزی، اجتنابی)</a:t>
            </a:r>
            <a:endParaRPr lang="fa-IR" sz="1400" dirty="0"/>
          </a:p>
        </p:txBody>
      </p:sp>
      <p:sp>
        <p:nvSpPr>
          <p:cNvPr id="35" name="A06_z_57b"/>
          <p:cNvSpPr/>
          <p:nvPr/>
        </p:nvSpPr>
        <p:spPr>
          <a:xfrm>
            <a:off x="457200" y="3886200"/>
            <a:ext cx="3566160" cy="2331720"/>
          </a:xfrm>
          <a:prstGeom prst="roundRect">
            <a:avLst>
              <a:gd name="adj" fmla="val 4706"/>
            </a:avLst>
          </a:prstGeom>
          <a:solidFill>
            <a:srgbClr val="EFEAF3"/>
          </a:solidFill>
          <a:ln w="12700">
            <a:solidFill>
              <a:srgbClr val="EFEAF3"/>
            </a:solidFill>
            <a:prstDash val="solid"/>
          </a:ln>
        </p:spPr>
      </p:sp>
      <p:sp>
        <p:nvSpPr>
          <p:cNvPr id="36" name="A06_z_58c"/>
          <p:cNvSpPr/>
          <p:nvPr/>
        </p:nvSpPr>
        <p:spPr>
          <a:xfrm>
            <a:off x="3246120" y="4114800"/>
            <a:ext cx="566928" cy="566928"/>
          </a:xfrm>
          <a:prstGeom prst="ellipse">
            <a:avLst/>
          </a:prstGeom>
          <a:solidFill>
            <a:srgbClr val="6D597A"/>
          </a:solidFill>
          <a:ln w="12700">
            <a:solidFill>
              <a:srgbClr val="6D597A"/>
            </a:solidFill>
            <a:prstDash val="solid"/>
          </a:ln>
        </p:spPr>
      </p:sp>
      <p:pic>
        <p:nvPicPr>
          <p:cNvPr id="37" name="A06_z_58i" descr="preencoded.png"/>
          <p:cNvPicPr>
            <a:picLocks noChangeAspect="1"/>
          </p:cNvPicPr>
          <p:nvPr/>
        </p:nvPicPr>
        <p:blipFill>
          <a:blip r:embed="rId9"/>
          <a:stretch>
            <a:fillRect/>
          </a:stretch>
        </p:blipFill>
        <p:spPr>
          <a:xfrm>
            <a:off x="3370844" y="4239524"/>
            <a:ext cx="317480" cy="317480"/>
          </a:xfrm>
          <a:prstGeom prst="rect">
            <a:avLst/>
          </a:prstGeom>
        </p:spPr>
      </p:pic>
      <p:sp>
        <p:nvSpPr>
          <p:cNvPr id="38" name="A06_z_59"/>
          <p:cNvSpPr txBox="1"/>
          <p:nvPr/>
        </p:nvSpPr>
        <p:spPr>
          <a:xfrm>
            <a:off x="640080" y="4114800"/>
            <a:ext cx="2514600" cy="566928"/>
          </a:xfrm>
          <a:prstGeom prst="rect">
            <a:avLst/>
          </a:prstGeom>
          <a:noFill/>
          <a:ln/>
        </p:spPr>
        <p:txBody>
          <a:bodyPr wrap="square" lIns="0" tIns="0" rIns="0" bIns="0" rtlCol="0" anchor="ctr"/>
          <a:lstStyle/>
          <a:p>
            <a:pPr marL="0" indent="0" algn="r" rtl="1">
              <a:buNone/>
            </a:pPr>
            <a:r>
              <a:rPr lang="fa-IR" altLang="en-US" sz="1700" b="1" dirty="0">
                <a:solidFill>
                  <a:srgbClr val="6D597A"/>
                </a:solidFill>
                <a:latin typeface="Tahoma" pitchFamily="34" charset="0"/>
                <a:ea typeface="Tahoma" pitchFamily="34" charset="-122"/>
                <a:cs typeface="Tahoma" pitchFamily="34" charset="-120"/>
              </a:rPr>
              <a:t>خلأ نظری و تجربی</a:t>
            </a:r>
            <a:endParaRPr lang="fa-IR" sz="1700" dirty="0"/>
          </a:p>
        </p:txBody>
      </p:sp>
      <p:sp>
        <p:nvSpPr>
          <p:cNvPr id="39" name="A06_z_60"/>
          <p:cNvSpPr txBox="1"/>
          <p:nvPr/>
        </p:nvSpPr>
        <p:spPr>
          <a:xfrm>
            <a:off x="685800" y="4800600"/>
            <a:ext cx="3108960" cy="128016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مدل‌های سه‌متغیره میانجی محدودند؛ حل تعارض، نقطه‌ای قابل تغییر و مداخله‌پذیر است</a:t>
            </a:r>
            <a:endParaRPr lang="fa-IR"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450" fill="hold"/>
                                        <p:tgtEl>
                                          <p:spTgt spid="10"/>
                                        </p:tgtEl>
                                        <p:attrNameLst>
                                          <p:attrName>ppt_w</p:attrName>
                                        </p:attrNameLst>
                                      </p:cBhvr>
                                      <p:tavLst>
                                        <p:tav tm="0">
                                          <p:val>
                                            <p:fltVal val="0"/>
                                          </p:val>
                                        </p:tav>
                                        <p:tav tm="100000">
                                          <p:val>
                                            <p:strVal val="#ppt_w"/>
                                          </p:val>
                                        </p:tav>
                                      </p:tavLst>
                                    </p:anim>
                                    <p:anim calcmode="lin" valueType="num">
                                      <p:cBhvr>
                                        <p:cTn id="8" dur="450" fill="hold"/>
                                        <p:tgtEl>
                                          <p:spTgt spid="10"/>
                                        </p:tgtEl>
                                        <p:attrNameLst>
                                          <p:attrName>ppt_h</p:attrName>
                                        </p:attrNameLst>
                                      </p:cBhvr>
                                      <p:tavLst>
                                        <p:tav tm="0">
                                          <p:val>
                                            <p:fltVal val="0"/>
                                          </p:val>
                                        </p:tav>
                                        <p:tav tm="100000">
                                          <p:val>
                                            <p:strVal val="#ppt_h"/>
                                          </p:val>
                                        </p:tav>
                                      </p:tavLst>
                                    </p:anim>
                                    <p:animEffect transition="in" filter="fade">
                                      <p:cBhvr>
                                        <p:cTn id="9" dur="45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450" fill="hold"/>
                                        <p:tgtEl>
                                          <p:spTgt spid="11"/>
                                        </p:tgtEl>
                                        <p:attrNameLst>
                                          <p:attrName>ppt_w</p:attrName>
                                        </p:attrNameLst>
                                      </p:cBhvr>
                                      <p:tavLst>
                                        <p:tav tm="0">
                                          <p:val>
                                            <p:fltVal val="0"/>
                                          </p:val>
                                        </p:tav>
                                        <p:tav tm="100000">
                                          <p:val>
                                            <p:strVal val="#ppt_w"/>
                                          </p:val>
                                        </p:tav>
                                      </p:tavLst>
                                    </p:anim>
                                    <p:anim calcmode="lin" valueType="num">
                                      <p:cBhvr>
                                        <p:cTn id="13" dur="450" fill="hold"/>
                                        <p:tgtEl>
                                          <p:spTgt spid="11"/>
                                        </p:tgtEl>
                                        <p:attrNameLst>
                                          <p:attrName>ppt_h</p:attrName>
                                        </p:attrNameLst>
                                      </p:cBhvr>
                                      <p:tavLst>
                                        <p:tav tm="0">
                                          <p:val>
                                            <p:fltVal val="0"/>
                                          </p:val>
                                        </p:tav>
                                        <p:tav tm="100000">
                                          <p:val>
                                            <p:strVal val="#ppt_h"/>
                                          </p:val>
                                        </p:tav>
                                      </p:tavLst>
                                    </p:anim>
                                    <p:animEffect transition="in" filter="fade">
                                      <p:cBhvr>
                                        <p:cTn id="14" dur="450"/>
                                        <p:tgtEl>
                                          <p:spTgt spid="11"/>
                                        </p:tgtEl>
                                      </p:cBhvr>
                                    </p:animEffect>
                                  </p:childTnLst>
                                </p:cTn>
                              </p:par>
                              <p:par>
                                <p:cTn id="15" presetID="53" presetClass="entr" presetSubtype="16"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450" fill="hold"/>
                                        <p:tgtEl>
                                          <p:spTgt spid="12"/>
                                        </p:tgtEl>
                                        <p:attrNameLst>
                                          <p:attrName>ppt_w</p:attrName>
                                        </p:attrNameLst>
                                      </p:cBhvr>
                                      <p:tavLst>
                                        <p:tav tm="0">
                                          <p:val>
                                            <p:fltVal val="0"/>
                                          </p:val>
                                        </p:tav>
                                        <p:tav tm="100000">
                                          <p:val>
                                            <p:strVal val="#ppt_w"/>
                                          </p:val>
                                        </p:tav>
                                      </p:tavLst>
                                    </p:anim>
                                    <p:anim calcmode="lin" valueType="num">
                                      <p:cBhvr>
                                        <p:cTn id="18" dur="450" fill="hold"/>
                                        <p:tgtEl>
                                          <p:spTgt spid="12"/>
                                        </p:tgtEl>
                                        <p:attrNameLst>
                                          <p:attrName>ppt_h</p:attrName>
                                        </p:attrNameLst>
                                      </p:cBhvr>
                                      <p:tavLst>
                                        <p:tav tm="0">
                                          <p:val>
                                            <p:fltVal val="0"/>
                                          </p:val>
                                        </p:tav>
                                        <p:tav tm="100000">
                                          <p:val>
                                            <p:strVal val="#ppt_h"/>
                                          </p:val>
                                        </p:tav>
                                      </p:tavLst>
                                    </p:anim>
                                    <p:animEffect transition="in" filter="fade">
                                      <p:cBhvr>
                                        <p:cTn id="19" dur="450"/>
                                        <p:tgtEl>
                                          <p:spTgt spid="12"/>
                                        </p:tgtEl>
                                      </p:cBhvr>
                                    </p:animEffect>
                                  </p:childTnLst>
                                </p:cTn>
                              </p:par>
                              <p:par>
                                <p:cTn id="20" presetID="53" presetClass="entr" presetSubtype="16"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450" fill="hold"/>
                                        <p:tgtEl>
                                          <p:spTgt spid="13"/>
                                        </p:tgtEl>
                                        <p:attrNameLst>
                                          <p:attrName>ppt_w</p:attrName>
                                        </p:attrNameLst>
                                      </p:cBhvr>
                                      <p:tavLst>
                                        <p:tav tm="0">
                                          <p:val>
                                            <p:fltVal val="0"/>
                                          </p:val>
                                        </p:tav>
                                        <p:tav tm="100000">
                                          <p:val>
                                            <p:strVal val="#ppt_w"/>
                                          </p:val>
                                        </p:tav>
                                      </p:tavLst>
                                    </p:anim>
                                    <p:anim calcmode="lin" valueType="num">
                                      <p:cBhvr>
                                        <p:cTn id="23" dur="450" fill="hold"/>
                                        <p:tgtEl>
                                          <p:spTgt spid="13"/>
                                        </p:tgtEl>
                                        <p:attrNameLst>
                                          <p:attrName>ppt_h</p:attrName>
                                        </p:attrNameLst>
                                      </p:cBhvr>
                                      <p:tavLst>
                                        <p:tav tm="0">
                                          <p:val>
                                            <p:fltVal val="0"/>
                                          </p:val>
                                        </p:tav>
                                        <p:tav tm="100000">
                                          <p:val>
                                            <p:strVal val="#ppt_h"/>
                                          </p:val>
                                        </p:tav>
                                      </p:tavLst>
                                    </p:anim>
                                    <p:animEffect transition="in" filter="fade">
                                      <p:cBhvr>
                                        <p:cTn id="24" dur="450"/>
                                        <p:tgtEl>
                                          <p:spTgt spid="13"/>
                                        </p:tgtEl>
                                      </p:cBhvr>
                                    </p:animEffect>
                                  </p:childTnLst>
                                </p:cTn>
                              </p:par>
                              <p:par>
                                <p:cTn id="25" presetID="53" presetClass="entr" presetSubtype="16"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450" fill="hold"/>
                                        <p:tgtEl>
                                          <p:spTgt spid="14"/>
                                        </p:tgtEl>
                                        <p:attrNameLst>
                                          <p:attrName>ppt_w</p:attrName>
                                        </p:attrNameLst>
                                      </p:cBhvr>
                                      <p:tavLst>
                                        <p:tav tm="0">
                                          <p:val>
                                            <p:fltVal val="0"/>
                                          </p:val>
                                        </p:tav>
                                        <p:tav tm="100000">
                                          <p:val>
                                            <p:strVal val="#ppt_w"/>
                                          </p:val>
                                        </p:tav>
                                      </p:tavLst>
                                    </p:anim>
                                    <p:anim calcmode="lin" valueType="num">
                                      <p:cBhvr>
                                        <p:cTn id="28" dur="450" fill="hold"/>
                                        <p:tgtEl>
                                          <p:spTgt spid="14"/>
                                        </p:tgtEl>
                                        <p:attrNameLst>
                                          <p:attrName>ppt_h</p:attrName>
                                        </p:attrNameLst>
                                      </p:cBhvr>
                                      <p:tavLst>
                                        <p:tav tm="0">
                                          <p:val>
                                            <p:fltVal val="0"/>
                                          </p:val>
                                        </p:tav>
                                        <p:tav tm="100000">
                                          <p:val>
                                            <p:strVal val="#ppt_h"/>
                                          </p:val>
                                        </p:tav>
                                      </p:tavLst>
                                    </p:anim>
                                    <p:animEffect transition="in" filter="fade">
                                      <p:cBhvr>
                                        <p:cTn id="29" dur="450"/>
                                        <p:tgtEl>
                                          <p:spTgt spid="14"/>
                                        </p:tgtEl>
                                      </p:cBhvr>
                                    </p:animEffect>
                                  </p:childTnLst>
                                </p:cTn>
                              </p:par>
                            </p:childTnLst>
                          </p:cTn>
                        </p:par>
                        <p:par>
                          <p:cTn id="30" fill="hold">
                            <p:stCondLst>
                              <p:cond delay="300"/>
                            </p:stCondLst>
                            <p:childTnLst>
                              <p:par>
                                <p:cTn id="31" presetID="53" presetClass="entr" presetSubtype="16" fill="hold" nodeType="after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450" fill="hold"/>
                                        <p:tgtEl>
                                          <p:spTgt spid="15"/>
                                        </p:tgtEl>
                                        <p:attrNameLst>
                                          <p:attrName>ppt_w</p:attrName>
                                        </p:attrNameLst>
                                      </p:cBhvr>
                                      <p:tavLst>
                                        <p:tav tm="0">
                                          <p:val>
                                            <p:fltVal val="0"/>
                                          </p:val>
                                        </p:tav>
                                        <p:tav tm="100000">
                                          <p:val>
                                            <p:strVal val="#ppt_w"/>
                                          </p:val>
                                        </p:tav>
                                      </p:tavLst>
                                    </p:anim>
                                    <p:anim calcmode="lin" valueType="num">
                                      <p:cBhvr>
                                        <p:cTn id="34" dur="450" fill="hold"/>
                                        <p:tgtEl>
                                          <p:spTgt spid="15"/>
                                        </p:tgtEl>
                                        <p:attrNameLst>
                                          <p:attrName>ppt_h</p:attrName>
                                        </p:attrNameLst>
                                      </p:cBhvr>
                                      <p:tavLst>
                                        <p:tav tm="0">
                                          <p:val>
                                            <p:fltVal val="0"/>
                                          </p:val>
                                        </p:tav>
                                        <p:tav tm="100000">
                                          <p:val>
                                            <p:strVal val="#ppt_h"/>
                                          </p:val>
                                        </p:tav>
                                      </p:tavLst>
                                    </p:anim>
                                    <p:animEffect transition="in" filter="fade">
                                      <p:cBhvr>
                                        <p:cTn id="35" dur="450"/>
                                        <p:tgtEl>
                                          <p:spTgt spid="15"/>
                                        </p:tgtEl>
                                      </p:cBhvr>
                                    </p:animEffect>
                                  </p:childTnLst>
                                </p:cTn>
                              </p:par>
                              <p:par>
                                <p:cTn id="36" presetID="53" presetClass="entr" presetSubtype="16"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p:cTn id="38" dur="450" fill="hold"/>
                                        <p:tgtEl>
                                          <p:spTgt spid="16"/>
                                        </p:tgtEl>
                                        <p:attrNameLst>
                                          <p:attrName>ppt_w</p:attrName>
                                        </p:attrNameLst>
                                      </p:cBhvr>
                                      <p:tavLst>
                                        <p:tav tm="0">
                                          <p:val>
                                            <p:fltVal val="0"/>
                                          </p:val>
                                        </p:tav>
                                        <p:tav tm="100000">
                                          <p:val>
                                            <p:strVal val="#ppt_w"/>
                                          </p:val>
                                        </p:tav>
                                      </p:tavLst>
                                    </p:anim>
                                    <p:anim calcmode="lin" valueType="num">
                                      <p:cBhvr>
                                        <p:cTn id="39" dur="450" fill="hold"/>
                                        <p:tgtEl>
                                          <p:spTgt spid="16"/>
                                        </p:tgtEl>
                                        <p:attrNameLst>
                                          <p:attrName>ppt_h</p:attrName>
                                        </p:attrNameLst>
                                      </p:cBhvr>
                                      <p:tavLst>
                                        <p:tav tm="0">
                                          <p:val>
                                            <p:fltVal val="0"/>
                                          </p:val>
                                        </p:tav>
                                        <p:tav tm="100000">
                                          <p:val>
                                            <p:strVal val="#ppt_h"/>
                                          </p:val>
                                        </p:tav>
                                      </p:tavLst>
                                    </p:anim>
                                    <p:animEffect transition="in" filter="fade">
                                      <p:cBhvr>
                                        <p:cTn id="40" dur="450"/>
                                        <p:tgtEl>
                                          <p:spTgt spid="16"/>
                                        </p:tgtEl>
                                      </p:cBhvr>
                                    </p:animEffect>
                                  </p:childTnLst>
                                </p:cTn>
                              </p:par>
                              <p:par>
                                <p:cTn id="41" presetID="53" presetClass="entr" presetSubtype="16"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450" fill="hold"/>
                                        <p:tgtEl>
                                          <p:spTgt spid="17"/>
                                        </p:tgtEl>
                                        <p:attrNameLst>
                                          <p:attrName>ppt_w</p:attrName>
                                        </p:attrNameLst>
                                      </p:cBhvr>
                                      <p:tavLst>
                                        <p:tav tm="0">
                                          <p:val>
                                            <p:fltVal val="0"/>
                                          </p:val>
                                        </p:tav>
                                        <p:tav tm="100000">
                                          <p:val>
                                            <p:strVal val="#ppt_w"/>
                                          </p:val>
                                        </p:tav>
                                      </p:tavLst>
                                    </p:anim>
                                    <p:anim calcmode="lin" valueType="num">
                                      <p:cBhvr>
                                        <p:cTn id="44" dur="450" fill="hold"/>
                                        <p:tgtEl>
                                          <p:spTgt spid="17"/>
                                        </p:tgtEl>
                                        <p:attrNameLst>
                                          <p:attrName>ppt_h</p:attrName>
                                        </p:attrNameLst>
                                      </p:cBhvr>
                                      <p:tavLst>
                                        <p:tav tm="0">
                                          <p:val>
                                            <p:fltVal val="0"/>
                                          </p:val>
                                        </p:tav>
                                        <p:tav tm="100000">
                                          <p:val>
                                            <p:strVal val="#ppt_h"/>
                                          </p:val>
                                        </p:tav>
                                      </p:tavLst>
                                    </p:anim>
                                    <p:animEffect transition="in" filter="fade">
                                      <p:cBhvr>
                                        <p:cTn id="45" dur="450"/>
                                        <p:tgtEl>
                                          <p:spTgt spid="17"/>
                                        </p:tgtEl>
                                      </p:cBhvr>
                                    </p:animEffect>
                                  </p:childTnLst>
                                </p:cTn>
                              </p:par>
                              <p:par>
                                <p:cTn id="46" presetID="53" presetClass="entr" presetSubtype="16"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p:cTn id="48" dur="450" fill="hold"/>
                                        <p:tgtEl>
                                          <p:spTgt spid="18"/>
                                        </p:tgtEl>
                                        <p:attrNameLst>
                                          <p:attrName>ppt_w</p:attrName>
                                        </p:attrNameLst>
                                      </p:cBhvr>
                                      <p:tavLst>
                                        <p:tav tm="0">
                                          <p:val>
                                            <p:fltVal val="0"/>
                                          </p:val>
                                        </p:tav>
                                        <p:tav tm="100000">
                                          <p:val>
                                            <p:strVal val="#ppt_w"/>
                                          </p:val>
                                        </p:tav>
                                      </p:tavLst>
                                    </p:anim>
                                    <p:anim calcmode="lin" valueType="num">
                                      <p:cBhvr>
                                        <p:cTn id="49" dur="450" fill="hold"/>
                                        <p:tgtEl>
                                          <p:spTgt spid="18"/>
                                        </p:tgtEl>
                                        <p:attrNameLst>
                                          <p:attrName>ppt_h</p:attrName>
                                        </p:attrNameLst>
                                      </p:cBhvr>
                                      <p:tavLst>
                                        <p:tav tm="0">
                                          <p:val>
                                            <p:fltVal val="0"/>
                                          </p:val>
                                        </p:tav>
                                        <p:tav tm="100000">
                                          <p:val>
                                            <p:strVal val="#ppt_h"/>
                                          </p:val>
                                        </p:tav>
                                      </p:tavLst>
                                    </p:anim>
                                    <p:animEffect transition="in" filter="fade">
                                      <p:cBhvr>
                                        <p:cTn id="50" dur="450"/>
                                        <p:tgtEl>
                                          <p:spTgt spid="18"/>
                                        </p:tgtEl>
                                      </p:cBhvr>
                                    </p:animEffect>
                                  </p:childTnLst>
                                </p:cTn>
                              </p:par>
                              <p:par>
                                <p:cTn id="51" presetID="53" presetClass="entr" presetSubtype="16"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p:cTn id="53" dur="450" fill="hold"/>
                                        <p:tgtEl>
                                          <p:spTgt spid="19"/>
                                        </p:tgtEl>
                                        <p:attrNameLst>
                                          <p:attrName>ppt_w</p:attrName>
                                        </p:attrNameLst>
                                      </p:cBhvr>
                                      <p:tavLst>
                                        <p:tav tm="0">
                                          <p:val>
                                            <p:fltVal val="0"/>
                                          </p:val>
                                        </p:tav>
                                        <p:tav tm="100000">
                                          <p:val>
                                            <p:strVal val="#ppt_w"/>
                                          </p:val>
                                        </p:tav>
                                      </p:tavLst>
                                    </p:anim>
                                    <p:anim calcmode="lin" valueType="num">
                                      <p:cBhvr>
                                        <p:cTn id="54" dur="450" fill="hold"/>
                                        <p:tgtEl>
                                          <p:spTgt spid="19"/>
                                        </p:tgtEl>
                                        <p:attrNameLst>
                                          <p:attrName>ppt_h</p:attrName>
                                        </p:attrNameLst>
                                      </p:cBhvr>
                                      <p:tavLst>
                                        <p:tav tm="0">
                                          <p:val>
                                            <p:fltVal val="0"/>
                                          </p:val>
                                        </p:tav>
                                        <p:tav tm="100000">
                                          <p:val>
                                            <p:strVal val="#ppt_h"/>
                                          </p:val>
                                        </p:tav>
                                      </p:tavLst>
                                    </p:anim>
                                    <p:animEffect transition="in" filter="fade">
                                      <p:cBhvr>
                                        <p:cTn id="55" dur="450"/>
                                        <p:tgtEl>
                                          <p:spTgt spid="19"/>
                                        </p:tgtEl>
                                      </p:cBhvr>
                                    </p:animEffect>
                                  </p:childTnLst>
                                </p:cTn>
                              </p:par>
                            </p:childTnLst>
                          </p:cTn>
                        </p:par>
                        <p:par>
                          <p:cTn id="56" fill="hold">
                            <p:stCondLst>
                              <p:cond delay="600"/>
                            </p:stCondLst>
                            <p:childTnLst>
                              <p:par>
                                <p:cTn id="57" presetID="53" presetClass="entr" presetSubtype="16" fill="hold" nodeType="after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p:cTn id="59" dur="450" fill="hold"/>
                                        <p:tgtEl>
                                          <p:spTgt spid="20"/>
                                        </p:tgtEl>
                                        <p:attrNameLst>
                                          <p:attrName>ppt_w</p:attrName>
                                        </p:attrNameLst>
                                      </p:cBhvr>
                                      <p:tavLst>
                                        <p:tav tm="0">
                                          <p:val>
                                            <p:fltVal val="0"/>
                                          </p:val>
                                        </p:tav>
                                        <p:tav tm="100000">
                                          <p:val>
                                            <p:strVal val="#ppt_w"/>
                                          </p:val>
                                        </p:tav>
                                      </p:tavLst>
                                    </p:anim>
                                    <p:anim calcmode="lin" valueType="num">
                                      <p:cBhvr>
                                        <p:cTn id="60" dur="450" fill="hold"/>
                                        <p:tgtEl>
                                          <p:spTgt spid="20"/>
                                        </p:tgtEl>
                                        <p:attrNameLst>
                                          <p:attrName>ppt_h</p:attrName>
                                        </p:attrNameLst>
                                      </p:cBhvr>
                                      <p:tavLst>
                                        <p:tav tm="0">
                                          <p:val>
                                            <p:fltVal val="0"/>
                                          </p:val>
                                        </p:tav>
                                        <p:tav tm="100000">
                                          <p:val>
                                            <p:strVal val="#ppt_h"/>
                                          </p:val>
                                        </p:tav>
                                      </p:tavLst>
                                    </p:anim>
                                    <p:animEffect transition="in" filter="fade">
                                      <p:cBhvr>
                                        <p:cTn id="61" dur="450"/>
                                        <p:tgtEl>
                                          <p:spTgt spid="20"/>
                                        </p:tgtEl>
                                      </p:cBhvr>
                                    </p:animEffect>
                                  </p:childTnLst>
                                </p:cTn>
                              </p:par>
                              <p:par>
                                <p:cTn id="62" presetID="53" presetClass="entr" presetSubtype="16"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p:cTn id="64" dur="450" fill="hold"/>
                                        <p:tgtEl>
                                          <p:spTgt spid="21"/>
                                        </p:tgtEl>
                                        <p:attrNameLst>
                                          <p:attrName>ppt_w</p:attrName>
                                        </p:attrNameLst>
                                      </p:cBhvr>
                                      <p:tavLst>
                                        <p:tav tm="0">
                                          <p:val>
                                            <p:fltVal val="0"/>
                                          </p:val>
                                        </p:tav>
                                        <p:tav tm="100000">
                                          <p:val>
                                            <p:strVal val="#ppt_w"/>
                                          </p:val>
                                        </p:tav>
                                      </p:tavLst>
                                    </p:anim>
                                    <p:anim calcmode="lin" valueType="num">
                                      <p:cBhvr>
                                        <p:cTn id="65" dur="450" fill="hold"/>
                                        <p:tgtEl>
                                          <p:spTgt spid="21"/>
                                        </p:tgtEl>
                                        <p:attrNameLst>
                                          <p:attrName>ppt_h</p:attrName>
                                        </p:attrNameLst>
                                      </p:cBhvr>
                                      <p:tavLst>
                                        <p:tav tm="0">
                                          <p:val>
                                            <p:fltVal val="0"/>
                                          </p:val>
                                        </p:tav>
                                        <p:tav tm="100000">
                                          <p:val>
                                            <p:strVal val="#ppt_h"/>
                                          </p:val>
                                        </p:tav>
                                      </p:tavLst>
                                    </p:anim>
                                    <p:animEffect transition="in" filter="fade">
                                      <p:cBhvr>
                                        <p:cTn id="66" dur="450"/>
                                        <p:tgtEl>
                                          <p:spTgt spid="21"/>
                                        </p:tgtEl>
                                      </p:cBhvr>
                                    </p:animEffect>
                                  </p:childTnLst>
                                </p:cTn>
                              </p:par>
                              <p:par>
                                <p:cTn id="67" presetID="53" presetClass="entr" presetSubtype="16"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p:cTn id="69" dur="450" fill="hold"/>
                                        <p:tgtEl>
                                          <p:spTgt spid="22"/>
                                        </p:tgtEl>
                                        <p:attrNameLst>
                                          <p:attrName>ppt_w</p:attrName>
                                        </p:attrNameLst>
                                      </p:cBhvr>
                                      <p:tavLst>
                                        <p:tav tm="0">
                                          <p:val>
                                            <p:fltVal val="0"/>
                                          </p:val>
                                        </p:tav>
                                        <p:tav tm="100000">
                                          <p:val>
                                            <p:strVal val="#ppt_w"/>
                                          </p:val>
                                        </p:tav>
                                      </p:tavLst>
                                    </p:anim>
                                    <p:anim calcmode="lin" valueType="num">
                                      <p:cBhvr>
                                        <p:cTn id="70" dur="450" fill="hold"/>
                                        <p:tgtEl>
                                          <p:spTgt spid="22"/>
                                        </p:tgtEl>
                                        <p:attrNameLst>
                                          <p:attrName>ppt_h</p:attrName>
                                        </p:attrNameLst>
                                      </p:cBhvr>
                                      <p:tavLst>
                                        <p:tav tm="0">
                                          <p:val>
                                            <p:fltVal val="0"/>
                                          </p:val>
                                        </p:tav>
                                        <p:tav tm="100000">
                                          <p:val>
                                            <p:strVal val="#ppt_h"/>
                                          </p:val>
                                        </p:tav>
                                      </p:tavLst>
                                    </p:anim>
                                    <p:animEffect transition="in" filter="fade">
                                      <p:cBhvr>
                                        <p:cTn id="71" dur="450"/>
                                        <p:tgtEl>
                                          <p:spTgt spid="22"/>
                                        </p:tgtEl>
                                      </p:cBhvr>
                                    </p:animEffect>
                                  </p:childTnLst>
                                </p:cTn>
                              </p:par>
                              <p:par>
                                <p:cTn id="72" presetID="53" presetClass="entr" presetSubtype="16"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anim calcmode="lin" valueType="num">
                                      <p:cBhvr>
                                        <p:cTn id="74" dur="450" fill="hold"/>
                                        <p:tgtEl>
                                          <p:spTgt spid="23"/>
                                        </p:tgtEl>
                                        <p:attrNameLst>
                                          <p:attrName>ppt_w</p:attrName>
                                        </p:attrNameLst>
                                      </p:cBhvr>
                                      <p:tavLst>
                                        <p:tav tm="0">
                                          <p:val>
                                            <p:fltVal val="0"/>
                                          </p:val>
                                        </p:tav>
                                        <p:tav tm="100000">
                                          <p:val>
                                            <p:strVal val="#ppt_w"/>
                                          </p:val>
                                        </p:tav>
                                      </p:tavLst>
                                    </p:anim>
                                    <p:anim calcmode="lin" valueType="num">
                                      <p:cBhvr>
                                        <p:cTn id="75" dur="450" fill="hold"/>
                                        <p:tgtEl>
                                          <p:spTgt spid="23"/>
                                        </p:tgtEl>
                                        <p:attrNameLst>
                                          <p:attrName>ppt_h</p:attrName>
                                        </p:attrNameLst>
                                      </p:cBhvr>
                                      <p:tavLst>
                                        <p:tav tm="0">
                                          <p:val>
                                            <p:fltVal val="0"/>
                                          </p:val>
                                        </p:tav>
                                        <p:tav tm="100000">
                                          <p:val>
                                            <p:strVal val="#ppt_h"/>
                                          </p:val>
                                        </p:tav>
                                      </p:tavLst>
                                    </p:anim>
                                    <p:animEffect transition="in" filter="fade">
                                      <p:cBhvr>
                                        <p:cTn id="76" dur="450"/>
                                        <p:tgtEl>
                                          <p:spTgt spid="23"/>
                                        </p:tgtEl>
                                      </p:cBhvr>
                                    </p:animEffect>
                                  </p:childTnLst>
                                </p:cTn>
                              </p:par>
                              <p:par>
                                <p:cTn id="77" presetID="53" presetClass="entr" presetSubtype="16" fill="hold"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p:cTn id="79" dur="450" fill="hold"/>
                                        <p:tgtEl>
                                          <p:spTgt spid="24"/>
                                        </p:tgtEl>
                                        <p:attrNameLst>
                                          <p:attrName>ppt_w</p:attrName>
                                        </p:attrNameLst>
                                      </p:cBhvr>
                                      <p:tavLst>
                                        <p:tav tm="0">
                                          <p:val>
                                            <p:fltVal val="0"/>
                                          </p:val>
                                        </p:tav>
                                        <p:tav tm="100000">
                                          <p:val>
                                            <p:strVal val="#ppt_w"/>
                                          </p:val>
                                        </p:tav>
                                      </p:tavLst>
                                    </p:anim>
                                    <p:anim calcmode="lin" valueType="num">
                                      <p:cBhvr>
                                        <p:cTn id="80" dur="450" fill="hold"/>
                                        <p:tgtEl>
                                          <p:spTgt spid="24"/>
                                        </p:tgtEl>
                                        <p:attrNameLst>
                                          <p:attrName>ppt_h</p:attrName>
                                        </p:attrNameLst>
                                      </p:cBhvr>
                                      <p:tavLst>
                                        <p:tav tm="0">
                                          <p:val>
                                            <p:fltVal val="0"/>
                                          </p:val>
                                        </p:tav>
                                        <p:tav tm="100000">
                                          <p:val>
                                            <p:strVal val="#ppt_h"/>
                                          </p:val>
                                        </p:tav>
                                      </p:tavLst>
                                    </p:anim>
                                    <p:animEffect transition="in" filter="fade">
                                      <p:cBhvr>
                                        <p:cTn id="81" dur="450"/>
                                        <p:tgtEl>
                                          <p:spTgt spid="24"/>
                                        </p:tgtEl>
                                      </p:cBhvr>
                                    </p:animEffect>
                                  </p:childTnLst>
                                </p:cTn>
                              </p:par>
                            </p:childTnLst>
                          </p:cTn>
                        </p:par>
                        <p:par>
                          <p:cTn id="82" fill="hold">
                            <p:stCondLst>
                              <p:cond delay="900"/>
                            </p:stCondLst>
                            <p:childTnLst>
                              <p:par>
                                <p:cTn id="83" presetID="53" presetClass="entr" presetSubtype="16" fill="hold" nodeType="after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p:cTn id="85" dur="450" fill="hold"/>
                                        <p:tgtEl>
                                          <p:spTgt spid="25"/>
                                        </p:tgtEl>
                                        <p:attrNameLst>
                                          <p:attrName>ppt_w</p:attrName>
                                        </p:attrNameLst>
                                      </p:cBhvr>
                                      <p:tavLst>
                                        <p:tav tm="0">
                                          <p:val>
                                            <p:fltVal val="0"/>
                                          </p:val>
                                        </p:tav>
                                        <p:tav tm="100000">
                                          <p:val>
                                            <p:strVal val="#ppt_w"/>
                                          </p:val>
                                        </p:tav>
                                      </p:tavLst>
                                    </p:anim>
                                    <p:anim calcmode="lin" valueType="num">
                                      <p:cBhvr>
                                        <p:cTn id="86" dur="450" fill="hold"/>
                                        <p:tgtEl>
                                          <p:spTgt spid="25"/>
                                        </p:tgtEl>
                                        <p:attrNameLst>
                                          <p:attrName>ppt_h</p:attrName>
                                        </p:attrNameLst>
                                      </p:cBhvr>
                                      <p:tavLst>
                                        <p:tav tm="0">
                                          <p:val>
                                            <p:fltVal val="0"/>
                                          </p:val>
                                        </p:tav>
                                        <p:tav tm="100000">
                                          <p:val>
                                            <p:strVal val="#ppt_h"/>
                                          </p:val>
                                        </p:tav>
                                      </p:tavLst>
                                    </p:anim>
                                    <p:animEffect transition="in" filter="fade">
                                      <p:cBhvr>
                                        <p:cTn id="87" dur="450"/>
                                        <p:tgtEl>
                                          <p:spTgt spid="25"/>
                                        </p:tgtEl>
                                      </p:cBhvr>
                                    </p:animEffect>
                                  </p:childTnLst>
                                </p:cTn>
                              </p:par>
                              <p:par>
                                <p:cTn id="88" presetID="53" presetClass="entr" presetSubtype="16" fill="hold" nodeType="withEffect">
                                  <p:stCondLst>
                                    <p:cond delay="0"/>
                                  </p:stCondLst>
                                  <p:childTnLst>
                                    <p:set>
                                      <p:cBhvr>
                                        <p:cTn id="89" dur="1" fill="hold">
                                          <p:stCondLst>
                                            <p:cond delay="0"/>
                                          </p:stCondLst>
                                        </p:cTn>
                                        <p:tgtEl>
                                          <p:spTgt spid="26"/>
                                        </p:tgtEl>
                                        <p:attrNameLst>
                                          <p:attrName>style.visibility</p:attrName>
                                        </p:attrNameLst>
                                      </p:cBhvr>
                                      <p:to>
                                        <p:strVal val="visible"/>
                                      </p:to>
                                    </p:set>
                                    <p:anim calcmode="lin" valueType="num">
                                      <p:cBhvr>
                                        <p:cTn id="90" dur="450" fill="hold"/>
                                        <p:tgtEl>
                                          <p:spTgt spid="26"/>
                                        </p:tgtEl>
                                        <p:attrNameLst>
                                          <p:attrName>ppt_w</p:attrName>
                                        </p:attrNameLst>
                                      </p:cBhvr>
                                      <p:tavLst>
                                        <p:tav tm="0">
                                          <p:val>
                                            <p:fltVal val="0"/>
                                          </p:val>
                                        </p:tav>
                                        <p:tav tm="100000">
                                          <p:val>
                                            <p:strVal val="#ppt_w"/>
                                          </p:val>
                                        </p:tav>
                                      </p:tavLst>
                                    </p:anim>
                                    <p:anim calcmode="lin" valueType="num">
                                      <p:cBhvr>
                                        <p:cTn id="91" dur="450" fill="hold"/>
                                        <p:tgtEl>
                                          <p:spTgt spid="26"/>
                                        </p:tgtEl>
                                        <p:attrNameLst>
                                          <p:attrName>ppt_h</p:attrName>
                                        </p:attrNameLst>
                                      </p:cBhvr>
                                      <p:tavLst>
                                        <p:tav tm="0">
                                          <p:val>
                                            <p:fltVal val="0"/>
                                          </p:val>
                                        </p:tav>
                                        <p:tav tm="100000">
                                          <p:val>
                                            <p:strVal val="#ppt_h"/>
                                          </p:val>
                                        </p:tav>
                                      </p:tavLst>
                                    </p:anim>
                                    <p:animEffect transition="in" filter="fade">
                                      <p:cBhvr>
                                        <p:cTn id="92" dur="450"/>
                                        <p:tgtEl>
                                          <p:spTgt spid="26"/>
                                        </p:tgtEl>
                                      </p:cBhvr>
                                    </p:animEffect>
                                  </p:childTnLst>
                                </p:cTn>
                              </p:par>
                              <p:par>
                                <p:cTn id="93" presetID="53" presetClass="entr" presetSubtype="16" fill="hold" nodeType="withEffect">
                                  <p:stCondLst>
                                    <p:cond delay="0"/>
                                  </p:stCondLst>
                                  <p:childTnLst>
                                    <p:set>
                                      <p:cBhvr>
                                        <p:cTn id="94" dur="1" fill="hold">
                                          <p:stCondLst>
                                            <p:cond delay="0"/>
                                          </p:stCondLst>
                                        </p:cTn>
                                        <p:tgtEl>
                                          <p:spTgt spid="27"/>
                                        </p:tgtEl>
                                        <p:attrNameLst>
                                          <p:attrName>style.visibility</p:attrName>
                                        </p:attrNameLst>
                                      </p:cBhvr>
                                      <p:to>
                                        <p:strVal val="visible"/>
                                      </p:to>
                                    </p:set>
                                    <p:anim calcmode="lin" valueType="num">
                                      <p:cBhvr>
                                        <p:cTn id="95" dur="450" fill="hold"/>
                                        <p:tgtEl>
                                          <p:spTgt spid="27"/>
                                        </p:tgtEl>
                                        <p:attrNameLst>
                                          <p:attrName>ppt_w</p:attrName>
                                        </p:attrNameLst>
                                      </p:cBhvr>
                                      <p:tavLst>
                                        <p:tav tm="0">
                                          <p:val>
                                            <p:fltVal val="0"/>
                                          </p:val>
                                        </p:tav>
                                        <p:tav tm="100000">
                                          <p:val>
                                            <p:strVal val="#ppt_w"/>
                                          </p:val>
                                        </p:tav>
                                      </p:tavLst>
                                    </p:anim>
                                    <p:anim calcmode="lin" valueType="num">
                                      <p:cBhvr>
                                        <p:cTn id="96" dur="450" fill="hold"/>
                                        <p:tgtEl>
                                          <p:spTgt spid="27"/>
                                        </p:tgtEl>
                                        <p:attrNameLst>
                                          <p:attrName>ppt_h</p:attrName>
                                        </p:attrNameLst>
                                      </p:cBhvr>
                                      <p:tavLst>
                                        <p:tav tm="0">
                                          <p:val>
                                            <p:fltVal val="0"/>
                                          </p:val>
                                        </p:tav>
                                        <p:tav tm="100000">
                                          <p:val>
                                            <p:strVal val="#ppt_h"/>
                                          </p:val>
                                        </p:tav>
                                      </p:tavLst>
                                    </p:anim>
                                    <p:animEffect transition="in" filter="fade">
                                      <p:cBhvr>
                                        <p:cTn id="97" dur="450"/>
                                        <p:tgtEl>
                                          <p:spTgt spid="27"/>
                                        </p:tgtEl>
                                      </p:cBhvr>
                                    </p:animEffect>
                                  </p:childTnLst>
                                </p:cTn>
                              </p:par>
                              <p:par>
                                <p:cTn id="98" presetID="53" presetClass="entr" presetSubtype="16" fill="hold" nodeType="with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p:cTn id="100" dur="450" fill="hold"/>
                                        <p:tgtEl>
                                          <p:spTgt spid="28"/>
                                        </p:tgtEl>
                                        <p:attrNameLst>
                                          <p:attrName>ppt_w</p:attrName>
                                        </p:attrNameLst>
                                      </p:cBhvr>
                                      <p:tavLst>
                                        <p:tav tm="0">
                                          <p:val>
                                            <p:fltVal val="0"/>
                                          </p:val>
                                        </p:tav>
                                        <p:tav tm="100000">
                                          <p:val>
                                            <p:strVal val="#ppt_w"/>
                                          </p:val>
                                        </p:tav>
                                      </p:tavLst>
                                    </p:anim>
                                    <p:anim calcmode="lin" valueType="num">
                                      <p:cBhvr>
                                        <p:cTn id="101" dur="450" fill="hold"/>
                                        <p:tgtEl>
                                          <p:spTgt spid="28"/>
                                        </p:tgtEl>
                                        <p:attrNameLst>
                                          <p:attrName>ppt_h</p:attrName>
                                        </p:attrNameLst>
                                      </p:cBhvr>
                                      <p:tavLst>
                                        <p:tav tm="0">
                                          <p:val>
                                            <p:fltVal val="0"/>
                                          </p:val>
                                        </p:tav>
                                        <p:tav tm="100000">
                                          <p:val>
                                            <p:strVal val="#ppt_h"/>
                                          </p:val>
                                        </p:tav>
                                      </p:tavLst>
                                    </p:anim>
                                    <p:animEffect transition="in" filter="fade">
                                      <p:cBhvr>
                                        <p:cTn id="102" dur="450"/>
                                        <p:tgtEl>
                                          <p:spTgt spid="28"/>
                                        </p:tgtEl>
                                      </p:cBhvr>
                                    </p:animEffect>
                                  </p:childTnLst>
                                </p:cTn>
                              </p:par>
                              <p:par>
                                <p:cTn id="103" presetID="53" presetClass="entr" presetSubtype="16" fill="hold" nodeType="with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p:cTn id="105" dur="450" fill="hold"/>
                                        <p:tgtEl>
                                          <p:spTgt spid="29"/>
                                        </p:tgtEl>
                                        <p:attrNameLst>
                                          <p:attrName>ppt_w</p:attrName>
                                        </p:attrNameLst>
                                      </p:cBhvr>
                                      <p:tavLst>
                                        <p:tav tm="0">
                                          <p:val>
                                            <p:fltVal val="0"/>
                                          </p:val>
                                        </p:tav>
                                        <p:tav tm="100000">
                                          <p:val>
                                            <p:strVal val="#ppt_w"/>
                                          </p:val>
                                        </p:tav>
                                      </p:tavLst>
                                    </p:anim>
                                    <p:anim calcmode="lin" valueType="num">
                                      <p:cBhvr>
                                        <p:cTn id="106" dur="450" fill="hold"/>
                                        <p:tgtEl>
                                          <p:spTgt spid="29"/>
                                        </p:tgtEl>
                                        <p:attrNameLst>
                                          <p:attrName>ppt_h</p:attrName>
                                        </p:attrNameLst>
                                      </p:cBhvr>
                                      <p:tavLst>
                                        <p:tav tm="0">
                                          <p:val>
                                            <p:fltVal val="0"/>
                                          </p:val>
                                        </p:tav>
                                        <p:tav tm="100000">
                                          <p:val>
                                            <p:strVal val="#ppt_h"/>
                                          </p:val>
                                        </p:tav>
                                      </p:tavLst>
                                    </p:anim>
                                    <p:animEffect transition="in" filter="fade">
                                      <p:cBhvr>
                                        <p:cTn id="107" dur="450"/>
                                        <p:tgtEl>
                                          <p:spTgt spid="29"/>
                                        </p:tgtEl>
                                      </p:cBhvr>
                                    </p:animEffect>
                                  </p:childTnLst>
                                </p:cTn>
                              </p:par>
                            </p:childTnLst>
                          </p:cTn>
                        </p:par>
                        <p:par>
                          <p:cTn id="108" fill="hold">
                            <p:stCondLst>
                              <p:cond delay="1200"/>
                            </p:stCondLst>
                            <p:childTnLst>
                              <p:par>
                                <p:cTn id="109" presetID="53" presetClass="entr" presetSubtype="16" fill="hold" nodeType="afterEffect">
                                  <p:stCondLst>
                                    <p:cond delay="0"/>
                                  </p:stCondLst>
                                  <p:childTnLst>
                                    <p:set>
                                      <p:cBhvr>
                                        <p:cTn id="110" dur="1" fill="hold">
                                          <p:stCondLst>
                                            <p:cond delay="0"/>
                                          </p:stCondLst>
                                        </p:cTn>
                                        <p:tgtEl>
                                          <p:spTgt spid="30"/>
                                        </p:tgtEl>
                                        <p:attrNameLst>
                                          <p:attrName>style.visibility</p:attrName>
                                        </p:attrNameLst>
                                      </p:cBhvr>
                                      <p:to>
                                        <p:strVal val="visible"/>
                                      </p:to>
                                    </p:set>
                                    <p:anim calcmode="lin" valueType="num">
                                      <p:cBhvr>
                                        <p:cTn id="111" dur="450" fill="hold"/>
                                        <p:tgtEl>
                                          <p:spTgt spid="30"/>
                                        </p:tgtEl>
                                        <p:attrNameLst>
                                          <p:attrName>ppt_w</p:attrName>
                                        </p:attrNameLst>
                                      </p:cBhvr>
                                      <p:tavLst>
                                        <p:tav tm="0">
                                          <p:val>
                                            <p:fltVal val="0"/>
                                          </p:val>
                                        </p:tav>
                                        <p:tav tm="100000">
                                          <p:val>
                                            <p:strVal val="#ppt_w"/>
                                          </p:val>
                                        </p:tav>
                                      </p:tavLst>
                                    </p:anim>
                                    <p:anim calcmode="lin" valueType="num">
                                      <p:cBhvr>
                                        <p:cTn id="112" dur="450" fill="hold"/>
                                        <p:tgtEl>
                                          <p:spTgt spid="30"/>
                                        </p:tgtEl>
                                        <p:attrNameLst>
                                          <p:attrName>ppt_h</p:attrName>
                                        </p:attrNameLst>
                                      </p:cBhvr>
                                      <p:tavLst>
                                        <p:tav tm="0">
                                          <p:val>
                                            <p:fltVal val="0"/>
                                          </p:val>
                                        </p:tav>
                                        <p:tav tm="100000">
                                          <p:val>
                                            <p:strVal val="#ppt_h"/>
                                          </p:val>
                                        </p:tav>
                                      </p:tavLst>
                                    </p:anim>
                                    <p:animEffect transition="in" filter="fade">
                                      <p:cBhvr>
                                        <p:cTn id="113" dur="450"/>
                                        <p:tgtEl>
                                          <p:spTgt spid="30"/>
                                        </p:tgtEl>
                                      </p:cBhvr>
                                    </p:animEffect>
                                  </p:childTnLst>
                                </p:cTn>
                              </p:par>
                              <p:par>
                                <p:cTn id="114" presetID="53" presetClass="entr" presetSubtype="16" fill="hold" nodeType="withEffect">
                                  <p:stCondLst>
                                    <p:cond delay="0"/>
                                  </p:stCondLst>
                                  <p:childTnLst>
                                    <p:set>
                                      <p:cBhvr>
                                        <p:cTn id="115" dur="1" fill="hold">
                                          <p:stCondLst>
                                            <p:cond delay="0"/>
                                          </p:stCondLst>
                                        </p:cTn>
                                        <p:tgtEl>
                                          <p:spTgt spid="31"/>
                                        </p:tgtEl>
                                        <p:attrNameLst>
                                          <p:attrName>style.visibility</p:attrName>
                                        </p:attrNameLst>
                                      </p:cBhvr>
                                      <p:to>
                                        <p:strVal val="visible"/>
                                      </p:to>
                                    </p:set>
                                    <p:anim calcmode="lin" valueType="num">
                                      <p:cBhvr>
                                        <p:cTn id="116" dur="450" fill="hold"/>
                                        <p:tgtEl>
                                          <p:spTgt spid="31"/>
                                        </p:tgtEl>
                                        <p:attrNameLst>
                                          <p:attrName>ppt_w</p:attrName>
                                        </p:attrNameLst>
                                      </p:cBhvr>
                                      <p:tavLst>
                                        <p:tav tm="0">
                                          <p:val>
                                            <p:fltVal val="0"/>
                                          </p:val>
                                        </p:tav>
                                        <p:tav tm="100000">
                                          <p:val>
                                            <p:strVal val="#ppt_w"/>
                                          </p:val>
                                        </p:tav>
                                      </p:tavLst>
                                    </p:anim>
                                    <p:anim calcmode="lin" valueType="num">
                                      <p:cBhvr>
                                        <p:cTn id="117" dur="450" fill="hold"/>
                                        <p:tgtEl>
                                          <p:spTgt spid="31"/>
                                        </p:tgtEl>
                                        <p:attrNameLst>
                                          <p:attrName>ppt_h</p:attrName>
                                        </p:attrNameLst>
                                      </p:cBhvr>
                                      <p:tavLst>
                                        <p:tav tm="0">
                                          <p:val>
                                            <p:fltVal val="0"/>
                                          </p:val>
                                        </p:tav>
                                        <p:tav tm="100000">
                                          <p:val>
                                            <p:strVal val="#ppt_h"/>
                                          </p:val>
                                        </p:tav>
                                      </p:tavLst>
                                    </p:anim>
                                    <p:animEffect transition="in" filter="fade">
                                      <p:cBhvr>
                                        <p:cTn id="118" dur="450"/>
                                        <p:tgtEl>
                                          <p:spTgt spid="31"/>
                                        </p:tgtEl>
                                      </p:cBhvr>
                                    </p:animEffect>
                                  </p:childTnLst>
                                </p:cTn>
                              </p:par>
                              <p:par>
                                <p:cTn id="119" presetID="53" presetClass="entr" presetSubtype="16" fill="hold" nodeType="withEffect">
                                  <p:stCondLst>
                                    <p:cond delay="0"/>
                                  </p:stCondLst>
                                  <p:childTnLst>
                                    <p:set>
                                      <p:cBhvr>
                                        <p:cTn id="120" dur="1" fill="hold">
                                          <p:stCondLst>
                                            <p:cond delay="0"/>
                                          </p:stCondLst>
                                        </p:cTn>
                                        <p:tgtEl>
                                          <p:spTgt spid="32"/>
                                        </p:tgtEl>
                                        <p:attrNameLst>
                                          <p:attrName>style.visibility</p:attrName>
                                        </p:attrNameLst>
                                      </p:cBhvr>
                                      <p:to>
                                        <p:strVal val="visible"/>
                                      </p:to>
                                    </p:set>
                                    <p:anim calcmode="lin" valueType="num">
                                      <p:cBhvr>
                                        <p:cTn id="121" dur="450" fill="hold"/>
                                        <p:tgtEl>
                                          <p:spTgt spid="32"/>
                                        </p:tgtEl>
                                        <p:attrNameLst>
                                          <p:attrName>ppt_w</p:attrName>
                                        </p:attrNameLst>
                                      </p:cBhvr>
                                      <p:tavLst>
                                        <p:tav tm="0">
                                          <p:val>
                                            <p:fltVal val="0"/>
                                          </p:val>
                                        </p:tav>
                                        <p:tav tm="100000">
                                          <p:val>
                                            <p:strVal val="#ppt_w"/>
                                          </p:val>
                                        </p:tav>
                                      </p:tavLst>
                                    </p:anim>
                                    <p:anim calcmode="lin" valueType="num">
                                      <p:cBhvr>
                                        <p:cTn id="122" dur="450" fill="hold"/>
                                        <p:tgtEl>
                                          <p:spTgt spid="32"/>
                                        </p:tgtEl>
                                        <p:attrNameLst>
                                          <p:attrName>ppt_h</p:attrName>
                                        </p:attrNameLst>
                                      </p:cBhvr>
                                      <p:tavLst>
                                        <p:tav tm="0">
                                          <p:val>
                                            <p:fltVal val="0"/>
                                          </p:val>
                                        </p:tav>
                                        <p:tav tm="100000">
                                          <p:val>
                                            <p:strVal val="#ppt_h"/>
                                          </p:val>
                                        </p:tav>
                                      </p:tavLst>
                                    </p:anim>
                                    <p:animEffect transition="in" filter="fade">
                                      <p:cBhvr>
                                        <p:cTn id="123" dur="450"/>
                                        <p:tgtEl>
                                          <p:spTgt spid="32"/>
                                        </p:tgtEl>
                                      </p:cBhvr>
                                    </p:animEffect>
                                  </p:childTnLst>
                                </p:cTn>
                              </p:par>
                              <p:par>
                                <p:cTn id="124" presetID="53" presetClass="entr" presetSubtype="16" fill="hold" nodeType="withEffect">
                                  <p:stCondLst>
                                    <p:cond delay="0"/>
                                  </p:stCondLst>
                                  <p:childTnLst>
                                    <p:set>
                                      <p:cBhvr>
                                        <p:cTn id="125" dur="1" fill="hold">
                                          <p:stCondLst>
                                            <p:cond delay="0"/>
                                          </p:stCondLst>
                                        </p:cTn>
                                        <p:tgtEl>
                                          <p:spTgt spid="33"/>
                                        </p:tgtEl>
                                        <p:attrNameLst>
                                          <p:attrName>style.visibility</p:attrName>
                                        </p:attrNameLst>
                                      </p:cBhvr>
                                      <p:to>
                                        <p:strVal val="visible"/>
                                      </p:to>
                                    </p:set>
                                    <p:anim calcmode="lin" valueType="num">
                                      <p:cBhvr>
                                        <p:cTn id="126" dur="450" fill="hold"/>
                                        <p:tgtEl>
                                          <p:spTgt spid="33"/>
                                        </p:tgtEl>
                                        <p:attrNameLst>
                                          <p:attrName>ppt_w</p:attrName>
                                        </p:attrNameLst>
                                      </p:cBhvr>
                                      <p:tavLst>
                                        <p:tav tm="0">
                                          <p:val>
                                            <p:fltVal val="0"/>
                                          </p:val>
                                        </p:tav>
                                        <p:tav tm="100000">
                                          <p:val>
                                            <p:strVal val="#ppt_w"/>
                                          </p:val>
                                        </p:tav>
                                      </p:tavLst>
                                    </p:anim>
                                    <p:anim calcmode="lin" valueType="num">
                                      <p:cBhvr>
                                        <p:cTn id="127" dur="450" fill="hold"/>
                                        <p:tgtEl>
                                          <p:spTgt spid="33"/>
                                        </p:tgtEl>
                                        <p:attrNameLst>
                                          <p:attrName>ppt_h</p:attrName>
                                        </p:attrNameLst>
                                      </p:cBhvr>
                                      <p:tavLst>
                                        <p:tav tm="0">
                                          <p:val>
                                            <p:fltVal val="0"/>
                                          </p:val>
                                        </p:tav>
                                        <p:tav tm="100000">
                                          <p:val>
                                            <p:strVal val="#ppt_h"/>
                                          </p:val>
                                        </p:tav>
                                      </p:tavLst>
                                    </p:anim>
                                    <p:animEffect transition="in" filter="fade">
                                      <p:cBhvr>
                                        <p:cTn id="128" dur="450"/>
                                        <p:tgtEl>
                                          <p:spTgt spid="33"/>
                                        </p:tgtEl>
                                      </p:cBhvr>
                                    </p:animEffect>
                                  </p:childTnLst>
                                </p:cTn>
                              </p:par>
                              <p:par>
                                <p:cTn id="129" presetID="53" presetClass="entr" presetSubtype="16" fill="hold" nodeType="withEffect">
                                  <p:stCondLst>
                                    <p:cond delay="0"/>
                                  </p:stCondLst>
                                  <p:childTnLst>
                                    <p:set>
                                      <p:cBhvr>
                                        <p:cTn id="130" dur="1" fill="hold">
                                          <p:stCondLst>
                                            <p:cond delay="0"/>
                                          </p:stCondLst>
                                        </p:cTn>
                                        <p:tgtEl>
                                          <p:spTgt spid="34"/>
                                        </p:tgtEl>
                                        <p:attrNameLst>
                                          <p:attrName>style.visibility</p:attrName>
                                        </p:attrNameLst>
                                      </p:cBhvr>
                                      <p:to>
                                        <p:strVal val="visible"/>
                                      </p:to>
                                    </p:set>
                                    <p:anim calcmode="lin" valueType="num">
                                      <p:cBhvr>
                                        <p:cTn id="131" dur="450" fill="hold"/>
                                        <p:tgtEl>
                                          <p:spTgt spid="34"/>
                                        </p:tgtEl>
                                        <p:attrNameLst>
                                          <p:attrName>ppt_w</p:attrName>
                                        </p:attrNameLst>
                                      </p:cBhvr>
                                      <p:tavLst>
                                        <p:tav tm="0">
                                          <p:val>
                                            <p:fltVal val="0"/>
                                          </p:val>
                                        </p:tav>
                                        <p:tav tm="100000">
                                          <p:val>
                                            <p:strVal val="#ppt_w"/>
                                          </p:val>
                                        </p:tav>
                                      </p:tavLst>
                                    </p:anim>
                                    <p:anim calcmode="lin" valueType="num">
                                      <p:cBhvr>
                                        <p:cTn id="132" dur="450" fill="hold"/>
                                        <p:tgtEl>
                                          <p:spTgt spid="34"/>
                                        </p:tgtEl>
                                        <p:attrNameLst>
                                          <p:attrName>ppt_h</p:attrName>
                                        </p:attrNameLst>
                                      </p:cBhvr>
                                      <p:tavLst>
                                        <p:tav tm="0">
                                          <p:val>
                                            <p:fltVal val="0"/>
                                          </p:val>
                                        </p:tav>
                                        <p:tav tm="100000">
                                          <p:val>
                                            <p:strVal val="#ppt_h"/>
                                          </p:val>
                                        </p:tav>
                                      </p:tavLst>
                                    </p:anim>
                                    <p:animEffect transition="in" filter="fade">
                                      <p:cBhvr>
                                        <p:cTn id="133" dur="450"/>
                                        <p:tgtEl>
                                          <p:spTgt spid="34"/>
                                        </p:tgtEl>
                                      </p:cBhvr>
                                    </p:animEffect>
                                  </p:childTnLst>
                                </p:cTn>
                              </p:par>
                            </p:childTnLst>
                          </p:cTn>
                        </p:par>
                        <p:par>
                          <p:cTn id="134" fill="hold">
                            <p:stCondLst>
                              <p:cond delay="1500"/>
                            </p:stCondLst>
                            <p:childTnLst>
                              <p:par>
                                <p:cTn id="135" presetID="53" presetClass="entr" presetSubtype="16" fill="hold" nodeType="afterEffect">
                                  <p:stCondLst>
                                    <p:cond delay="0"/>
                                  </p:stCondLst>
                                  <p:childTnLst>
                                    <p:set>
                                      <p:cBhvr>
                                        <p:cTn id="136" dur="1" fill="hold">
                                          <p:stCondLst>
                                            <p:cond delay="0"/>
                                          </p:stCondLst>
                                        </p:cTn>
                                        <p:tgtEl>
                                          <p:spTgt spid="35"/>
                                        </p:tgtEl>
                                        <p:attrNameLst>
                                          <p:attrName>style.visibility</p:attrName>
                                        </p:attrNameLst>
                                      </p:cBhvr>
                                      <p:to>
                                        <p:strVal val="visible"/>
                                      </p:to>
                                    </p:set>
                                    <p:anim calcmode="lin" valueType="num">
                                      <p:cBhvr>
                                        <p:cTn id="137" dur="450" fill="hold"/>
                                        <p:tgtEl>
                                          <p:spTgt spid="35"/>
                                        </p:tgtEl>
                                        <p:attrNameLst>
                                          <p:attrName>ppt_w</p:attrName>
                                        </p:attrNameLst>
                                      </p:cBhvr>
                                      <p:tavLst>
                                        <p:tav tm="0">
                                          <p:val>
                                            <p:fltVal val="0"/>
                                          </p:val>
                                        </p:tav>
                                        <p:tav tm="100000">
                                          <p:val>
                                            <p:strVal val="#ppt_w"/>
                                          </p:val>
                                        </p:tav>
                                      </p:tavLst>
                                    </p:anim>
                                    <p:anim calcmode="lin" valueType="num">
                                      <p:cBhvr>
                                        <p:cTn id="138" dur="450" fill="hold"/>
                                        <p:tgtEl>
                                          <p:spTgt spid="35"/>
                                        </p:tgtEl>
                                        <p:attrNameLst>
                                          <p:attrName>ppt_h</p:attrName>
                                        </p:attrNameLst>
                                      </p:cBhvr>
                                      <p:tavLst>
                                        <p:tav tm="0">
                                          <p:val>
                                            <p:fltVal val="0"/>
                                          </p:val>
                                        </p:tav>
                                        <p:tav tm="100000">
                                          <p:val>
                                            <p:strVal val="#ppt_h"/>
                                          </p:val>
                                        </p:tav>
                                      </p:tavLst>
                                    </p:anim>
                                    <p:animEffect transition="in" filter="fade">
                                      <p:cBhvr>
                                        <p:cTn id="139" dur="450"/>
                                        <p:tgtEl>
                                          <p:spTgt spid="35"/>
                                        </p:tgtEl>
                                      </p:cBhvr>
                                    </p:animEffect>
                                  </p:childTnLst>
                                </p:cTn>
                              </p:par>
                              <p:par>
                                <p:cTn id="140" presetID="53" presetClass="entr" presetSubtype="16" fill="hold" nodeType="withEffect">
                                  <p:stCondLst>
                                    <p:cond delay="0"/>
                                  </p:stCondLst>
                                  <p:childTnLst>
                                    <p:set>
                                      <p:cBhvr>
                                        <p:cTn id="141" dur="1" fill="hold">
                                          <p:stCondLst>
                                            <p:cond delay="0"/>
                                          </p:stCondLst>
                                        </p:cTn>
                                        <p:tgtEl>
                                          <p:spTgt spid="36"/>
                                        </p:tgtEl>
                                        <p:attrNameLst>
                                          <p:attrName>style.visibility</p:attrName>
                                        </p:attrNameLst>
                                      </p:cBhvr>
                                      <p:to>
                                        <p:strVal val="visible"/>
                                      </p:to>
                                    </p:set>
                                    <p:anim calcmode="lin" valueType="num">
                                      <p:cBhvr>
                                        <p:cTn id="142" dur="450" fill="hold"/>
                                        <p:tgtEl>
                                          <p:spTgt spid="36"/>
                                        </p:tgtEl>
                                        <p:attrNameLst>
                                          <p:attrName>ppt_w</p:attrName>
                                        </p:attrNameLst>
                                      </p:cBhvr>
                                      <p:tavLst>
                                        <p:tav tm="0">
                                          <p:val>
                                            <p:fltVal val="0"/>
                                          </p:val>
                                        </p:tav>
                                        <p:tav tm="100000">
                                          <p:val>
                                            <p:strVal val="#ppt_w"/>
                                          </p:val>
                                        </p:tav>
                                      </p:tavLst>
                                    </p:anim>
                                    <p:anim calcmode="lin" valueType="num">
                                      <p:cBhvr>
                                        <p:cTn id="143" dur="450" fill="hold"/>
                                        <p:tgtEl>
                                          <p:spTgt spid="36"/>
                                        </p:tgtEl>
                                        <p:attrNameLst>
                                          <p:attrName>ppt_h</p:attrName>
                                        </p:attrNameLst>
                                      </p:cBhvr>
                                      <p:tavLst>
                                        <p:tav tm="0">
                                          <p:val>
                                            <p:fltVal val="0"/>
                                          </p:val>
                                        </p:tav>
                                        <p:tav tm="100000">
                                          <p:val>
                                            <p:strVal val="#ppt_h"/>
                                          </p:val>
                                        </p:tav>
                                      </p:tavLst>
                                    </p:anim>
                                    <p:animEffect transition="in" filter="fade">
                                      <p:cBhvr>
                                        <p:cTn id="144" dur="450"/>
                                        <p:tgtEl>
                                          <p:spTgt spid="36"/>
                                        </p:tgtEl>
                                      </p:cBhvr>
                                    </p:animEffect>
                                  </p:childTnLst>
                                </p:cTn>
                              </p:par>
                              <p:par>
                                <p:cTn id="145" presetID="53" presetClass="entr" presetSubtype="16" fill="hold" nodeType="withEffect">
                                  <p:stCondLst>
                                    <p:cond delay="0"/>
                                  </p:stCondLst>
                                  <p:childTnLst>
                                    <p:set>
                                      <p:cBhvr>
                                        <p:cTn id="146" dur="1" fill="hold">
                                          <p:stCondLst>
                                            <p:cond delay="0"/>
                                          </p:stCondLst>
                                        </p:cTn>
                                        <p:tgtEl>
                                          <p:spTgt spid="37"/>
                                        </p:tgtEl>
                                        <p:attrNameLst>
                                          <p:attrName>style.visibility</p:attrName>
                                        </p:attrNameLst>
                                      </p:cBhvr>
                                      <p:to>
                                        <p:strVal val="visible"/>
                                      </p:to>
                                    </p:set>
                                    <p:anim calcmode="lin" valueType="num">
                                      <p:cBhvr>
                                        <p:cTn id="147" dur="450" fill="hold"/>
                                        <p:tgtEl>
                                          <p:spTgt spid="37"/>
                                        </p:tgtEl>
                                        <p:attrNameLst>
                                          <p:attrName>ppt_w</p:attrName>
                                        </p:attrNameLst>
                                      </p:cBhvr>
                                      <p:tavLst>
                                        <p:tav tm="0">
                                          <p:val>
                                            <p:fltVal val="0"/>
                                          </p:val>
                                        </p:tav>
                                        <p:tav tm="100000">
                                          <p:val>
                                            <p:strVal val="#ppt_w"/>
                                          </p:val>
                                        </p:tav>
                                      </p:tavLst>
                                    </p:anim>
                                    <p:anim calcmode="lin" valueType="num">
                                      <p:cBhvr>
                                        <p:cTn id="148" dur="450" fill="hold"/>
                                        <p:tgtEl>
                                          <p:spTgt spid="37"/>
                                        </p:tgtEl>
                                        <p:attrNameLst>
                                          <p:attrName>ppt_h</p:attrName>
                                        </p:attrNameLst>
                                      </p:cBhvr>
                                      <p:tavLst>
                                        <p:tav tm="0">
                                          <p:val>
                                            <p:fltVal val="0"/>
                                          </p:val>
                                        </p:tav>
                                        <p:tav tm="100000">
                                          <p:val>
                                            <p:strVal val="#ppt_h"/>
                                          </p:val>
                                        </p:tav>
                                      </p:tavLst>
                                    </p:anim>
                                    <p:animEffect transition="in" filter="fade">
                                      <p:cBhvr>
                                        <p:cTn id="149" dur="450"/>
                                        <p:tgtEl>
                                          <p:spTgt spid="37"/>
                                        </p:tgtEl>
                                      </p:cBhvr>
                                    </p:animEffect>
                                  </p:childTnLst>
                                </p:cTn>
                              </p:par>
                              <p:par>
                                <p:cTn id="150" presetID="53" presetClass="entr" presetSubtype="16" fill="hold" nodeType="withEffect">
                                  <p:stCondLst>
                                    <p:cond delay="0"/>
                                  </p:stCondLst>
                                  <p:childTnLst>
                                    <p:set>
                                      <p:cBhvr>
                                        <p:cTn id="151" dur="1" fill="hold">
                                          <p:stCondLst>
                                            <p:cond delay="0"/>
                                          </p:stCondLst>
                                        </p:cTn>
                                        <p:tgtEl>
                                          <p:spTgt spid="38"/>
                                        </p:tgtEl>
                                        <p:attrNameLst>
                                          <p:attrName>style.visibility</p:attrName>
                                        </p:attrNameLst>
                                      </p:cBhvr>
                                      <p:to>
                                        <p:strVal val="visible"/>
                                      </p:to>
                                    </p:set>
                                    <p:anim calcmode="lin" valueType="num">
                                      <p:cBhvr>
                                        <p:cTn id="152" dur="450" fill="hold"/>
                                        <p:tgtEl>
                                          <p:spTgt spid="38"/>
                                        </p:tgtEl>
                                        <p:attrNameLst>
                                          <p:attrName>ppt_w</p:attrName>
                                        </p:attrNameLst>
                                      </p:cBhvr>
                                      <p:tavLst>
                                        <p:tav tm="0">
                                          <p:val>
                                            <p:fltVal val="0"/>
                                          </p:val>
                                        </p:tav>
                                        <p:tav tm="100000">
                                          <p:val>
                                            <p:strVal val="#ppt_w"/>
                                          </p:val>
                                        </p:tav>
                                      </p:tavLst>
                                    </p:anim>
                                    <p:anim calcmode="lin" valueType="num">
                                      <p:cBhvr>
                                        <p:cTn id="153" dur="450" fill="hold"/>
                                        <p:tgtEl>
                                          <p:spTgt spid="38"/>
                                        </p:tgtEl>
                                        <p:attrNameLst>
                                          <p:attrName>ppt_h</p:attrName>
                                        </p:attrNameLst>
                                      </p:cBhvr>
                                      <p:tavLst>
                                        <p:tav tm="0">
                                          <p:val>
                                            <p:fltVal val="0"/>
                                          </p:val>
                                        </p:tav>
                                        <p:tav tm="100000">
                                          <p:val>
                                            <p:strVal val="#ppt_h"/>
                                          </p:val>
                                        </p:tav>
                                      </p:tavLst>
                                    </p:anim>
                                    <p:animEffect transition="in" filter="fade">
                                      <p:cBhvr>
                                        <p:cTn id="154" dur="450"/>
                                        <p:tgtEl>
                                          <p:spTgt spid="38"/>
                                        </p:tgtEl>
                                      </p:cBhvr>
                                    </p:animEffect>
                                  </p:childTnLst>
                                </p:cTn>
                              </p:par>
                              <p:par>
                                <p:cTn id="155" presetID="53" presetClass="entr" presetSubtype="16" fill="hold" nodeType="withEffect">
                                  <p:stCondLst>
                                    <p:cond delay="0"/>
                                  </p:stCondLst>
                                  <p:childTnLst>
                                    <p:set>
                                      <p:cBhvr>
                                        <p:cTn id="156" dur="1" fill="hold">
                                          <p:stCondLst>
                                            <p:cond delay="0"/>
                                          </p:stCondLst>
                                        </p:cTn>
                                        <p:tgtEl>
                                          <p:spTgt spid="39"/>
                                        </p:tgtEl>
                                        <p:attrNameLst>
                                          <p:attrName>style.visibility</p:attrName>
                                        </p:attrNameLst>
                                      </p:cBhvr>
                                      <p:to>
                                        <p:strVal val="visible"/>
                                      </p:to>
                                    </p:set>
                                    <p:anim calcmode="lin" valueType="num">
                                      <p:cBhvr>
                                        <p:cTn id="157" dur="450" fill="hold"/>
                                        <p:tgtEl>
                                          <p:spTgt spid="39"/>
                                        </p:tgtEl>
                                        <p:attrNameLst>
                                          <p:attrName>ppt_w</p:attrName>
                                        </p:attrNameLst>
                                      </p:cBhvr>
                                      <p:tavLst>
                                        <p:tav tm="0">
                                          <p:val>
                                            <p:fltVal val="0"/>
                                          </p:val>
                                        </p:tav>
                                        <p:tav tm="100000">
                                          <p:val>
                                            <p:strVal val="#ppt_w"/>
                                          </p:val>
                                        </p:tav>
                                      </p:tavLst>
                                    </p:anim>
                                    <p:anim calcmode="lin" valueType="num">
                                      <p:cBhvr>
                                        <p:cTn id="158" dur="450" fill="hold"/>
                                        <p:tgtEl>
                                          <p:spTgt spid="39"/>
                                        </p:tgtEl>
                                        <p:attrNameLst>
                                          <p:attrName>ppt_h</p:attrName>
                                        </p:attrNameLst>
                                      </p:cBhvr>
                                      <p:tavLst>
                                        <p:tav tm="0">
                                          <p:val>
                                            <p:fltVal val="0"/>
                                          </p:val>
                                        </p:tav>
                                        <p:tav tm="100000">
                                          <p:val>
                                            <p:strVal val="#ppt_h"/>
                                          </p:val>
                                        </p:tav>
                                      </p:tavLst>
                                    </p:anim>
                                    <p:animEffect transition="in" filter="fade">
                                      <p:cBhvr>
                                        <p:cTn id="159"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اهداف پژوهش</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۵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A01_z_61b"/>
          <p:cNvSpPr/>
          <p:nvPr/>
        </p:nvSpPr>
        <p:spPr>
          <a:xfrm>
            <a:off x="2194560" y="1280160"/>
            <a:ext cx="7799832" cy="1417320"/>
          </a:xfrm>
          <a:prstGeom prst="roundRect">
            <a:avLst>
              <a:gd name="adj" fmla="val 7742"/>
            </a:avLst>
          </a:prstGeom>
          <a:solidFill>
            <a:srgbClr val="0F5257"/>
          </a:solidFill>
          <a:ln w="12700">
            <a:solidFill>
              <a:srgbClr val="0F5257"/>
            </a:solidFill>
            <a:prstDash val="solid"/>
          </a:ln>
        </p:spPr>
      </p:sp>
      <p:sp>
        <p:nvSpPr>
          <p:cNvPr id="11" name="A01_z_62c"/>
          <p:cNvSpPr/>
          <p:nvPr/>
        </p:nvSpPr>
        <p:spPr>
          <a:xfrm>
            <a:off x="9098280" y="1527048"/>
            <a:ext cx="731520" cy="731520"/>
          </a:xfrm>
          <a:prstGeom prst="ellipse">
            <a:avLst/>
          </a:prstGeom>
          <a:solidFill>
            <a:srgbClr val="FFFFFF"/>
          </a:solidFill>
          <a:ln w="12700">
            <a:solidFill>
              <a:srgbClr val="FFFFFF"/>
            </a:solidFill>
            <a:prstDash val="solid"/>
          </a:ln>
        </p:spPr>
      </p:sp>
      <p:pic>
        <p:nvPicPr>
          <p:cNvPr id="12" name="A01_z_62i" descr="preencoded.png"/>
          <p:cNvPicPr>
            <a:picLocks noChangeAspect="1"/>
          </p:cNvPicPr>
          <p:nvPr/>
        </p:nvPicPr>
        <p:blipFill>
          <a:blip r:embed="rId4"/>
          <a:stretch>
            <a:fillRect/>
          </a:stretch>
        </p:blipFill>
        <p:spPr>
          <a:xfrm>
            <a:off x="9259214" y="1687982"/>
            <a:ext cx="409651" cy="409651"/>
          </a:xfrm>
          <a:prstGeom prst="rect">
            <a:avLst/>
          </a:prstGeom>
        </p:spPr>
      </p:pic>
      <p:sp>
        <p:nvSpPr>
          <p:cNvPr id="13" name="Text 9"/>
          <p:cNvSpPr txBox="1"/>
          <p:nvPr/>
        </p:nvSpPr>
        <p:spPr>
          <a:xfrm>
            <a:off x="2468880" y="1417320"/>
            <a:ext cx="6400800" cy="411480"/>
          </a:xfrm>
          <a:prstGeom prst="rect">
            <a:avLst/>
          </a:prstGeom>
          <a:noFill/>
          <a:ln/>
        </p:spPr>
        <p:txBody>
          <a:bodyPr wrap="square" lIns="0" tIns="0" rIns="0" bIns="0" rtlCol="0" anchor="t"/>
          <a:lstStyle/>
          <a:p>
            <a:pPr marL="0" indent="0" algn="r" rtl="1">
              <a:buNone/>
            </a:pPr>
            <a:r>
              <a:rPr lang="fa-IR" altLang="en-US" sz="1500" b="1" dirty="0">
                <a:solidFill>
                  <a:srgbClr val="CDE7E4"/>
                </a:solidFill>
                <a:latin typeface="Tahoma" pitchFamily="34" charset="0"/>
                <a:ea typeface="Tahoma" pitchFamily="34" charset="-122"/>
                <a:cs typeface="Tahoma" pitchFamily="34" charset="-120"/>
              </a:rPr>
              <a:t>هدف اصلی</a:t>
            </a:r>
            <a:endParaRPr lang="fa-IR" sz="1500" dirty="0"/>
          </a:p>
        </p:txBody>
      </p:sp>
      <p:sp>
        <p:nvSpPr>
          <p:cNvPr id="14" name="A01_z_63"/>
          <p:cNvSpPr txBox="1"/>
          <p:nvPr/>
        </p:nvSpPr>
        <p:spPr>
          <a:xfrm>
            <a:off x="2468880" y="1810512"/>
            <a:ext cx="6446520" cy="777240"/>
          </a:xfrm>
          <a:prstGeom prst="rect">
            <a:avLst/>
          </a:prstGeom>
          <a:noFill/>
          <a:ln/>
        </p:spPr>
        <p:txBody>
          <a:bodyPr wrap="square" lIns="0" tIns="0" rIns="0" bIns="0" rtlCol="0" anchor="t"/>
          <a:lstStyle/>
          <a:p>
            <a:pPr marL="0" indent="0" algn="r" rtl="1">
              <a:buNone/>
            </a:pPr>
            <a:r>
              <a:rPr lang="fa-IR" altLang="en-US" sz="1700" b="1" dirty="0">
                <a:solidFill>
                  <a:srgbClr val="FFFFFF"/>
                </a:solidFill>
                <a:latin typeface="Tahoma" pitchFamily="34" charset="0"/>
                <a:ea typeface="Tahoma" pitchFamily="34" charset="-122"/>
                <a:cs typeface="Tahoma" pitchFamily="34" charset="-120"/>
              </a:rPr>
              <a:t>تعیین نقش میانجی سبک‌های حل تعارض در رابطه بین آسیب‌های دوران کودکی و سبک‌های هویتی در دانشجویان</a:t>
            </a:r>
            <a:endParaRPr lang="fa-IR" sz="1700" dirty="0"/>
          </a:p>
        </p:txBody>
      </p:sp>
      <p:sp>
        <p:nvSpPr>
          <p:cNvPr id="15" name="A02_f_64"/>
          <p:cNvSpPr/>
          <p:nvPr/>
        </p:nvSpPr>
        <p:spPr>
          <a:xfrm>
            <a:off x="6095390" y="2697480"/>
            <a:ext cx="0" cy="411480"/>
          </a:xfrm>
          <a:prstGeom prst="line">
            <a:avLst/>
          </a:prstGeom>
          <a:noFill/>
          <a:ln w="19050">
            <a:solidFill>
              <a:srgbClr val="6B7B83"/>
            </a:solidFill>
            <a:prstDash val="solid"/>
          </a:ln>
        </p:spPr>
      </p:sp>
      <p:sp>
        <p:nvSpPr>
          <p:cNvPr id="16" name="A02_wr_65"/>
          <p:cNvSpPr/>
          <p:nvPr/>
        </p:nvSpPr>
        <p:spPr>
          <a:xfrm>
            <a:off x="2148840" y="3108960"/>
            <a:ext cx="7891272" cy="0"/>
          </a:xfrm>
          <a:prstGeom prst="line">
            <a:avLst/>
          </a:prstGeom>
          <a:noFill/>
          <a:ln w="19050">
            <a:solidFill>
              <a:srgbClr val="6B7B83"/>
            </a:solidFill>
            <a:prstDash val="solid"/>
          </a:ln>
        </p:spPr>
      </p:sp>
      <p:sp>
        <p:nvSpPr>
          <p:cNvPr id="17" name="A02_f_66"/>
          <p:cNvSpPr txBox="1"/>
          <p:nvPr/>
        </p:nvSpPr>
        <p:spPr>
          <a:xfrm>
            <a:off x="4956048" y="3246788"/>
            <a:ext cx="2313432" cy="320040"/>
          </a:xfrm>
          <a:prstGeom prst="rect">
            <a:avLst/>
          </a:prstGeom>
          <a:noFill/>
          <a:ln/>
        </p:spPr>
        <p:txBody>
          <a:bodyPr wrap="square" lIns="0" tIns="0" rIns="0" bIns="0" rtlCol="0" anchor="t"/>
          <a:lstStyle/>
          <a:p>
            <a:pPr marL="0" indent="0" algn="ctr" rtl="1">
              <a:buNone/>
            </a:pPr>
            <a:r>
              <a:rPr lang="fa-IR" altLang="en-US" sz="1300" b="1" dirty="0">
                <a:solidFill>
                  <a:srgbClr val="6B7B83"/>
                </a:solidFill>
                <a:latin typeface="Tahoma" pitchFamily="34" charset="0"/>
                <a:ea typeface="Tahoma" pitchFamily="34" charset="-122"/>
                <a:cs typeface="Tahoma" pitchFamily="34" charset="-120"/>
              </a:rPr>
              <a:t>اهداف   جزئی</a:t>
            </a:r>
            <a:endParaRPr lang="fa-IR" sz="1300" dirty="0"/>
          </a:p>
        </p:txBody>
      </p:sp>
      <p:sp>
        <p:nvSpPr>
          <p:cNvPr id="18" name="A03_f_67"/>
          <p:cNvSpPr/>
          <p:nvPr/>
        </p:nvSpPr>
        <p:spPr>
          <a:xfrm>
            <a:off x="9889236" y="3108960"/>
            <a:ext cx="0" cy="457200"/>
          </a:xfrm>
          <a:prstGeom prst="line">
            <a:avLst/>
          </a:prstGeom>
          <a:noFill/>
          <a:ln w="19050">
            <a:solidFill>
              <a:srgbClr val="6B7B83"/>
            </a:solidFill>
            <a:prstDash val="solid"/>
          </a:ln>
        </p:spPr>
      </p:sp>
      <p:sp>
        <p:nvSpPr>
          <p:cNvPr id="19" name="A03_z_68b"/>
          <p:cNvSpPr/>
          <p:nvPr/>
        </p:nvSpPr>
        <p:spPr>
          <a:xfrm>
            <a:off x="8092440" y="3566160"/>
            <a:ext cx="3593592" cy="2514600"/>
          </a:xfrm>
          <a:prstGeom prst="roundRect">
            <a:avLst>
              <a:gd name="adj" fmla="val 4364"/>
            </a:avLst>
          </a:prstGeom>
          <a:solidFill>
            <a:srgbClr val="F4F6F7"/>
          </a:solidFill>
          <a:ln w="12700">
            <a:solidFill>
              <a:srgbClr val="F4F6F7"/>
            </a:solidFill>
            <a:prstDash val="solid"/>
          </a:ln>
        </p:spPr>
      </p:sp>
      <p:sp>
        <p:nvSpPr>
          <p:cNvPr id="20" name="A03_z_69"/>
          <p:cNvSpPr txBox="1"/>
          <p:nvPr/>
        </p:nvSpPr>
        <p:spPr>
          <a:xfrm>
            <a:off x="11064240" y="3703320"/>
            <a:ext cx="457200" cy="457200"/>
          </a:xfrm>
          <a:prstGeom prst="rect">
            <a:avLst/>
          </a:prstGeom>
          <a:noFill/>
          <a:ln/>
        </p:spPr>
        <p:txBody>
          <a:bodyPr wrap="square" lIns="0" tIns="0" rIns="0" bIns="0" rtlCol="0" anchor="t"/>
          <a:lstStyle/>
          <a:p>
            <a:pPr marL="0" indent="0" algn="ctr" rtl="1">
              <a:buNone/>
            </a:pPr>
            <a:r>
              <a:rPr lang="fa-IR" altLang="en-US" sz="2400" b="1" dirty="0">
                <a:solidFill>
                  <a:srgbClr val="0F5257"/>
                </a:solidFill>
                <a:latin typeface="Tahoma" pitchFamily="34" charset="0"/>
                <a:ea typeface="Tahoma" pitchFamily="34" charset="-122"/>
                <a:cs typeface="Tahoma" pitchFamily="34" charset="-120"/>
              </a:rPr>
              <a:t>۱</a:t>
            </a:r>
            <a:endParaRPr lang="fa-IR" sz="2400" dirty="0"/>
          </a:p>
        </p:txBody>
      </p:sp>
      <p:sp>
        <p:nvSpPr>
          <p:cNvPr id="21" name="A03_z_70x"/>
          <p:cNvSpPr/>
          <p:nvPr/>
        </p:nvSpPr>
        <p:spPr>
          <a:xfrm>
            <a:off x="9875520" y="3767328"/>
            <a:ext cx="1097280" cy="384048"/>
          </a:xfrm>
          <a:prstGeom prst="roundRect">
            <a:avLst>
              <a:gd name="adj" fmla="val 28571"/>
            </a:avLst>
          </a:prstGeom>
          <a:solidFill>
            <a:srgbClr val="D9674A"/>
          </a:solidFill>
          <a:ln w="12700">
            <a:solidFill>
              <a:srgbClr val="D9674A"/>
            </a:solidFill>
            <a:prstDash val="solid"/>
          </a:ln>
        </p:spPr>
      </p:sp>
      <p:sp>
        <p:nvSpPr>
          <p:cNvPr id="22" name="A03_z_71"/>
          <p:cNvSpPr txBox="1"/>
          <p:nvPr/>
        </p:nvSpPr>
        <p:spPr>
          <a:xfrm>
            <a:off x="9875520" y="3767328"/>
            <a:ext cx="1097280" cy="38404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Tahoma" pitchFamily="34" charset="0"/>
                <a:ea typeface="Tahoma" pitchFamily="34" charset="-122"/>
                <a:cs typeface="Tahoma" pitchFamily="34" charset="-120"/>
              </a:rPr>
              <a:t>آسیب کودکی</a:t>
            </a:r>
            <a:endParaRPr lang="fa-IR" sz="1100" dirty="0"/>
          </a:p>
        </p:txBody>
      </p:sp>
      <p:sp>
        <p:nvSpPr>
          <p:cNvPr id="23" name="A03_z_72"/>
          <p:cNvSpPr txBox="1"/>
          <p:nvPr/>
        </p:nvSpPr>
        <p:spPr>
          <a:xfrm>
            <a:off x="9464040" y="3767328"/>
            <a:ext cx="411480" cy="384048"/>
          </a:xfrm>
          <a:prstGeom prst="rect">
            <a:avLst/>
          </a:prstGeom>
          <a:noFill/>
          <a:ln/>
        </p:spPr>
        <p:txBody>
          <a:bodyPr wrap="square" lIns="0" tIns="0" rIns="0" bIns="0" rtlCol="0" anchor="ctr"/>
          <a:lstStyle/>
          <a:p>
            <a:pPr marL="0" indent="0" algn="ctr">
              <a:buNone/>
            </a:pPr>
            <a:r>
              <a:rPr lang="fa-IR" altLang="en-US" sz="1400" dirty="0">
                <a:solidFill>
                  <a:srgbClr val="6B7B83"/>
                </a:solidFill>
                <a:latin typeface="Tahoma" pitchFamily="34" charset="0"/>
                <a:ea typeface="Tahoma" pitchFamily="34" charset="-122"/>
                <a:cs typeface="Tahoma" pitchFamily="34" charset="-120"/>
              </a:rPr>
              <a:t>⟷</a:t>
            </a:r>
            <a:endParaRPr lang="fa-IR" sz="1400" dirty="0"/>
          </a:p>
        </p:txBody>
      </p:sp>
      <p:sp>
        <p:nvSpPr>
          <p:cNvPr id="24" name="A03_z_73y"/>
          <p:cNvSpPr/>
          <p:nvPr/>
        </p:nvSpPr>
        <p:spPr>
          <a:xfrm>
            <a:off x="8321040" y="3767328"/>
            <a:ext cx="1143000" cy="384048"/>
          </a:xfrm>
          <a:prstGeom prst="roundRect">
            <a:avLst>
              <a:gd name="adj" fmla="val 28571"/>
            </a:avLst>
          </a:prstGeom>
          <a:solidFill>
            <a:srgbClr val="6D597A"/>
          </a:solidFill>
          <a:ln w="12700">
            <a:solidFill>
              <a:srgbClr val="6D597A"/>
            </a:solidFill>
            <a:prstDash val="solid"/>
          </a:ln>
        </p:spPr>
      </p:sp>
      <p:sp>
        <p:nvSpPr>
          <p:cNvPr id="25" name="A03_z_74"/>
          <p:cNvSpPr txBox="1"/>
          <p:nvPr/>
        </p:nvSpPr>
        <p:spPr>
          <a:xfrm>
            <a:off x="8321040" y="3767328"/>
            <a:ext cx="1143000" cy="38404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Tahoma" pitchFamily="34" charset="0"/>
                <a:ea typeface="Tahoma" pitchFamily="34" charset="-122"/>
                <a:cs typeface="Tahoma" pitchFamily="34" charset="-120"/>
              </a:rPr>
              <a:t>سبک هویتی</a:t>
            </a:r>
            <a:endParaRPr lang="fa-IR" sz="1100" dirty="0"/>
          </a:p>
        </p:txBody>
      </p:sp>
      <p:sp>
        <p:nvSpPr>
          <p:cNvPr id="26" name="A03_z_75"/>
          <p:cNvSpPr txBox="1"/>
          <p:nvPr/>
        </p:nvSpPr>
        <p:spPr>
          <a:xfrm>
            <a:off x="8321040" y="4434840"/>
            <a:ext cx="3154680" cy="1463040"/>
          </a:xfrm>
          <a:prstGeom prst="rect">
            <a:avLst/>
          </a:prstGeom>
          <a:noFill/>
          <a:ln/>
        </p:spPr>
        <p:txBody>
          <a:bodyPr wrap="square" lIns="0" tIns="0" rIns="0" bIns="0" rtlCol="0" anchor="t"/>
          <a:lstStyle/>
          <a:p>
            <a:pPr marL="0" indent="0" algn="r" rtl="1">
              <a:buNone/>
            </a:pPr>
            <a:r>
              <a:rPr lang="fa-IR" altLang="en-US" sz="1500" dirty="0">
                <a:solidFill>
                  <a:srgbClr val="263238"/>
                </a:solidFill>
                <a:latin typeface="Tahoma" pitchFamily="34" charset="0"/>
                <a:ea typeface="Tahoma" pitchFamily="34" charset="-122"/>
                <a:cs typeface="Tahoma" pitchFamily="34" charset="-120"/>
              </a:rPr>
              <a:t>تعیین رابطه بین آسیب‌های دوران کودکی و سبک‌های هویتی در دانشجویان</a:t>
            </a:r>
            <a:endParaRPr lang="fa-IR" sz="1500" dirty="0"/>
          </a:p>
        </p:txBody>
      </p:sp>
      <p:sp>
        <p:nvSpPr>
          <p:cNvPr id="27" name="A04_f_76"/>
          <p:cNvSpPr/>
          <p:nvPr/>
        </p:nvSpPr>
        <p:spPr>
          <a:xfrm>
            <a:off x="6094476" y="3108960"/>
            <a:ext cx="0" cy="457200"/>
          </a:xfrm>
          <a:prstGeom prst="line">
            <a:avLst/>
          </a:prstGeom>
          <a:noFill/>
          <a:ln w="19050">
            <a:solidFill>
              <a:srgbClr val="6B7B83"/>
            </a:solidFill>
            <a:prstDash val="solid"/>
          </a:ln>
        </p:spPr>
      </p:sp>
      <p:sp>
        <p:nvSpPr>
          <p:cNvPr id="28" name="A04_z_77b"/>
          <p:cNvSpPr/>
          <p:nvPr/>
        </p:nvSpPr>
        <p:spPr>
          <a:xfrm>
            <a:off x="4297680" y="3566160"/>
            <a:ext cx="3593592" cy="2514600"/>
          </a:xfrm>
          <a:prstGeom prst="roundRect">
            <a:avLst>
              <a:gd name="adj" fmla="val 4364"/>
            </a:avLst>
          </a:prstGeom>
          <a:solidFill>
            <a:srgbClr val="F4F6F7"/>
          </a:solidFill>
          <a:ln w="12700">
            <a:solidFill>
              <a:srgbClr val="F4F6F7"/>
            </a:solidFill>
            <a:prstDash val="solid"/>
          </a:ln>
        </p:spPr>
      </p:sp>
      <p:sp>
        <p:nvSpPr>
          <p:cNvPr id="29" name="A04_z_78"/>
          <p:cNvSpPr txBox="1"/>
          <p:nvPr/>
        </p:nvSpPr>
        <p:spPr>
          <a:xfrm>
            <a:off x="7269480" y="3703320"/>
            <a:ext cx="457200" cy="457200"/>
          </a:xfrm>
          <a:prstGeom prst="rect">
            <a:avLst/>
          </a:prstGeom>
          <a:noFill/>
          <a:ln/>
        </p:spPr>
        <p:txBody>
          <a:bodyPr wrap="square" lIns="0" tIns="0" rIns="0" bIns="0" rtlCol="0" anchor="t"/>
          <a:lstStyle/>
          <a:p>
            <a:pPr marL="0" indent="0" algn="ctr" rtl="1">
              <a:buNone/>
            </a:pPr>
            <a:r>
              <a:rPr lang="fa-IR" altLang="en-US" sz="2400" b="1" dirty="0">
                <a:solidFill>
                  <a:srgbClr val="0F5257"/>
                </a:solidFill>
                <a:latin typeface="Tahoma" pitchFamily="34" charset="0"/>
                <a:ea typeface="Tahoma" pitchFamily="34" charset="-122"/>
                <a:cs typeface="Tahoma" pitchFamily="34" charset="-120"/>
              </a:rPr>
              <a:t>۲</a:t>
            </a:r>
            <a:endParaRPr lang="fa-IR" sz="2400" dirty="0"/>
          </a:p>
        </p:txBody>
      </p:sp>
      <p:sp>
        <p:nvSpPr>
          <p:cNvPr id="30" name="A04_z_79x"/>
          <p:cNvSpPr/>
          <p:nvPr/>
        </p:nvSpPr>
        <p:spPr>
          <a:xfrm>
            <a:off x="6080760" y="3767328"/>
            <a:ext cx="1097280" cy="384048"/>
          </a:xfrm>
          <a:prstGeom prst="roundRect">
            <a:avLst>
              <a:gd name="adj" fmla="val 28571"/>
            </a:avLst>
          </a:prstGeom>
          <a:solidFill>
            <a:srgbClr val="D9674A"/>
          </a:solidFill>
          <a:ln w="12700">
            <a:solidFill>
              <a:srgbClr val="D9674A"/>
            </a:solidFill>
            <a:prstDash val="solid"/>
          </a:ln>
        </p:spPr>
      </p:sp>
      <p:sp>
        <p:nvSpPr>
          <p:cNvPr id="31" name="A04_z_80"/>
          <p:cNvSpPr txBox="1"/>
          <p:nvPr/>
        </p:nvSpPr>
        <p:spPr>
          <a:xfrm>
            <a:off x="6080760" y="3767328"/>
            <a:ext cx="1097280" cy="38404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Tahoma" pitchFamily="34" charset="0"/>
                <a:ea typeface="Tahoma" pitchFamily="34" charset="-122"/>
                <a:cs typeface="Tahoma" pitchFamily="34" charset="-120"/>
              </a:rPr>
              <a:t>آسیب کودکی</a:t>
            </a:r>
            <a:endParaRPr lang="fa-IR" sz="1100" dirty="0"/>
          </a:p>
        </p:txBody>
      </p:sp>
      <p:sp>
        <p:nvSpPr>
          <p:cNvPr id="32" name="A04_z_81"/>
          <p:cNvSpPr txBox="1"/>
          <p:nvPr/>
        </p:nvSpPr>
        <p:spPr>
          <a:xfrm>
            <a:off x="5669280" y="3767328"/>
            <a:ext cx="411480" cy="384048"/>
          </a:xfrm>
          <a:prstGeom prst="rect">
            <a:avLst/>
          </a:prstGeom>
          <a:noFill/>
          <a:ln/>
        </p:spPr>
        <p:txBody>
          <a:bodyPr wrap="square" lIns="0" tIns="0" rIns="0" bIns="0" rtlCol="0" anchor="ctr"/>
          <a:lstStyle/>
          <a:p>
            <a:pPr marL="0" indent="0" algn="ctr">
              <a:buNone/>
            </a:pPr>
            <a:r>
              <a:rPr lang="fa-IR" altLang="en-US" sz="1400" dirty="0">
                <a:solidFill>
                  <a:srgbClr val="6B7B83"/>
                </a:solidFill>
                <a:latin typeface="Tahoma" pitchFamily="34" charset="0"/>
                <a:ea typeface="Tahoma" pitchFamily="34" charset="-122"/>
                <a:cs typeface="Tahoma" pitchFamily="34" charset="-120"/>
              </a:rPr>
              <a:t>⟷</a:t>
            </a:r>
            <a:endParaRPr lang="fa-IR" sz="1400" dirty="0"/>
          </a:p>
        </p:txBody>
      </p:sp>
      <p:sp>
        <p:nvSpPr>
          <p:cNvPr id="33" name="A04_z_82y"/>
          <p:cNvSpPr/>
          <p:nvPr/>
        </p:nvSpPr>
        <p:spPr>
          <a:xfrm>
            <a:off x="4526280" y="3767328"/>
            <a:ext cx="1143000" cy="384048"/>
          </a:xfrm>
          <a:prstGeom prst="roundRect">
            <a:avLst>
              <a:gd name="adj" fmla="val 28571"/>
            </a:avLst>
          </a:prstGeom>
          <a:solidFill>
            <a:srgbClr val="2A9D8F"/>
          </a:solidFill>
          <a:ln w="12700">
            <a:solidFill>
              <a:srgbClr val="2A9D8F"/>
            </a:solidFill>
            <a:prstDash val="solid"/>
          </a:ln>
        </p:spPr>
      </p:sp>
      <p:sp>
        <p:nvSpPr>
          <p:cNvPr id="34" name="A04_z_83"/>
          <p:cNvSpPr txBox="1"/>
          <p:nvPr/>
        </p:nvSpPr>
        <p:spPr>
          <a:xfrm>
            <a:off x="4526280" y="3767328"/>
            <a:ext cx="1143000" cy="38404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Tahoma" pitchFamily="34" charset="0"/>
                <a:ea typeface="Tahoma" pitchFamily="34" charset="-122"/>
                <a:cs typeface="Tahoma" pitchFamily="34" charset="-120"/>
              </a:rPr>
              <a:t>حل تعارض</a:t>
            </a:r>
            <a:endParaRPr lang="fa-IR" sz="1100" dirty="0"/>
          </a:p>
        </p:txBody>
      </p:sp>
      <p:sp>
        <p:nvSpPr>
          <p:cNvPr id="35" name="A04_z_84"/>
          <p:cNvSpPr txBox="1"/>
          <p:nvPr/>
        </p:nvSpPr>
        <p:spPr>
          <a:xfrm>
            <a:off x="4526280" y="4434840"/>
            <a:ext cx="3154680" cy="1463040"/>
          </a:xfrm>
          <a:prstGeom prst="rect">
            <a:avLst/>
          </a:prstGeom>
          <a:noFill/>
          <a:ln/>
        </p:spPr>
        <p:txBody>
          <a:bodyPr wrap="square" lIns="0" tIns="0" rIns="0" bIns="0" rtlCol="0" anchor="t"/>
          <a:lstStyle/>
          <a:p>
            <a:pPr marL="0" indent="0" algn="r" rtl="1">
              <a:buNone/>
            </a:pPr>
            <a:r>
              <a:rPr lang="fa-IR" altLang="en-US" sz="1500" dirty="0">
                <a:solidFill>
                  <a:srgbClr val="263238"/>
                </a:solidFill>
                <a:latin typeface="Tahoma" pitchFamily="34" charset="0"/>
                <a:ea typeface="Tahoma" pitchFamily="34" charset="-122"/>
                <a:cs typeface="Tahoma" pitchFamily="34" charset="-120"/>
              </a:rPr>
              <a:t>تعیین رابطه بین آسیب‌های دوران کودکی و سبک‌های حل تعارض در دانشجویان</a:t>
            </a:r>
            <a:endParaRPr lang="fa-IR" sz="1500" dirty="0"/>
          </a:p>
        </p:txBody>
      </p:sp>
      <p:sp>
        <p:nvSpPr>
          <p:cNvPr id="36" name="A05_f_85"/>
          <p:cNvSpPr/>
          <p:nvPr/>
        </p:nvSpPr>
        <p:spPr>
          <a:xfrm>
            <a:off x="2299716" y="3108960"/>
            <a:ext cx="0" cy="457200"/>
          </a:xfrm>
          <a:prstGeom prst="line">
            <a:avLst/>
          </a:prstGeom>
          <a:noFill/>
          <a:ln w="19050">
            <a:solidFill>
              <a:srgbClr val="6B7B83"/>
            </a:solidFill>
            <a:prstDash val="solid"/>
          </a:ln>
        </p:spPr>
      </p:sp>
      <p:sp>
        <p:nvSpPr>
          <p:cNvPr id="37" name="A05_z_86b"/>
          <p:cNvSpPr/>
          <p:nvPr/>
        </p:nvSpPr>
        <p:spPr>
          <a:xfrm>
            <a:off x="502920" y="3566160"/>
            <a:ext cx="3593592" cy="2514600"/>
          </a:xfrm>
          <a:prstGeom prst="roundRect">
            <a:avLst>
              <a:gd name="adj" fmla="val 4364"/>
            </a:avLst>
          </a:prstGeom>
          <a:solidFill>
            <a:srgbClr val="F4F6F7"/>
          </a:solidFill>
          <a:ln w="12700">
            <a:solidFill>
              <a:srgbClr val="F4F6F7"/>
            </a:solidFill>
            <a:prstDash val="solid"/>
          </a:ln>
        </p:spPr>
      </p:sp>
      <p:sp>
        <p:nvSpPr>
          <p:cNvPr id="38" name="A05_z_87"/>
          <p:cNvSpPr txBox="1"/>
          <p:nvPr/>
        </p:nvSpPr>
        <p:spPr>
          <a:xfrm>
            <a:off x="3474720" y="3703320"/>
            <a:ext cx="457200" cy="457200"/>
          </a:xfrm>
          <a:prstGeom prst="rect">
            <a:avLst/>
          </a:prstGeom>
          <a:noFill/>
          <a:ln/>
        </p:spPr>
        <p:txBody>
          <a:bodyPr wrap="square" lIns="0" tIns="0" rIns="0" bIns="0" rtlCol="0" anchor="t"/>
          <a:lstStyle/>
          <a:p>
            <a:pPr marL="0" indent="0" algn="ctr" rtl="1">
              <a:buNone/>
            </a:pPr>
            <a:r>
              <a:rPr lang="fa-IR" altLang="en-US" sz="2400" b="1" dirty="0">
                <a:solidFill>
                  <a:srgbClr val="0F5257"/>
                </a:solidFill>
                <a:latin typeface="Tahoma" pitchFamily="34" charset="0"/>
                <a:ea typeface="Tahoma" pitchFamily="34" charset="-122"/>
                <a:cs typeface="Tahoma" pitchFamily="34" charset="-120"/>
              </a:rPr>
              <a:t>۳</a:t>
            </a:r>
            <a:endParaRPr lang="fa-IR" sz="2400" dirty="0"/>
          </a:p>
        </p:txBody>
      </p:sp>
      <p:sp>
        <p:nvSpPr>
          <p:cNvPr id="39" name="A05_z_88x"/>
          <p:cNvSpPr/>
          <p:nvPr/>
        </p:nvSpPr>
        <p:spPr>
          <a:xfrm>
            <a:off x="2286000" y="3767328"/>
            <a:ext cx="1097280" cy="384048"/>
          </a:xfrm>
          <a:prstGeom prst="roundRect">
            <a:avLst>
              <a:gd name="adj" fmla="val 28571"/>
            </a:avLst>
          </a:prstGeom>
          <a:solidFill>
            <a:srgbClr val="6D597A"/>
          </a:solidFill>
          <a:ln w="12700">
            <a:solidFill>
              <a:srgbClr val="6D597A"/>
            </a:solidFill>
            <a:prstDash val="solid"/>
          </a:ln>
        </p:spPr>
      </p:sp>
      <p:sp>
        <p:nvSpPr>
          <p:cNvPr id="40" name="A05_z_89"/>
          <p:cNvSpPr txBox="1"/>
          <p:nvPr/>
        </p:nvSpPr>
        <p:spPr>
          <a:xfrm>
            <a:off x="2286000" y="3767328"/>
            <a:ext cx="1097280" cy="38404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Tahoma" pitchFamily="34" charset="0"/>
                <a:ea typeface="Tahoma" pitchFamily="34" charset="-122"/>
                <a:cs typeface="Tahoma" pitchFamily="34" charset="-120"/>
              </a:rPr>
              <a:t>سبک هویتی</a:t>
            </a:r>
            <a:endParaRPr lang="fa-IR" sz="1100" dirty="0"/>
          </a:p>
        </p:txBody>
      </p:sp>
      <p:sp>
        <p:nvSpPr>
          <p:cNvPr id="41" name="A05_z_90"/>
          <p:cNvSpPr txBox="1"/>
          <p:nvPr/>
        </p:nvSpPr>
        <p:spPr>
          <a:xfrm>
            <a:off x="1874520" y="3767328"/>
            <a:ext cx="411480" cy="384048"/>
          </a:xfrm>
          <a:prstGeom prst="rect">
            <a:avLst/>
          </a:prstGeom>
          <a:noFill/>
          <a:ln/>
        </p:spPr>
        <p:txBody>
          <a:bodyPr wrap="square" lIns="0" tIns="0" rIns="0" bIns="0" rtlCol="0" anchor="ctr"/>
          <a:lstStyle/>
          <a:p>
            <a:pPr marL="0" indent="0" algn="ctr">
              <a:buNone/>
            </a:pPr>
            <a:r>
              <a:rPr lang="fa-IR" altLang="en-US" sz="1400" dirty="0">
                <a:solidFill>
                  <a:srgbClr val="6B7B83"/>
                </a:solidFill>
                <a:latin typeface="Tahoma" pitchFamily="34" charset="0"/>
                <a:ea typeface="Tahoma" pitchFamily="34" charset="-122"/>
                <a:cs typeface="Tahoma" pitchFamily="34" charset="-120"/>
              </a:rPr>
              <a:t>⟷</a:t>
            </a:r>
            <a:endParaRPr lang="fa-IR" sz="1400" dirty="0"/>
          </a:p>
        </p:txBody>
      </p:sp>
      <p:sp>
        <p:nvSpPr>
          <p:cNvPr id="42" name="A05_z_91y"/>
          <p:cNvSpPr/>
          <p:nvPr/>
        </p:nvSpPr>
        <p:spPr>
          <a:xfrm>
            <a:off x="731520" y="3767328"/>
            <a:ext cx="1143000" cy="384048"/>
          </a:xfrm>
          <a:prstGeom prst="roundRect">
            <a:avLst>
              <a:gd name="adj" fmla="val 28571"/>
            </a:avLst>
          </a:prstGeom>
          <a:solidFill>
            <a:srgbClr val="2A9D8F"/>
          </a:solidFill>
          <a:ln w="12700">
            <a:solidFill>
              <a:srgbClr val="2A9D8F"/>
            </a:solidFill>
            <a:prstDash val="solid"/>
          </a:ln>
        </p:spPr>
      </p:sp>
      <p:sp>
        <p:nvSpPr>
          <p:cNvPr id="43" name="A05_z_92"/>
          <p:cNvSpPr txBox="1"/>
          <p:nvPr/>
        </p:nvSpPr>
        <p:spPr>
          <a:xfrm>
            <a:off x="731520" y="3767328"/>
            <a:ext cx="1143000" cy="384048"/>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Tahoma" pitchFamily="34" charset="0"/>
                <a:ea typeface="Tahoma" pitchFamily="34" charset="-122"/>
                <a:cs typeface="Tahoma" pitchFamily="34" charset="-120"/>
              </a:rPr>
              <a:t>حل تعارض</a:t>
            </a:r>
            <a:endParaRPr lang="fa-IR" sz="1100" dirty="0"/>
          </a:p>
        </p:txBody>
      </p:sp>
      <p:sp>
        <p:nvSpPr>
          <p:cNvPr id="44" name="A05_z_93"/>
          <p:cNvSpPr txBox="1"/>
          <p:nvPr/>
        </p:nvSpPr>
        <p:spPr>
          <a:xfrm>
            <a:off x="731520" y="4434840"/>
            <a:ext cx="3154680" cy="1463040"/>
          </a:xfrm>
          <a:prstGeom prst="rect">
            <a:avLst/>
          </a:prstGeom>
          <a:noFill/>
          <a:ln/>
        </p:spPr>
        <p:txBody>
          <a:bodyPr wrap="square" lIns="0" tIns="0" rIns="0" bIns="0" rtlCol="0" anchor="t"/>
          <a:lstStyle/>
          <a:p>
            <a:pPr marL="0" indent="0" algn="r" rtl="1">
              <a:buNone/>
            </a:pPr>
            <a:r>
              <a:rPr lang="fa-IR" altLang="en-US" sz="1500" dirty="0">
                <a:solidFill>
                  <a:srgbClr val="263238"/>
                </a:solidFill>
                <a:latin typeface="Tahoma" pitchFamily="34" charset="0"/>
                <a:ea typeface="Tahoma" pitchFamily="34" charset="-122"/>
                <a:cs typeface="Tahoma" pitchFamily="34" charset="-120"/>
              </a:rPr>
              <a:t>تعیین رابطه بین سبک‌های هویتی و سبک‌های حل تعارض در دانشجویان</a:t>
            </a:r>
            <a:endParaRPr lang="fa-IR" sz="15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450" fill="hold"/>
                                        <p:tgtEl>
                                          <p:spTgt spid="10"/>
                                        </p:tgtEl>
                                        <p:attrNameLst>
                                          <p:attrName>ppt_w</p:attrName>
                                        </p:attrNameLst>
                                      </p:cBhvr>
                                      <p:tavLst>
                                        <p:tav tm="0">
                                          <p:val>
                                            <p:fltVal val="0"/>
                                          </p:val>
                                        </p:tav>
                                        <p:tav tm="100000">
                                          <p:val>
                                            <p:strVal val="#ppt_w"/>
                                          </p:val>
                                        </p:tav>
                                      </p:tavLst>
                                    </p:anim>
                                    <p:anim calcmode="lin" valueType="num">
                                      <p:cBhvr>
                                        <p:cTn id="8" dur="450" fill="hold"/>
                                        <p:tgtEl>
                                          <p:spTgt spid="10"/>
                                        </p:tgtEl>
                                        <p:attrNameLst>
                                          <p:attrName>ppt_h</p:attrName>
                                        </p:attrNameLst>
                                      </p:cBhvr>
                                      <p:tavLst>
                                        <p:tav tm="0">
                                          <p:val>
                                            <p:fltVal val="0"/>
                                          </p:val>
                                        </p:tav>
                                        <p:tav tm="100000">
                                          <p:val>
                                            <p:strVal val="#ppt_h"/>
                                          </p:val>
                                        </p:tav>
                                      </p:tavLst>
                                    </p:anim>
                                    <p:animEffect transition="in" filter="fade">
                                      <p:cBhvr>
                                        <p:cTn id="9" dur="45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450" fill="hold"/>
                                        <p:tgtEl>
                                          <p:spTgt spid="11"/>
                                        </p:tgtEl>
                                        <p:attrNameLst>
                                          <p:attrName>ppt_w</p:attrName>
                                        </p:attrNameLst>
                                      </p:cBhvr>
                                      <p:tavLst>
                                        <p:tav tm="0">
                                          <p:val>
                                            <p:fltVal val="0"/>
                                          </p:val>
                                        </p:tav>
                                        <p:tav tm="100000">
                                          <p:val>
                                            <p:strVal val="#ppt_w"/>
                                          </p:val>
                                        </p:tav>
                                      </p:tavLst>
                                    </p:anim>
                                    <p:anim calcmode="lin" valueType="num">
                                      <p:cBhvr>
                                        <p:cTn id="13" dur="450" fill="hold"/>
                                        <p:tgtEl>
                                          <p:spTgt spid="11"/>
                                        </p:tgtEl>
                                        <p:attrNameLst>
                                          <p:attrName>ppt_h</p:attrName>
                                        </p:attrNameLst>
                                      </p:cBhvr>
                                      <p:tavLst>
                                        <p:tav tm="0">
                                          <p:val>
                                            <p:fltVal val="0"/>
                                          </p:val>
                                        </p:tav>
                                        <p:tav tm="100000">
                                          <p:val>
                                            <p:strVal val="#ppt_h"/>
                                          </p:val>
                                        </p:tav>
                                      </p:tavLst>
                                    </p:anim>
                                    <p:animEffect transition="in" filter="fade">
                                      <p:cBhvr>
                                        <p:cTn id="14" dur="450"/>
                                        <p:tgtEl>
                                          <p:spTgt spid="11"/>
                                        </p:tgtEl>
                                      </p:cBhvr>
                                    </p:animEffect>
                                  </p:childTnLst>
                                </p:cTn>
                              </p:par>
                              <p:par>
                                <p:cTn id="15" presetID="53" presetClass="entr" presetSubtype="16"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450" fill="hold"/>
                                        <p:tgtEl>
                                          <p:spTgt spid="12"/>
                                        </p:tgtEl>
                                        <p:attrNameLst>
                                          <p:attrName>ppt_w</p:attrName>
                                        </p:attrNameLst>
                                      </p:cBhvr>
                                      <p:tavLst>
                                        <p:tav tm="0">
                                          <p:val>
                                            <p:fltVal val="0"/>
                                          </p:val>
                                        </p:tav>
                                        <p:tav tm="100000">
                                          <p:val>
                                            <p:strVal val="#ppt_w"/>
                                          </p:val>
                                        </p:tav>
                                      </p:tavLst>
                                    </p:anim>
                                    <p:anim calcmode="lin" valueType="num">
                                      <p:cBhvr>
                                        <p:cTn id="18" dur="450" fill="hold"/>
                                        <p:tgtEl>
                                          <p:spTgt spid="12"/>
                                        </p:tgtEl>
                                        <p:attrNameLst>
                                          <p:attrName>ppt_h</p:attrName>
                                        </p:attrNameLst>
                                      </p:cBhvr>
                                      <p:tavLst>
                                        <p:tav tm="0">
                                          <p:val>
                                            <p:fltVal val="0"/>
                                          </p:val>
                                        </p:tav>
                                        <p:tav tm="100000">
                                          <p:val>
                                            <p:strVal val="#ppt_h"/>
                                          </p:val>
                                        </p:tav>
                                      </p:tavLst>
                                    </p:anim>
                                    <p:animEffect transition="in" filter="fade">
                                      <p:cBhvr>
                                        <p:cTn id="19" dur="450"/>
                                        <p:tgtEl>
                                          <p:spTgt spid="12"/>
                                        </p:tgtEl>
                                      </p:cBhvr>
                                    </p:animEffect>
                                  </p:childTnLst>
                                </p:cTn>
                              </p:par>
                              <p:par>
                                <p:cTn id="20" presetID="53" presetClass="entr" presetSubtype="16"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450" fill="hold"/>
                                        <p:tgtEl>
                                          <p:spTgt spid="14"/>
                                        </p:tgtEl>
                                        <p:attrNameLst>
                                          <p:attrName>ppt_w</p:attrName>
                                        </p:attrNameLst>
                                      </p:cBhvr>
                                      <p:tavLst>
                                        <p:tav tm="0">
                                          <p:val>
                                            <p:fltVal val="0"/>
                                          </p:val>
                                        </p:tav>
                                        <p:tav tm="100000">
                                          <p:val>
                                            <p:strVal val="#ppt_w"/>
                                          </p:val>
                                        </p:tav>
                                      </p:tavLst>
                                    </p:anim>
                                    <p:anim calcmode="lin" valueType="num">
                                      <p:cBhvr>
                                        <p:cTn id="23" dur="450" fill="hold"/>
                                        <p:tgtEl>
                                          <p:spTgt spid="14"/>
                                        </p:tgtEl>
                                        <p:attrNameLst>
                                          <p:attrName>ppt_h</p:attrName>
                                        </p:attrNameLst>
                                      </p:cBhvr>
                                      <p:tavLst>
                                        <p:tav tm="0">
                                          <p:val>
                                            <p:fltVal val="0"/>
                                          </p:val>
                                        </p:tav>
                                        <p:tav tm="100000">
                                          <p:val>
                                            <p:strVal val="#ppt_h"/>
                                          </p:val>
                                        </p:tav>
                                      </p:tavLst>
                                    </p:anim>
                                    <p:animEffect transition="in" filter="fade">
                                      <p:cBhvr>
                                        <p:cTn id="24" dur="450"/>
                                        <p:tgtEl>
                                          <p:spTgt spid="14"/>
                                        </p:tgtEl>
                                      </p:cBhvr>
                                    </p:animEffect>
                                  </p:childTnLst>
                                </p:cTn>
                              </p:par>
                            </p:childTnLst>
                          </p:cTn>
                        </p:par>
                        <p:par>
                          <p:cTn id="25" fill="hold">
                            <p:stCondLst>
                              <p:cond delay="300"/>
                            </p:stCondLst>
                            <p:childTnLst>
                              <p:par>
                                <p:cTn id="26" presetID="10" presetClass="entr" presetSubtype="0" fill="hold"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22" presetClass="entr" presetSubtype="8"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childTnLst>
                          </p:cTn>
                        </p:par>
                        <p:par>
                          <p:cTn id="35" fill="hold">
                            <p:stCondLst>
                              <p:cond delay="600"/>
                            </p:stCondLst>
                            <p:childTnLst>
                              <p:par>
                                <p:cTn id="36" presetID="10" presetClass="entr" presetSubtype="0"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53" presetClass="entr" presetSubtype="16"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p:cTn id="41" dur="450" fill="hold"/>
                                        <p:tgtEl>
                                          <p:spTgt spid="19"/>
                                        </p:tgtEl>
                                        <p:attrNameLst>
                                          <p:attrName>ppt_w</p:attrName>
                                        </p:attrNameLst>
                                      </p:cBhvr>
                                      <p:tavLst>
                                        <p:tav tm="0">
                                          <p:val>
                                            <p:fltVal val="0"/>
                                          </p:val>
                                        </p:tav>
                                        <p:tav tm="100000">
                                          <p:val>
                                            <p:strVal val="#ppt_w"/>
                                          </p:val>
                                        </p:tav>
                                      </p:tavLst>
                                    </p:anim>
                                    <p:anim calcmode="lin" valueType="num">
                                      <p:cBhvr>
                                        <p:cTn id="42" dur="450" fill="hold"/>
                                        <p:tgtEl>
                                          <p:spTgt spid="19"/>
                                        </p:tgtEl>
                                        <p:attrNameLst>
                                          <p:attrName>ppt_h</p:attrName>
                                        </p:attrNameLst>
                                      </p:cBhvr>
                                      <p:tavLst>
                                        <p:tav tm="0">
                                          <p:val>
                                            <p:fltVal val="0"/>
                                          </p:val>
                                        </p:tav>
                                        <p:tav tm="100000">
                                          <p:val>
                                            <p:strVal val="#ppt_h"/>
                                          </p:val>
                                        </p:tav>
                                      </p:tavLst>
                                    </p:anim>
                                    <p:animEffect transition="in" filter="fade">
                                      <p:cBhvr>
                                        <p:cTn id="43" dur="450"/>
                                        <p:tgtEl>
                                          <p:spTgt spid="19"/>
                                        </p:tgtEl>
                                      </p:cBhvr>
                                    </p:animEffect>
                                  </p:childTnLst>
                                </p:cTn>
                              </p:par>
                              <p:par>
                                <p:cTn id="44" presetID="53" presetClass="entr" presetSubtype="16"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p:cTn id="46" dur="450" fill="hold"/>
                                        <p:tgtEl>
                                          <p:spTgt spid="20"/>
                                        </p:tgtEl>
                                        <p:attrNameLst>
                                          <p:attrName>ppt_w</p:attrName>
                                        </p:attrNameLst>
                                      </p:cBhvr>
                                      <p:tavLst>
                                        <p:tav tm="0">
                                          <p:val>
                                            <p:fltVal val="0"/>
                                          </p:val>
                                        </p:tav>
                                        <p:tav tm="100000">
                                          <p:val>
                                            <p:strVal val="#ppt_w"/>
                                          </p:val>
                                        </p:tav>
                                      </p:tavLst>
                                    </p:anim>
                                    <p:anim calcmode="lin" valueType="num">
                                      <p:cBhvr>
                                        <p:cTn id="47" dur="450" fill="hold"/>
                                        <p:tgtEl>
                                          <p:spTgt spid="20"/>
                                        </p:tgtEl>
                                        <p:attrNameLst>
                                          <p:attrName>ppt_h</p:attrName>
                                        </p:attrNameLst>
                                      </p:cBhvr>
                                      <p:tavLst>
                                        <p:tav tm="0">
                                          <p:val>
                                            <p:fltVal val="0"/>
                                          </p:val>
                                        </p:tav>
                                        <p:tav tm="100000">
                                          <p:val>
                                            <p:strVal val="#ppt_h"/>
                                          </p:val>
                                        </p:tav>
                                      </p:tavLst>
                                    </p:anim>
                                    <p:animEffect transition="in" filter="fade">
                                      <p:cBhvr>
                                        <p:cTn id="48" dur="450"/>
                                        <p:tgtEl>
                                          <p:spTgt spid="20"/>
                                        </p:tgtEl>
                                      </p:cBhvr>
                                    </p:animEffect>
                                  </p:childTnLst>
                                </p:cTn>
                              </p:par>
                              <p:par>
                                <p:cTn id="49" presetID="53" presetClass="entr" presetSubtype="16"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p:cTn id="51" dur="450" fill="hold"/>
                                        <p:tgtEl>
                                          <p:spTgt spid="21"/>
                                        </p:tgtEl>
                                        <p:attrNameLst>
                                          <p:attrName>ppt_w</p:attrName>
                                        </p:attrNameLst>
                                      </p:cBhvr>
                                      <p:tavLst>
                                        <p:tav tm="0">
                                          <p:val>
                                            <p:fltVal val="0"/>
                                          </p:val>
                                        </p:tav>
                                        <p:tav tm="100000">
                                          <p:val>
                                            <p:strVal val="#ppt_w"/>
                                          </p:val>
                                        </p:tav>
                                      </p:tavLst>
                                    </p:anim>
                                    <p:anim calcmode="lin" valueType="num">
                                      <p:cBhvr>
                                        <p:cTn id="52" dur="450" fill="hold"/>
                                        <p:tgtEl>
                                          <p:spTgt spid="21"/>
                                        </p:tgtEl>
                                        <p:attrNameLst>
                                          <p:attrName>ppt_h</p:attrName>
                                        </p:attrNameLst>
                                      </p:cBhvr>
                                      <p:tavLst>
                                        <p:tav tm="0">
                                          <p:val>
                                            <p:fltVal val="0"/>
                                          </p:val>
                                        </p:tav>
                                        <p:tav tm="100000">
                                          <p:val>
                                            <p:strVal val="#ppt_h"/>
                                          </p:val>
                                        </p:tav>
                                      </p:tavLst>
                                    </p:anim>
                                    <p:animEffect transition="in" filter="fade">
                                      <p:cBhvr>
                                        <p:cTn id="53" dur="450"/>
                                        <p:tgtEl>
                                          <p:spTgt spid="21"/>
                                        </p:tgtEl>
                                      </p:cBhvr>
                                    </p:animEffect>
                                  </p:childTnLst>
                                </p:cTn>
                              </p:par>
                              <p:par>
                                <p:cTn id="54" presetID="53" presetClass="entr" presetSubtype="16"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 calcmode="lin" valueType="num">
                                      <p:cBhvr>
                                        <p:cTn id="56" dur="450" fill="hold"/>
                                        <p:tgtEl>
                                          <p:spTgt spid="22"/>
                                        </p:tgtEl>
                                        <p:attrNameLst>
                                          <p:attrName>ppt_w</p:attrName>
                                        </p:attrNameLst>
                                      </p:cBhvr>
                                      <p:tavLst>
                                        <p:tav tm="0">
                                          <p:val>
                                            <p:fltVal val="0"/>
                                          </p:val>
                                        </p:tav>
                                        <p:tav tm="100000">
                                          <p:val>
                                            <p:strVal val="#ppt_w"/>
                                          </p:val>
                                        </p:tav>
                                      </p:tavLst>
                                    </p:anim>
                                    <p:anim calcmode="lin" valueType="num">
                                      <p:cBhvr>
                                        <p:cTn id="57" dur="450" fill="hold"/>
                                        <p:tgtEl>
                                          <p:spTgt spid="22"/>
                                        </p:tgtEl>
                                        <p:attrNameLst>
                                          <p:attrName>ppt_h</p:attrName>
                                        </p:attrNameLst>
                                      </p:cBhvr>
                                      <p:tavLst>
                                        <p:tav tm="0">
                                          <p:val>
                                            <p:fltVal val="0"/>
                                          </p:val>
                                        </p:tav>
                                        <p:tav tm="100000">
                                          <p:val>
                                            <p:strVal val="#ppt_h"/>
                                          </p:val>
                                        </p:tav>
                                      </p:tavLst>
                                    </p:anim>
                                    <p:animEffect transition="in" filter="fade">
                                      <p:cBhvr>
                                        <p:cTn id="58" dur="450"/>
                                        <p:tgtEl>
                                          <p:spTgt spid="22"/>
                                        </p:tgtEl>
                                      </p:cBhvr>
                                    </p:animEffect>
                                  </p:childTnLst>
                                </p:cTn>
                              </p:par>
                              <p:par>
                                <p:cTn id="59" presetID="53" presetClass="entr" presetSubtype="16" fill="hold" nodeType="withEffect">
                                  <p:stCondLst>
                                    <p:cond delay="0"/>
                                  </p:stCondLst>
                                  <p:childTnLst>
                                    <p:set>
                                      <p:cBhvr>
                                        <p:cTn id="60" dur="1" fill="hold">
                                          <p:stCondLst>
                                            <p:cond delay="0"/>
                                          </p:stCondLst>
                                        </p:cTn>
                                        <p:tgtEl>
                                          <p:spTgt spid="23"/>
                                        </p:tgtEl>
                                        <p:attrNameLst>
                                          <p:attrName>style.visibility</p:attrName>
                                        </p:attrNameLst>
                                      </p:cBhvr>
                                      <p:to>
                                        <p:strVal val="visible"/>
                                      </p:to>
                                    </p:set>
                                    <p:anim calcmode="lin" valueType="num">
                                      <p:cBhvr>
                                        <p:cTn id="61" dur="450" fill="hold"/>
                                        <p:tgtEl>
                                          <p:spTgt spid="23"/>
                                        </p:tgtEl>
                                        <p:attrNameLst>
                                          <p:attrName>ppt_w</p:attrName>
                                        </p:attrNameLst>
                                      </p:cBhvr>
                                      <p:tavLst>
                                        <p:tav tm="0">
                                          <p:val>
                                            <p:fltVal val="0"/>
                                          </p:val>
                                        </p:tav>
                                        <p:tav tm="100000">
                                          <p:val>
                                            <p:strVal val="#ppt_w"/>
                                          </p:val>
                                        </p:tav>
                                      </p:tavLst>
                                    </p:anim>
                                    <p:anim calcmode="lin" valueType="num">
                                      <p:cBhvr>
                                        <p:cTn id="62" dur="450" fill="hold"/>
                                        <p:tgtEl>
                                          <p:spTgt spid="23"/>
                                        </p:tgtEl>
                                        <p:attrNameLst>
                                          <p:attrName>ppt_h</p:attrName>
                                        </p:attrNameLst>
                                      </p:cBhvr>
                                      <p:tavLst>
                                        <p:tav tm="0">
                                          <p:val>
                                            <p:fltVal val="0"/>
                                          </p:val>
                                        </p:tav>
                                        <p:tav tm="100000">
                                          <p:val>
                                            <p:strVal val="#ppt_h"/>
                                          </p:val>
                                        </p:tav>
                                      </p:tavLst>
                                    </p:anim>
                                    <p:animEffect transition="in" filter="fade">
                                      <p:cBhvr>
                                        <p:cTn id="63" dur="450"/>
                                        <p:tgtEl>
                                          <p:spTgt spid="23"/>
                                        </p:tgtEl>
                                      </p:cBhvr>
                                    </p:animEffect>
                                  </p:childTnLst>
                                </p:cTn>
                              </p:par>
                              <p:par>
                                <p:cTn id="64" presetID="53" presetClass="entr" presetSubtype="16" fill="hold"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p:cTn id="66" dur="450" fill="hold"/>
                                        <p:tgtEl>
                                          <p:spTgt spid="24"/>
                                        </p:tgtEl>
                                        <p:attrNameLst>
                                          <p:attrName>ppt_w</p:attrName>
                                        </p:attrNameLst>
                                      </p:cBhvr>
                                      <p:tavLst>
                                        <p:tav tm="0">
                                          <p:val>
                                            <p:fltVal val="0"/>
                                          </p:val>
                                        </p:tav>
                                        <p:tav tm="100000">
                                          <p:val>
                                            <p:strVal val="#ppt_w"/>
                                          </p:val>
                                        </p:tav>
                                      </p:tavLst>
                                    </p:anim>
                                    <p:anim calcmode="lin" valueType="num">
                                      <p:cBhvr>
                                        <p:cTn id="67" dur="450" fill="hold"/>
                                        <p:tgtEl>
                                          <p:spTgt spid="24"/>
                                        </p:tgtEl>
                                        <p:attrNameLst>
                                          <p:attrName>ppt_h</p:attrName>
                                        </p:attrNameLst>
                                      </p:cBhvr>
                                      <p:tavLst>
                                        <p:tav tm="0">
                                          <p:val>
                                            <p:fltVal val="0"/>
                                          </p:val>
                                        </p:tav>
                                        <p:tav tm="100000">
                                          <p:val>
                                            <p:strVal val="#ppt_h"/>
                                          </p:val>
                                        </p:tav>
                                      </p:tavLst>
                                    </p:anim>
                                    <p:animEffect transition="in" filter="fade">
                                      <p:cBhvr>
                                        <p:cTn id="68" dur="450"/>
                                        <p:tgtEl>
                                          <p:spTgt spid="24"/>
                                        </p:tgtEl>
                                      </p:cBhvr>
                                    </p:animEffect>
                                  </p:childTnLst>
                                </p:cTn>
                              </p:par>
                              <p:par>
                                <p:cTn id="69" presetID="53" presetClass="entr" presetSubtype="16"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cBhvr>
                                        <p:cTn id="71" dur="450" fill="hold"/>
                                        <p:tgtEl>
                                          <p:spTgt spid="25"/>
                                        </p:tgtEl>
                                        <p:attrNameLst>
                                          <p:attrName>ppt_w</p:attrName>
                                        </p:attrNameLst>
                                      </p:cBhvr>
                                      <p:tavLst>
                                        <p:tav tm="0">
                                          <p:val>
                                            <p:fltVal val="0"/>
                                          </p:val>
                                        </p:tav>
                                        <p:tav tm="100000">
                                          <p:val>
                                            <p:strVal val="#ppt_w"/>
                                          </p:val>
                                        </p:tav>
                                      </p:tavLst>
                                    </p:anim>
                                    <p:anim calcmode="lin" valueType="num">
                                      <p:cBhvr>
                                        <p:cTn id="72" dur="450" fill="hold"/>
                                        <p:tgtEl>
                                          <p:spTgt spid="25"/>
                                        </p:tgtEl>
                                        <p:attrNameLst>
                                          <p:attrName>ppt_h</p:attrName>
                                        </p:attrNameLst>
                                      </p:cBhvr>
                                      <p:tavLst>
                                        <p:tav tm="0">
                                          <p:val>
                                            <p:fltVal val="0"/>
                                          </p:val>
                                        </p:tav>
                                        <p:tav tm="100000">
                                          <p:val>
                                            <p:strVal val="#ppt_h"/>
                                          </p:val>
                                        </p:tav>
                                      </p:tavLst>
                                    </p:anim>
                                    <p:animEffect transition="in" filter="fade">
                                      <p:cBhvr>
                                        <p:cTn id="73" dur="450"/>
                                        <p:tgtEl>
                                          <p:spTgt spid="25"/>
                                        </p:tgtEl>
                                      </p:cBhvr>
                                    </p:animEffect>
                                  </p:childTnLst>
                                </p:cTn>
                              </p:par>
                              <p:par>
                                <p:cTn id="74" presetID="53" presetClass="entr" presetSubtype="16" fill="hold" nodeType="withEffect">
                                  <p:stCondLst>
                                    <p:cond delay="0"/>
                                  </p:stCondLst>
                                  <p:childTnLst>
                                    <p:set>
                                      <p:cBhvr>
                                        <p:cTn id="75" dur="1" fill="hold">
                                          <p:stCondLst>
                                            <p:cond delay="0"/>
                                          </p:stCondLst>
                                        </p:cTn>
                                        <p:tgtEl>
                                          <p:spTgt spid="26"/>
                                        </p:tgtEl>
                                        <p:attrNameLst>
                                          <p:attrName>style.visibility</p:attrName>
                                        </p:attrNameLst>
                                      </p:cBhvr>
                                      <p:to>
                                        <p:strVal val="visible"/>
                                      </p:to>
                                    </p:set>
                                    <p:anim calcmode="lin" valueType="num">
                                      <p:cBhvr>
                                        <p:cTn id="76" dur="450" fill="hold"/>
                                        <p:tgtEl>
                                          <p:spTgt spid="26"/>
                                        </p:tgtEl>
                                        <p:attrNameLst>
                                          <p:attrName>ppt_w</p:attrName>
                                        </p:attrNameLst>
                                      </p:cBhvr>
                                      <p:tavLst>
                                        <p:tav tm="0">
                                          <p:val>
                                            <p:fltVal val="0"/>
                                          </p:val>
                                        </p:tav>
                                        <p:tav tm="100000">
                                          <p:val>
                                            <p:strVal val="#ppt_w"/>
                                          </p:val>
                                        </p:tav>
                                      </p:tavLst>
                                    </p:anim>
                                    <p:anim calcmode="lin" valueType="num">
                                      <p:cBhvr>
                                        <p:cTn id="77" dur="450" fill="hold"/>
                                        <p:tgtEl>
                                          <p:spTgt spid="26"/>
                                        </p:tgtEl>
                                        <p:attrNameLst>
                                          <p:attrName>ppt_h</p:attrName>
                                        </p:attrNameLst>
                                      </p:cBhvr>
                                      <p:tavLst>
                                        <p:tav tm="0">
                                          <p:val>
                                            <p:fltVal val="0"/>
                                          </p:val>
                                        </p:tav>
                                        <p:tav tm="100000">
                                          <p:val>
                                            <p:strVal val="#ppt_h"/>
                                          </p:val>
                                        </p:tav>
                                      </p:tavLst>
                                    </p:anim>
                                    <p:animEffect transition="in" filter="fade">
                                      <p:cBhvr>
                                        <p:cTn id="78" dur="450"/>
                                        <p:tgtEl>
                                          <p:spTgt spid="26"/>
                                        </p:tgtEl>
                                      </p:cBhvr>
                                    </p:animEffect>
                                  </p:childTnLst>
                                </p:cTn>
                              </p:par>
                            </p:childTnLst>
                          </p:cTn>
                        </p:par>
                        <p:par>
                          <p:cTn id="79" fill="hold">
                            <p:stCondLst>
                              <p:cond delay="900"/>
                            </p:stCondLst>
                            <p:childTnLst>
                              <p:par>
                                <p:cTn id="80" presetID="10" presetClass="entr" presetSubtype="0" fill="hold" nodeType="after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450"/>
                                        <p:tgtEl>
                                          <p:spTgt spid="27"/>
                                        </p:tgtEl>
                                      </p:cBhvr>
                                    </p:animEffect>
                                  </p:childTnLst>
                                </p:cTn>
                              </p:par>
                              <p:par>
                                <p:cTn id="83" presetID="53" presetClass="entr" presetSubtype="16" fill="hold" nodeType="withEffect">
                                  <p:stCondLst>
                                    <p:cond delay="0"/>
                                  </p:stCondLst>
                                  <p:childTnLst>
                                    <p:set>
                                      <p:cBhvr>
                                        <p:cTn id="84" dur="1" fill="hold">
                                          <p:stCondLst>
                                            <p:cond delay="0"/>
                                          </p:stCondLst>
                                        </p:cTn>
                                        <p:tgtEl>
                                          <p:spTgt spid="28"/>
                                        </p:tgtEl>
                                        <p:attrNameLst>
                                          <p:attrName>style.visibility</p:attrName>
                                        </p:attrNameLst>
                                      </p:cBhvr>
                                      <p:to>
                                        <p:strVal val="visible"/>
                                      </p:to>
                                    </p:set>
                                    <p:anim calcmode="lin" valueType="num">
                                      <p:cBhvr>
                                        <p:cTn id="85" dur="450" fill="hold"/>
                                        <p:tgtEl>
                                          <p:spTgt spid="28"/>
                                        </p:tgtEl>
                                        <p:attrNameLst>
                                          <p:attrName>ppt_w</p:attrName>
                                        </p:attrNameLst>
                                      </p:cBhvr>
                                      <p:tavLst>
                                        <p:tav tm="0">
                                          <p:val>
                                            <p:fltVal val="0"/>
                                          </p:val>
                                        </p:tav>
                                        <p:tav tm="100000">
                                          <p:val>
                                            <p:strVal val="#ppt_w"/>
                                          </p:val>
                                        </p:tav>
                                      </p:tavLst>
                                    </p:anim>
                                    <p:anim calcmode="lin" valueType="num">
                                      <p:cBhvr>
                                        <p:cTn id="86" dur="450" fill="hold"/>
                                        <p:tgtEl>
                                          <p:spTgt spid="28"/>
                                        </p:tgtEl>
                                        <p:attrNameLst>
                                          <p:attrName>ppt_h</p:attrName>
                                        </p:attrNameLst>
                                      </p:cBhvr>
                                      <p:tavLst>
                                        <p:tav tm="0">
                                          <p:val>
                                            <p:fltVal val="0"/>
                                          </p:val>
                                        </p:tav>
                                        <p:tav tm="100000">
                                          <p:val>
                                            <p:strVal val="#ppt_h"/>
                                          </p:val>
                                        </p:tav>
                                      </p:tavLst>
                                    </p:anim>
                                    <p:animEffect transition="in" filter="fade">
                                      <p:cBhvr>
                                        <p:cTn id="87" dur="450"/>
                                        <p:tgtEl>
                                          <p:spTgt spid="28"/>
                                        </p:tgtEl>
                                      </p:cBhvr>
                                    </p:animEffect>
                                  </p:childTnLst>
                                </p:cTn>
                              </p:par>
                              <p:par>
                                <p:cTn id="88" presetID="53" presetClass="entr" presetSubtype="16" fill="hold" nodeType="withEffect">
                                  <p:stCondLst>
                                    <p:cond delay="0"/>
                                  </p:stCondLst>
                                  <p:childTnLst>
                                    <p:set>
                                      <p:cBhvr>
                                        <p:cTn id="89" dur="1" fill="hold">
                                          <p:stCondLst>
                                            <p:cond delay="0"/>
                                          </p:stCondLst>
                                        </p:cTn>
                                        <p:tgtEl>
                                          <p:spTgt spid="29"/>
                                        </p:tgtEl>
                                        <p:attrNameLst>
                                          <p:attrName>style.visibility</p:attrName>
                                        </p:attrNameLst>
                                      </p:cBhvr>
                                      <p:to>
                                        <p:strVal val="visible"/>
                                      </p:to>
                                    </p:set>
                                    <p:anim calcmode="lin" valueType="num">
                                      <p:cBhvr>
                                        <p:cTn id="90" dur="450" fill="hold"/>
                                        <p:tgtEl>
                                          <p:spTgt spid="29"/>
                                        </p:tgtEl>
                                        <p:attrNameLst>
                                          <p:attrName>ppt_w</p:attrName>
                                        </p:attrNameLst>
                                      </p:cBhvr>
                                      <p:tavLst>
                                        <p:tav tm="0">
                                          <p:val>
                                            <p:fltVal val="0"/>
                                          </p:val>
                                        </p:tav>
                                        <p:tav tm="100000">
                                          <p:val>
                                            <p:strVal val="#ppt_w"/>
                                          </p:val>
                                        </p:tav>
                                      </p:tavLst>
                                    </p:anim>
                                    <p:anim calcmode="lin" valueType="num">
                                      <p:cBhvr>
                                        <p:cTn id="91" dur="450" fill="hold"/>
                                        <p:tgtEl>
                                          <p:spTgt spid="29"/>
                                        </p:tgtEl>
                                        <p:attrNameLst>
                                          <p:attrName>ppt_h</p:attrName>
                                        </p:attrNameLst>
                                      </p:cBhvr>
                                      <p:tavLst>
                                        <p:tav tm="0">
                                          <p:val>
                                            <p:fltVal val="0"/>
                                          </p:val>
                                        </p:tav>
                                        <p:tav tm="100000">
                                          <p:val>
                                            <p:strVal val="#ppt_h"/>
                                          </p:val>
                                        </p:tav>
                                      </p:tavLst>
                                    </p:anim>
                                    <p:animEffect transition="in" filter="fade">
                                      <p:cBhvr>
                                        <p:cTn id="92" dur="450"/>
                                        <p:tgtEl>
                                          <p:spTgt spid="29"/>
                                        </p:tgtEl>
                                      </p:cBhvr>
                                    </p:animEffect>
                                  </p:childTnLst>
                                </p:cTn>
                              </p:par>
                              <p:par>
                                <p:cTn id="93" presetID="53" presetClass="entr" presetSubtype="16" fill="hold" nodeType="withEffect">
                                  <p:stCondLst>
                                    <p:cond delay="0"/>
                                  </p:stCondLst>
                                  <p:childTnLst>
                                    <p:set>
                                      <p:cBhvr>
                                        <p:cTn id="94" dur="1" fill="hold">
                                          <p:stCondLst>
                                            <p:cond delay="0"/>
                                          </p:stCondLst>
                                        </p:cTn>
                                        <p:tgtEl>
                                          <p:spTgt spid="30"/>
                                        </p:tgtEl>
                                        <p:attrNameLst>
                                          <p:attrName>style.visibility</p:attrName>
                                        </p:attrNameLst>
                                      </p:cBhvr>
                                      <p:to>
                                        <p:strVal val="visible"/>
                                      </p:to>
                                    </p:set>
                                    <p:anim calcmode="lin" valueType="num">
                                      <p:cBhvr>
                                        <p:cTn id="95" dur="450" fill="hold"/>
                                        <p:tgtEl>
                                          <p:spTgt spid="30"/>
                                        </p:tgtEl>
                                        <p:attrNameLst>
                                          <p:attrName>ppt_w</p:attrName>
                                        </p:attrNameLst>
                                      </p:cBhvr>
                                      <p:tavLst>
                                        <p:tav tm="0">
                                          <p:val>
                                            <p:fltVal val="0"/>
                                          </p:val>
                                        </p:tav>
                                        <p:tav tm="100000">
                                          <p:val>
                                            <p:strVal val="#ppt_w"/>
                                          </p:val>
                                        </p:tav>
                                      </p:tavLst>
                                    </p:anim>
                                    <p:anim calcmode="lin" valueType="num">
                                      <p:cBhvr>
                                        <p:cTn id="96" dur="450" fill="hold"/>
                                        <p:tgtEl>
                                          <p:spTgt spid="30"/>
                                        </p:tgtEl>
                                        <p:attrNameLst>
                                          <p:attrName>ppt_h</p:attrName>
                                        </p:attrNameLst>
                                      </p:cBhvr>
                                      <p:tavLst>
                                        <p:tav tm="0">
                                          <p:val>
                                            <p:fltVal val="0"/>
                                          </p:val>
                                        </p:tav>
                                        <p:tav tm="100000">
                                          <p:val>
                                            <p:strVal val="#ppt_h"/>
                                          </p:val>
                                        </p:tav>
                                      </p:tavLst>
                                    </p:anim>
                                    <p:animEffect transition="in" filter="fade">
                                      <p:cBhvr>
                                        <p:cTn id="97" dur="450"/>
                                        <p:tgtEl>
                                          <p:spTgt spid="30"/>
                                        </p:tgtEl>
                                      </p:cBhvr>
                                    </p:animEffect>
                                  </p:childTnLst>
                                </p:cTn>
                              </p:par>
                              <p:par>
                                <p:cTn id="98" presetID="53" presetClass="entr" presetSubtype="16" fill="hold" nodeType="withEffect">
                                  <p:stCondLst>
                                    <p:cond delay="0"/>
                                  </p:stCondLst>
                                  <p:childTnLst>
                                    <p:set>
                                      <p:cBhvr>
                                        <p:cTn id="99" dur="1" fill="hold">
                                          <p:stCondLst>
                                            <p:cond delay="0"/>
                                          </p:stCondLst>
                                        </p:cTn>
                                        <p:tgtEl>
                                          <p:spTgt spid="31"/>
                                        </p:tgtEl>
                                        <p:attrNameLst>
                                          <p:attrName>style.visibility</p:attrName>
                                        </p:attrNameLst>
                                      </p:cBhvr>
                                      <p:to>
                                        <p:strVal val="visible"/>
                                      </p:to>
                                    </p:set>
                                    <p:anim calcmode="lin" valueType="num">
                                      <p:cBhvr>
                                        <p:cTn id="100" dur="450" fill="hold"/>
                                        <p:tgtEl>
                                          <p:spTgt spid="31"/>
                                        </p:tgtEl>
                                        <p:attrNameLst>
                                          <p:attrName>ppt_w</p:attrName>
                                        </p:attrNameLst>
                                      </p:cBhvr>
                                      <p:tavLst>
                                        <p:tav tm="0">
                                          <p:val>
                                            <p:fltVal val="0"/>
                                          </p:val>
                                        </p:tav>
                                        <p:tav tm="100000">
                                          <p:val>
                                            <p:strVal val="#ppt_w"/>
                                          </p:val>
                                        </p:tav>
                                      </p:tavLst>
                                    </p:anim>
                                    <p:anim calcmode="lin" valueType="num">
                                      <p:cBhvr>
                                        <p:cTn id="101" dur="450" fill="hold"/>
                                        <p:tgtEl>
                                          <p:spTgt spid="31"/>
                                        </p:tgtEl>
                                        <p:attrNameLst>
                                          <p:attrName>ppt_h</p:attrName>
                                        </p:attrNameLst>
                                      </p:cBhvr>
                                      <p:tavLst>
                                        <p:tav tm="0">
                                          <p:val>
                                            <p:fltVal val="0"/>
                                          </p:val>
                                        </p:tav>
                                        <p:tav tm="100000">
                                          <p:val>
                                            <p:strVal val="#ppt_h"/>
                                          </p:val>
                                        </p:tav>
                                      </p:tavLst>
                                    </p:anim>
                                    <p:animEffect transition="in" filter="fade">
                                      <p:cBhvr>
                                        <p:cTn id="102" dur="450"/>
                                        <p:tgtEl>
                                          <p:spTgt spid="31"/>
                                        </p:tgtEl>
                                      </p:cBhvr>
                                    </p:animEffect>
                                  </p:childTnLst>
                                </p:cTn>
                              </p:par>
                              <p:par>
                                <p:cTn id="103" presetID="53" presetClass="entr" presetSubtype="16" fill="hold" nodeType="withEffect">
                                  <p:stCondLst>
                                    <p:cond delay="0"/>
                                  </p:stCondLst>
                                  <p:childTnLst>
                                    <p:set>
                                      <p:cBhvr>
                                        <p:cTn id="104" dur="1" fill="hold">
                                          <p:stCondLst>
                                            <p:cond delay="0"/>
                                          </p:stCondLst>
                                        </p:cTn>
                                        <p:tgtEl>
                                          <p:spTgt spid="32"/>
                                        </p:tgtEl>
                                        <p:attrNameLst>
                                          <p:attrName>style.visibility</p:attrName>
                                        </p:attrNameLst>
                                      </p:cBhvr>
                                      <p:to>
                                        <p:strVal val="visible"/>
                                      </p:to>
                                    </p:set>
                                    <p:anim calcmode="lin" valueType="num">
                                      <p:cBhvr>
                                        <p:cTn id="105" dur="450" fill="hold"/>
                                        <p:tgtEl>
                                          <p:spTgt spid="32"/>
                                        </p:tgtEl>
                                        <p:attrNameLst>
                                          <p:attrName>ppt_w</p:attrName>
                                        </p:attrNameLst>
                                      </p:cBhvr>
                                      <p:tavLst>
                                        <p:tav tm="0">
                                          <p:val>
                                            <p:fltVal val="0"/>
                                          </p:val>
                                        </p:tav>
                                        <p:tav tm="100000">
                                          <p:val>
                                            <p:strVal val="#ppt_w"/>
                                          </p:val>
                                        </p:tav>
                                      </p:tavLst>
                                    </p:anim>
                                    <p:anim calcmode="lin" valueType="num">
                                      <p:cBhvr>
                                        <p:cTn id="106" dur="450" fill="hold"/>
                                        <p:tgtEl>
                                          <p:spTgt spid="32"/>
                                        </p:tgtEl>
                                        <p:attrNameLst>
                                          <p:attrName>ppt_h</p:attrName>
                                        </p:attrNameLst>
                                      </p:cBhvr>
                                      <p:tavLst>
                                        <p:tav tm="0">
                                          <p:val>
                                            <p:fltVal val="0"/>
                                          </p:val>
                                        </p:tav>
                                        <p:tav tm="100000">
                                          <p:val>
                                            <p:strVal val="#ppt_h"/>
                                          </p:val>
                                        </p:tav>
                                      </p:tavLst>
                                    </p:anim>
                                    <p:animEffect transition="in" filter="fade">
                                      <p:cBhvr>
                                        <p:cTn id="107" dur="450"/>
                                        <p:tgtEl>
                                          <p:spTgt spid="32"/>
                                        </p:tgtEl>
                                      </p:cBhvr>
                                    </p:animEffect>
                                  </p:childTnLst>
                                </p:cTn>
                              </p:par>
                              <p:par>
                                <p:cTn id="108" presetID="53" presetClass="entr" presetSubtype="16" fill="hold" nodeType="withEffect">
                                  <p:stCondLst>
                                    <p:cond delay="0"/>
                                  </p:stCondLst>
                                  <p:childTnLst>
                                    <p:set>
                                      <p:cBhvr>
                                        <p:cTn id="109" dur="1" fill="hold">
                                          <p:stCondLst>
                                            <p:cond delay="0"/>
                                          </p:stCondLst>
                                        </p:cTn>
                                        <p:tgtEl>
                                          <p:spTgt spid="33"/>
                                        </p:tgtEl>
                                        <p:attrNameLst>
                                          <p:attrName>style.visibility</p:attrName>
                                        </p:attrNameLst>
                                      </p:cBhvr>
                                      <p:to>
                                        <p:strVal val="visible"/>
                                      </p:to>
                                    </p:set>
                                    <p:anim calcmode="lin" valueType="num">
                                      <p:cBhvr>
                                        <p:cTn id="110" dur="450" fill="hold"/>
                                        <p:tgtEl>
                                          <p:spTgt spid="33"/>
                                        </p:tgtEl>
                                        <p:attrNameLst>
                                          <p:attrName>ppt_w</p:attrName>
                                        </p:attrNameLst>
                                      </p:cBhvr>
                                      <p:tavLst>
                                        <p:tav tm="0">
                                          <p:val>
                                            <p:fltVal val="0"/>
                                          </p:val>
                                        </p:tav>
                                        <p:tav tm="100000">
                                          <p:val>
                                            <p:strVal val="#ppt_w"/>
                                          </p:val>
                                        </p:tav>
                                      </p:tavLst>
                                    </p:anim>
                                    <p:anim calcmode="lin" valueType="num">
                                      <p:cBhvr>
                                        <p:cTn id="111" dur="450" fill="hold"/>
                                        <p:tgtEl>
                                          <p:spTgt spid="33"/>
                                        </p:tgtEl>
                                        <p:attrNameLst>
                                          <p:attrName>ppt_h</p:attrName>
                                        </p:attrNameLst>
                                      </p:cBhvr>
                                      <p:tavLst>
                                        <p:tav tm="0">
                                          <p:val>
                                            <p:fltVal val="0"/>
                                          </p:val>
                                        </p:tav>
                                        <p:tav tm="100000">
                                          <p:val>
                                            <p:strVal val="#ppt_h"/>
                                          </p:val>
                                        </p:tav>
                                      </p:tavLst>
                                    </p:anim>
                                    <p:animEffect transition="in" filter="fade">
                                      <p:cBhvr>
                                        <p:cTn id="112" dur="450"/>
                                        <p:tgtEl>
                                          <p:spTgt spid="33"/>
                                        </p:tgtEl>
                                      </p:cBhvr>
                                    </p:animEffect>
                                  </p:childTnLst>
                                </p:cTn>
                              </p:par>
                              <p:par>
                                <p:cTn id="113" presetID="53" presetClass="entr" presetSubtype="16" fill="hold"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p:cTn id="115" dur="450" fill="hold"/>
                                        <p:tgtEl>
                                          <p:spTgt spid="34"/>
                                        </p:tgtEl>
                                        <p:attrNameLst>
                                          <p:attrName>ppt_w</p:attrName>
                                        </p:attrNameLst>
                                      </p:cBhvr>
                                      <p:tavLst>
                                        <p:tav tm="0">
                                          <p:val>
                                            <p:fltVal val="0"/>
                                          </p:val>
                                        </p:tav>
                                        <p:tav tm="100000">
                                          <p:val>
                                            <p:strVal val="#ppt_w"/>
                                          </p:val>
                                        </p:tav>
                                      </p:tavLst>
                                    </p:anim>
                                    <p:anim calcmode="lin" valueType="num">
                                      <p:cBhvr>
                                        <p:cTn id="116" dur="450" fill="hold"/>
                                        <p:tgtEl>
                                          <p:spTgt spid="34"/>
                                        </p:tgtEl>
                                        <p:attrNameLst>
                                          <p:attrName>ppt_h</p:attrName>
                                        </p:attrNameLst>
                                      </p:cBhvr>
                                      <p:tavLst>
                                        <p:tav tm="0">
                                          <p:val>
                                            <p:fltVal val="0"/>
                                          </p:val>
                                        </p:tav>
                                        <p:tav tm="100000">
                                          <p:val>
                                            <p:strVal val="#ppt_h"/>
                                          </p:val>
                                        </p:tav>
                                      </p:tavLst>
                                    </p:anim>
                                    <p:animEffect transition="in" filter="fade">
                                      <p:cBhvr>
                                        <p:cTn id="117" dur="450"/>
                                        <p:tgtEl>
                                          <p:spTgt spid="34"/>
                                        </p:tgtEl>
                                      </p:cBhvr>
                                    </p:animEffect>
                                  </p:childTnLst>
                                </p:cTn>
                              </p:par>
                              <p:par>
                                <p:cTn id="118" presetID="53" presetClass="entr" presetSubtype="16" fill="hold" nodeType="withEffect">
                                  <p:stCondLst>
                                    <p:cond delay="0"/>
                                  </p:stCondLst>
                                  <p:childTnLst>
                                    <p:set>
                                      <p:cBhvr>
                                        <p:cTn id="119" dur="1" fill="hold">
                                          <p:stCondLst>
                                            <p:cond delay="0"/>
                                          </p:stCondLst>
                                        </p:cTn>
                                        <p:tgtEl>
                                          <p:spTgt spid="35"/>
                                        </p:tgtEl>
                                        <p:attrNameLst>
                                          <p:attrName>style.visibility</p:attrName>
                                        </p:attrNameLst>
                                      </p:cBhvr>
                                      <p:to>
                                        <p:strVal val="visible"/>
                                      </p:to>
                                    </p:set>
                                    <p:anim calcmode="lin" valueType="num">
                                      <p:cBhvr>
                                        <p:cTn id="120" dur="450" fill="hold"/>
                                        <p:tgtEl>
                                          <p:spTgt spid="35"/>
                                        </p:tgtEl>
                                        <p:attrNameLst>
                                          <p:attrName>ppt_w</p:attrName>
                                        </p:attrNameLst>
                                      </p:cBhvr>
                                      <p:tavLst>
                                        <p:tav tm="0">
                                          <p:val>
                                            <p:fltVal val="0"/>
                                          </p:val>
                                        </p:tav>
                                        <p:tav tm="100000">
                                          <p:val>
                                            <p:strVal val="#ppt_w"/>
                                          </p:val>
                                        </p:tav>
                                      </p:tavLst>
                                    </p:anim>
                                    <p:anim calcmode="lin" valueType="num">
                                      <p:cBhvr>
                                        <p:cTn id="121" dur="450" fill="hold"/>
                                        <p:tgtEl>
                                          <p:spTgt spid="35"/>
                                        </p:tgtEl>
                                        <p:attrNameLst>
                                          <p:attrName>ppt_h</p:attrName>
                                        </p:attrNameLst>
                                      </p:cBhvr>
                                      <p:tavLst>
                                        <p:tav tm="0">
                                          <p:val>
                                            <p:fltVal val="0"/>
                                          </p:val>
                                        </p:tav>
                                        <p:tav tm="100000">
                                          <p:val>
                                            <p:strVal val="#ppt_h"/>
                                          </p:val>
                                        </p:tav>
                                      </p:tavLst>
                                    </p:anim>
                                    <p:animEffect transition="in" filter="fade">
                                      <p:cBhvr>
                                        <p:cTn id="122" dur="450"/>
                                        <p:tgtEl>
                                          <p:spTgt spid="35"/>
                                        </p:tgtEl>
                                      </p:cBhvr>
                                    </p:animEffect>
                                  </p:childTnLst>
                                </p:cTn>
                              </p:par>
                            </p:childTnLst>
                          </p:cTn>
                        </p:par>
                        <p:par>
                          <p:cTn id="123" fill="hold">
                            <p:stCondLst>
                              <p:cond delay="1200"/>
                            </p:stCondLst>
                            <p:childTnLst>
                              <p:par>
                                <p:cTn id="124" presetID="10" presetClass="entr" presetSubtype="0" fill="hold" nodeType="afterEffect">
                                  <p:stCondLst>
                                    <p:cond delay="0"/>
                                  </p:stCondLst>
                                  <p:childTnLst>
                                    <p:set>
                                      <p:cBhvr>
                                        <p:cTn id="125" dur="1" fill="hold">
                                          <p:stCondLst>
                                            <p:cond delay="0"/>
                                          </p:stCondLst>
                                        </p:cTn>
                                        <p:tgtEl>
                                          <p:spTgt spid="36"/>
                                        </p:tgtEl>
                                        <p:attrNameLst>
                                          <p:attrName>style.visibility</p:attrName>
                                        </p:attrNameLst>
                                      </p:cBhvr>
                                      <p:to>
                                        <p:strVal val="visible"/>
                                      </p:to>
                                    </p:set>
                                    <p:animEffect transition="in" filter="fade">
                                      <p:cBhvr>
                                        <p:cTn id="126" dur="450"/>
                                        <p:tgtEl>
                                          <p:spTgt spid="36"/>
                                        </p:tgtEl>
                                      </p:cBhvr>
                                    </p:animEffect>
                                  </p:childTnLst>
                                </p:cTn>
                              </p:par>
                              <p:par>
                                <p:cTn id="127" presetID="53" presetClass="entr" presetSubtype="16" fill="hold" nodeType="withEffect">
                                  <p:stCondLst>
                                    <p:cond delay="0"/>
                                  </p:stCondLst>
                                  <p:childTnLst>
                                    <p:set>
                                      <p:cBhvr>
                                        <p:cTn id="128" dur="1" fill="hold">
                                          <p:stCondLst>
                                            <p:cond delay="0"/>
                                          </p:stCondLst>
                                        </p:cTn>
                                        <p:tgtEl>
                                          <p:spTgt spid="37"/>
                                        </p:tgtEl>
                                        <p:attrNameLst>
                                          <p:attrName>style.visibility</p:attrName>
                                        </p:attrNameLst>
                                      </p:cBhvr>
                                      <p:to>
                                        <p:strVal val="visible"/>
                                      </p:to>
                                    </p:set>
                                    <p:anim calcmode="lin" valueType="num">
                                      <p:cBhvr>
                                        <p:cTn id="129" dur="450" fill="hold"/>
                                        <p:tgtEl>
                                          <p:spTgt spid="37"/>
                                        </p:tgtEl>
                                        <p:attrNameLst>
                                          <p:attrName>ppt_w</p:attrName>
                                        </p:attrNameLst>
                                      </p:cBhvr>
                                      <p:tavLst>
                                        <p:tav tm="0">
                                          <p:val>
                                            <p:fltVal val="0"/>
                                          </p:val>
                                        </p:tav>
                                        <p:tav tm="100000">
                                          <p:val>
                                            <p:strVal val="#ppt_w"/>
                                          </p:val>
                                        </p:tav>
                                      </p:tavLst>
                                    </p:anim>
                                    <p:anim calcmode="lin" valueType="num">
                                      <p:cBhvr>
                                        <p:cTn id="130" dur="450" fill="hold"/>
                                        <p:tgtEl>
                                          <p:spTgt spid="37"/>
                                        </p:tgtEl>
                                        <p:attrNameLst>
                                          <p:attrName>ppt_h</p:attrName>
                                        </p:attrNameLst>
                                      </p:cBhvr>
                                      <p:tavLst>
                                        <p:tav tm="0">
                                          <p:val>
                                            <p:fltVal val="0"/>
                                          </p:val>
                                        </p:tav>
                                        <p:tav tm="100000">
                                          <p:val>
                                            <p:strVal val="#ppt_h"/>
                                          </p:val>
                                        </p:tav>
                                      </p:tavLst>
                                    </p:anim>
                                    <p:animEffect transition="in" filter="fade">
                                      <p:cBhvr>
                                        <p:cTn id="131" dur="450"/>
                                        <p:tgtEl>
                                          <p:spTgt spid="37"/>
                                        </p:tgtEl>
                                      </p:cBhvr>
                                    </p:animEffect>
                                  </p:childTnLst>
                                </p:cTn>
                              </p:par>
                              <p:par>
                                <p:cTn id="132" presetID="53" presetClass="entr" presetSubtype="16" fill="hold" nodeType="withEffect">
                                  <p:stCondLst>
                                    <p:cond delay="0"/>
                                  </p:stCondLst>
                                  <p:childTnLst>
                                    <p:set>
                                      <p:cBhvr>
                                        <p:cTn id="133" dur="1" fill="hold">
                                          <p:stCondLst>
                                            <p:cond delay="0"/>
                                          </p:stCondLst>
                                        </p:cTn>
                                        <p:tgtEl>
                                          <p:spTgt spid="38"/>
                                        </p:tgtEl>
                                        <p:attrNameLst>
                                          <p:attrName>style.visibility</p:attrName>
                                        </p:attrNameLst>
                                      </p:cBhvr>
                                      <p:to>
                                        <p:strVal val="visible"/>
                                      </p:to>
                                    </p:set>
                                    <p:anim calcmode="lin" valueType="num">
                                      <p:cBhvr>
                                        <p:cTn id="134" dur="450" fill="hold"/>
                                        <p:tgtEl>
                                          <p:spTgt spid="38"/>
                                        </p:tgtEl>
                                        <p:attrNameLst>
                                          <p:attrName>ppt_w</p:attrName>
                                        </p:attrNameLst>
                                      </p:cBhvr>
                                      <p:tavLst>
                                        <p:tav tm="0">
                                          <p:val>
                                            <p:fltVal val="0"/>
                                          </p:val>
                                        </p:tav>
                                        <p:tav tm="100000">
                                          <p:val>
                                            <p:strVal val="#ppt_w"/>
                                          </p:val>
                                        </p:tav>
                                      </p:tavLst>
                                    </p:anim>
                                    <p:anim calcmode="lin" valueType="num">
                                      <p:cBhvr>
                                        <p:cTn id="135" dur="450" fill="hold"/>
                                        <p:tgtEl>
                                          <p:spTgt spid="38"/>
                                        </p:tgtEl>
                                        <p:attrNameLst>
                                          <p:attrName>ppt_h</p:attrName>
                                        </p:attrNameLst>
                                      </p:cBhvr>
                                      <p:tavLst>
                                        <p:tav tm="0">
                                          <p:val>
                                            <p:fltVal val="0"/>
                                          </p:val>
                                        </p:tav>
                                        <p:tav tm="100000">
                                          <p:val>
                                            <p:strVal val="#ppt_h"/>
                                          </p:val>
                                        </p:tav>
                                      </p:tavLst>
                                    </p:anim>
                                    <p:animEffect transition="in" filter="fade">
                                      <p:cBhvr>
                                        <p:cTn id="136" dur="450"/>
                                        <p:tgtEl>
                                          <p:spTgt spid="38"/>
                                        </p:tgtEl>
                                      </p:cBhvr>
                                    </p:animEffect>
                                  </p:childTnLst>
                                </p:cTn>
                              </p:par>
                              <p:par>
                                <p:cTn id="137" presetID="53" presetClass="entr" presetSubtype="16" fill="hold" nodeType="withEffect">
                                  <p:stCondLst>
                                    <p:cond delay="0"/>
                                  </p:stCondLst>
                                  <p:childTnLst>
                                    <p:set>
                                      <p:cBhvr>
                                        <p:cTn id="138" dur="1" fill="hold">
                                          <p:stCondLst>
                                            <p:cond delay="0"/>
                                          </p:stCondLst>
                                        </p:cTn>
                                        <p:tgtEl>
                                          <p:spTgt spid="39"/>
                                        </p:tgtEl>
                                        <p:attrNameLst>
                                          <p:attrName>style.visibility</p:attrName>
                                        </p:attrNameLst>
                                      </p:cBhvr>
                                      <p:to>
                                        <p:strVal val="visible"/>
                                      </p:to>
                                    </p:set>
                                    <p:anim calcmode="lin" valueType="num">
                                      <p:cBhvr>
                                        <p:cTn id="139" dur="450" fill="hold"/>
                                        <p:tgtEl>
                                          <p:spTgt spid="39"/>
                                        </p:tgtEl>
                                        <p:attrNameLst>
                                          <p:attrName>ppt_w</p:attrName>
                                        </p:attrNameLst>
                                      </p:cBhvr>
                                      <p:tavLst>
                                        <p:tav tm="0">
                                          <p:val>
                                            <p:fltVal val="0"/>
                                          </p:val>
                                        </p:tav>
                                        <p:tav tm="100000">
                                          <p:val>
                                            <p:strVal val="#ppt_w"/>
                                          </p:val>
                                        </p:tav>
                                      </p:tavLst>
                                    </p:anim>
                                    <p:anim calcmode="lin" valueType="num">
                                      <p:cBhvr>
                                        <p:cTn id="140" dur="450" fill="hold"/>
                                        <p:tgtEl>
                                          <p:spTgt spid="39"/>
                                        </p:tgtEl>
                                        <p:attrNameLst>
                                          <p:attrName>ppt_h</p:attrName>
                                        </p:attrNameLst>
                                      </p:cBhvr>
                                      <p:tavLst>
                                        <p:tav tm="0">
                                          <p:val>
                                            <p:fltVal val="0"/>
                                          </p:val>
                                        </p:tav>
                                        <p:tav tm="100000">
                                          <p:val>
                                            <p:strVal val="#ppt_h"/>
                                          </p:val>
                                        </p:tav>
                                      </p:tavLst>
                                    </p:anim>
                                    <p:animEffect transition="in" filter="fade">
                                      <p:cBhvr>
                                        <p:cTn id="141" dur="450"/>
                                        <p:tgtEl>
                                          <p:spTgt spid="39"/>
                                        </p:tgtEl>
                                      </p:cBhvr>
                                    </p:animEffect>
                                  </p:childTnLst>
                                </p:cTn>
                              </p:par>
                              <p:par>
                                <p:cTn id="142" presetID="53" presetClass="entr" presetSubtype="16" fill="hold" nodeType="withEffect">
                                  <p:stCondLst>
                                    <p:cond delay="0"/>
                                  </p:stCondLst>
                                  <p:childTnLst>
                                    <p:set>
                                      <p:cBhvr>
                                        <p:cTn id="143" dur="1" fill="hold">
                                          <p:stCondLst>
                                            <p:cond delay="0"/>
                                          </p:stCondLst>
                                        </p:cTn>
                                        <p:tgtEl>
                                          <p:spTgt spid="40"/>
                                        </p:tgtEl>
                                        <p:attrNameLst>
                                          <p:attrName>style.visibility</p:attrName>
                                        </p:attrNameLst>
                                      </p:cBhvr>
                                      <p:to>
                                        <p:strVal val="visible"/>
                                      </p:to>
                                    </p:set>
                                    <p:anim calcmode="lin" valueType="num">
                                      <p:cBhvr>
                                        <p:cTn id="144" dur="450" fill="hold"/>
                                        <p:tgtEl>
                                          <p:spTgt spid="40"/>
                                        </p:tgtEl>
                                        <p:attrNameLst>
                                          <p:attrName>ppt_w</p:attrName>
                                        </p:attrNameLst>
                                      </p:cBhvr>
                                      <p:tavLst>
                                        <p:tav tm="0">
                                          <p:val>
                                            <p:fltVal val="0"/>
                                          </p:val>
                                        </p:tav>
                                        <p:tav tm="100000">
                                          <p:val>
                                            <p:strVal val="#ppt_w"/>
                                          </p:val>
                                        </p:tav>
                                      </p:tavLst>
                                    </p:anim>
                                    <p:anim calcmode="lin" valueType="num">
                                      <p:cBhvr>
                                        <p:cTn id="145" dur="450" fill="hold"/>
                                        <p:tgtEl>
                                          <p:spTgt spid="40"/>
                                        </p:tgtEl>
                                        <p:attrNameLst>
                                          <p:attrName>ppt_h</p:attrName>
                                        </p:attrNameLst>
                                      </p:cBhvr>
                                      <p:tavLst>
                                        <p:tav tm="0">
                                          <p:val>
                                            <p:fltVal val="0"/>
                                          </p:val>
                                        </p:tav>
                                        <p:tav tm="100000">
                                          <p:val>
                                            <p:strVal val="#ppt_h"/>
                                          </p:val>
                                        </p:tav>
                                      </p:tavLst>
                                    </p:anim>
                                    <p:animEffect transition="in" filter="fade">
                                      <p:cBhvr>
                                        <p:cTn id="146" dur="450"/>
                                        <p:tgtEl>
                                          <p:spTgt spid="40"/>
                                        </p:tgtEl>
                                      </p:cBhvr>
                                    </p:animEffect>
                                  </p:childTnLst>
                                </p:cTn>
                              </p:par>
                              <p:par>
                                <p:cTn id="147" presetID="53" presetClass="entr" presetSubtype="16" fill="hold" nodeType="withEffect">
                                  <p:stCondLst>
                                    <p:cond delay="0"/>
                                  </p:stCondLst>
                                  <p:childTnLst>
                                    <p:set>
                                      <p:cBhvr>
                                        <p:cTn id="148" dur="1" fill="hold">
                                          <p:stCondLst>
                                            <p:cond delay="0"/>
                                          </p:stCondLst>
                                        </p:cTn>
                                        <p:tgtEl>
                                          <p:spTgt spid="41"/>
                                        </p:tgtEl>
                                        <p:attrNameLst>
                                          <p:attrName>style.visibility</p:attrName>
                                        </p:attrNameLst>
                                      </p:cBhvr>
                                      <p:to>
                                        <p:strVal val="visible"/>
                                      </p:to>
                                    </p:set>
                                    <p:anim calcmode="lin" valueType="num">
                                      <p:cBhvr>
                                        <p:cTn id="149" dur="450" fill="hold"/>
                                        <p:tgtEl>
                                          <p:spTgt spid="41"/>
                                        </p:tgtEl>
                                        <p:attrNameLst>
                                          <p:attrName>ppt_w</p:attrName>
                                        </p:attrNameLst>
                                      </p:cBhvr>
                                      <p:tavLst>
                                        <p:tav tm="0">
                                          <p:val>
                                            <p:fltVal val="0"/>
                                          </p:val>
                                        </p:tav>
                                        <p:tav tm="100000">
                                          <p:val>
                                            <p:strVal val="#ppt_w"/>
                                          </p:val>
                                        </p:tav>
                                      </p:tavLst>
                                    </p:anim>
                                    <p:anim calcmode="lin" valueType="num">
                                      <p:cBhvr>
                                        <p:cTn id="150" dur="450" fill="hold"/>
                                        <p:tgtEl>
                                          <p:spTgt spid="41"/>
                                        </p:tgtEl>
                                        <p:attrNameLst>
                                          <p:attrName>ppt_h</p:attrName>
                                        </p:attrNameLst>
                                      </p:cBhvr>
                                      <p:tavLst>
                                        <p:tav tm="0">
                                          <p:val>
                                            <p:fltVal val="0"/>
                                          </p:val>
                                        </p:tav>
                                        <p:tav tm="100000">
                                          <p:val>
                                            <p:strVal val="#ppt_h"/>
                                          </p:val>
                                        </p:tav>
                                      </p:tavLst>
                                    </p:anim>
                                    <p:animEffect transition="in" filter="fade">
                                      <p:cBhvr>
                                        <p:cTn id="151" dur="450"/>
                                        <p:tgtEl>
                                          <p:spTgt spid="41"/>
                                        </p:tgtEl>
                                      </p:cBhvr>
                                    </p:animEffect>
                                  </p:childTnLst>
                                </p:cTn>
                              </p:par>
                              <p:par>
                                <p:cTn id="152" presetID="53" presetClass="entr" presetSubtype="16" fill="hold" nodeType="withEffect">
                                  <p:stCondLst>
                                    <p:cond delay="0"/>
                                  </p:stCondLst>
                                  <p:childTnLst>
                                    <p:set>
                                      <p:cBhvr>
                                        <p:cTn id="153" dur="1" fill="hold">
                                          <p:stCondLst>
                                            <p:cond delay="0"/>
                                          </p:stCondLst>
                                        </p:cTn>
                                        <p:tgtEl>
                                          <p:spTgt spid="42"/>
                                        </p:tgtEl>
                                        <p:attrNameLst>
                                          <p:attrName>style.visibility</p:attrName>
                                        </p:attrNameLst>
                                      </p:cBhvr>
                                      <p:to>
                                        <p:strVal val="visible"/>
                                      </p:to>
                                    </p:set>
                                    <p:anim calcmode="lin" valueType="num">
                                      <p:cBhvr>
                                        <p:cTn id="154" dur="450" fill="hold"/>
                                        <p:tgtEl>
                                          <p:spTgt spid="42"/>
                                        </p:tgtEl>
                                        <p:attrNameLst>
                                          <p:attrName>ppt_w</p:attrName>
                                        </p:attrNameLst>
                                      </p:cBhvr>
                                      <p:tavLst>
                                        <p:tav tm="0">
                                          <p:val>
                                            <p:fltVal val="0"/>
                                          </p:val>
                                        </p:tav>
                                        <p:tav tm="100000">
                                          <p:val>
                                            <p:strVal val="#ppt_w"/>
                                          </p:val>
                                        </p:tav>
                                      </p:tavLst>
                                    </p:anim>
                                    <p:anim calcmode="lin" valueType="num">
                                      <p:cBhvr>
                                        <p:cTn id="155" dur="450" fill="hold"/>
                                        <p:tgtEl>
                                          <p:spTgt spid="42"/>
                                        </p:tgtEl>
                                        <p:attrNameLst>
                                          <p:attrName>ppt_h</p:attrName>
                                        </p:attrNameLst>
                                      </p:cBhvr>
                                      <p:tavLst>
                                        <p:tav tm="0">
                                          <p:val>
                                            <p:fltVal val="0"/>
                                          </p:val>
                                        </p:tav>
                                        <p:tav tm="100000">
                                          <p:val>
                                            <p:strVal val="#ppt_h"/>
                                          </p:val>
                                        </p:tav>
                                      </p:tavLst>
                                    </p:anim>
                                    <p:animEffect transition="in" filter="fade">
                                      <p:cBhvr>
                                        <p:cTn id="156" dur="450"/>
                                        <p:tgtEl>
                                          <p:spTgt spid="42"/>
                                        </p:tgtEl>
                                      </p:cBhvr>
                                    </p:animEffect>
                                  </p:childTnLst>
                                </p:cTn>
                              </p:par>
                              <p:par>
                                <p:cTn id="157" presetID="53" presetClass="entr" presetSubtype="16" fill="hold" nodeType="withEffect">
                                  <p:stCondLst>
                                    <p:cond delay="0"/>
                                  </p:stCondLst>
                                  <p:childTnLst>
                                    <p:set>
                                      <p:cBhvr>
                                        <p:cTn id="158" dur="1" fill="hold">
                                          <p:stCondLst>
                                            <p:cond delay="0"/>
                                          </p:stCondLst>
                                        </p:cTn>
                                        <p:tgtEl>
                                          <p:spTgt spid="43"/>
                                        </p:tgtEl>
                                        <p:attrNameLst>
                                          <p:attrName>style.visibility</p:attrName>
                                        </p:attrNameLst>
                                      </p:cBhvr>
                                      <p:to>
                                        <p:strVal val="visible"/>
                                      </p:to>
                                    </p:set>
                                    <p:anim calcmode="lin" valueType="num">
                                      <p:cBhvr>
                                        <p:cTn id="159" dur="450" fill="hold"/>
                                        <p:tgtEl>
                                          <p:spTgt spid="43"/>
                                        </p:tgtEl>
                                        <p:attrNameLst>
                                          <p:attrName>ppt_w</p:attrName>
                                        </p:attrNameLst>
                                      </p:cBhvr>
                                      <p:tavLst>
                                        <p:tav tm="0">
                                          <p:val>
                                            <p:fltVal val="0"/>
                                          </p:val>
                                        </p:tav>
                                        <p:tav tm="100000">
                                          <p:val>
                                            <p:strVal val="#ppt_w"/>
                                          </p:val>
                                        </p:tav>
                                      </p:tavLst>
                                    </p:anim>
                                    <p:anim calcmode="lin" valueType="num">
                                      <p:cBhvr>
                                        <p:cTn id="160" dur="450" fill="hold"/>
                                        <p:tgtEl>
                                          <p:spTgt spid="43"/>
                                        </p:tgtEl>
                                        <p:attrNameLst>
                                          <p:attrName>ppt_h</p:attrName>
                                        </p:attrNameLst>
                                      </p:cBhvr>
                                      <p:tavLst>
                                        <p:tav tm="0">
                                          <p:val>
                                            <p:fltVal val="0"/>
                                          </p:val>
                                        </p:tav>
                                        <p:tav tm="100000">
                                          <p:val>
                                            <p:strVal val="#ppt_h"/>
                                          </p:val>
                                        </p:tav>
                                      </p:tavLst>
                                    </p:anim>
                                    <p:animEffect transition="in" filter="fade">
                                      <p:cBhvr>
                                        <p:cTn id="161" dur="450"/>
                                        <p:tgtEl>
                                          <p:spTgt spid="43"/>
                                        </p:tgtEl>
                                      </p:cBhvr>
                                    </p:animEffect>
                                  </p:childTnLst>
                                </p:cTn>
                              </p:par>
                              <p:par>
                                <p:cTn id="162" presetID="53" presetClass="entr" presetSubtype="16" fill="hold" nodeType="withEffect">
                                  <p:stCondLst>
                                    <p:cond delay="0"/>
                                  </p:stCondLst>
                                  <p:childTnLst>
                                    <p:set>
                                      <p:cBhvr>
                                        <p:cTn id="163" dur="1" fill="hold">
                                          <p:stCondLst>
                                            <p:cond delay="0"/>
                                          </p:stCondLst>
                                        </p:cTn>
                                        <p:tgtEl>
                                          <p:spTgt spid="44"/>
                                        </p:tgtEl>
                                        <p:attrNameLst>
                                          <p:attrName>style.visibility</p:attrName>
                                        </p:attrNameLst>
                                      </p:cBhvr>
                                      <p:to>
                                        <p:strVal val="visible"/>
                                      </p:to>
                                    </p:set>
                                    <p:anim calcmode="lin" valueType="num">
                                      <p:cBhvr>
                                        <p:cTn id="164" dur="450" fill="hold"/>
                                        <p:tgtEl>
                                          <p:spTgt spid="44"/>
                                        </p:tgtEl>
                                        <p:attrNameLst>
                                          <p:attrName>ppt_w</p:attrName>
                                        </p:attrNameLst>
                                      </p:cBhvr>
                                      <p:tavLst>
                                        <p:tav tm="0">
                                          <p:val>
                                            <p:fltVal val="0"/>
                                          </p:val>
                                        </p:tav>
                                        <p:tav tm="100000">
                                          <p:val>
                                            <p:strVal val="#ppt_w"/>
                                          </p:val>
                                        </p:tav>
                                      </p:tavLst>
                                    </p:anim>
                                    <p:anim calcmode="lin" valueType="num">
                                      <p:cBhvr>
                                        <p:cTn id="165" dur="450" fill="hold"/>
                                        <p:tgtEl>
                                          <p:spTgt spid="44"/>
                                        </p:tgtEl>
                                        <p:attrNameLst>
                                          <p:attrName>ppt_h</p:attrName>
                                        </p:attrNameLst>
                                      </p:cBhvr>
                                      <p:tavLst>
                                        <p:tav tm="0">
                                          <p:val>
                                            <p:fltVal val="0"/>
                                          </p:val>
                                        </p:tav>
                                        <p:tav tm="100000">
                                          <p:val>
                                            <p:strVal val="#ppt_h"/>
                                          </p:val>
                                        </p:tav>
                                      </p:tavLst>
                                    </p:anim>
                                    <p:animEffect transition="in" filter="fade">
                                      <p:cBhvr>
                                        <p:cTn id="166" dur="4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3200" b="1" dirty="0">
                <a:solidFill>
                  <a:srgbClr val="0F5257"/>
                </a:solidFill>
                <a:latin typeface="Vazir Black" panose="020B0603030804020204" pitchFamily="34" charset="-78"/>
                <a:ea typeface="Tahoma" pitchFamily="34" charset="-122"/>
                <a:cs typeface="B Koodak" panose="00000700000000000000" pitchFamily="2" charset="-78"/>
              </a:rPr>
              <a:t>فرضیه‌های پژوهش</a:t>
            </a:r>
            <a:endParaRPr lang="fa-IR" sz="3200" dirty="0">
              <a:latin typeface="Vazir Black" panose="020B0603030804020204" pitchFamily="34" charset="-78"/>
              <a:cs typeface="B Koodak" panose="00000700000000000000" pitchFamily="2" charset="-78"/>
            </a:endParaRPr>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۶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Shape 7"/>
          <p:cNvSpPr/>
          <p:nvPr/>
        </p:nvSpPr>
        <p:spPr>
          <a:xfrm>
            <a:off x="457200" y="1234440"/>
            <a:ext cx="5760720" cy="4983480"/>
          </a:xfrm>
          <a:prstGeom prst="roundRect">
            <a:avLst>
              <a:gd name="adj" fmla="val 2202"/>
            </a:avLst>
          </a:prstGeom>
          <a:solidFill>
            <a:srgbClr val="F4F6F7"/>
          </a:solidFill>
          <a:ln w="12700">
            <a:solidFill>
              <a:srgbClr val="F4F6F7"/>
            </a:solidFill>
            <a:prstDash val="solid"/>
          </a:ln>
        </p:spPr>
      </p:sp>
      <p:sp>
        <p:nvSpPr>
          <p:cNvPr id="11" name="Text 8"/>
          <p:cNvSpPr txBox="1"/>
          <p:nvPr/>
        </p:nvSpPr>
        <p:spPr>
          <a:xfrm>
            <a:off x="640080" y="1325880"/>
            <a:ext cx="5394960" cy="365760"/>
          </a:xfrm>
          <a:prstGeom prst="rect">
            <a:avLst/>
          </a:prstGeom>
          <a:noFill/>
          <a:ln/>
        </p:spPr>
        <p:txBody>
          <a:bodyPr wrap="square" lIns="0" tIns="0" rIns="0" bIns="0" rtlCol="0" anchor="t"/>
          <a:lstStyle/>
          <a:p>
            <a:pPr marL="0" indent="0" algn="ctr" rtl="1">
              <a:buNone/>
            </a:pPr>
            <a:r>
              <a:rPr lang="fa-IR" altLang="en-US" sz="2000" b="1" dirty="0">
                <a:solidFill>
                  <a:srgbClr val="6B7B83"/>
                </a:solidFill>
                <a:latin typeface="Tahoma" pitchFamily="34" charset="0"/>
                <a:ea typeface="Tahoma" pitchFamily="34" charset="-122"/>
                <a:cs typeface="B Koodak" panose="00000700000000000000" pitchFamily="2" charset="-78"/>
              </a:rPr>
              <a:t>مدل مفهومی پژوهش</a:t>
            </a:r>
            <a:endParaRPr lang="fa-IR" sz="2000" dirty="0">
              <a:cs typeface="B Koodak" panose="00000700000000000000" pitchFamily="2" charset="-78"/>
            </a:endParaRPr>
          </a:p>
        </p:txBody>
      </p:sp>
      <p:sp>
        <p:nvSpPr>
          <p:cNvPr id="12" name="A01_z_94b"/>
          <p:cNvSpPr/>
          <p:nvPr/>
        </p:nvSpPr>
        <p:spPr>
          <a:xfrm>
            <a:off x="3611880" y="4892040"/>
            <a:ext cx="2377440" cy="868680"/>
          </a:xfrm>
          <a:prstGeom prst="roundRect">
            <a:avLst>
              <a:gd name="adj" fmla="val 12632"/>
            </a:avLst>
          </a:prstGeom>
          <a:solidFill>
            <a:srgbClr val="D9674A"/>
          </a:solidFill>
          <a:ln w="12700">
            <a:solidFill>
              <a:srgbClr val="D9674A"/>
            </a:solidFill>
            <a:prstDash val="solid"/>
          </a:ln>
        </p:spPr>
      </p:sp>
      <p:sp>
        <p:nvSpPr>
          <p:cNvPr id="13" name="A01_z_95"/>
          <p:cNvSpPr txBox="1"/>
          <p:nvPr/>
        </p:nvSpPr>
        <p:spPr>
          <a:xfrm>
            <a:off x="3703320" y="4892040"/>
            <a:ext cx="2194560" cy="868680"/>
          </a:xfrm>
          <a:prstGeom prst="rect">
            <a:avLst/>
          </a:prstGeom>
          <a:noFill/>
          <a:ln/>
        </p:spPr>
        <p:txBody>
          <a:bodyPr wrap="square" lIns="0" tIns="0" rIns="0" bIns="0" rtlCol="0" anchor="ctr"/>
          <a:lstStyle>
            <a:lvl1pPr indent="0" algn="ctr" rtl="1">
              <a:buNone/>
              <a:defRPr sz="2000" b="1">
                <a:solidFill>
                  <a:srgbClr val="FFFFFF"/>
                </a:solidFill>
                <a:latin typeface="Tahoma" pitchFamily="34" charset="0"/>
                <a:ea typeface="Tahoma" pitchFamily="34" charset="-122"/>
                <a:cs typeface="B Koodak" panose="00000700000000000000" pitchFamily="2" charset="-78"/>
              </a:defRPr>
            </a:lvl1pPr>
          </a:lstStyle>
          <a:p>
            <a:r>
              <a:rPr lang="fa-IR" altLang="en-US" dirty="0"/>
              <a:t>آسیب‌های دوران کودکی</a:t>
            </a:r>
            <a:endParaRPr lang="fa-IR" dirty="0"/>
          </a:p>
        </p:txBody>
      </p:sp>
      <p:sp>
        <p:nvSpPr>
          <p:cNvPr id="14" name="A02_z_96b"/>
          <p:cNvSpPr/>
          <p:nvPr/>
        </p:nvSpPr>
        <p:spPr>
          <a:xfrm>
            <a:off x="2148840" y="1965960"/>
            <a:ext cx="2377440" cy="868680"/>
          </a:xfrm>
          <a:prstGeom prst="roundRect">
            <a:avLst>
              <a:gd name="adj" fmla="val 12632"/>
            </a:avLst>
          </a:prstGeom>
          <a:solidFill>
            <a:srgbClr val="2A9D8F"/>
          </a:solidFill>
          <a:ln w="12700">
            <a:solidFill>
              <a:srgbClr val="2A9D8F"/>
            </a:solidFill>
            <a:prstDash val="solid"/>
          </a:ln>
        </p:spPr>
      </p:sp>
      <p:sp>
        <p:nvSpPr>
          <p:cNvPr id="15" name="A02_z_97"/>
          <p:cNvSpPr txBox="1"/>
          <p:nvPr/>
        </p:nvSpPr>
        <p:spPr>
          <a:xfrm>
            <a:off x="2240280" y="1965960"/>
            <a:ext cx="2194560" cy="868680"/>
          </a:xfrm>
          <a:prstGeom prst="rect">
            <a:avLst/>
          </a:prstGeom>
          <a:noFill/>
          <a:ln/>
        </p:spPr>
        <p:txBody>
          <a:bodyPr wrap="square" lIns="0" tIns="0" rIns="0" bIns="0" rtlCol="0" anchor="ctr"/>
          <a:lstStyle/>
          <a:p>
            <a:pPr marL="0" indent="0" algn="ctr" rtl="1">
              <a:buNone/>
            </a:pPr>
            <a:r>
              <a:rPr lang="fa-IR" altLang="en-US" sz="2000" b="1" dirty="0">
                <a:solidFill>
                  <a:srgbClr val="FFFFFF"/>
                </a:solidFill>
                <a:latin typeface="Tahoma" pitchFamily="34" charset="0"/>
                <a:ea typeface="Tahoma" pitchFamily="34" charset="-122"/>
                <a:cs typeface="B Koodak" panose="00000700000000000000" pitchFamily="2" charset="-78"/>
              </a:rPr>
              <a:t>سبک‌های حل تعارض</a:t>
            </a:r>
            <a:endParaRPr lang="fa-IR" sz="2000" dirty="0">
              <a:cs typeface="B Koodak" panose="00000700000000000000" pitchFamily="2" charset="-78"/>
            </a:endParaRPr>
          </a:p>
        </p:txBody>
      </p:sp>
      <p:sp>
        <p:nvSpPr>
          <p:cNvPr id="16" name="A03_z_98b"/>
          <p:cNvSpPr/>
          <p:nvPr/>
        </p:nvSpPr>
        <p:spPr>
          <a:xfrm>
            <a:off x="685800" y="4892040"/>
            <a:ext cx="2377440" cy="868680"/>
          </a:xfrm>
          <a:prstGeom prst="roundRect">
            <a:avLst>
              <a:gd name="adj" fmla="val 12632"/>
            </a:avLst>
          </a:prstGeom>
          <a:solidFill>
            <a:srgbClr val="6D597A"/>
          </a:solidFill>
          <a:ln w="12700">
            <a:solidFill>
              <a:srgbClr val="6D597A"/>
            </a:solidFill>
            <a:prstDash val="solid"/>
          </a:ln>
        </p:spPr>
      </p:sp>
      <p:sp>
        <p:nvSpPr>
          <p:cNvPr id="17" name="A03_z_99"/>
          <p:cNvSpPr txBox="1"/>
          <p:nvPr/>
        </p:nvSpPr>
        <p:spPr>
          <a:xfrm>
            <a:off x="777240" y="4892040"/>
            <a:ext cx="2194560" cy="868680"/>
          </a:xfrm>
          <a:prstGeom prst="rect">
            <a:avLst/>
          </a:prstGeom>
          <a:noFill/>
          <a:ln/>
        </p:spPr>
        <p:txBody>
          <a:bodyPr wrap="square" lIns="0" tIns="0" rIns="0" bIns="0" rtlCol="0" anchor="ctr"/>
          <a:lstStyle>
            <a:lvl1pPr indent="0" algn="ctr" rtl="1">
              <a:buNone/>
              <a:defRPr sz="2000" b="1">
                <a:solidFill>
                  <a:srgbClr val="FFFFFF"/>
                </a:solidFill>
                <a:latin typeface="Tahoma" pitchFamily="34" charset="0"/>
                <a:ea typeface="Tahoma" pitchFamily="34" charset="-122"/>
                <a:cs typeface="B Koodak" panose="00000700000000000000" pitchFamily="2" charset="-78"/>
              </a:defRPr>
            </a:lvl1pPr>
          </a:lstStyle>
          <a:p>
            <a:r>
              <a:rPr lang="fa-IR" altLang="en-US" dirty="0" err="1"/>
              <a:t>سبک‌های</a:t>
            </a:r>
            <a:r>
              <a:rPr lang="fa-IR" altLang="en-US" dirty="0"/>
              <a:t> هویتی</a:t>
            </a:r>
            <a:endParaRPr lang="fa-IR" dirty="0"/>
          </a:p>
        </p:txBody>
      </p:sp>
      <p:sp>
        <p:nvSpPr>
          <p:cNvPr id="18" name="A04_f_100"/>
          <p:cNvSpPr/>
          <p:nvPr/>
        </p:nvSpPr>
        <p:spPr>
          <a:xfrm flipH="1" flipV="1">
            <a:off x="3749040" y="2852928"/>
            <a:ext cx="731520" cy="2020824"/>
          </a:xfrm>
          <a:prstGeom prst="line">
            <a:avLst/>
          </a:prstGeom>
          <a:noFill/>
          <a:ln w="28575">
            <a:solidFill>
              <a:srgbClr val="D9674A"/>
            </a:solidFill>
            <a:prstDash val="solid"/>
            <a:tailEnd type="triangle"/>
          </a:ln>
        </p:spPr>
      </p:sp>
      <p:sp>
        <p:nvSpPr>
          <p:cNvPr id="19" name="A05_f_101"/>
          <p:cNvSpPr/>
          <p:nvPr/>
        </p:nvSpPr>
        <p:spPr>
          <a:xfrm flipH="1">
            <a:off x="1920240" y="2852928"/>
            <a:ext cx="777240" cy="2020824"/>
          </a:xfrm>
          <a:prstGeom prst="line">
            <a:avLst/>
          </a:prstGeom>
          <a:noFill/>
          <a:ln w="28575">
            <a:solidFill>
              <a:srgbClr val="2A9D8F"/>
            </a:solidFill>
            <a:prstDash val="solid"/>
            <a:tailEnd type="triangle"/>
          </a:ln>
        </p:spPr>
      </p:sp>
      <p:sp>
        <p:nvSpPr>
          <p:cNvPr id="20" name="A06_f_102"/>
          <p:cNvSpPr/>
          <p:nvPr/>
        </p:nvSpPr>
        <p:spPr>
          <a:xfrm flipH="1">
            <a:off x="3081528" y="5321808"/>
            <a:ext cx="512064" cy="0"/>
          </a:xfrm>
          <a:prstGeom prst="line">
            <a:avLst/>
          </a:prstGeom>
          <a:noFill/>
          <a:ln w="28575">
            <a:solidFill>
              <a:srgbClr val="6D597A"/>
            </a:solidFill>
            <a:prstDash val="solid"/>
            <a:tailEnd type="triangle"/>
          </a:ln>
        </p:spPr>
      </p:sp>
      <p:sp>
        <p:nvSpPr>
          <p:cNvPr id="21" name="A04_f_103t"/>
          <p:cNvSpPr/>
          <p:nvPr/>
        </p:nvSpPr>
        <p:spPr>
          <a:xfrm>
            <a:off x="4343400" y="3611880"/>
            <a:ext cx="457200" cy="457200"/>
          </a:xfrm>
          <a:prstGeom prst="ellipse">
            <a:avLst/>
          </a:prstGeom>
          <a:solidFill>
            <a:srgbClr val="FFFFFF"/>
          </a:solidFill>
          <a:ln w="25400">
            <a:solidFill>
              <a:srgbClr val="D9674A"/>
            </a:solidFill>
            <a:prstDash val="solid"/>
          </a:ln>
        </p:spPr>
      </p:sp>
      <p:sp>
        <p:nvSpPr>
          <p:cNvPr id="22" name="A04_f_104"/>
          <p:cNvSpPr txBox="1"/>
          <p:nvPr/>
        </p:nvSpPr>
        <p:spPr>
          <a:xfrm>
            <a:off x="4343400" y="3611880"/>
            <a:ext cx="457200" cy="457200"/>
          </a:xfrm>
          <a:prstGeom prst="rect">
            <a:avLst/>
          </a:prstGeom>
          <a:noFill/>
          <a:ln/>
        </p:spPr>
        <p:txBody>
          <a:bodyPr wrap="square" lIns="0" tIns="0" rIns="0" bIns="0" rtlCol="0" anchor="ctr"/>
          <a:lstStyle/>
          <a:p>
            <a:pPr marL="0" indent="0" algn="ctr" rtl="1">
              <a:buNone/>
            </a:pPr>
            <a:r>
              <a:rPr lang="fa-IR" altLang="en-US" sz="1100" b="1" dirty="0">
                <a:solidFill>
                  <a:srgbClr val="D9674A"/>
                </a:solidFill>
                <a:latin typeface="Tahoma" pitchFamily="34" charset="0"/>
                <a:ea typeface="Tahoma" pitchFamily="34" charset="-122"/>
                <a:cs typeface="Tahoma" pitchFamily="34" charset="-120"/>
              </a:rPr>
              <a:t>2H</a:t>
            </a:r>
            <a:endParaRPr lang="fa-IR" sz="1100" dirty="0"/>
          </a:p>
        </p:txBody>
      </p:sp>
      <p:sp>
        <p:nvSpPr>
          <p:cNvPr id="23" name="A05_f_105t"/>
          <p:cNvSpPr/>
          <p:nvPr/>
        </p:nvSpPr>
        <p:spPr>
          <a:xfrm>
            <a:off x="1691640" y="3611880"/>
            <a:ext cx="457200" cy="457200"/>
          </a:xfrm>
          <a:prstGeom prst="ellipse">
            <a:avLst/>
          </a:prstGeom>
          <a:solidFill>
            <a:srgbClr val="FFFFFF"/>
          </a:solidFill>
          <a:ln w="25400">
            <a:solidFill>
              <a:srgbClr val="2A9D8F"/>
            </a:solidFill>
            <a:prstDash val="solid"/>
          </a:ln>
        </p:spPr>
      </p:sp>
      <p:sp>
        <p:nvSpPr>
          <p:cNvPr id="24" name="A05_f_106"/>
          <p:cNvSpPr txBox="1"/>
          <p:nvPr/>
        </p:nvSpPr>
        <p:spPr>
          <a:xfrm>
            <a:off x="1691640" y="3611880"/>
            <a:ext cx="457200" cy="457200"/>
          </a:xfrm>
          <a:prstGeom prst="rect">
            <a:avLst/>
          </a:prstGeom>
          <a:noFill/>
          <a:ln/>
        </p:spPr>
        <p:txBody>
          <a:bodyPr wrap="square" lIns="0" tIns="0" rIns="0" bIns="0" rtlCol="0" anchor="ctr"/>
          <a:lstStyle/>
          <a:p>
            <a:pPr marL="0" indent="0" algn="ctr" rtl="1">
              <a:buNone/>
            </a:pPr>
            <a:r>
              <a:rPr lang="en-US" sz="1100" b="1" dirty="0">
                <a:solidFill>
                  <a:srgbClr val="2A9D8F"/>
                </a:solidFill>
                <a:latin typeface="Tahoma" pitchFamily="34" charset="0"/>
                <a:ea typeface="Tahoma" pitchFamily="34" charset="-122"/>
                <a:cs typeface="Tahoma" pitchFamily="34" charset="-120"/>
              </a:rPr>
              <a:t>H3</a:t>
            </a:r>
            <a:endParaRPr lang="fa-IR" sz="1100" dirty="0"/>
          </a:p>
        </p:txBody>
      </p:sp>
      <p:sp>
        <p:nvSpPr>
          <p:cNvPr id="25" name="A06_f_107t"/>
          <p:cNvSpPr/>
          <p:nvPr/>
        </p:nvSpPr>
        <p:spPr>
          <a:xfrm>
            <a:off x="3108960" y="5650992"/>
            <a:ext cx="457200" cy="457200"/>
          </a:xfrm>
          <a:prstGeom prst="ellipse">
            <a:avLst/>
          </a:prstGeom>
          <a:solidFill>
            <a:srgbClr val="FFFFFF"/>
          </a:solidFill>
          <a:ln w="25400">
            <a:solidFill>
              <a:srgbClr val="6D597A"/>
            </a:solidFill>
            <a:prstDash val="solid"/>
          </a:ln>
        </p:spPr>
      </p:sp>
      <p:sp>
        <p:nvSpPr>
          <p:cNvPr id="26" name="A06_f_108"/>
          <p:cNvSpPr txBox="1"/>
          <p:nvPr/>
        </p:nvSpPr>
        <p:spPr>
          <a:xfrm>
            <a:off x="3108960" y="5650992"/>
            <a:ext cx="457200" cy="457200"/>
          </a:xfrm>
          <a:prstGeom prst="rect">
            <a:avLst/>
          </a:prstGeom>
          <a:noFill/>
          <a:ln/>
        </p:spPr>
        <p:txBody>
          <a:bodyPr wrap="square" lIns="0" tIns="0" rIns="0" bIns="0" rtlCol="0" anchor="ctr"/>
          <a:lstStyle/>
          <a:p>
            <a:pPr marL="0" indent="0" algn="ctr" rtl="1">
              <a:buNone/>
            </a:pPr>
            <a:r>
              <a:rPr lang="en-US" altLang="en-US" sz="1100" b="1" dirty="0">
                <a:solidFill>
                  <a:srgbClr val="6D597A"/>
                </a:solidFill>
                <a:latin typeface="Tahoma" pitchFamily="34" charset="0"/>
                <a:ea typeface="Tahoma" pitchFamily="34" charset="-122"/>
                <a:cs typeface="Tahoma" pitchFamily="34" charset="-120"/>
              </a:rPr>
              <a:t>H1</a:t>
            </a:r>
            <a:endParaRPr lang="fa-IR" sz="1100" dirty="0"/>
          </a:p>
        </p:txBody>
      </p:sp>
      <p:sp>
        <p:nvSpPr>
          <p:cNvPr id="27" name="A05_f_109"/>
          <p:cNvSpPr txBox="1"/>
          <p:nvPr/>
        </p:nvSpPr>
        <p:spPr>
          <a:xfrm>
            <a:off x="2104236" y="2875230"/>
            <a:ext cx="2377440" cy="320040"/>
          </a:xfrm>
          <a:prstGeom prst="rect">
            <a:avLst/>
          </a:prstGeom>
          <a:noFill/>
          <a:ln/>
        </p:spPr>
        <p:txBody>
          <a:bodyPr wrap="square" lIns="0" tIns="0" rIns="0" bIns="0" rtlCol="0" anchor="t"/>
          <a:lstStyle/>
          <a:p>
            <a:pPr marL="0" indent="0" algn="ctr" rtl="1">
              <a:buNone/>
            </a:pPr>
            <a:r>
              <a:rPr lang="fa-IR" altLang="en-US" sz="1600" b="1" dirty="0">
                <a:solidFill>
                  <a:srgbClr val="2A9D8F"/>
                </a:solidFill>
                <a:latin typeface="Tahoma" pitchFamily="34" charset="0"/>
                <a:ea typeface="Tahoma" pitchFamily="34" charset="-122"/>
                <a:cs typeface="B Koodak" panose="00000700000000000000" pitchFamily="2" charset="-78"/>
              </a:rPr>
              <a:t>میانجی</a:t>
            </a:r>
            <a:endParaRPr lang="fa-IR" sz="1600" dirty="0">
              <a:cs typeface="B Koodak" panose="00000700000000000000" pitchFamily="2" charset="-78"/>
            </a:endParaRPr>
          </a:p>
        </p:txBody>
      </p:sp>
      <p:sp>
        <p:nvSpPr>
          <p:cNvPr id="28" name="A07_f_110b"/>
          <p:cNvSpPr/>
          <p:nvPr/>
        </p:nvSpPr>
        <p:spPr>
          <a:xfrm>
            <a:off x="6537960" y="1234440"/>
            <a:ext cx="5166360" cy="1600200"/>
          </a:xfrm>
          <a:prstGeom prst="roundRect">
            <a:avLst>
              <a:gd name="adj" fmla="val 6857"/>
            </a:avLst>
          </a:prstGeom>
          <a:solidFill>
            <a:srgbClr val="0F5257"/>
          </a:solidFill>
          <a:ln w="12700">
            <a:solidFill>
              <a:srgbClr val="0F5257"/>
            </a:solidFill>
            <a:prstDash val="solid"/>
          </a:ln>
        </p:spPr>
      </p:sp>
      <p:sp>
        <p:nvSpPr>
          <p:cNvPr id="29" name="A07_f_111"/>
          <p:cNvSpPr txBox="1"/>
          <p:nvPr/>
        </p:nvSpPr>
        <p:spPr>
          <a:xfrm>
            <a:off x="6766560" y="1353312"/>
            <a:ext cx="4709160" cy="365760"/>
          </a:xfrm>
          <a:prstGeom prst="rect">
            <a:avLst/>
          </a:prstGeom>
          <a:noFill/>
          <a:ln/>
        </p:spPr>
        <p:txBody>
          <a:bodyPr wrap="square" lIns="0" tIns="0" rIns="0" bIns="0" rtlCol="0" anchor="t"/>
          <a:lstStyle/>
          <a:p>
            <a:pPr marL="0" indent="0" algn="r" rtl="1">
              <a:buNone/>
            </a:pPr>
            <a:r>
              <a:rPr lang="fa-IR" altLang="en-US" sz="2000" b="1" dirty="0">
                <a:solidFill>
                  <a:srgbClr val="CDE7E4"/>
                </a:solidFill>
                <a:latin typeface="Vazir Black" panose="020B0603030804020204" pitchFamily="34" charset="-78"/>
                <a:ea typeface="Tahoma" pitchFamily="34" charset="-122"/>
                <a:cs typeface="B Koodak" panose="00000700000000000000" pitchFamily="2" charset="-78"/>
              </a:rPr>
              <a:t>فرضیه اصلی</a:t>
            </a:r>
            <a:endParaRPr lang="fa-IR" sz="2000" dirty="0">
              <a:latin typeface="Vazir Black" panose="020B0603030804020204" pitchFamily="34" charset="-78"/>
              <a:cs typeface="B Koodak" panose="00000700000000000000" pitchFamily="2" charset="-78"/>
            </a:endParaRPr>
          </a:p>
        </p:txBody>
      </p:sp>
      <p:sp>
        <p:nvSpPr>
          <p:cNvPr id="30" name="A07_f_112"/>
          <p:cNvSpPr txBox="1"/>
          <p:nvPr/>
        </p:nvSpPr>
        <p:spPr>
          <a:xfrm>
            <a:off x="6766560" y="1737360"/>
            <a:ext cx="4709160" cy="1005840"/>
          </a:xfrm>
          <a:prstGeom prst="rect">
            <a:avLst/>
          </a:prstGeom>
          <a:noFill/>
          <a:ln/>
        </p:spPr>
        <p:txBody>
          <a:bodyPr wrap="square" lIns="0" tIns="0" rIns="0" bIns="0" rtlCol="0" anchor="t"/>
          <a:lstStyle/>
          <a:p>
            <a:pPr marL="0" indent="0" algn="r" rtl="1">
              <a:buNone/>
            </a:pPr>
            <a:r>
              <a:rPr lang="fa-IR" altLang="en-US" dirty="0">
                <a:solidFill>
                  <a:srgbClr val="FFFFFF"/>
                </a:solidFill>
                <a:latin typeface="Vazir FD-WOL" panose="020B0603030804020204" pitchFamily="34" charset="-78"/>
                <a:ea typeface="Tahoma" pitchFamily="34" charset="-122"/>
                <a:cs typeface="B Koodak" panose="00000700000000000000" pitchFamily="2" charset="-78"/>
              </a:rPr>
              <a:t>سبک‌های حل تعارض در رابطه بین آسیب‌های دوران کودکی و سبک‌های هویتی نقش میانجی دارد</a:t>
            </a:r>
            <a:endParaRPr lang="fa-IR" dirty="0">
              <a:latin typeface="Vazir FD-WOL" panose="020B0603030804020204" pitchFamily="34" charset="-78"/>
              <a:cs typeface="B Koodak" panose="00000700000000000000" pitchFamily="2" charset="-78"/>
            </a:endParaRPr>
          </a:p>
        </p:txBody>
      </p:sp>
      <p:sp>
        <p:nvSpPr>
          <p:cNvPr id="31" name="A08_f_113b"/>
          <p:cNvSpPr/>
          <p:nvPr/>
        </p:nvSpPr>
        <p:spPr>
          <a:xfrm>
            <a:off x="6537960" y="3017520"/>
            <a:ext cx="5166360" cy="941832"/>
          </a:xfrm>
          <a:prstGeom prst="roundRect">
            <a:avLst>
              <a:gd name="adj" fmla="val 11650"/>
            </a:avLst>
          </a:prstGeom>
          <a:solidFill>
            <a:srgbClr val="EFEAF3"/>
          </a:solidFill>
          <a:ln w="12700">
            <a:solidFill>
              <a:srgbClr val="EFEAF3"/>
            </a:solidFill>
            <a:prstDash val="solid"/>
          </a:ln>
        </p:spPr>
      </p:sp>
      <p:sp>
        <p:nvSpPr>
          <p:cNvPr id="32" name="A08_f_114c"/>
          <p:cNvSpPr/>
          <p:nvPr/>
        </p:nvSpPr>
        <p:spPr>
          <a:xfrm>
            <a:off x="11036808" y="3246120"/>
            <a:ext cx="502920" cy="502920"/>
          </a:xfrm>
          <a:prstGeom prst="ellipse">
            <a:avLst/>
          </a:prstGeom>
          <a:solidFill>
            <a:srgbClr val="6D597A"/>
          </a:solidFill>
          <a:ln w="12700">
            <a:solidFill>
              <a:srgbClr val="6D597A"/>
            </a:solidFill>
            <a:prstDash val="solid"/>
          </a:ln>
        </p:spPr>
      </p:sp>
      <p:sp>
        <p:nvSpPr>
          <p:cNvPr id="33" name="A08_f_115"/>
          <p:cNvSpPr txBox="1"/>
          <p:nvPr/>
        </p:nvSpPr>
        <p:spPr>
          <a:xfrm>
            <a:off x="11036808" y="3246120"/>
            <a:ext cx="502920" cy="502920"/>
          </a:xfrm>
          <a:prstGeom prst="rect">
            <a:avLst/>
          </a:prstGeom>
          <a:noFill/>
          <a:ln/>
        </p:spPr>
        <p:txBody>
          <a:bodyPr wrap="square" lIns="0" tIns="0" rIns="0" bIns="0" rtlCol="0" anchor="ctr"/>
          <a:lstStyle/>
          <a:p>
            <a:pPr marL="0" indent="0" algn="ctr">
              <a:buNone/>
            </a:pPr>
            <a:r>
              <a:rPr lang="fa-IR" altLang="en-US" sz="1200" b="1" dirty="0">
                <a:solidFill>
                  <a:srgbClr val="FFFFFF"/>
                </a:solidFill>
                <a:latin typeface="Tahoma" pitchFamily="34" charset="0"/>
                <a:ea typeface="Tahoma" pitchFamily="34" charset="-122"/>
                <a:cs typeface="Tahoma" pitchFamily="34" charset="-120"/>
              </a:rPr>
              <a:t>H1</a:t>
            </a:r>
            <a:endParaRPr lang="fa-IR" sz="1200" dirty="0"/>
          </a:p>
        </p:txBody>
      </p:sp>
      <p:sp>
        <p:nvSpPr>
          <p:cNvPr id="34" name="A08_f_116"/>
          <p:cNvSpPr txBox="1"/>
          <p:nvPr/>
        </p:nvSpPr>
        <p:spPr>
          <a:xfrm>
            <a:off x="6720840" y="3108960"/>
            <a:ext cx="4160520" cy="320040"/>
          </a:xfrm>
          <a:prstGeom prst="rect">
            <a:avLst/>
          </a:prstGeom>
          <a:noFill/>
          <a:ln/>
        </p:spPr>
        <p:txBody>
          <a:bodyPr wrap="square" lIns="0" tIns="0" rIns="0" bIns="0" rtlCol="0" anchor="t"/>
          <a:lstStyle/>
          <a:p>
            <a:pPr marL="0" indent="0" algn="r" rtl="1">
              <a:buNone/>
            </a:pPr>
            <a:r>
              <a:rPr lang="fa-IR" altLang="en-US" sz="1300" b="1" dirty="0">
                <a:solidFill>
                  <a:srgbClr val="6D597A"/>
                </a:solidFill>
                <a:latin typeface="Tahoma" pitchFamily="34" charset="0"/>
                <a:ea typeface="Tahoma" pitchFamily="34" charset="-122"/>
                <a:cs typeface="Tahoma" pitchFamily="34" charset="-120"/>
              </a:rPr>
              <a:t>فرضیه جزئی اول</a:t>
            </a:r>
            <a:endParaRPr lang="fa-IR" sz="1300" dirty="0"/>
          </a:p>
        </p:txBody>
      </p:sp>
      <p:sp>
        <p:nvSpPr>
          <p:cNvPr id="35" name="A08_f_117"/>
          <p:cNvSpPr txBox="1"/>
          <p:nvPr/>
        </p:nvSpPr>
        <p:spPr>
          <a:xfrm>
            <a:off x="6720840" y="3429000"/>
            <a:ext cx="4160520" cy="475488"/>
          </a:xfrm>
          <a:prstGeom prst="rect">
            <a:avLst/>
          </a:prstGeom>
          <a:noFill/>
          <a:ln/>
        </p:spPr>
        <p:txBody>
          <a:bodyPr wrap="square" lIns="0" tIns="0" rIns="0" bIns="0" rtlCol="0" anchor="t"/>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آسیب‌های دوران کودکی و سبک‌های هویتی در دانشجویان رابطه معنادار دارند</a:t>
            </a:r>
            <a:endParaRPr lang="fa-IR" sz="1300" dirty="0"/>
          </a:p>
        </p:txBody>
      </p:sp>
      <p:sp>
        <p:nvSpPr>
          <p:cNvPr id="36" name="A09_f_118b"/>
          <p:cNvSpPr/>
          <p:nvPr/>
        </p:nvSpPr>
        <p:spPr>
          <a:xfrm>
            <a:off x="6537960" y="4096512"/>
            <a:ext cx="5166360" cy="941832"/>
          </a:xfrm>
          <a:prstGeom prst="roundRect">
            <a:avLst>
              <a:gd name="adj" fmla="val 11650"/>
            </a:avLst>
          </a:prstGeom>
          <a:solidFill>
            <a:srgbClr val="FBECE7"/>
          </a:solidFill>
          <a:ln w="12700">
            <a:solidFill>
              <a:srgbClr val="FBECE7"/>
            </a:solidFill>
            <a:prstDash val="solid"/>
          </a:ln>
        </p:spPr>
      </p:sp>
      <p:sp>
        <p:nvSpPr>
          <p:cNvPr id="37" name="A09_f_119c"/>
          <p:cNvSpPr/>
          <p:nvPr/>
        </p:nvSpPr>
        <p:spPr>
          <a:xfrm>
            <a:off x="11036808" y="4325112"/>
            <a:ext cx="502920" cy="502920"/>
          </a:xfrm>
          <a:prstGeom prst="ellipse">
            <a:avLst/>
          </a:prstGeom>
          <a:solidFill>
            <a:srgbClr val="D9674A"/>
          </a:solidFill>
          <a:ln w="12700">
            <a:solidFill>
              <a:srgbClr val="D9674A"/>
            </a:solidFill>
            <a:prstDash val="solid"/>
          </a:ln>
        </p:spPr>
      </p:sp>
      <p:sp>
        <p:nvSpPr>
          <p:cNvPr id="38" name="A09_f_120"/>
          <p:cNvSpPr txBox="1"/>
          <p:nvPr/>
        </p:nvSpPr>
        <p:spPr>
          <a:xfrm>
            <a:off x="11036808" y="4325112"/>
            <a:ext cx="502920" cy="502920"/>
          </a:xfrm>
          <a:prstGeom prst="rect">
            <a:avLst/>
          </a:prstGeom>
          <a:noFill/>
          <a:ln/>
        </p:spPr>
        <p:txBody>
          <a:bodyPr wrap="square" lIns="0" tIns="0" rIns="0" bIns="0" rtlCol="0" anchor="ctr"/>
          <a:lstStyle/>
          <a:p>
            <a:pPr marL="0" indent="0" algn="ctr">
              <a:buNone/>
            </a:pPr>
            <a:r>
              <a:rPr lang="fa-IR" altLang="en-US" sz="1200" b="1" dirty="0">
                <a:solidFill>
                  <a:srgbClr val="FFFFFF"/>
                </a:solidFill>
                <a:latin typeface="Tahoma" pitchFamily="34" charset="0"/>
                <a:ea typeface="Tahoma" pitchFamily="34" charset="-122"/>
                <a:cs typeface="Tahoma" pitchFamily="34" charset="-120"/>
              </a:rPr>
              <a:t>H2</a:t>
            </a:r>
            <a:endParaRPr lang="fa-IR" sz="1200" dirty="0"/>
          </a:p>
        </p:txBody>
      </p:sp>
      <p:sp>
        <p:nvSpPr>
          <p:cNvPr id="39" name="A09_f_121"/>
          <p:cNvSpPr txBox="1"/>
          <p:nvPr/>
        </p:nvSpPr>
        <p:spPr>
          <a:xfrm>
            <a:off x="6720840" y="4187952"/>
            <a:ext cx="4160520" cy="320040"/>
          </a:xfrm>
          <a:prstGeom prst="rect">
            <a:avLst/>
          </a:prstGeom>
          <a:noFill/>
          <a:ln/>
        </p:spPr>
        <p:txBody>
          <a:bodyPr wrap="square" lIns="0" tIns="0" rIns="0" bIns="0" rtlCol="0" anchor="t"/>
          <a:lstStyle/>
          <a:p>
            <a:pPr marL="0" indent="0" algn="r" rtl="1">
              <a:buNone/>
            </a:pPr>
            <a:r>
              <a:rPr lang="fa-IR" altLang="en-US" sz="1300" b="1" dirty="0">
                <a:solidFill>
                  <a:srgbClr val="D9674A"/>
                </a:solidFill>
                <a:latin typeface="Tahoma" pitchFamily="34" charset="0"/>
                <a:ea typeface="Tahoma" pitchFamily="34" charset="-122"/>
                <a:cs typeface="Tahoma" pitchFamily="34" charset="-120"/>
              </a:rPr>
              <a:t>فرضیه جزئی دوم</a:t>
            </a:r>
            <a:endParaRPr lang="fa-IR" sz="1300" dirty="0"/>
          </a:p>
        </p:txBody>
      </p:sp>
      <p:sp>
        <p:nvSpPr>
          <p:cNvPr id="40" name="A09_f_122"/>
          <p:cNvSpPr txBox="1"/>
          <p:nvPr/>
        </p:nvSpPr>
        <p:spPr>
          <a:xfrm>
            <a:off x="6720840" y="4507992"/>
            <a:ext cx="4160520" cy="475488"/>
          </a:xfrm>
          <a:prstGeom prst="rect">
            <a:avLst/>
          </a:prstGeom>
          <a:noFill/>
          <a:ln/>
        </p:spPr>
        <p:txBody>
          <a:bodyPr wrap="square" lIns="0" tIns="0" rIns="0" bIns="0" rtlCol="0" anchor="t"/>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آسیب‌های دوران کودکی و سبک‌های حل تعارض در دانشجویان رابطه معنادار دارند</a:t>
            </a:r>
            <a:endParaRPr lang="fa-IR" sz="1300" dirty="0"/>
          </a:p>
        </p:txBody>
      </p:sp>
      <p:sp>
        <p:nvSpPr>
          <p:cNvPr id="41" name="A10_f_123b"/>
          <p:cNvSpPr/>
          <p:nvPr/>
        </p:nvSpPr>
        <p:spPr>
          <a:xfrm>
            <a:off x="6537960" y="5175504"/>
            <a:ext cx="5166360" cy="941832"/>
          </a:xfrm>
          <a:prstGeom prst="roundRect">
            <a:avLst>
              <a:gd name="adj" fmla="val 11650"/>
            </a:avLst>
          </a:prstGeom>
          <a:solidFill>
            <a:srgbClr val="E6F2F1"/>
          </a:solidFill>
          <a:ln w="12700">
            <a:solidFill>
              <a:srgbClr val="E6F2F1"/>
            </a:solidFill>
            <a:prstDash val="solid"/>
          </a:ln>
        </p:spPr>
      </p:sp>
      <p:sp>
        <p:nvSpPr>
          <p:cNvPr id="42" name="A10_f_124c"/>
          <p:cNvSpPr/>
          <p:nvPr/>
        </p:nvSpPr>
        <p:spPr>
          <a:xfrm>
            <a:off x="11036808" y="5404104"/>
            <a:ext cx="502920" cy="502920"/>
          </a:xfrm>
          <a:prstGeom prst="ellipse">
            <a:avLst/>
          </a:prstGeom>
          <a:solidFill>
            <a:srgbClr val="2A9D8F"/>
          </a:solidFill>
          <a:ln w="12700">
            <a:solidFill>
              <a:srgbClr val="2A9D8F"/>
            </a:solidFill>
            <a:prstDash val="solid"/>
          </a:ln>
        </p:spPr>
      </p:sp>
      <p:sp>
        <p:nvSpPr>
          <p:cNvPr id="43" name="A10_f_125"/>
          <p:cNvSpPr txBox="1"/>
          <p:nvPr/>
        </p:nvSpPr>
        <p:spPr>
          <a:xfrm>
            <a:off x="11036808" y="5404104"/>
            <a:ext cx="502920" cy="502920"/>
          </a:xfrm>
          <a:prstGeom prst="rect">
            <a:avLst/>
          </a:prstGeom>
          <a:noFill/>
          <a:ln/>
        </p:spPr>
        <p:txBody>
          <a:bodyPr wrap="square" lIns="0" tIns="0" rIns="0" bIns="0" rtlCol="0" anchor="ctr"/>
          <a:lstStyle/>
          <a:p>
            <a:pPr marL="0" indent="0" algn="ctr">
              <a:buNone/>
            </a:pPr>
            <a:r>
              <a:rPr lang="fa-IR" altLang="en-US" sz="1200" b="1" dirty="0">
                <a:solidFill>
                  <a:srgbClr val="FFFFFF"/>
                </a:solidFill>
                <a:latin typeface="Tahoma" pitchFamily="34" charset="0"/>
                <a:ea typeface="Tahoma" pitchFamily="34" charset="-122"/>
                <a:cs typeface="Tahoma" pitchFamily="34" charset="-120"/>
              </a:rPr>
              <a:t>H3</a:t>
            </a:r>
            <a:endParaRPr lang="fa-IR" sz="1200" dirty="0"/>
          </a:p>
        </p:txBody>
      </p:sp>
      <p:sp>
        <p:nvSpPr>
          <p:cNvPr id="44" name="A10_f_126"/>
          <p:cNvSpPr txBox="1"/>
          <p:nvPr/>
        </p:nvSpPr>
        <p:spPr>
          <a:xfrm>
            <a:off x="6720840" y="5266944"/>
            <a:ext cx="4160520" cy="320040"/>
          </a:xfrm>
          <a:prstGeom prst="rect">
            <a:avLst/>
          </a:prstGeom>
          <a:noFill/>
          <a:ln/>
        </p:spPr>
        <p:txBody>
          <a:bodyPr wrap="square" lIns="0" tIns="0" rIns="0" bIns="0" rtlCol="0" anchor="t"/>
          <a:lstStyle/>
          <a:p>
            <a:pPr marL="0" indent="0" algn="r" rtl="1">
              <a:buNone/>
            </a:pPr>
            <a:r>
              <a:rPr lang="fa-IR" altLang="en-US" sz="1300" b="1" dirty="0">
                <a:solidFill>
                  <a:srgbClr val="2A9D8F"/>
                </a:solidFill>
                <a:latin typeface="Tahoma" pitchFamily="34" charset="0"/>
                <a:ea typeface="Tahoma" pitchFamily="34" charset="-122"/>
                <a:cs typeface="Tahoma" pitchFamily="34" charset="-120"/>
              </a:rPr>
              <a:t>فرضیه جزئی سوم</a:t>
            </a:r>
            <a:endParaRPr lang="fa-IR" sz="1300" dirty="0"/>
          </a:p>
        </p:txBody>
      </p:sp>
      <p:sp>
        <p:nvSpPr>
          <p:cNvPr id="45" name="A10_f_127"/>
          <p:cNvSpPr txBox="1"/>
          <p:nvPr/>
        </p:nvSpPr>
        <p:spPr>
          <a:xfrm>
            <a:off x="6720840" y="5586984"/>
            <a:ext cx="4160520" cy="475488"/>
          </a:xfrm>
          <a:prstGeom prst="rect">
            <a:avLst/>
          </a:prstGeom>
          <a:noFill/>
          <a:ln/>
        </p:spPr>
        <p:txBody>
          <a:bodyPr wrap="square" lIns="0" tIns="0" rIns="0" bIns="0" rtlCol="0" anchor="t"/>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سبک‌های هویتی و سبک‌های حل تعارض در دانشجویان رابطه معنادار دارند</a:t>
            </a:r>
            <a:endParaRPr lang="fa-IR" sz="13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450" fill="hold"/>
                                        <p:tgtEl>
                                          <p:spTgt spid="12"/>
                                        </p:tgtEl>
                                        <p:attrNameLst>
                                          <p:attrName>ppt_w</p:attrName>
                                        </p:attrNameLst>
                                      </p:cBhvr>
                                      <p:tavLst>
                                        <p:tav tm="0">
                                          <p:val>
                                            <p:fltVal val="0"/>
                                          </p:val>
                                        </p:tav>
                                        <p:tav tm="100000">
                                          <p:val>
                                            <p:strVal val="#ppt_w"/>
                                          </p:val>
                                        </p:tav>
                                      </p:tavLst>
                                    </p:anim>
                                    <p:anim calcmode="lin" valueType="num">
                                      <p:cBhvr>
                                        <p:cTn id="8" dur="450" fill="hold"/>
                                        <p:tgtEl>
                                          <p:spTgt spid="12"/>
                                        </p:tgtEl>
                                        <p:attrNameLst>
                                          <p:attrName>ppt_h</p:attrName>
                                        </p:attrNameLst>
                                      </p:cBhvr>
                                      <p:tavLst>
                                        <p:tav tm="0">
                                          <p:val>
                                            <p:fltVal val="0"/>
                                          </p:val>
                                        </p:tav>
                                        <p:tav tm="100000">
                                          <p:val>
                                            <p:strVal val="#ppt_h"/>
                                          </p:val>
                                        </p:tav>
                                      </p:tavLst>
                                    </p:anim>
                                    <p:animEffect transition="in" filter="fade">
                                      <p:cBhvr>
                                        <p:cTn id="9" dur="450"/>
                                        <p:tgtEl>
                                          <p:spTgt spid="12"/>
                                        </p:tgtEl>
                                      </p:cBhvr>
                                    </p:animEffect>
                                  </p:childTnLst>
                                </p:cTn>
                              </p:par>
                              <p:par>
                                <p:cTn id="10" presetID="53" presetClass="entr" presetSubtype="16"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450" fill="hold"/>
                                        <p:tgtEl>
                                          <p:spTgt spid="13"/>
                                        </p:tgtEl>
                                        <p:attrNameLst>
                                          <p:attrName>ppt_w</p:attrName>
                                        </p:attrNameLst>
                                      </p:cBhvr>
                                      <p:tavLst>
                                        <p:tav tm="0">
                                          <p:val>
                                            <p:fltVal val="0"/>
                                          </p:val>
                                        </p:tav>
                                        <p:tav tm="100000">
                                          <p:val>
                                            <p:strVal val="#ppt_w"/>
                                          </p:val>
                                        </p:tav>
                                      </p:tavLst>
                                    </p:anim>
                                    <p:anim calcmode="lin" valueType="num">
                                      <p:cBhvr>
                                        <p:cTn id="13" dur="450" fill="hold"/>
                                        <p:tgtEl>
                                          <p:spTgt spid="13"/>
                                        </p:tgtEl>
                                        <p:attrNameLst>
                                          <p:attrName>ppt_h</p:attrName>
                                        </p:attrNameLst>
                                      </p:cBhvr>
                                      <p:tavLst>
                                        <p:tav tm="0">
                                          <p:val>
                                            <p:fltVal val="0"/>
                                          </p:val>
                                        </p:tav>
                                        <p:tav tm="100000">
                                          <p:val>
                                            <p:strVal val="#ppt_h"/>
                                          </p:val>
                                        </p:tav>
                                      </p:tavLst>
                                    </p:anim>
                                    <p:animEffect transition="in" filter="fade">
                                      <p:cBhvr>
                                        <p:cTn id="14" dur="450"/>
                                        <p:tgtEl>
                                          <p:spTgt spid="13"/>
                                        </p:tgtEl>
                                      </p:cBhvr>
                                    </p:animEffect>
                                  </p:childTnLst>
                                </p:cTn>
                              </p:par>
                            </p:childTnLst>
                          </p:cTn>
                        </p:par>
                        <p:par>
                          <p:cTn id="15" fill="hold">
                            <p:stCondLst>
                              <p:cond delay="300"/>
                            </p:stCondLst>
                            <p:childTnLst>
                              <p:par>
                                <p:cTn id="16" presetID="53" presetClass="entr" presetSubtype="16" fill="hold" nodeType="after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450" fill="hold"/>
                                        <p:tgtEl>
                                          <p:spTgt spid="14"/>
                                        </p:tgtEl>
                                        <p:attrNameLst>
                                          <p:attrName>ppt_w</p:attrName>
                                        </p:attrNameLst>
                                      </p:cBhvr>
                                      <p:tavLst>
                                        <p:tav tm="0">
                                          <p:val>
                                            <p:fltVal val="0"/>
                                          </p:val>
                                        </p:tav>
                                        <p:tav tm="100000">
                                          <p:val>
                                            <p:strVal val="#ppt_w"/>
                                          </p:val>
                                        </p:tav>
                                      </p:tavLst>
                                    </p:anim>
                                    <p:anim calcmode="lin" valueType="num">
                                      <p:cBhvr>
                                        <p:cTn id="19" dur="450" fill="hold"/>
                                        <p:tgtEl>
                                          <p:spTgt spid="14"/>
                                        </p:tgtEl>
                                        <p:attrNameLst>
                                          <p:attrName>ppt_h</p:attrName>
                                        </p:attrNameLst>
                                      </p:cBhvr>
                                      <p:tavLst>
                                        <p:tav tm="0">
                                          <p:val>
                                            <p:fltVal val="0"/>
                                          </p:val>
                                        </p:tav>
                                        <p:tav tm="100000">
                                          <p:val>
                                            <p:strVal val="#ppt_h"/>
                                          </p:val>
                                        </p:tav>
                                      </p:tavLst>
                                    </p:anim>
                                    <p:animEffect transition="in" filter="fade">
                                      <p:cBhvr>
                                        <p:cTn id="20" dur="450"/>
                                        <p:tgtEl>
                                          <p:spTgt spid="14"/>
                                        </p:tgtEl>
                                      </p:cBhvr>
                                    </p:animEffect>
                                  </p:childTnLst>
                                </p:cTn>
                              </p:par>
                              <p:par>
                                <p:cTn id="21" presetID="53" presetClass="entr" presetSubtype="16"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p:cTn id="23" dur="450" fill="hold"/>
                                        <p:tgtEl>
                                          <p:spTgt spid="15"/>
                                        </p:tgtEl>
                                        <p:attrNameLst>
                                          <p:attrName>ppt_w</p:attrName>
                                        </p:attrNameLst>
                                      </p:cBhvr>
                                      <p:tavLst>
                                        <p:tav tm="0">
                                          <p:val>
                                            <p:fltVal val="0"/>
                                          </p:val>
                                        </p:tav>
                                        <p:tav tm="100000">
                                          <p:val>
                                            <p:strVal val="#ppt_w"/>
                                          </p:val>
                                        </p:tav>
                                      </p:tavLst>
                                    </p:anim>
                                    <p:anim calcmode="lin" valueType="num">
                                      <p:cBhvr>
                                        <p:cTn id="24" dur="450" fill="hold"/>
                                        <p:tgtEl>
                                          <p:spTgt spid="15"/>
                                        </p:tgtEl>
                                        <p:attrNameLst>
                                          <p:attrName>ppt_h</p:attrName>
                                        </p:attrNameLst>
                                      </p:cBhvr>
                                      <p:tavLst>
                                        <p:tav tm="0">
                                          <p:val>
                                            <p:fltVal val="0"/>
                                          </p:val>
                                        </p:tav>
                                        <p:tav tm="100000">
                                          <p:val>
                                            <p:strVal val="#ppt_h"/>
                                          </p:val>
                                        </p:tav>
                                      </p:tavLst>
                                    </p:anim>
                                    <p:animEffect transition="in" filter="fade">
                                      <p:cBhvr>
                                        <p:cTn id="25" dur="450"/>
                                        <p:tgtEl>
                                          <p:spTgt spid="15"/>
                                        </p:tgtEl>
                                      </p:cBhvr>
                                    </p:animEffect>
                                  </p:childTnLst>
                                </p:cTn>
                              </p:par>
                            </p:childTnLst>
                          </p:cTn>
                        </p:par>
                        <p:par>
                          <p:cTn id="26" fill="hold">
                            <p:stCondLst>
                              <p:cond delay="600"/>
                            </p:stCondLst>
                            <p:childTnLst>
                              <p:par>
                                <p:cTn id="27" presetID="53" presetClass="entr" presetSubtype="16" fill="hold" nodeType="after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450" fill="hold"/>
                                        <p:tgtEl>
                                          <p:spTgt spid="16"/>
                                        </p:tgtEl>
                                        <p:attrNameLst>
                                          <p:attrName>ppt_w</p:attrName>
                                        </p:attrNameLst>
                                      </p:cBhvr>
                                      <p:tavLst>
                                        <p:tav tm="0">
                                          <p:val>
                                            <p:fltVal val="0"/>
                                          </p:val>
                                        </p:tav>
                                        <p:tav tm="100000">
                                          <p:val>
                                            <p:strVal val="#ppt_w"/>
                                          </p:val>
                                        </p:tav>
                                      </p:tavLst>
                                    </p:anim>
                                    <p:anim calcmode="lin" valueType="num">
                                      <p:cBhvr>
                                        <p:cTn id="30" dur="450" fill="hold"/>
                                        <p:tgtEl>
                                          <p:spTgt spid="16"/>
                                        </p:tgtEl>
                                        <p:attrNameLst>
                                          <p:attrName>ppt_h</p:attrName>
                                        </p:attrNameLst>
                                      </p:cBhvr>
                                      <p:tavLst>
                                        <p:tav tm="0">
                                          <p:val>
                                            <p:fltVal val="0"/>
                                          </p:val>
                                        </p:tav>
                                        <p:tav tm="100000">
                                          <p:val>
                                            <p:strVal val="#ppt_h"/>
                                          </p:val>
                                        </p:tav>
                                      </p:tavLst>
                                    </p:anim>
                                    <p:animEffect transition="in" filter="fade">
                                      <p:cBhvr>
                                        <p:cTn id="31" dur="450"/>
                                        <p:tgtEl>
                                          <p:spTgt spid="16"/>
                                        </p:tgtEl>
                                      </p:cBhvr>
                                    </p:animEffect>
                                  </p:childTnLst>
                                </p:cTn>
                              </p:par>
                              <p:par>
                                <p:cTn id="32" presetID="53" presetClass="entr" presetSubtype="16"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450" fill="hold"/>
                                        <p:tgtEl>
                                          <p:spTgt spid="17"/>
                                        </p:tgtEl>
                                        <p:attrNameLst>
                                          <p:attrName>ppt_w</p:attrName>
                                        </p:attrNameLst>
                                      </p:cBhvr>
                                      <p:tavLst>
                                        <p:tav tm="0">
                                          <p:val>
                                            <p:fltVal val="0"/>
                                          </p:val>
                                        </p:tav>
                                        <p:tav tm="100000">
                                          <p:val>
                                            <p:strVal val="#ppt_w"/>
                                          </p:val>
                                        </p:tav>
                                      </p:tavLst>
                                    </p:anim>
                                    <p:anim calcmode="lin" valueType="num">
                                      <p:cBhvr>
                                        <p:cTn id="35" dur="450" fill="hold"/>
                                        <p:tgtEl>
                                          <p:spTgt spid="17"/>
                                        </p:tgtEl>
                                        <p:attrNameLst>
                                          <p:attrName>ppt_h</p:attrName>
                                        </p:attrNameLst>
                                      </p:cBhvr>
                                      <p:tavLst>
                                        <p:tav tm="0">
                                          <p:val>
                                            <p:fltVal val="0"/>
                                          </p:val>
                                        </p:tav>
                                        <p:tav tm="100000">
                                          <p:val>
                                            <p:strVal val="#ppt_h"/>
                                          </p:val>
                                        </p:tav>
                                      </p:tavLst>
                                    </p:anim>
                                    <p:animEffect transition="in" filter="fade">
                                      <p:cBhvr>
                                        <p:cTn id="36" dur="450"/>
                                        <p:tgtEl>
                                          <p:spTgt spid="17"/>
                                        </p:tgtEl>
                                      </p:cBhvr>
                                    </p:animEffect>
                                  </p:childTnLst>
                                </p:cTn>
                              </p:par>
                            </p:childTnLst>
                          </p:cTn>
                        </p:par>
                        <p:par>
                          <p:cTn id="37" fill="hold">
                            <p:stCondLst>
                              <p:cond delay="900"/>
                            </p:stCondLst>
                            <p:childTnLst>
                              <p:par>
                                <p:cTn id="38" presetID="10" presetClass="entr" presetSubtype="0" fill="hold"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50"/>
                                        <p:tgtEl>
                                          <p:spTgt spid="18"/>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par>
                          <p:cTn id="47" fill="hold">
                            <p:stCondLst>
                              <p:cond delay="1200"/>
                            </p:stCondLst>
                            <p:childTnLst>
                              <p:par>
                                <p:cTn id="48" presetID="10" presetClass="entr" presetSubtype="0"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5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par>
                                <p:cTn id="57" presetID="10" presetClass="entr" presetSubtype="0" fill="hold"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50"/>
                                        <p:tgtEl>
                                          <p:spTgt spid="27"/>
                                        </p:tgtEl>
                                      </p:cBhvr>
                                    </p:animEffect>
                                  </p:childTnLst>
                                </p:cTn>
                              </p:par>
                            </p:childTnLst>
                          </p:cTn>
                        </p:par>
                        <p:par>
                          <p:cTn id="60" fill="hold">
                            <p:stCondLst>
                              <p:cond delay="1500"/>
                            </p:stCondLst>
                            <p:childTnLst>
                              <p:par>
                                <p:cTn id="61" presetID="10" presetClass="entr" presetSubtype="0" fill="hold" nodeType="after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450"/>
                                        <p:tgtEl>
                                          <p:spTgt spid="20"/>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childTnLst>
                          </p:cTn>
                        </p:par>
                        <p:par>
                          <p:cTn id="70" fill="hold">
                            <p:stCondLst>
                              <p:cond delay="1800"/>
                            </p:stCondLst>
                            <p:childTnLst>
                              <p:par>
                                <p:cTn id="71" presetID="10" presetClass="entr" presetSubtype="0" fill="hold" nodeType="after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50"/>
                                        <p:tgtEl>
                                          <p:spTgt spid="30"/>
                                        </p:tgtEl>
                                      </p:cBhvr>
                                    </p:animEffect>
                                  </p:childTnLst>
                                </p:cTn>
                              </p:par>
                            </p:childTnLst>
                          </p:cTn>
                        </p:par>
                        <p:par>
                          <p:cTn id="80" fill="hold">
                            <p:stCondLst>
                              <p:cond delay="2100"/>
                            </p:stCondLst>
                            <p:childTnLst>
                              <p:par>
                                <p:cTn id="81" presetID="10" presetClass="entr" presetSubtype="0" fill="hold" nodeType="after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450"/>
                                        <p:tgtEl>
                                          <p:spTgt spid="31"/>
                                        </p:tgtEl>
                                      </p:cBhvr>
                                    </p:animEffect>
                                  </p:childTnLst>
                                </p:cTn>
                              </p:par>
                              <p:par>
                                <p:cTn id="84" presetID="10" presetClass="entr" presetSubtype="0" fill="hold"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50"/>
                                        <p:tgtEl>
                                          <p:spTgt spid="32"/>
                                        </p:tgtEl>
                                      </p:cBhvr>
                                    </p:animEffect>
                                  </p:childTnLst>
                                </p:cTn>
                              </p:par>
                              <p:par>
                                <p:cTn id="87" presetID="10" presetClass="entr" presetSubtype="0" fill="hold"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50"/>
                                        <p:tgtEl>
                                          <p:spTgt spid="33"/>
                                        </p:tgtEl>
                                      </p:cBhvr>
                                    </p:animEffect>
                                  </p:childTnLst>
                                </p:cTn>
                              </p:par>
                              <p:par>
                                <p:cTn id="90" presetID="10" presetClass="entr" presetSubtype="0" fill="hold"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450"/>
                                        <p:tgtEl>
                                          <p:spTgt spid="34"/>
                                        </p:tgtEl>
                                      </p:cBhvr>
                                    </p:animEffect>
                                  </p:childTnLst>
                                </p:cTn>
                              </p:par>
                              <p:par>
                                <p:cTn id="93" presetID="10" presetClass="entr" presetSubtype="0" fill="hold"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50"/>
                                        <p:tgtEl>
                                          <p:spTgt spid="35"/>
                                        </p:tgtEl>
                                      </p:cBhvr>
                                    </p:animEffect>
                                  </p:childTnLst>
                                </p:cTn>
                              </p:par>
                            </p:childTnLst>
                          </p:cTn>
                        </p:par>
                        <p:par>
                          <p:cTn id="96" fill="hold">
                            <p:stCondLst>
                              <p:cond delay="2400"/>
                            </p:stCondLst>
                            <p:childTnLst>
                              <p:par>
                                <p:cTn id="97" presetID="10" presetClass="entr" presetSubtype="0" fill="hold" nodeType="after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50"/>
                                        <p:tgtEl>
                                          <p:spTgt spid="36"/>
                                        </p:tgtEl>
                                      </p:cBhvr>
                                    </p:animEffect>
                                  </p:childTnLst>
                                </p:cTn>
                              </p:par>
                              <p:par>
                                <p:cTn id="100" presetID="10" presetClass="entr" presetSubtype="0" fill="hold"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50"/>
                                        <p:tgtEl>
                                          <p:spTgt spid="37"/>
                                        </p:tgtEl>
                                      </p:cBhvr>
                                    </p:animEffect>
                                  </p:childTnLst>
                                </p:cTn>
                              </p:par>
                              <p:par>
                                <p:cTn id="103" presetID="10" presetClass="entr" presetSubtype="0" fill="hold"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50"/>
                                        <p:tgtEl>
                                          <p:spTgt spid="38"/>
                                        </p:tgtEl>
                                      </p:cBhvr>
                                    </p:animEffect>
                                  </p:childTnLst>
                                </p:cTn>
                              </p:par>
                              <p:par>
                                <p:cTn id="106" presetID="10" presetClass="entr" presetSubtype="0" fill="hold"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50"/>
                                        <p:tgtEl>
                                          <p:spTgt spid="39"/>
                                        </p:tgtEl>
                                      </p:cBhvr>
                                    </p:animEffect>
                                  </p:childTnLst>
                                </p:cTn>
                              </p:par>
                              <p:par>
                                <p:cTn id="109" presetID="10" presetClass="entr" presetSubtype="0" fill="hold"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50"/>
                                        <p:tgtEl>
                                          <p:spTgt spid="40"/>
                                        </p:tgtEl>
                                      </p:cBhvr>
                                    </p:animEffect>
                                  </p:childTnLst>
                                </p:cTn>
                              </p:par>
                            </p:childTnLst>
                          </p:cTn>
                        </p:par>
                        <p:par>
                          <p:cTn id="112" fill="hold">
                            <p:stCondLst>
                              <p:cond delay="2700"/>
                            </p:stCondLst>
                            <p:childTnLst>
                              <p:par>
                                <p:cTn id="113" presetID="10" presetClass="entr" presetSubtype="0" fill="hold" nodeType="after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50"/>
                                        <p:tgtEl>
                                          <p:spTgt spid="41"/>
                                        </p:tgtEl>
                                      </p:cBhvr>
                                    </p:animEffect>
                                  </p:childTnLst>
                                </p:cTn>
                              </p:par>
                              <p:par>
                                <p:cTn id="116" presetID="10" presetClass="entr" presetSubtype="0" fill="hold"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50"/>
                                        <p:tgtEl>
                                          <p:spTgt spid="42"/>
                                        </p:tgtEl>
                                      </p:cBhvr>
                                    </p:animEffect>
                                  </p:childTnLst>
                                </p:cTn>
                              </p:par>
                              <p:par>
                                <p:cTn id="119" presetID="10" presetClass="entr" presetSubtype="0" fill="hold"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50"/>
                                        <p:tgtEl>
                                          <p:spTgt spid="43"/>
                                        </p:tgtEl>
                                      </p:cBhvr>
                                    </p:animEffect>
                                  </p:childTnLst>
                                </p:cTn>
                              </p:par>
                              <p:par>
                                <p:cTn id="122" presetID="10" presetClass="entr" presetSubtype="0" fill="hold"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50"/>
                                        <p:tgtEl>
                                          <p:spTgt spid="44"/>
                                        </p:tgtEl>
                                      </p:cBhvr>
                                    </p:animEffect>
                                  </p:childTnLst>
                                </p:cTn>
                              </p:par>
                              <p:par>
                                <p:cTn id="125" presetID="10" presetClass="entr" presetSubtype="0" fill="hold" nodeType="with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4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تعریف مفهومی و عملیاتی متغیرها</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۷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Shape 7"/>
          <p:cNvSpPr/>
          <p:nvPr/>
        </p:nvSpPr>
        <p:spPr>
          <a:xfrm>
            <a:off x="7086600" y="1188720"/>
            <a:ext cx="4617720" cy="457200"/>
          </a:xfrm>
          <a:prstGeom prst="roundRect">
            <a:avLst>
              <a:gd name="adj" fmla="val 24000"/>
            </a:avLst>
          </a:prstGeom>
          <a:solidFill>
            <a:srgbClr val="0F5257"/>
          </a:solidFill>
          <a:ln w="12700">
            <a:solidFill>
              <a:srgbClr val="0F5257"/>
            </a:solidFill>
            <a:prstDash val="solid"/>
          </a:ln>
        </p:spPr>
      </p:sp>
      <p:sp>
        <p:nvSpPr>
          <p:cNvPr id="11" name="Text 8"/>
          <p:cNvSpPr txBox="1"/>
          <p:nvPr/>
        </p:nvSpPr>
        <p:spPr>
          <a:xfrm>
            <a:off x="7086600" y="1188720"/>
            <a:ext cx="4617720" cy="457200"/>
          </a:xfrm>
          <a:prstGeom prst="rect">
            <a:avLst/>
          </a:prstGeom>
          <a:noFill/>
          <a:ln/>
        </p:spPr>
        <p:txBody>
          <a:bodyPr wrap="square" lIns="0" tIns="0" rIns="0" bIns="0" rtlCol="0" anchor="ctr"/>
          <a:lstStyle/>
          <a:p>
            <a:pPr marL="0" indent="0" algn="ctr" rtl="1">
              <a:buNone/>
            </a:pPr>
            <a:r>
              <a:rPr lang="fa-IR" altLang="en-US" sz="1500" b="1" dirty="0">
                <a:solidFill>
                  <a:srgbClr val="FFFFFF"/>
                </a:solidFill>
                <a:latin typeface="Tahoma" pitchFamily="34" charset="0"/>
                <a:ea typeface="Tahoma" pitchFamily="34" charset="-122"/>
                <a:cs typeface="Tahoma" pitchFamily="34" charset="-120"/>
              </a:rPr>
              <a:t>تعریف مفهومی</a:t>
            </a:r>
            <a:endParaRPr lang="fa-IR" sz="1500" dirty="0"/>
          </a:p>
        </p:txBody>
      </p:sp>
      <p:sp>
        <p:nvSpPr>
          <p:cNvPr id="12" name="Shape 9"/>
          <p:cNvSpPr/>
          <p:nvPr/>
        </p:nvSpPr>
        <p:spPr>
          <a:xfrm>
            <a:off x="457200" y="1188720"/>
            <a:ext cx="4526280" cy="457200"/>
          </a:xfrm>
          <a:prstGeom prst="roundRect">
            <a:avLst>
              <a:gd name="adj" fmla="val 24000"/>
            </a:avLst>
          </a:prstGeom>
          <a:solidFill>
            <a:srgbClr val="2A9D8F"/>
          </a:solidFill>
          <a:ln w="12700">
            <a:solidFill>
              <a:srgbClr val="2A9D8F"/>
            </a:solidFill>
            <a:prstDash val="solid"/>
          </a:ln>
        </p:spPr>
      </p:sp>
      <p:sp>
        <p:nvSpPr>
          <p:cNvPr id="13" name="Text 10"/>
          <p:cNvSpPr txBox="1"/>
          <p:nvPr/>
        </p:nvSpPr>
        <p:spPr>
          <a:xfrm>
            <a:off x="457200" y="1188720"/>
            <a:ext cx="4526280" cy="457200"/>
          </a:xfrm>
          <a:prstGeom prst="rect">
            <a:avLst/>
          </a:prstGeom>
          <a:noFill/>
          <a:ln/>
        </p:spPr>
        <p:txBody>
          <a:bodyPr wrap="square" lIns="0" tIns="0" rIns="0" bIns="0" rtlCol="0" anchor="ctr"/>
          <a:lstStyle/>
          <a:p>
            <a:pPr marL="0" indent="0" algn="ctr" rtl="1">
              <a:buNone/>
            </a:pPr>
            <a:r>
              <a:rPr lang="fa-IR" altLang="en-US" sz="1500" b="1" dirty="0">
                <a:solidFill>
                  <a:srgbClr val="FFFFFF"/>
                </a:solidFill>
                <a:latin typeface="Tahoma" pitchFamily="34" charset="0"/>
                <a:ea typeface="Tahoma" pitchFamily="34" charset="-122"/>
                <a:cs typeface="Tahoma" pitchFamily="34" charset="-120"/>
              </a:rPr>
              <a:t>تعریف عملیاتی</a:t>
            </a:r>
            <a:endParaRPr lang="fa-IR" sz="1500" dirty="0"/>
          </a:p>
        </p:txBody>
      </p:sp>
      <p:sp>
        <p:nvSpPr>
          <p:cNvPr id="14" name="Text 11"/>
          <p:cNvSpPr txBox="1"/>
          <p:nvPr/>
        </p:nvSpPr>
        <p:spPr>
          <a:xfrm>
            <a:off x="5120640" y="1188720"/>
            <a:ext cx="1828800" cy="457200"/>
          </a:xfrm>
          <a:prstGeom prst="rect">
            <a:avLst/>
          </a:prstGeom>
          <a:noFill/>
          <a:ln/>
        </p:spPr>
        <p:txBody>
          <a:bodyPr wrap="square" lIns="0" tIns="0" rIns="0" bIns="0" rtlCol="0" anchor="ctr"/>
          <a:lstStyle/>
          <a:p>
            <a:pPr marL="0" indent="0" algn="ctr" rtl="1">
              <a:buNone/>
            </a:pPr>
            <a:r>
              <a:rPr lang="fa-IR" altLang="en-US" sz="1300" b="1" dirty="0">
                <a:solidFill>
                  <a:srgbClr val="6B7B83"/>
                </a:solidFill>
                <a:latin typeface="Tahoma" pitchFamily="34" charset="0"/>
                <a:ea typeface="Tahoma" pitchFamily="34" charset="-122"/>
                <a:cs typeface="Tahoma" pitchFamily="34" charset="-120"/>
              </a:rPr>
              <a:t>متغیر</a:t>
            </a:r>
            <a:endParaRPr lang="fa-IR" sz="1300" dirty="0"/>
          </a:p>
        </p:txBody>
      </p:sp>
      <p:sp>
        <p:nvSpPr>
          <p:cNvPr id="15" name="A01_z_128b"/>
          <p:cNvSpPr/>
          <p:nvPr/>
        </p:nvSpPr>
        <p:spPr>
          <a:xfrm>
            <a:off x="5120640" y="1783080"/>
            <a:ext cx="1828800" cy="1417320"/>
          </a:xfrm>
          <a:prstGeom prst="roundRect">
            <a:avLst>
              <a:gd name="adj" fmla="val 7742"/>
            </a:avLst>
          </a:prstGeom>
          <a:solidFill>
            <a:srgbClr val="D9674A"/>
          </a:solidFill>
          <a:ln w="12700">
            <a:solidFill>
              <a:srgbClr val="D9674A"/>
            </a:solidFill>
            <a:prstDash val="solid"/>
          </a:ln>
        </p:spPr>
      </p:sp>
      <p:pic>
        <p:nvPicPr>
          <p:cNvPr id="16" name="A01_z_129i" descr="preencoded.png"/>
          <p:cNvPicPr>
            <a:picLocks noChangeAspect="1"/>
          </p:cNvPicPr>
          <p:nvPr/>
        </p:nvPicPr>
        <p:blipFill>
          <a:blip r:embed="rId4"/>
          <a:stretch>
            <a:fillRect/>
          </a:stretch>
        </p:blipFill>
        <p:spPr>
          <a:xfrm>
            <a:off x="5833872" y="1901952"/>
            <a:ext cx="402336" cy="402336"/>
          </a:xfrm>
          <a:prstGeom prst="rect">
            <a:avLst/>
          </a:prstGeom>
        </p:spPr>
      </p:pic>
      <p:sp>
        <p:nvSpPr>
          <p:cNvPr id="17" name="A01_z_130"/>
          <p:cNvSpPr txBox="1"/>
          <p:nvPr/>
        </p:nvSpPr>
        <p:spPr>
          <a:xfrm>
            <a:off x="5166360" y="2331720"/>
            <a:ext cx="1737360" cy="457200"/>
          </a:xfrm>
          <a:prstGeom prst="rect">
            <a:avLst/>
          </a:prstGeom>
          <a:noFill/>
          <a:ln/>
        </p:spPr>
        <p:txBody>
          <a:bodyPr wrap="square" lIns="0" tIns="0" rIns="0" bIns="0" rtlCol="0" anchor="ct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آسیب‌های دوران کودکی</a:t>
            </a:r>
            <a:endParaRPr lang="fa-IR" sz="1300" dirty="0"/>
          </a:p>
        </p:txBody>
      </p:sp>
      <p:sp>
        <p:nvSpPr>
          <p:cNvPr id="18" name="A01_z_131"/>
          <p:cNvSpPr txBox="1"/>
          <p:nvPr/>
        </p:nvSpPr>
        <p:spPr>
          <a:xfrm>
            <a:off x="5166360" y="2770632"/>
            <a:ext cx="1737360" cy="320040"/>
          </a:xfrm>
          <a:prstGeom prst="rect">
            <a:avLst/>
          </a:prstGeom>
          <a:noFill/>
          <a:ln/>
        </p:spPr>
        <p:txBody>
          <a:bodyPr wrap="square" lIns="0" tIns="0" rIns="0" bIns="0" rtlCol="0" anchor="ctr"/>
          <a:lstStyle/>
          <a:p>
            <a:pPr marL="0" indent="0" algn="ctr" rtl="1">
              <a:buNone/>
            </a:pPr>
            <a:r>
              <a:rPr lang="fa-IR" altLang="en-US" sz="1050" dirty="0">
                <a:solidFill>
                  <a:srgbClr val="FFFFFF"/>
                </a:solidFill>
                <a:latin typeface="Tahoma" pitchFamily="34" charset="0"/>
                <a:ea typeface="Tahoma" pitchFamily="34" charset="-122"/>
                <a:cs typeface="Tahoma" pitchFamily="34" charset="-120"/>
              </a:rPr>
              <a:t>متغیر مستقل (پیش‌بین)</a:t>
            </a:r>
            <a:endParaRPr lang="fa-IR" sz="1050" dirty="0"/>
          </a:p>
        </p:txBody>
      </p:sp>
      <p:sp>
        <p:nvSpPr>
          <p:cNvPr id="19" name="A02_wl_132b"/>
          <p:cNvSpPr/>
          <p:nvPr/>
        </p:nvSpPr>
        <p:spPr>
          <a:xfrm>
            <a:off x="7086600" y="1783080"/>
            <a:ext cx="4617720" cy="1417320"/>
          </a:xfrm>
          <a:prstGeom prst="roundRect">
            <a:avLst>
              <a:gd name="adj" fmla="val 7742"/>
            </a:avLst>
          </a:prstGeom>
          <a:solidFill>
            <a:srgbClr val="FBECE7"/>
          </a:solidFill>
          <a:ln w="12700">
            <a:solidFill>
              <a:srgbClr val="FBECE7"/>
            </a:solidFill>
            <a:prstDash val="solid"/>
          </a:ln>
        </p:spPr>
      </p:sp>
      <p:sp>
        <p:nvSpPr>
          <p:cNvPr id="20" name="A02_wl_133"/>
          <p:cNvSpPr txBox="1"/>
          <p:nvPr/>
        </p:nvSpPr>
        <p:spPr>
          <a:xfrm>
            <a:off x="7223760" y="1856232"/>
            <a:ext cx="4343400" cy="1271016"/>
          </a:xfrm>
          <a:prstGeom prst="rect">
            <a:avLst/>
          </a:prstGeom>
          <a:noFill/>
          <a:ln/>
        </p:spPr>
        <p:txBody>
          <a:bodyPr wrap="square" lIns="0" tIns="0" rIns="0" bIns="0" rtlCol="0" anchor="ctr"/>
          <a:lstStyle/>
          <a:p>
            <a:pPr marL="0" indent="0" algn="r" rtl="1">
              <a:lnSpc>
                <a:spcPct val="105000"/>
              </a:lnSpc>
              <a:buNone/>
            </a:pPr>
            <a:r>
              <a:rPr lang="fa-IR" altLang="en-US" sz="1200" dirty="0">
                <a:solidFill>
                  <a:srgbClr val="263238"/>
                </a:solidFill>
                <a:latin typeface="Tahoma" pitchFamily="34" charset="0"/>
                <a:ea typeface="Tahoma" pitchFamily="34" charset="-122"/>
                <a:cs typeface="Tahoma" pitchFamily="34" charset="-120"/>
              </a:rPr>
              <a:t>رویدادها و تجربه‌هایی از تولد تا نوجوانی (معمولاً تا ۱۸ سالگی) که سلامت جسمی، روانی یا اجتماعی کودک را تهدید می‌کنند؛ شامل سوءاستفاده جسمی، عاطفی و جنسی، غفلت، مشاهده خشونت خانوادگی و بی‌ثباتی خانواده (بولیر و بلیر، ۲۰۱۸)</a:t>
            </a:r>
            <a:endParaRPr lang="fa-IR" sz="1200" dirty="0"/>
          </a:p>
        </p:txBody>
      </p:sp>
      <p:sp>
        <p:nvSpPr>
          <p:cNvPr id="21" name="A03_wr_134b"/>
          <p:cNvSpPr/>
          <p:nvPr/>
        </p:nvSpPr>
        <p:spPr>
          <a:xfrm>
            <a:off x="457200" y="1783080"/>
            <a:ext cx="4526280" cy="1417320"/>
          </a:xfrm>
          <a:prstGeom prst="roundRect">
            <a:avLst>
              <a:gd name="adj" fmla="val 7742"/>
            </a:avLst>
          </a:prstGeom>
          <a:solidFill>
            <a:srgbClr val="F4F6F7"/>
          </a:solidFill>
          <a:ln w="12700">
            <a:solidFill>
              <a:srgbClr val="F4F6F7"/>
            </a:solidFill>
            <a:prstDash val="solid"/>
          </a:ln>
        </p:spPr>
      </p:sp>
      <p:sp>
        <p:nvSpPr>
          <p:cNvPr id="22" name="A03_wr_135"/>
          <p:cNvSpPr txBox="1"/>
          <p:nvPr/>
        </p:nvSpPr>
        <p:spPr>
          <a:xfrm>
            <a:off x="548640" y="1920240"/>
            <a:ext cx="914400" cy="1143000"/>
          </a:xfrm>
          <a:prstGeom prst="rect">
            <a:avLst/>
          </a:prstGeom>
          <a:noFill/>
          <a:ln/>
        </p:spPr>
        <p:txBody>
          <a:bodyPr wrap="square" lIns="0" tIns="0" rIns="0" bIns="0" rtlCol="0" anchor="ctr"/>
          <a:lstStyle/>
          <a:p>
            <a:pPr marL="0" indent="0" algn="ctr" rtl="1">
              <a:buNone/>
            </a:pPr>
            <a:r>
              <a:rPr lang="fa-IR" altLang="en-US" sz="3000" b="1" dirty="0">
                <a:solidFill>
                  <a:srgbClr val="D9674A"/>
                </a:solidFill>
                <a:latin typeface="Tahoma" pitchFamily="34" charset="0"/>
                <a:ea typeface="Tahoma" pitchFamily="34" charset="-122"/>
                <a:cs typeface="Tahoma" pitchFamily="34" charset="-120"/>
              </a:rPr>
              <a:t>۱۰</a:t>
            </a:r>
            <a:endParaRPr lang="fa-IR" sz="1400" dirty="0"/>
          </a:p>
          <a:p>
            <a:pPr marL="0" indent="0" algn="ctr" rtl="1">
              <a:buNone/>
            </a:pPr>
            <a:r>
              <a:rPr lang="fa-IR" altLang="en-US" sz="1100" dirty="0">
                <a:solidFill>
                  <a:srgbClr val="6B7B83"/>
                </a:solidFill>
                <a:latin typeface="Tahoma" pitchFamily="34" charset="0"/>
                <a:ea typeface="Tahoma" pitchFamily="34" charset="-122"/>
                <a:cs typeface="Tahoma" pitchFamily="34" charset="-120"/>
              </a:rPr>
              <a:t>سؤال</a:t>
            </a:r>
            <a:endParaRPr lang="fa-IR" sz="1400" dirty="0"/>
          </a:p>
        </p:txBody>
      </p:sp>
      <p:sp>
        <p:nvSpPr>
          <p:cNvPr id="23" name="A03_wr_136"/>
          <p:cNvSpPr txBox="1"/>
          <p:nvPr/>
        </p:nvSpPr>
        <p:spPr>
          <a:xfrm>
            <a:off x="1600200" y="1874520"/>
            <a:ext cx="3246120" cy="1234440"/>
          </a:xfrm>
          <a:prstGeom prst="rect">
            <a:avLst/>
          </a:prstGeom>
          <a:noFill/>
          <a:ln/>
        </p:spPr>
        <p:txBody>
          <a:bodyPr wrap="square" lIns="0" tIns="0" rIns="0" bIns="0" rtlCol="0" anchor="ctr"/>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نمره آزمودنی در پرسش‌نامه استاندارد آسیب‌های دوران کودکی فلیتی (ACE، ۱۹۹۸)</a:t>
            </a:r>
            <a:endParaRPr lang="fa-IR" sz="1300" dirty="0"/>
          </a:p>
        </p:txBody>
      </p:sp>
      <p:sp>
        <p:nvSpPr>
          <p:cNvPr id="24" name="A04_z_137b"/>
          <p:cNvSpPr/>
          <p:nvPr/>
        </p:nvSpPr>
        <p:spPr>
          <a:xfrm>
            <a:off x="5120640" y="3319272"/>
            <a:ext cx="1828800" cy="1417320"/>
          </a:xfrm>
          <a:prstGeom prst="roundRect">
            <a:avLst>
              <a:gd name="adj" fmla="val 7742"/>
            </a:avLst>
          </a:prstGeom>
          <a:solidFill>
            <a:srgbClr val="6D597A"/>
          </a:solidFill>
          <a:ln w="12700">
            <a:solidFill>
              <a:srgbClr val="6D597A"/>
            </a:solidFill>
            <a:prstDash val="solid"/>
          </a:ln>
        </p:spPr>
      </p:sp>
      <p:pic>
        <p:nvPicPr>
          <p:cNvPr id="25" name="A04_z_138i" descr="preencoded.png"/>
          <p:cNvPicPr>
            <a:picLocks noChangeAspect="1"/>
          </p:cNvPicPr>
          <p:nvPr/>
        </p:nvPicPr>
        <p:blipFill>
          <a:blip r:embed="rId5"/>
          <a:stretch>
            <a:fillRect/>
          </a:stretch>
        </p:blipFill>
        <p:spPr>
          <a:xfrm>
            <a:off x="5833872" y="3438144"/>
            <a:ext cx="402336" cy="402336"/>
          </a:xfrm>
          <a:prstGeom prst="rect">
            <a:avLst/>
          </a:prstGeom>
        </p:spPr>
      </p:pic>
      <p:sp>
        <p:nvSpPr>
          <p:cNvPr id="26" name="A04_z_139"/>
          <p:cNvSpPr txBox="1"/>
          <p:nvPr/>
        </p:nvSpPr>
        <p:spPr>
          <a:xfrm>
            <a:off x="5166360" y="3867912"/>
            <a:ext cx="1737360" cy="457200"/>
          </a:xfrm>
          <a:prstGeom prst="rect">
            <a:avLst/>
          </a:prstGeom>
          <a:noFill/>
          <a:ln/>
        </p:spPr>
        <p:txBody>
          <a:bodyPr wrap="square" lIns="0" tIns="0" rIns="0" bIns="0" rtlCol="0" anchor="ct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سبک‌های هویتی</a:t>
            </a:r>
            <a:endParaRPr lang="fa-IR" sz="1300" dirty="0"/>
          </a:p>
        </p:txBody>
      </p:sp>
      <p:sp>
        <p:nvSpPr>
          <p:cNvPr id="27" name="A04_z_140"/>
          <p:cNvSpPr txBox="1"/>
          <p:nvPr/>
        </p:nvSpPr>
        <p:spPr>
          <a:xfrm>
            <a:off x="5166360" y="4306824"/>
            <a:ext cx="1737360" cy="320040"/>
          </a:xfrm>
          <a:prstGeom prst="rect">
            <a:avLst/>
          </a:prstGeom>
          <a:noFill/>
          <a:ln/>
        </p:spPr>
        <p:txBody>
          <a:bodyPr wrap="square" lIns="0" tIns="0" rIns="0" bIns="0" rtlCol="0" anchor="ctr"/>
          <a:lstStyle/>
          <a:p>
            <a:pPr marL="0" indent="0" algn="ctr" rtl="1">
              <a:buNone/>
            </a:pPr>
            <a:r>
              <a:rPr lang="fa-IR" altLang="en-US" sz="1050" dirty="0">
                <a:solidFill>
                  <a:srgbClr val="FFFFFF"/>
                </a:solidFill>
                <a:latin typeface="Tahoma" pitchFamily="34" charset="0"/>
                <a:ea typeface="Tahoma" pitchFamily="34" charset="-122"/>
                <a:cs typeface="Tahoma" pitchFamily="34" charset="-120"/>
              </a:rPr>
              <a:t>متغیر وابسته (ملاک)</a:t>
            </a:r>
            <a:endParaRPr lang="fa-IR" sz="1050" dirty="0"/>
          </a:p>
        </p:txBody>
      </p:sp>
      <p:sp>
        <p:nvSpPr>
          <p:cNvPr id="28" name="A05_wl_141b"/>
          <p:cNvSpPr/>
          <p:nvPr/>
        </p:nvSpPr>
        <p:spPr>
          <a:xfrm>
            <a:off x="7086600" y="3319272"/>
            <a:ext cx="4617720" cy="1417320"/>
          </a:xfrm>
          <a:prstGeom prst="roundRect">
            <a:avLst>
              <a:gd name="adj" fmla="val 7742"/>
            </a:avLst>
          </a:prstGeom>
          <a:solidFill>
            <a:srgbClr val="EFEAF3"/>
          </a:solidFill>
          <a:ln w="12700">
            <a:solidFill>
              <a:srgbClr val="EFEAF3"/>
            </a:solidFill>
            <a:prstDash val="solid"/>
          </a:ln>
        </p:spPr>
      </p:sp>
      <p:sp>
        <p:nvSpPr>
          <p:cNvPr id="29" name="A05_wl_142"/>
          <p:cNvSpPr txBox="1"/>
          <p:nvPr/>
        </p:nvSpPr>
        <p:spPr>
          <a:xfrm>
            <a:off x="7223760" y="3392424"/>
            <a:ext cx="4343400" cy="1271016"/>
          </a:xfrm>
          <a:prstGeom prst="rect">
            <a:avLst/>
          </a:prstGeom>
          <a:noFill/>
          <a:ln/>
        </p:spPr>
        <p:txBody>
          <a:bodyPr wrap="square" lIns="0" tIns="0" rIns="0" bIns="0" rtlCol="0" anchor="ctr"/>
          <a:lstStyle/>
          <a:p>
            <a:pPr marL="0" indent="0" algn="r" rtl="1">
              <a:lnSpc>
                <a:spcPct val="105000"/>
              </a:lnSpc>
              <a:buNone/>
            </a:pPr>
            <a:r>
              <a:rPr lang="fa-IR" altLang="en-US" sz="1200" dirty="0">
                <a:solidFill>
                  <a:srgbClr val="263238"/>
                </a:solidFill>
                <a:latin typeface="Tahoma" pitchFamily="34" charset="0"/>
                <a:ea typeface="Tahoma" pitchFamily="34" charset="-122"/>
                <a:cs typeface="Tahoma" pitchFamily="34" charset="-120"/>
              </a:rPr>
              <a:t>تمایزهای نسبتاً پایدار در راهبردهای اجتماعی‌ـ‌شناختی برای پردازش، ارزیابی و مدیریت اطلاعات مرتبط با خود؛ نشان می‌دهد فرد چگونه با مسائل هویتی و تعارضات شخصی مواجه می‌شود (برزونسکی و نیمیر، ۱۹۸۸)</a:t>
            </a:r>
            <a:endParaRPr lang="fa-IR" sz="1200" dirty="0"/>
          </a:p>
        </p:txBody>
      </p:sp>
      <p:sp>
        <p:nvSpPr>
          <p:cNvPr id="30" name="A06_wr_143b"/>
          <p:cNvSpPr/>
          <p:nvPr/>
        </p:nvSpPr>
        <p:spPr>
          <a:xfrm>
            <a:off x="457200" y="3319272"/>
            <a:ext cx="4526280" cy="1417320"/>
          </a:xfrm>
          <a:prstGeom prst="roundRect">
            <a:avLst>
              <a:gd name="adj" fmla="val 7742"/>
            </a:avLst>
          </a:prstGeom>
          <a:solidFill>
            <a:srgbClr val="F4F6F7"/>
          </a:solidFill>
          <a:ln w="12700">
            <a:solidFill>
              <a:srgbClr val="F4F6F7"/>
            </a:solidFill>
            <a:prstDash val="solid"/>
          </a:ln>
        </p:spPr>
      </p:sp>
      <p:sp>
        <p:nvSpPr>
          <p:cNvPr id="31" name="A06_wr_144"/>
          <p:cNvSpPr txBox="1"/>
          <p:nvPr/>
        </p:nvSpPr>
        <p:spPr>
          <a:xfrm>
            <a:off x="548640" y="3456432"/>
            <a:ext cx="914400" cy="1143000"/>
          </a:xfrm>
          <a:prstGeom prst="rect">
            <a:avLst/>
          </a:prstGeom>
          <a:noFill/>
          <a:ln/>
        </p:spPr>
        <p:txBody>
          <a:bodyPr wrap="square" lIns="0" tIns="0" rIns="0" bIns="0" rtlCol="0" anchor="ctr"/>
          <a:lstStyle/>
          <a:p>
            <a:pPr marL="0" indent="0" algn="ctr" rtl="1">
              <a:buNone/>
            </a:pPr>
            <a:r>
              <a:rPr lang="fa-IR" altLang="en-US" sz="3000" b="1" dirty="0">
                <a:solidFill>
                  <a:srgbClr val="6D597A"/>
                </a:solidFill>
                <a:latin typeface="Tahoma" pitchFamily="34" charset="0"/>
                <a:ea typeface="Tahoma" pitchFamily="34" charset="-122"/>
                <a:cs typeface="Tahoma" pitchFamily="34" charset="-120"/>
              </a:rPr>
              <a:t>۴۰</a:t>
            </a:r>
            <a:endParaRPr lang="fa-IR" sz="1400" dirty="0"/>
          </a:p>
          <a:p>
            <a:pPr marL="0" indent="0" algn="ctr" rtl="1">
              <a:buNone/>
            </a:pPr>
            <a:r>
              <a:rPr lang="fa-IR" altLang="en-US" sz="1100" dirty="0">
                <a:solidFill>
                  <a:srgbClr val="6B7B83"/>
                </a:solidFill>
                <a:latin typeface="Tahoma" pitchFamily="34" charset="0"/>
                <a:ea typeface="Tahoma" pitchFamily="34" charset="-122"/>
                <a:cs typeface="Tahoma" pitchFamily="34" charset="-120"/>
              </a:rPr>
              <a:t>سؤال</a:t>
            </a:r>
            <a:endParaRPr lang="fa-IR" sz="1400" dirty="0"/>
          </a:p>
        </p:txBody>
      </p:sp>
      <p:sp>
        <p:nvSpPr>
          <p:cNvPr id="32" name="A06_wr_145"/>
          <p:cNvSpPr txBox="1"/>
          <p:nvPr/>
        </p:nvSpPr>
        <p:spPr>
          <a:xfrm>
            <a:off x="1600200" y="3410712"/>
            <a:ext cx="3246120" cy="1234440"/>
          </a:xfrm>
          <a:prstGeom prst="rect">
            <a:avLst/>
          </a:prstGeom>
          <a:noFill/>
          <a:ln/>
        </p:spPr>
        <p:txBody>
          <a:bodyPr wrap="square" lIns="0" tIns="0" rIns="0" bIns="0" rtlCol="0" anchor="ctr"/>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نمره آزمودنی در پرسش‌نامه سبک‌های هویتی برزونسکی (ISI-6G، ۱۹۸۸)</a:t>
            </a:r>
            <a:endParaRPr lang="fa-IR" sz="1300" dirty="0"/>
          </a:p>
        </p:txBody>
      </p:sp>
      <p:sp>
        <p:nvSpPr>
          <p:cNvPr id="33" name="A07_z_146b"/>
          <p:cNvSpPr/>
          <p:nvPr/>
        </p:nvSpPr>
        <p:spPr>
          <a:xfrm>
            <a:off x="5120640" y="4855464"/>
            <a:ext cx="1828800" cy="1417320"/>
          </a:xfrm>
          <a:prstGeom prst="roundRect">
            <a:avLst>
              <a:gd name="adj" fmla="val 7742"/>
            </a:avLst>
          </a:prstGeom>
          <a:solidFill>
            <a:srgbClr val="2A9D8F"/>
          </a:solidFill>
          <a:ln w="12700">
            <a:solidFill>
              <a:srgbClr val="2A9D8F"/>
            </a:solidFill>
            <a:prstDash val="solid"/>
          </a:ln>
        </p:spPr>
      </p:sp>
      <p:pic>
        <p:nvPicPr>
          <p:cNvPr id="34" name="A07_z_147i" descr="preencoded.png"/>
          <p:cNvPicPr>
            <a:picLocks noChangeAspect="1"/>
          </p:cNvPicPr>
          <p:nvPr/>
        </p:nvPicPr>
        <p:blipFill>
          <a:blip r:embed="rId6"/>
          <a:stretch>
            <a:fillRect/>
          </a:stretch>
        </p:blipFill>
        <p:spPr>
          <a:xfrm>
            <a:off x="5833872" y="4974336"/>
            <a:ext cx="402336" cy="402336"/>
          </a:xfrm>
          <a:prstGeom prst="rect">
            <a:avLst/>
          </a:prstGeom>
        </p:spPr>
      </p:pic>
      <p:sp>
        <p:nvSpPr>
          <p:cNvPr id="35" name="A07_z_148"/>
          <p:cNvSpPr txBox="1"/>
          <p:nvPr/>
        </p:nvSpPr>
        <p:spPr>
          <a:xfrm>
            <a:off x="5166360" y="5404104"/>
            <a:ext cx="1737360" cy="457200"/>
          </a:xfrm>
          <a:prstGeom prst="rect">
            <a:avLst/>
          </a:prstGeom>
          <a:noFill/>
          <a:ln/>
        </p:spPr>
        <p:txBody>
          <a:bodyPr wrap="square" lIns="0" tIns="0" rIns="0" bIns="0" rtlCol="0" anchor="ct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سبک‌های حل تعارض</a:t>
            </a:r>
            <a:endParaRPr lang="fa-IR" sz="1300" dirty="0"/>
          </a:p>
        </p:txBody>
      </p:sp>
      <p:sp>
        <p:nvSpPr>
          <p:cNvPr id="36" name="A07_z_149"/>
          <p:cNvSpPr txBox="1"/>
          <p:nvPr/>
        </p:nvSpPr>
        <p:spPr>
          <a:xfrm>
            <a:off x="5166360" y="5843016"/>
            <a:ext cx="1737360" cy="320040"/>
          </a:xfrm>
          <a:prstGeom prst="rect">
            <a:avLst/>
          </a:prstGeom>
          <a:noFill/>
          <a:ln/>
        </p:spPr>
        <p:txBody>
          <a:bodyPr wrap="square" lIns="0" tIns="0" rIns="0" bIns="0" rtlCol="0" anchor="ctr"/>
          <a:lstStyle/>
          <a:p>
            <a:pPr marL="0" indent="0" algn="ctr" rtl="1">
              <a:buNone/>
            </a:pPr>
            <a:r>
              <a:rPr lang="fa-IR" altLang="en-US" sz="1050" dirty="0">
                <a:solidFill>
                  <a:srgbClr val="FFFFFF"/>
                </a:solidFill>
                <a:latin typeface="Tahoma" pitchFamily="34" charset="0"/>
                <a:ea typeface="Tahoma" pitchFamily="34" charset="-122"/>
                <a:cs typeface="Tahoma" pitchFamily="34" charset="-120"/>
              </a:rPr>
              <a:t>متغیر میانجی</a:t>
            </a:r>
            <a:endParaRPr lang="fa-IR" sz="1050" dirty="0"/>
          </a:p>
        </p:txBody>
      </p:sp>
      <p:sp>
        <p:nvSpPr>
          <p:cNvPr id="37" name="A08_wl_150b"/>
          <p:cNvSpPr/>
          <p:nvPr/>
        </p:nvSpPr>
        <p:spPr>
          <a:xfrm>
            <a:off x="7086600" y="4855464"/>
            <a:ext cx="4617720" cy="1417320"/>
          </a:xfrm>
          <a:prstGeom prst="roundRect">
            <a:avLst>
              <a:gd name="adj" fmla="val 7742"/>
            </a:avLst>
          </a:prstGeom>
          <a:solidFill>
            <a:srgbClr val="E6F2F1"/>
          </a:solidFill>
          <a:ln w="12700">
            <a:solidFill>
              <a:srgbClr val="E6F2F1"/>
            </a:solidFill>
            <a:prstDash val="solid"/>
          </a:ln>
        </p:spPr>
      </p:sp>
      <p:sp>
        <p:nvSpPr>
          <p:cNvPr id="38" name="A08_wl_151"/>
          <p:cNvSpPr txBox="1"/>
          <p:nvPr/>
        </p:nvSpPr>
        <p:spPr>
          <a:xfrm>
            <a:off x="7223760" y="4928616"/>
            <a:ext cx="4343400" cy="1271016"/>
          </a:xfrm>
          <a:prstGeom prst="rect">
            <a:avLst/>
          </a:prstGeom>
          <a:noFill/>
          <a:ln/>
        </p:spPr>
        <p:txBody>
          <a:bodyPr wrap="square" lIns="0" tIns="0" rIns="0" bIns="0" rtlCol="0" anchor="ctr"/>
          <a:lstStyle/>
          <a:p>
            <a:pPr marL="0" indent="0" algn="r" rtl="1">
              <a:lnSpc>
                <a:spcPct val="105000"/>
              </a:lnSpc>
              <a:buNone/>
            </a:pPr>
            <a:r>
              <a:rPr lang="fa-IR" altLang="en-US" sz="1200" dirty="0">
                <a:solidFill>
                  <a:srgbClr val="263238"/>
                </a:solidFill>
                <a:latin typeface="Tahoma" pitchFamily="34" charset="0"/>
                <a:ea typeface="Tahoma" pitchFamily="34" charset="-122"/>
                <a:cs typeface="Tahoma" pitchFamily="34" charset="-120"/>
              </a:rPr>
              <a:t>راهکارها و الگوهای رفتاری متفاوت افراد در موقعیت‌های تعارض بین‌فردی برای مدیریت، کاهش یا برطرف کردن اختلافات؛ بازتاب سطح همکاری، رقابت و مشارکت فعال در حل مسئله (رامیرز و همکاران، ۲۰۲۴)</a:t>
            </a:r>
            <a:endParaRPr lang="fa-IR" sz="1200" dirty="0"/>
          </a:p>
        </p:txBody>
      </p:sp>
      <p:sp>
        <p:nvSpPr>
          <p:cNvPr id="39" name="A09_wr_152b"/>
          <p:cNvSpPr/>
          <p:nvPr/>
        </p:nvSpPr>
        <p:spPr>
          <a:xfrm>
            <a:off x="457200" y="4855464"/>
            <a:ext cx="4526280" cy="1417320"/>
          </a:xfrm>
          <a:prstGeom prst="roundRect">
            <a:avLst>
              <a:gd name="adj" fmla="val 7742"/>
            </a:avLst>
          </a:prstGeom>
          <a:solidFill>
            <a:srgbClr val="F4F6F7"/>
          </a:solidFill>
          <a:ln w="12700">
            <a:solidFill>
              <a:srgbClr val="F4F6F7"/>
            </a:solidFill>
            <a:prstDash val="solid"/>
          </a:ln>
        </p:spPr>
      </p:sp>
      <p:sp>
        <p:nvSpPr>
          <p:cNvPr id="40" name="A09_wr_153"/>
          <p:cNvSpPr txBox="1"/>
          <p:nvPr/>
        </p:nvSpPr>
        <p:spPr>
          <a:xfrm>
            <a:off x="548640" y="4992624"/>
            <a:ext cx="914400" cy="1143000"/>
          </a:xfrm>
          <a:prstGeom prst="rect">
            <a:avLst/>
          </a:prstGeom>
          <a:noFill/>
          <a:ln/>
        </p:spPr>
        <p:txBody>
          <a:bodyPr wrap="square" lIns="0" tIns="0" rIns="0" bIns="0" rtlCol="0" anchor="ctr"/>
          <a:lstStyle/>
          <a:p>
            <a:pPr marL="0" indent="0" algn="ctr" rtl="1">
              <a:buNone/>
            </a:pPr>
            <a:r>
              <a:rPr lang="fa-IR" altLang="en-US" sz="3000" b="1" dirty="0">
                <a:solidFill>
                  <a:srgbClr val="2A9D8F"/>
                </a:solidFill>
                <a:latin typeface="Tahoma" pitchFamily="34" charset="0"/>
                <a:ea typeface="Tahoma" pitchFamily="34" charset="-122"/>
                <a:cs typeface="Tahoma" pitchFamily="34" charset="-120"/>
              </a:rPr>
              <a:t>۴۰</a:t>
            </a:r>
            <a:endParaRPr lang="fa-IR" sz="1400" dirty="0"/>
          </a:p>
          <a:p>
            <a:pPr marL="0" indent="0" algn="ctr" rtl="1">
              <a:buNone/>
            </a:pPr>
            <a:r>
              <a:rPr lang="fa-IR" altLang="en-US" sz="1100" dirty="0">
                <a:solidFill>
                  <a:srgbClr val="6B7B83"/>
                </a:solidFill>
                <a:latin typeface="Tahoma" pitchFamily="34" charset="0"/>
                <a:ea typeface="Tahoma" pitchFamily="34" charset="-122"/>
                <a:cs typeface="Tahoma" pitchFamily="34" charset="-120"/>
              </a:rPr>
              <a:t>سؤال</a:t>
            </a:r>
            <a:endParaRPr lang="fa-IR" sz="1400" dirty="0"/>
          </a:p>
        </p:txBody>
      </p:sp>
      <p:sp>
        <p:nvSpPr>
          <p:cNvPr id="41" name="A09_wr_154"/>
          <p:cNvSpPr txBox="1"/>
          <p:nvPr/>
        </p:nvSpPr>
        <p:spPr>
          <a:xfrm>
            <a:off x="1600200" y="4946904"/>
            <a:ext cx="3246120" cy="1234440"/>
          </a:xfrm>
          <a:prstGeom prst="rect">
            <a:avLst/>
          </a:prstGeom>
          <a:noFill/>
          <a:ln/>
        </p:spPr>
        <p:txBody>
          <a:bodyPr wrap="square" lIns="0" tIns="0" rIns="0" bIns="0" rtlCol="0" anchor="ctr"/>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نمره آزمودنی در پرسش‌نامه حل تعارض ویکز (۱۹۹۴) و فیشر و اوری (۱۹۹۱)</a:t>
            </a:r>
            <a:endParaRPr lang="fa-IR" sz="13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450" fill="hold"/>
                                        <p:tgtEl>
                                          <p:spTgt spid="15"/>
                                        </p:tgtEl>
                                        <p:attrNameLst>
                                          <p:attrName>ppt_w</p:attrName>
                                        </p:attrNameLst>
                                      </p:cBhvr>
                                      <p:tavLst>
                                        <p:tav tm="0">
                                          <p:val>
                                            <p:fltVal val="0"/>
                                          </p:val>
                                        </p:tav>
                                        <p:tav tm="100000">
                                          <p:val>
                                            <p:strVal val="#ppt_w"/>
                                          </p:val>
                                        </p:tav>
                                      </p:tavLst>
                                    </p:anim>
                                    <p:anim calcmode="lin" valueType="num">
                                      <p:cBhvr>
                                        <p:cTn id="8" dur="450" fill="hold"/>
                                        <p:tgtEl>
                                          <p:spTgt spid="15"/>
                                        </p:tgtEl>
                                        <p:attrNameLst>
                                          <p:attrName>ppt_h</p:attrName>
                                        </p:attrNameLst>
                                      </p:cBhvr>
                                      <p:tavLst>
                                        <p:tav tm="0">
                                          <p:val>
                                            <p:fltVal val="0"/>
                                          </p:val>
                                        </p:tav>
                                        <p:tav tm="100000">
                                          <p:val>
                                            <p:strVal val="#ppt_h"/>
                                          </p:val>
                                        </p:tav>
                                      </p:tavLst>
                                    </p:anim>
                                    <p:animEffect transition="in" filter="fade">
                                      <p:cBhvr>
                                        <p:cTn id="9" dur="450"/>
                                        <p:tgtEl>
                                          <p:spTgt spid="15"/>
                                        </p:tgtEl>
                                      </p:cBhvr>
                                    </p:animEffect>
                                  </p:childTnLst>
                                </p:cTn>
                              </p:par>
                              <p:par>
                                <p:cTn id="10" presetID="53" presetClass="entr" presetSubtype="16"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450" fill="hold"/>
                                        <p:tgtEl>
                                          <p:spTgt spid="16"/>
                                        </p:tgtEl>
                                        <p:attrNameLst>
                                          <p:attrName>ppt_w</p:attrName>
                                        </p:attrNameLst>
                                      </p:cBhvr>
                                      <p:tavLst>
                                        <p:tav tm="0">
                                          <p:val>
                                            <p:fltVal val="0"/>
                                          </p:val>
                                        </p:tav>
                                        <p:tav tm="100000">
                                          <p:val>
                                            <p:strVal val="#ppt_w"/>
                                          </p:val>
                                        </p:tav>
                                      </p:tavLst>
                                    </p:anim>
                                    <p:anim calcmode="lin" valueType="num">
                                      <p:cBhvr>
                                        <p:cTn id="13" dur="450" fill="hold"/>
                                        <p:tgtEl>
                                          <p:spTgt spid="16"/>
                                        </p:tgtEl>
                                        <p:attrNameLst>
                                          <p:attrName>ppt_h</p:attrName>
                                        </p:attrNameLst>
                                      </p:cBhvr>
                                      <p:tavLst>
                                        <p:tav tm="0">
                                          <p:val>
                                            <p:fltVal val="0"/>
                                          </p:val>
                                        </p:tav>
                                        <p:tav tm="100000">
                                          <p:val>
                                            <p:strVal val="#ppt_h"/>
                                          </p:val>
                                        </p:tav>
                                      </p:tavLst>
                                    </p:anim>
                                    <p:animEffect transition="in" filter="fade">
                                      <p:cBhvr>
                                        <p:cTn id="14" dur="450"/>
                                        <p:tgtEl>
                                          <p:spTgt spid="16"/>
                                        </p:tgtEl>
                                      </p:cBhvr>
                                    </p:animEffect>
                                  </p:childTnLst>
                                </p:cTn>
                              </p:par>
                              <p:par>
                                <p:cTn id="15" presetID="53" presetClass="entr" presetSubtype="16"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450" fill="hold"/>
                                        <p:tgtEl>
                                          <p:spTgt spid="17"/>
                                        </p:tgtEl>
                                        <p:attrNameLst>
                                          <p:attrName>ppt_w</p:attrName>
                                        </p:attrNameLst>
                                      </p:cBhvr>
                                      <p:tavLst>
                                        <p:tav tm="0">
                                          <p:val>
                                            <p:fltVal val="0"/>
                                          </p:val>
                                        </p:tav>
                                        <p:tav tm="100000">
                                          <p:val>
                                            <p:strVal val="#ppt_w"/>
                                          </p:val>
                                        </p:tav>
                                      </p:tavLst>
                                    </p:anim>
                                    <p:anim calcmode="lin" valueType="num">
                                      <p:cBhvr>
                                        <p:cTn id="18" dur="450" fill="hold"/>
                                        <p:tgtEl>
                                          <p:spTgt spid="17"/>
                                        </p:tgtEl>
                                        <p:attrNameLst>
                                          <p:attrName>ppt_h</p:attrName>
                                        </p:attrNameLst>
                                      </p:cBhvr>
                                      <p:tavLst>
                                        <p:tav tm="0">
                                          <p:val>
                                            <p:fltVal val="0"/>
                                          </p:val>
                                        </p:tav>
                                        <p:tav tm="100000">
                                          <p:val>
                                            <p:strVal val="#ppt_h"/>
                                          </p:val>
                                        </p:tav>
                                      </p:tavLst>
                                    </p:anim>
                                    <p:animEffect transition="in" filter="fade">
                                      <p:cBhvr>
                                        <p:cTn id="19" dur="450"/>
                                        <p:tgtEl>
                                          <p:spTgt spid="17"/>
                                        </p:tgtEl>
                                      </p:cBhvr>
                                    </p:animEffect>
                                  </p:childTnLst>
                                </p:cTn>
                              </p:par>
                              <p:par>
                                <p:cTn id="20" presetID="53" presetClass="entr" presetSubtype="16"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p:cTn id="22" dur="450" fill="hold"/>
                                        <p:tgtEl>
                                          <p:spTgt spid="18"/>
                                        </p:tgtEl>
                                        <p:attrNameLst>
                                          <p:attrName>ppt_w</p:attrName>
                                        </p:attrNameLst>
                                      </p:cBhvr>
                                      <p:tavLst>
                                        <p:tav tm="0">
                                          <p:val>
                                            <p:fltVal val="0"/>
                                          </p:val>
                                        </p:tav>
                                        <p:tav tm="100000">
                                          <p:val>
                                            <p:strVal val="#ppt_w"/>
                                          </p:val>
                                        </p:tav>
                                      </p:tavLst>
                                    </p:anim>
                                    <p:anim calcmode="lin" valueType="num">
                                      <p:cBhvr>
                                        <p:cTn id="23" dur="450" fill="hold"/>
                                        <p:tgtEl>
                                          <p:spTgt spid="18"/>
                                        </p:tgtEl>
                                        <p:attrNameLst>
                                          <p:attrName>ppt_h</p:attrName>
                                        </p:attrNameLst>
                                      </p:cBhvr>
                                      <p:tavLst>
                                        <p:tav tm="0">
                                          <p:val>
                                            <p:fltVal val="0"/>
                                          </p:val>
                                        </p:tav>
                                        <p:tav tm="100000">
                                          <p:val>
                                            <p:strVal val="#ppt_h"/>
                                          </p:val>
                                        </p:tav>
                                      </p:tavLst>
                                    </p:anim>
                                    <p:animEffect transition="in" filter="fade">
                                      <p:cBhvr>
                                        <p:cTn id="24" dur="450"/>
                                        <p:tgtEl>
                                          <p:spTgt spid="18"/>
                                        </p:tgtEl>
                                      </p:cBhvr>
                                    </p:animEffect>
                                  </p:childTnLst>
                                </p:cTn>
                              </p:par>
                            </p:childTnLst>
                          </p:cTn>
                        </p:par>
                        <p:par>
                          <p:cTn id="25" fill="hold">
                            <p:stCondLst>
                              <p:cond delay="300"/>
                            </p:stCondLst>
                            <p:childTnLst>
                              <p:par>
                                <p:cTn id="26" presetID="22" presetClass="entr" presetSubtype="2"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right)">
                                      <p:cBhvr>
                                        <p:cTn id="28" dur="450"/>
                                        <p:tgtEl>
                                          <p:spTgt spid="19"/>
                                        </p:tgtEl>
                                      </p:cBhvr>
                                    </p:animEffect>
                                  </p:childTnLst>
                                </p:cTn>
                              </p:par>
                              <p:par>
                                <p:cTn id="29" presetID="22" presetClass="entr" presetSubtype="2"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right)">
                                      <p:cBhvr>
                                        <p:cTn id="31" dur="450"/>
                                        <p:tgtEl>
                                          <p:spTgt spid="20"/>
                                        </p:tgtEl>
                                      </p:cBhvr>
                                    </p:animEffect>
                                  </p:childTnLst>
                                </p:cTn>
                              </p:par>
                            </p:childTnLst>
                          </p:cTn>
                        </p:par>
                        <p:par>
                          <p:cTn id="32" fill="hold">
                            <p:stCondLst>
                              <p:cond delay="600"/>
                            </p:stCondLst>
                            <p:childTnLst>
                              <p:par>
                                <p:cTn id="33" presetID="22" presetClass="entr" presetSubtype="8"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left)">
                                      <p:cBhvr>
                                        <p:cTn id="35" dur="450"/>
                                        <p:tgtEl>
                                          <p:spTgt spid="21"/>
                                        </p:tgtEl>
                                      </p:cBhvr>
                                    </p:animEffect>
                                  </p:childTnLst>
                                </p:cTn>
                              </p:par>
                              <p:par>
                                <p:cTn id="36" presetID="22" presetClass="entr" presetSubtype="8"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left)">
                                      <p:cBhvr>
                                        <p:cTn id="38" dur="450"/>
                                        <p:tgtEl>
                                          <p:spTgt spid="22"/>
                                        </p:tgtEl>
                                      </p:cBhvr>
                                    </p:animEffect>
                                  </p:childTnLst>
                                </p:cTn>
                              </p:par>
                              <p:par>
                                <p:cTn id="39" presetID="22" presetClass="entr" presetSubtype="8"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left)">
                                      <p:cBhvr>
                                        <p:cTn id="41" dur="450"/>
                                        <p:tgtEl>
                                          <p:spTgt spid="23"/>
                                        </p:tgtEl>
                                      </p:cBhvr>
                                    </p:animEffect>
                                  </p:childTnLst>
                                </p:cTn>
                              </p:par>
                            </p:childTnLst>
                          </p:cTn>
                        </p:par>
                        <p:par>
                          <p:cTn id="42" fill="hold">
                            <p:stCondLst>
                              <p:cond delay="900"/>
                            </p:stCondLst>
                            <p:childTnLst>
                              <p:par>
                                <p:cTn id="43" presetID="53" presetClass="entr" presetSubtype="16" fill="hold" nodeType="after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p:cTn id="45" dur="450" fill="hold"/>
                                        <p:tgtEl>
                                          <p:spTgt spid="24"/>
                                        </p:tgtEl>
                                        <p:attrNameLst>
                                          <p:attrName>ppt_w</p:attrName>
                                        </p:attrNameLst>
                                      </p:cBhvr>
                                      <p:tavLst>
                                        <p:tav tm="0">
                                          <p:val>
                                            <p:fltVal val="0"/>
                                          </p:val>
                                        </p:tav>
                                        <p:tav tm="100000">
                                          <p:val>
                                            <p:strVal val="#ppt_w"/>
                                          </p:val>
                                        </p:tav>
                                      </p:tavLst>
                                    </p:anim>
                                    <p:anim calcmode="lin" valueType="num">
                                      <p:cBhvr>
                                        <p:cTn id="46" dur="450" fill="hold"/>
                                        <p:tgtEl>
                                          <p:spTgt spid="24"/>
                                        </p:tgtEl>
                                        <p:attrNameLst>
                                          <p:attrName>ppt_h</p:attrName>
                                        </p:attrNameLst>
                                      </p:cBhvr>
                                      <p:tavLst>
                                        <p:tav tm="0">
                                          <p:val>
                                            <p:fltVal val="0"/>
                                          </p:val>
                                        </p:tav>
                                        <p:tav tm="100000">
                                          <p:val>
                                            <p:strVal val="#ppt_h"/>
                                          </p:val>
                                        </p:tav>
                                      </p:tavLst>
                                    </p:anim>
                                    <p:animEffect transition="in" filter="fade">
                                      <p:cBhvr>
                                        <p:cTn id="47" dur="450"/>
                                        <p:tgtEl>
                                          <p:spTgt spid="24"/>
                                        </p:tgtEl>
                                      </p:cBhvr>
                                    </p:animEffect>
                                  </p:childTnLst>
                                </p:cTn>
                              </p:par>
                              <p:par>
                                <p:cTn id="48" presetID="53" presetClass="entr" presetSubtype="16"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 calcmode="lin" valueType="num">
                                      <p:cBhvr>
                                        <p:cTn id="50" dur="450" fill="hold"/>
                                        <p:tgtEl>
                                          <p:spTgt spid="25"/>
                                        </p:tgtEl>
                                        <p:attrNameLst>
                                          <p:attrName>ppt_w</p:attrName>
                                        </p:attrNameLst>
                                      </p:cBhvr>
                                      <p:tavLst>
                                        <p:tav tm="0">
                                          <p:val>
                                            <p:fltVal val="0"/>
                                          </p:val>
                                        </p:tav>
                                        <p:tav tm="100000">
                                          <p:val>
                                            <p:strVal val="#ppt_w"/>
                                          </p:val>
                                        </p:tav>
                                      </p:tavLst>
                                    </p:anim>
                                    <p:anim calcmode="lin" valueType="num">
                                      <p:cBhvr>
                                        <p:cTn id="51" dur="450" fill="hold"/>
                                        <p:tgtEl>
                                          <p:spTgt spid="25"/>
                                        </p:tgtEl>
                                        <p:attrNameLst>
                                          <p:attrName>ppt_h</p:attrName>
                                        </p:attrNameLst>
                                      </p:cBhvr>
                                      <p:tavLst>
                                        <p:tav tm="0">
                                          <p:val>
                                            <p:fltVal val="0"/>
                                          </p:val>
                                        </p:tav>
                                        <p:tav tm="100000">
                                          <p:val>
                                            <p:strVal val="#ppt_h"/>
                                          </p:val>
                                        </p:tav>
                                      </p:tavLst>
                                    </p:anim>
                                    <p:animEffect transition="in" filter="fade">
                                      <p:cBhvr>
                                        <p:cTn id="52" dur="450"/>
                                        <p:tgtEl>
                                          <p:spTgt spid="25"/>
                                        </p:tgtEl>
                                      </p:cBhvr>
                                    </p:animEffect>
                                  </p:childTnLst>
                                </p:cTn>
                              </p:par>
                              <p:par>
                                <p:cTn id="53" presetID="53" presetClass="entr" presetSubtype="16"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450" fill="hold"/>
                                        <p:tgtEl>
                                          <p:spTgt spid="26"/>
                                        </p:tgtEl>
                                        <p:attrNameLst>
                                          <p:attrName>ppt_w</p:attrName>
                                        </p:attrNameLst>
                                      </p:cBhvr>
                                      <p:tavLst>
                                        <p:tav tm="0">
                                          <p:val>
                                            <p:fltVal val="0"/>
                                          </p:val>
                                        </p:tav>
                                        <p:tav tm="100000">
                                          <p:val>
                                            <p:strVal val="#ppt_w"/>
                                          </p:val>
                                        </p:tav>
                                      </p:tavLst>
                                    </p:anim>
                                    <p:anim calcmode="lin" valueType="num">
                                      <p:cBhvr>
                                        <p:cTn id="56" dur="450" fill="hold"/>
                                        <p:tgtEl>
                                          <p:spTgt spid="26"/>
                                        </p:tgtEl>
                                        <p:attrNameLst>
                                          <p:attrName>ppt_h</p:attrName>
                                        </p:attrNameLst>
                                      </p:cBhvr>
                                      <p:tavLst>
                                        <p:tav tm="0">
                                          <p:val>
                                            <p:fltVal val="0"/>
                                          </p:val>
                                        </p:tav>
                                        <p:tav tm="100000">
                                          <p:val>
                                            <p:strVal val="#ppt_h"/>
                                          </p:val>
                                        </p:tav>
                                      </p:tavLst>
                                    </p:anim>
                                    <p:animEffect transition="in" filter="fade">
                                      <p:cBhvr>
                                        <p:cTn id="57" dur="450"/>
                                        <p:tgtEl>
                                          <p:spTgt spid="26"/>
                                        </p:tgtEl>
                                      </p:cBhvr>
                                    </p:animEffect>
                                  </p:childTnLst>
                                </p:cTn>
                              </p:par>
                              <p:par>
                                <p:cTn id="58" presetID="53" presetClass="entr" presetSubtype="16" fill="hold" nodeType="with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p:cTn id="60" dur="450" fill="hold"/>
                                        <p:tgtEl>
                                          <p:spTgt spid="27"/>
                                        </p:tgtEl>
                                        <p:attrNameLst>
                                          <p:attrName>ppt_w</p:attrName>
                                        </p:attrNameLst>
                                      </p:cBhvr>
                                      <p:tavLst>
                                        <p:tav tm="0">
                                          <p:val>
                                            <p:fltVal val="0"/>
                                          </p:val>
                                        </p:tav>
                                        <p:tav tm="100000">
                                          <p:val>
                                            <p:strVal val="#ppt_w"/>
                                          </p:val>
                                        </p:tav>
                                      </p:tavLst>
                                    </p:anim>
                                    <p:anim calcmode="lin" valueType="num">
                                      <p:cBhvr>
                                        <p:cTn id="61" dur="450" fill="hold"/>
                                        <p:tgtEl>
                                          <p:spTgt spid="27"/>
                                        </p:tgtEl>
                                        <p:attrNameLst>
                                          <p:attrName>ppt_h</p:attrName>
                                        </p:attrNameLst>
                                      </p:cBhvr>
                                      <p:tavLst>
                                        <p:tav tm="0">
                                          <p:val>
                                            <p:fltVal val="0"/>
                                          </p:val>
                                        </p:tav>
                                        <p:tav tm="100000">
                                          <p:val>
                                            <p:strVal val="#ppt_h"/>
                                          </p:val>
                                        </p:tav>
                                      </p:tavLst>
                                    </p:anim>
                                    <p:animEffect transition="in" filter="fade">
                                      <p:cBhvr>
                                        <p:cTn id="62" dur="450"/>
                                        <p:tgtEl>
                                          <p:spTgt spid="27"/>
                                        </p:tgtEl>
                                      </p:cBhvr>
                                    </p:animEffect>
                                  </p:childTnLst>
                                </p:cTn>
                              </p:par>
                            </p:childTnLst>
                          </p:cTn>
                        </p:par>
                        <p:par>
                          <p:cTn id="63" fill="hold">
                            <p:stCondLst>
                              <p:cond delay="1200"/>
                            </p:stCondLst>
                            <p:childTnLst>
                              <p:par>
                                <p:cTn id="64" presetID="22" presetClass="entr" presetSubtype="2" fill="hold" nodeType="after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wipe(right)">
                                      <p:cBhvr>
                                        <p:cTn id="66" dur="450"/>
                                        <p:tgtEl>
                                          <p:spTgt spid="28"/>
                                        </p:tgtEl>
                                      </p:cBhvr>
                                    </p:animEffect>
                                  </p:childTnLst>
                                </p:cTn>
                              </p:par>
                              <p:par>
                                <p:cTn id="67" presetID="22" presetClass="entr" presetSubtype="2"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wipe(right)">
                                      <p:cBhvr>
                                        <p:cTn id="69" dur="450"/>
                                        <p:tgtEl>
                                          <p:spTgt spid="29"/>
                                        </p:tgtEl>
                                      </p:cBhvr>
                                    </p:animEffect>
                                  </p:childTnLst>
                                </p:cTn>
                              </p:par>
                            </p:childTnLst>
                          </p:cTn>
                        </p:par>
                        <p:par>
                          <p:cTn id="70" fill="hold">
                            <p:stCondLst>
                              <p:cond delay="1500"/>
                            </p:stCondLst>
                            <p:childTnLst>
                              <p:par>
                                <p:cTn id="71" presetID="22" presetClass="entr" presetSubtype="8" fill="hold" nodeType="after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wipe(left)">
                                      <p:cBhvr>
                                        <p:cTn id="73" dur="450"/>
                                        <p:tgtEl>
                                          <p:spTgt spid="30"/>
                                        </p:tgtEl>
                                      </p:cBhvr>
                                    </p:animEffect>
                                  </p:childTnLst>
                                </p:cTn>
                              </p:par>
                              <p:par>
                                <p:cTn id="74" presetID="22" presetClass="entr" presetSubtype="8"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wipe(left)">
                                      <p:cBhvr>
                                        <p:cTn id="76" dur="450"/>
                                        <p:tgtEl>
                                          <p:spTgt spid="31"/>
                                        </p:tgtEl>
                                      </p:cBhvr>
                                    </p:animEffect>
                                  </p:childTnLst>
                                </p:cTn>
                              </p:par>
                              <p:par>
                                <p:cTn id="77" presetID="22" presetClass="entr" presetSubtype="8"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wipe(left)">
                                      <p:cBhvr>
                                        <p:cTn id="79" dur="450"/>
                                        <p:tgtEl>
                                          <p:spTgt spid="32"/>
                                        </p:tgtEl>
                                      </p:cBhvr>
                                    </p:animEffect>
                                  </p:childTnLst>
                                </p:cTn>
                              </p:par>
                            </p:childTnLst>
                          </p:cTn>
                        </p:par>
                        <p:par>
                          <p:cTn id="80" fill="hold">
                            <p:stCondLst>
                              <p:cond delay="1800"/>
                            </p:stCondLst>
                            <p:childTnLst>
                              <p:par>
                                <p:cTn id="81" presetID="53" presetClass="entr" presetSubtype="16" fill="hold" nodeType="afterEffect">
                                  <p:stCondLst>
                                    <p:cond delay="0"/>
                                  </p:stCondLst>
                                  <p:childTnLst>
                                    <p:set>
                                      <p:cBhvr>
                                        <p:cTn id="82" dur="1" fill="hold">
                                          <p:stCondLst>
                                            <p:cond delay="0"/>
                                          </p:stCondLst>
                                        </p:cTn>
                                        <p:tgtEl>
                                          <p:spTgt spid="33"/>
                                        </p:tgtEl>
                                        <p:attrNameLst>
                                          <p:attrName>style.visibility</p:attrName>
                                        </p:attrNameLst>
                                      </p:cBhvr>
                                      <p:to>
                                        <p:strVal val="visible"/>
                                      </p:to>
                                    </p:set>
                                    <p:anim calcmode="lin" valueType="num">
                                      <p:cBhvr>
                                        <p:cTn id="83" dur="450" fill="hold"/>
                                        <p:tgtEl>
                                          <p:spTgt spid="33"/>
                                        </p:tgtEl>
                                        <p:attrNameLst>
                                          <p:attrName>ppt_w</p:attrName>
                                        </p:attrNameLst>
                                      </p:cBhvr>
                                      <p:tavLst>
                                        <p:tav tm="0">
                                          <p:val>
                                            <p:fltVal val="0"/>
                                          </p:val>
                                        </p:tav>
                                        <p:tav tm="100000">
                                          <p:val>
                                            <p:strVal val="#ppt_w"/>
                                          </p:val>
                                        </p:tav>
                                      </p:tavLst>
                                    </p:anim>
                                    <p:anim calcmode="lin" valueType="num">
                                      <p:cBhvr>
                                        <p:cTn id="84" dur="450" fill="hold"/>
                                        <p:tgtEl>
                                          <p:spTgt spid="33"/>
                                        </p:tgtEl>
                                        <p:attrNameLst>
                                          <p:attrName>ppt_h</p:attrName>
                                        </p:attrNameLst>
                                      </p:cBhvr>
                                      <p:tavLst>
                                        <p:tav tm="0">
                                          <p:val>
                                            <p:fltVal val="0"/>
                                          </p:val>
                                        </p:tav>
                                        <p:tav tm="100000">
                                          <p:val>
                                            <p:strVal val="#ppt_h"/>
                                          </p:val>
                                        </p:tav>
                                      </p:tavLst>
                                    </p:anim>
                                    <p:animEffect transition="in" filter="fade">
                                      <p:cBhvr>
                                        <p:cTn id="85" dur="450"/>
                                        <p:tgtEl>
                                          <p:spTgt spid="33"/>
                                        </p:tgtEl>
                                      </p:cBhvr>
                                    </p:animEffect>
                                  </p:childTnLst>
                                </p:cTn>
                              </p:par>
                              <p:par>
                                <p:cTn id="86" presetID="53" presetClass="entr" presetSubtype="16" fill="hold" nodeType="withEffect">
                                  <p:stCondLst>
                                    <p:cond delay="0"/>
                                  </p:stCondLst>
                                  <p:childTnLst>
                                    <p:set>
                                      <p:cBhvr>
                                        <p:cTn id="87" dur="1" fill="hold">
                                          <p:stCondLst>
                                            <p:cond delay="0"/>
                                          </p:stCondLst>
                                        </p:cTn>
                                        <p:tgtEl>
                                          <p:spTgt spid="34"/>
                                        </p:tgtEl>
                                        <p:attrNameLst>
                                          <p:attrName>style.visibility</p:attrName>
                                        </p:attrNameLst>
                                      </p:cBhvr>
                                      <p:to>
                                        <p:strVal val="visible"/>
                                      </p:to>
                                    </p:set>
                                    <p:anim calcmode="lin" valueType="num">
                                      <p:cBhvr>
                                        <p:cTn id="88" dur="450" fill="hold"/>
                                        <p:tgtEl>
                                          <p:spTgt spid="34"/>
                                        </p:tgtEl>
                                        <p:attrNameLst>
                                          <p:attrName>ppt_w</p:attrName>
                                        </p:attrNameLst>
                                      </p:cBhvr>
                                      <p:tavLst>
                                        <p:tav tm="0">
                                          <p:val>
                                            <p:fltVal val="0"/>
                                          </p:val>
                                        </p:tav>
                                        <p:tav tm="100000">
                                          <p:val>
                                            <p:strVal val="#ppt_w"/>
                                          </p:val>
                                        </p:tav>
                                      </p:tavLst>
                                    </p:anim>
                                    <p:anim calcmode="lin" valueType="num">
                                      <p:cBhvr>
                                        <p:cTn id="89" dur="450" fill="hold"/>
                                        <p:tgtEl>
                                          <p:spTgt spid="34"/>
                                        </p:tgtEl>
                                        <p:attrNameLst>
                                          <p:attrName>ppt_h</p:attrName>
                                        </p:attrNameLst>
                                      </p:cBhvr>
                                      <p:tavLst>
                                        <p:tav tm="0">
                                          <p:val>
                                            <p:fltVal val="0"/>
                                          </p:val>
                                        </p:tav>
                                        <p:tav tm="100000">
                                          <p:val>
                                            <p:strVal val="#ppt_h"/>
                                          </p:val>
                                        </p:tav>
                                      </p:tavLst>
                                    </p:anim>
                                    <p:animEffect transition="in" filter="fade">
                                      <p:cBhvr>
                                        <p:cTn id="90" dur="450"/>
                                        <p:tgtEl>
                                          <p:spTgt spid="34"/>
                                        </p:tgtEl>
                                      </p:cBhvr>
                                    </p:animEffect>
                                  </p:childTnLst>
                                </p:cTn>
                              </p:par>
                              <p:par>
                                <p:cTn id="91" presetID="53" presetClass="entr" presetSubtype="16"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 calcmode="lin" valueType="num">
                                      <p:cBhvr>
                                        <p:cTn id="93" dur="450" fill="hold"/>
                                        <p:tgtEl>
                                          <p:spTgt spid="35"/>
                                        </p:tgtEl>
                                        <p:attrNameLst>
                                          <p:attrName>ppt_w</p:attrName>
                                        </p:attrNameLst>
                                      </p:cBhvr>
                                      <p:tavLst>
                                        <p:tav tm="0">
                                          <p:val>
                                            <p:fltVal val="0"/>
                                          </p:val>
                                        </p:tav>
                                        <p:tav tm="100000">
                                          <p:val>
                                            <p:strVal val="#ppt_w"/>
                                          </p:val>
                                        </p:tav>
                                      </p:tavLst>
                                    </p:anim>
                                    <p:anim calcmode="lin" valueType="num">
                                      <p:cBhvr>
                                        <p:cTn id="94" dur="450" fill="hold"/>
                                        <p:tgtEl>
                                          <p:spTgt spid="35"/>
                                        </p:tgtEl>
                                        <p:attrNameLst>
                                          <p:attrName>ppt_h</p:attrName>
                                        </p:attrNameLst>
                                      </p:cBhvr>
                                      <p:tavLst>
                                        <p:tav tm="0">
                                          <p:val>
                                            <p:fltVal val="0"/>
                                          </p:val>
                                        </p:tav>
                                        <p:tav tm="100000">
                                          <p:val>
                                            <p:strVal val="#ppt_h"/>
                                          </p:val>
                                        </p:tav>
                                      </p:tavLst>
                                    </p:anim>
                                    <p:animEffect transition="in" filter="fade">
                                      <p:cBhvr>
                                        <p:cTn id="95" dur="450"/>
                                        <p:tgtEl>
                                          <p:spTgt spid="35"/>
                                        </p:tgtEl>
                                      </p:cBhvr>
                                    </p:animEffect>
                                  </p:childTnLst>
                                </p:cTn>
                              </p:par>
                              <p:par>
                                <p:cTn id="96" presetID="53" presetClass="entr" presetSubtype="16" fill="hold" nodeType="withEffect">
                                  <p:stCondLst>
                                    <p:cond delay="0"/>
                                  </p:stCondLst>
                                  <p:childTnLst>
                                    <p:set>
                                      <p:cBhvr>
                                        <p:cTn id="97" dur="1" fill="hold">
                                          <p:stCondLst>
                                            <p:cond delay="0"/>
                                          </p:stCondLst>
                                        </p:cTn>
                                        <p:tgtEl>
                                          <p:spTgt spid="36"/>
                                        </p:tgtEl>
                                        <p:attrNameLst>
                                          <p:attrName>style.visibility</p:attrName>
                                        </p:attrNameLst>
                                      </p:cBhvr>
                                      <p:to>
                                        <p:strVal val="visible"/>
                                      </p:to>
                                    </p:set>
                                    <p:anim calcmode="lin" valueType="num">
                                      <p:cBhvr>
                                        <p:cTn id="98" dur="450" fill="hold"/>
                                        <p:tgtEl>
                                          <p:spTgt spid="36"/>
                                        </p:tgtEl>
                                        <p:attrNameLst>
                                          <p:attrName>ppt_w</p:attrName>
                                        </p:attrNameLst>
                                      </p:cBhvr>
                                      <p:tavLst>
                                        <p:tav tm="0">
                                          <p:val>
                                            <p:fltVal val="0"/>
                                          </p:val>
                                        </p:tav>
                                        <p:tav tm="100000">
                                          <p:val>
                                            <p:strVal val="#ppt_w"/>
                                          </p:val>
                                        </p:tav>
                                      </p:tavLst>
                                    </p:anim>
                                    <p:anim calcmode="lin" valueType="num">
                                      <p:cBhvr>
                                        <p:cTn id="99" dur="450" fill="hold"/>
                                        <p:tgtEl>
                                          <p:spTgt spid="36"/>
                                        </p:tgtEl>
                                        <p:attrNameLst>
                                          <p:attrName>ppt_h</p:attrName>
                                        </p:attrNameLst>
                                      </p:cBhvr>
                                      <p:tavLst>
                                        <p:tav tm="0">
                                          <p:val>
                                            <p:fltVal val="0"/>
                                          </p:val>
                                        </p:tav>
                                        <p:tav tm="100000">
                                          <p:val>
                                            <p:strVal val="#ppt_h"/>
                                          </p:val>
                                        </p:tav>
                                      </p:tavLst>
                                    </p:anim>
                                    <p:animEffect transition="in" filter="fade">
                                      <p:cBhvr>
                                        <p:cTn id="100" dur="450"/>
                                        <p:tgtEl>
                                          <p:spTgt spid="36"/>
                                        </p:tgtEl>
                                      </p:cBhvr>
                                    </p:animEffect>
                                  </p:childTnLst>
                                </p:cTn>
                              </p:par>
                            </p:childTnLst>
                          </p:cTn>
                        </p:par>
                        <p:par>
                          <p:cTn id="101" fill="hold">
                            <p:stCondLst>
                              <p:cond delay="2100"/>
                            </p:stCondLst>
                            <p:childTnLst>
                              <p:par>
                                <p:cTn id="102" presetID="22" presetClass="entr" presetSubtype="2" fill="hold" nodeType="afterEffect">
                                  <p:stCondLst>
                                    <p:cond delay="0"/>
                                  </p:stCondLst>
                                  <p:childTnLst>
                                    <p:set>
                                      <p:cBhvr>
                                        <p:cTn id="103" dur="1" fill="hold">
                                          <p:stCondLst>
                                            <p:cond delay="0"/>
                                          </p:stCondLst>
                                        </p:cTn>
                                        <p:tgtEl>
                                          <p:spTgt spid="37"/>
                                        </p:tgtEl>
                                        <p:attrNameLst>
                                          <p:attrName>style.visibility</p:attrName>
                                        </p:attrNameLst>
                                      </p:cBhvr>
                                      <p:to>
                                        <p:strVal val="visible"/>
                                      </p:to>
                                    </p:set>
                                    <p:animEffect transition="in" filter="wipe(right)">
                                      <p:cBhvr>
                                        <p:cTn id="104" dur="450"/>
                                        <p:tgtEl>
                                          <p:spTgt spid="37"/>
                                        </p:tgtEl>
                                      </p:cBhvr>
                                    </p:animEffect>
                                  </p:childTnLst>
                                </p:cTn>
                              </p:par>
                              <p:par>
                                <p:cTn id="105" presetID="22" presetClass="entr" presetSubtype="2" fill="hold"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wipe(right)">
                                      <p:cBhvr>
                                        <p:cTn id="107" dur="450"/>
                                        <p:tgtEl>
                                          <p:spTgt spid="38"/>
                                        </p:tgtEl>
                                      </p:cBhvr>
                                    </p:animEffect>
                                  </p:childTnLst>
                                </p:cTn>
                              </p:par>
                            </p:childTnLst>
                          </p:cTn>
                        </p:par>
                        <p:par>
                          <p:cTn id="108" fill="hold">
                            <p:stCondLst>
                              <p:cond delay="2400"/>
                            </p:stCondLst>
                            <p:childTnLst>
                              <p:par>
                                <p:cTn id="109" presetID="22" presetClass="entr" presetSubtype="8" fill="hold" nodeType="after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wipe(left)">
                                      <p:cBhvr>
                                        <p:cTn id="111" dur="450"/>
                                        <p:tgtEl>
                                          <p:spTgt spid="39"/>
                                        </p:tgtEl>
                                      </p:cBhvr>
                                    </p:animEffect>
                                  </p:childTnLst>
                                </p:cTn>
                              </p:par>
                              <p:par>
                                <p:cTn id="112" presetID="22" presetClass="entr" presetSubtype="8" fill="hold" nodeType="withEffect">
                                  <p:stCondLst>
                                    <p:cond delay="0"/>
                                  </p:stCondLst>
                                  <p:childTnLst>
                                    <p:set>
                                      <p:cBhvr>
                                        <p:cTn id="113" dur="1" fill="hold">
                                          <p:stCondLst>
                                            <p:cond delay="0"/>
                                          </p:stCondLst>
                                        </p:cTn>
                                        <p:tgtEl>
                                          <p:spTgt spid="40"/>
                                        </p:tgtEl>
                                        <p:attrNameLst>
                                          <p:attrName>style.visibility</p:attrName>
                                        </p:attrNameLst>
                                      </p:cBhvr>
                                      <p:to>
                                        <p:strVal val="visible"/>
                                      </p:to>
                                    </p:set>
                                    <p:animEffect transition="in" filter="wipe(left)">
                                      <p:cBhvr>
                                        <p:cTn id="114" dur="450"/>
                                        <p:tgtEl>
                                          <p:spTgt spid="40"/>
                                        </p:tgtEl>
                                      </p:cBhvr>
                                    </p:animEffect>
                                  </p:childTnLst>
                                </p:cTn>
                              </p:par>
                              <p:par>
                                <p:cTn id="115" presetID="22" presetClass="entr" presetSubtype="8" fill="hold" nodeType="withEffect">
                                  <p:stCondLst>
                                    <p:cond delay="0"/>
                                  </p:stCondLst>
                                  <p:childTnLst>
                                    <p:set>
                                      <p:cBhvr>
                                        <p:cTn id="116" dur="1" fill="hold">
                                          <p:stCondLst>
                                            <p:cond delay="0"/>
                                          </p:stCondLst>
                                        </p:cTn>
                                        <p:tgtEl>
                                          <p:spTgt spid="41"/>
                                        </p:tgtEl>
                                        <p:attrNameLst>
                                          <p:attrName>style.visibility</p:attrName>
                                        </p:attrNameLst>
                                      </p:cBhvr>
                                      <p:to>
                                        <p:strVal val="visible"/>
                                      </p:to>
                                    </p:set>
                                    <p:animEffect transition="in" filter="wipe(left)">
                                      <p:cBhvr>
                                        <p:cTn id="117" dur="4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روش پژوهش: نوع پژوهش، جامعه و نمونه</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۸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A01_z_155b"/>
          <p:cNvSpPr/>
          <p:nvPr/>
        </p:nvSpPr>
        <p:spPr>
          <a:xfrm>
            <a:off x="9052560" y="1280160"/>
            <a:ext cx="2651760" cy="1965960"/>
          </a:xfrm>
          <a:prstGeom prst="roundRect">
            <a:avLst>
              <a:gd name="adj" fmla="val 5581"/>
            </a:avLst>
          </a:prstGeom>
          <a:solidFill>
            <a:srgbClr val="F4F6F7"/>
          </a:solidFill>
          <a:ln w="12700">
            <a:solidFill>
              <a:srgbClr val="F4F6F7"/>
            </a:solidFill>
            <a:prstDash val="solid"/>
          </a:ln>
        </p:spPr>
      </p:sp>
      <p:sp>
        <p:nvSpPr>
          <p:cNvPr id="11" name="A01_z_156c"/>
          <p:cNvSpPr/>
          <p:nvPr/>
        </p:nvSpPr>
        <p:spPr>
          <a:xfrm>
            <a:off x="10049256" y="1444752"/>
            <a:ext cx="658368" cy="658368"/>
          </a:xfrm>
          <a:prstGeom prst="ellipse">
            <a:avLst/>
          </a:prstGeom>
          <a:solidFill>
            <a:srgbClr val="0F5257"/>
          </a:solidFill>
          <a:ln w="12700">
            <a:solidFill>
              <a:srgbClr val="0F5257"/>
            </a:solidFill>
            <a:prstDash val="solid"/>
          </a:ln>
        </p:spPr>
      </p:sp>
      <p:pic>
        <p:nvPicPr>
          <p:cNvPr id="12" name="A01_z_156i" descr="preencoded.png"/>
          <p:cNvPicPr>
            <a:picLocks noChangeAspect="1"/>
          </p:cNvPicPr>
          <p:nvPr/>
        </p:nvPicPr>
        <p:blipFill>
          <a:blip r:embed="rId4"/>
          <a:stretch>
            <a:fillRect/>
          </a:stretch>
        </p:blipFill>
        <p:spPr>
          <a:xfrm>
            <a:off x="10194097" y="1589593"/>
            <a:ext cx="368686" cy="368686"/>
          </a:xfrm>
          <a:prstGeom prst="rect">
            <a:avLst/>
          </a:prstGeom>
        </p:spPr>
      </p:pic>
      <p:sp>
        <p:nvSpPr>
          <p:cNvPr id="13" name="A01_z_157"/>
          <p:cNvSpPr txBox="1"/>
          <p:nvPr/>
        </p:nvSpPr>
        <p:spPr>
          <a:xfrm>
            <a:off x="9144000" y="2194560"/>
            <a:ext cx="2468880" cy="320040"/>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از نظر هدف</a:t>
            </a:r>
            <a:endParaRPr lang="fa-IR" sz="1200" dirty="0"/>
          </a:p>
        </p:txBody>
      </p:sp>
      <p:sp>
        <p:nvSpPr>
          <p:cNvPr id="14" name="A01_z_158"/>
          <p:cNvSpPr txBox="1"/>
          <p:nvPr/>
        </p:nvSpPr>
        <p:spPr>
          <a:xfrm>
            <a:off x="9144000" y="2487168"/>
            <a:ext cx="2468880" cy="713232"/>
          </a:xfrm>
          <a:prstGeom prst="rect">
            <a:avLst/>
          </a:prstGeom>
          <a:noFill/>
          <a:ln/>
        </p:spPr>
        <p:txBody>
          <a:bodyPr wrap="square" lIns="0" tIns="0" rIns="0" bIns="0" rtlCol="0" anchor="ctr"/>
          <a:lstStyle/>
          <a:p>
            <a:pPr marL="0" indent="0" algn="ctr" rtl="1">
              <a:buNone/>
            </a:pPr>
            <a:r>
              <a:rPr lang="fa-IR" altLang="en-US" sz="1500" b="1" dirty="0">
                <a:solidFill>
                  <a:srgbClr val="0F5257"/>
                </a:solidFill>
                <a:latin typeface="Tahoma" pitchFamily="34" charset="0"/>
                <a:ea typeface="Tahoma" pitchFamily="34" charset="-122"/>
                <a:cs typeface="Tahoma" pitchFamily="34" charset="-120"/>
              </a:rPr>
              <a:t>بنیادی</a:t>
            </a:r>
            <a:endParaRPr lang="fa-IR" sz="1500" dirty="0"/>
          </a:p>
        </p:txBody>
      </p:sp>
      <p:sp>
        <p:nvSpPr>
          <p:cNvPr id="15" name="A02_z_159b"/>
          <p:cNvSpPr/>
          <p:nvPr/>
        </p:nvSpPr>
        <p:spPr>
          <a:xfrm>
            <a:off x="6236208" y="1280160"/>
            <a:ext cx="2651760" cy="1965960"/>
          </a:xfrm>
          <a:prstGeom prst="roundRect">
            <a:avLst>
              <a:gd name="adj" fmla="val 5581"/>
            </a:avLst>
          </a:prstGeom>
          <a:solidFill>
            <a:srgbClr val="F4F6F7"/>
          </a:solidFill>
          <a:ln w="12700">
            <a:solidFill>
              <a:srgbClr val="F4F6F7"/>
            </a:solidFill>
            <a:prstDash val="solid"/>
          </a:ln>
        </p:spPr>
      </p:sp>
      <p:sp>
        <p:nvSpPr>
          <p:cNvPr id="16" name="A02_z_160c"/>
          <p:cNvSpPr/>
          <p:nvPr/>
        </p:nvSpPr>
        <p:spPr>
          <a:xfrm>
            <a:off x="7232904" y="1444752"/>
            <a:ext cx="658368" cy="658368"/>
          </a:xfrm>
          <a:prstGeom prst="ellipse">
            <a:avLst/>
          </a:prstGeom>
          <a:solidFill>
            <a:srgbClr val="2A9D8F"/>
          </a:solidFill>
          <a:ln w="12700">
            <a:solidFill>
              <a:srgbClr val="2A9D8F"/>
            </a:solidFill>
            <a:prstDash val="solid"/>
          </a:ln>
        </p:spPr>
      </p:sp>
      <p:pic>
        <p:nvPicPr>
          <p:cNvPr id="17" name="A02_z_160i" descr="preencoded.png"/>
          <p:cNvPicPr>
            <a:picLocks noChangeAspect="1"/>
          </p:cNvPicPr>
          <p:nvPr/>
        </p:nvPicPr>
        <p:blipFill>
          <a:blip r:embed="rId5"/>
          <a:stretch>
            <a:fillRect/>
          </a:stretch>
        </p:blipFill>
        <p:spPr>
          <a:xfrm>
            <a:off x="7377745" y="1589593"/>
            <a:ext cx="368686" cy="368686"/>
          </a:xfrm>
          <a:prstGeom prst="rect">
            <a:avLst/>
          </a:prstGeom>
        </p:spPr>
      </p:pic>
      <p:sp>
        <p:nvSpPr>
          <p:cNvPr id="18" name="A02_z_161"/>
          <p:cNvSpPr txBox="1"/>
          <p:nvPr/>
        </p:nvSpPr>
        <p:spPr>
          <a:xfrm>
            <a:off x="6327648" y="2194560"/>
            <a:ext cx="2468880" cy="320040"/>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از نظر روش</a:t>
            </a:r>
            <a:endParaRPr lang="fa-IR" sz="1200" dirty="0"/>
          </a:p>
        </p:txBody>
      </p:sp>
      <p:sp>
        <p:nvSpPr>
          <p:cNvPr id="19" name="A02_z_162"/>
          <p:cNvSpPr txBox="1"/>
          <p:nvPr/>
        </p:nvSpPr>
        <p:spPr>
          <a:xfrm>
            <a:off x="6327648" y="2487168"/>
            <a:ext cx="2468880" cy="713232"/>
          </a:xfrm>
          <a:prstGeom prst="rect">
            <a:avLst/>
          </a:prstGeom>
          <a:noFill/>
          <a:ln/>
        </p:spPr>
        <p:txBody>
          <a:bodyPr wrap="square" lIns="0" tIns="0" rIns="0" bIns="0" rtlCol="0" anchor="ctr"/>
          <a:lstStyle/>
          <a:p>
            <a:pPr marL="0" indent="0" algn="ctr" rtl="1">
              <a:buNone/>
            </a:pPr>
            <a:r>
              <a:rPr lang="fa-IR" altLang="en-US" sz="1500" b="1" dirty="0">
                <a:solidFill>
                  <a:srgbClr val="2A9D8F"/>
                </a:solidFill>
                <a:latin typeface="Tahoma" pitchFamily="34" charset="0"/>
                <a:ea typeface="Tahoma" pitchFamily="34" charset="-122"/>
                <a:cs typeface="Tahoma" pitchFamily="34" charset="-120"/>
              </a:rPr>
              <a:t>توصیفی‌ـ‌همبستگی</a:t>
            </a:r>
            <a:endParaRPr lang="fa-IR" sz="1500" dirty="0"/>
          </a:p>
        </p:txBody>
      </p:sp>
      <p:sp>
        <p:nvSpPr>
          <p:cNvPr id="20" name="A03_z_163b"/>
          <p:cNvSpPr/>
          <p:nvPr/>
        </p:nvSpPr>
        <p:spPr>
          <a:xfrm>
            <a:off x="3419856" y="1280160"/>
            <a:ext cx="2651760" cy="1965960"/>
          </a:xfrm>
          <a:prstGeom prst="roundRect">
            <a:avLst>
              <a:gd name="adj" fmla="val 5581"/>
            </a:avLst>
          </a:prstGeom>
          <a:solidFill>
            <a:srgbClr val="F4F6F7"/>
          </a:solidFill>
          <a:ln w="12700">
            <a:solidFill>
              <a:srgbClr val="F4F6F7"/>
            </a:solidFill>
            <a:prstDash val="solid"/>
          </a:ln>
        </p:spPr>
      </p:sp>
      <p:sp>
        <p:nvSpPr>
          <p:cNvPr id="21" name="A03_z_164c"/>
          <p:cNvSpPr/>
          <p:nvPr/>
        </p:nvSpPr>
        <p:spPr>
          <a:xfrm>
            <a:off x="4416552" y="1444752"/>
            <a:ext cx="658368" cy="658368"/>
          </a:xfrm>
          <a:prstGeom prst="ellipse">
            <a:avLst/>
          </a:prstGeom>
          <a:solidFill>
            <a:srgbClr val="6D597A"/>
          </a:solidFill>
          <a:ln w="12700">
            <a:solidFill>
              <a:srgbClr val="6D597A"/>
            </a:solidFill>
            <a:prstDash val="solid"/>
          </a:ln>
        </p:spPr>
      </p:sp>
      <p:pic>
        <p:nvPicPr>
          <p:cNvPr id="22" name="A03_z_164i" descr="preencoded.png"/>
          <p:cNvPicPr>
            <a:picLocks noChangeAspect="1"/>
          </p:cNvPicPr>
          <p:nvPr/>
        </p:nvPicPr>
        <p:blipFill>
          <a:blip r:embed="rId6"/>
          <a:stretch>
            <a:fillRect/>
          </a:stretch>
        </p:blipFill>
        <p:spPr>
          <a:xfrm>
            <a:off x="4561393" y="1589593"/>
            <a:ext cx="368686" cy="368686"/>
          </a:xfrm>
          <a:prstGeom prst="rect">
            <a:avLst/>
          </a:prstGeom>
        </p:spPr>
      </p:pic>
      <p:sp>
        <p:nvSpPr>
          <p:cNvPr id="23" name="A03_z_165"/>
          <p:cNvSpPr txBox="1"/>
          <p:nvPr/>
        </p:nvSpPr>
        <p:spPr>
          <a:xfrm>
            <a:off x="3511296" y="2194560"/>
            <a:ext cx="2468880" cy="320040"/>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روش تحلیل</a:t>
            </a:r>
            <a:endParaRPr lang="fa-IR" sz="1200" dirty="0"/>
          </a:p>
        </p:txBody>
      </p:sp>
      <p:sp>
        <p:nvSpPr>
          <p:cNvPr id="24" name="A03_z_166"/>
          <p:cNvSpPr txBox="1"/>
          <p:nvPr/>
        </p:nvSpPr>
        <p:spPr>
          <a:xfrm>
            <a:off x="3511296" y="2487168"/>
            <a:ext cx="2468880" cy="713232"/>
          </a:xfrm>
          <a:prstGeom prst="rect">
            <a:avLst/>
          </a:prstGeom>
          <a:noFill/>
          <a:ln/>
        </p:spPr>
        <p:txBody>
          <a:bodyPr wrap="square" lIns="0" tIns="0" rIns="0" bIns="0" rtlCol="0" anchor="ctr"/>
          <a:lstStyle/>
          <a:p>
            <a:pPr marL="0" indent="0" algn="ctr" rtl="1">
              <a:buNone/>
            </a:pPr>
            <a:r>
              <a:rPr lang="fa-IR" altLang="en-US" sz="1500" b="1" dirty="0">
                <a:solidFill>
                  <a:srgbClr val="6D597A"/>
                </a:solidFill>
                <a:latin typeface="Tahoma" pitchFamily="34" charset="0"/>
                <a:ea typeface="Tahoma" pitchFamily="34" charset="-122"/>
                <a:cs typeface="Tahoma" pitchFamily="34" charset="-120"/>
              </a:rPr>
              <a:t>مدل‌یابی معادلات ساختاری</a:t>
            </a:r>
            <a:endParaRPr lang="fa-IR" sz="1500" dirty="0"/>
          </a:p>
        </p:txBody>
      </p:sp>
      <p:sp>
        <p:nvSpPr>
          <p:cNvPr id="25" name="A04_z_167b"/>
          <p:cNvSpPr/>
          <p:nvPr/>
        </p:nvSpPr>
        <p:spPr>
          <a:xfrm>
            <a:off x="603504" y="1280160"/>
            <a:ext cx="2651760" cy="1965960"/>
          </a:xfrm>
          <a:prstGeom prst="roundRect">
            <a:avLst>
              <a:gd name="adj" fmla="val 5581"/>
            </a:avLst>
          </a:prstGeom>
          <a:solidFill>
            <a:srgbClr val="F4F6F7"/>
          </a:solidFill>
          <a:ln w="12700">
            <a:solidFill>
              <a:srgbClr val="F4F6F7"/>
            </a:solidFill>
            <a:prstDash val="solid"/>
          </a:ln>
        </p:spPr>
      </p:sp>
      <p:sp>
        <p:nvSpPr>
          <p:cNvPr id="26" name="A04_z_168c"/>
          <p:cNvSpPr/>
          <p:nvPr/>
        </p:nvSpPr>
        <p:spPr>
          <a:xfrm>
            <a:off x="1600200" y="1444752"/>
            <a:ext cx="658368" cy="658368"/>
          </a:xfrm>
          <a:prstGeom prst="ellipse">
            <a:avLst/>
          </a:prstGeom>
          <a:solidFill>
            <a:srgbClr val="D9674A"/>
          </a:solidFill>
          <a:ln w="12700">
            <a:solidFill>
              <a:srgbClr val="D9674A"/>
            </a:solidFill>
            <a:prstDash val="solid"/>
          </a:ln>
        </p:spPr>
      </p:sp>
      <p:pic>
        <p:nvPicPr>
          <p:cNvPr id="27" name="A04_z_168i" descr="preencoded.png"/>
          <p:cNvPicPr>
            <a:picLocks noChangeAspect="1"/>
          </p:cNvPicPr>
          <p:nvPr/>
        </p:nvPicPr>
        <p:blipFill>
          <a:blip r:embed="rId7"/>
          <a:stretch>
            <a:fillRect/>
          </a:stretch>
        </p:blipFill>
        <p:spPr>
          <a:xfrm>
            <a:off x="1745041" y="1589593"/>
            <a:ext cx="368686" cy="368686"/>
          </a:xfrm>
          <a:prstGeom prst="rect">
            <a:avLst/>
          </a:prstGeom>
        </p:spPr>
      </p:pic>
      <p:sp>
        <p:nvSpPr>
          <p:cNvPr id="28" name="A04_z_169"/>
          <p:cNvSpPr txBox="1"/>
          <p:nvPr/>
        </p:nvSpPr>
        <p:spPr>
          <a:xfrm>
            <a:off x="694944" y="2194560"/>
            <a:ext cx="2468880" cy="320040"/>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گردآوری داده‌ها</a:t>
            </a:r>
            <a:endParaRPr lang="fa-IR" sz="1200" dirty="0"/>
          </a:p>
        </p:txBody>
      </p:sp>
      <p:sp>
        <p:nvSpPr>
          <p:cNvPr id="29" name="A04_z_170"/>
          <p:cNvSpPr txBox="1"/>
          <p:nvPr/>
        </p:nvSpPr>
        <p:spPr>
          <a:xfrm>
            <a:off x="694944" y="2487168"/>
            <a:ext cx="2468880" cy="713232"/>
          </a:xfrm>
          <a:prstGeom prst="rect">
            <a:avLst/>
          </a:prstGeom>
          <a:noFill/>
          <a:ln/>
        </p:spPr>
        <p:txBody>
          <a:bodyPr wrap="square" lIns="0" tIns="0" rIns="0" bIns="0" rtlCol="0" anchor="ctr"/>
          <a:lstStyle/>
          <a:p>
            <a:pPr marL="0" indent="0" algn="ctr" rtl="1">
              <a:buNone/>
            </a:pPr>
            <a:r>
              <a:rPr lang="fa-IR" altLang="en-US" sz="1500" b="1" dirty="0">
                <a:solidFill>
                  <a:srgbClr val="D9674A"/>
                </a:solidFill>
                <a:latin typeface="Tahoma" pitchFamily="34" charset="0"/>
                <a:ea typeface="Tahoma" pitchFamily="34" charset="-122"/>
                <a:cs typeface="Tahoma" pitchFamily="34" charset="-120"/>
              </a:rPr>
              <a:t>پیمایشی با پرسش‌نامه‌های استاندارد</a:t>
            </a:r>
            <a:endParaRPr lang="fa-IR" sz="1500" dirty="0"/>
          </a:p>
        </p:txBody>
      </p:sp>
      <p:sp>
        <p:nvSpPr>
          <p:cNvPr id="30" name="A05_f_171b"/>
          <p:cNvSpPr/>
          <p:nvPr/>
        </p:nvSpPr>
        <p:spPr>
          <a:xfrm>
            <a:off x="6446520" y="3520440"/>
            <a:ext cx="5257800" cy="2606040"/>
          </a:xfrm>
          <a:prstGeom prst="roundRect">
            <a:avLst>
              <a:gd name="adj" fmla="val 4211"/>
            </a:avLst>
          </a:prstGeom>
          <a:solidFill>
            <a:srgbClr val="E6F2F1"/>
          </a:solidFill>
          <a:ln w="12700">
            <a:solidFill>
              <a:srgbClr val="E6F2F1"/>
            </a:solidFill>
            <a:prstDash val="solid"/>
          </a:ln>
        </p:spPr>
      </p:sp>
      <p:sp>
        <p:nvSpPr>
          <p:cNvPr id="31" name="A05_f_172c"/>
          <p:cNvSpPr/>
          <p:nvPr/>
        </p:nvSpPr>
        <p:spPr>
          <a:xfrm>
            <a:off x="10927080" y="3703320"/>
            <a:ext cx="566928" cy="566928"/>
          </a:xfrm>
          <a:prstGeom prst="ellipse">
            <a:avLst/>
          </a:prstGeom>
          <a:solidFill>
            <a:srgbClr val="0F5257"/>
          </a:solidFill>
          <a:ln w="12700">
            <a:solidFill>
              <a:srgbClr val="0F5257"/>
            </a:solidFill>
            <a:prstDash val="solid"/>
          </a:ln>
        </p:spPr>
      </p:sp>
      <p:pic>
        <p:nvPicPr>
          <p:cNvPr id="32" name="A05_f_172i" descr="preencoded.png"/>
          <p:cNvPicPr>
            <a:picLocks noChangeAspect="1"/>
          </p:cNvPicPr>
          <p:nvPr/>
        </p:nvPicPr>
        <p:blipFill>
          <a:blip r:embed="rId8"/>
          <a:stretch>
            <a:fillRect/>
          </a:stretch>
        </p:blipFill>
        <p:spPr>
          <a:xfrm>
            <a:off x="11051804" y="3828044"/>
            <a:ext cx="317480" cy="317480"/>
          </a:xfrm>
          <a:prstGeom prst="rect">
            <a:avLst/>
          </a:prstGeom>
        </p:spPr>
      </p:pic>
      <p:sp>
        <p:nvSpPr>
          <p:cNvPr id="33" name="A05_f_173"/>
          <p:cNvSpPr txBox="1"/>
          <p:nvPr/>
        </p:nvSpPr>
        <p:spPr>
          <a:xfrm>
            <a:off x="6675120" y="3703320"/>
            <a:ext cx="4114800" cy="566928"/>
          </a:xfrm>
          <a:prstGeom prst="rect">
            <a:avLst/>
          </a:prstGeom>
          <a:noFill/>
          <a:ln/>
        </p:spPr>
        <p:txBody>
          <a:bodyPr wrap="square" lIns="0" tIns="0" rIns="0" bIns="0" rtlCol="0" anchor="ctr"/>
          <a:lstStyle/>
          <a:p>
            <a:pPr marL="0" indent="0" algn="r" rtl="1">
              <a:buNone/>
            </a:pPr>
            <a:r>
              <a:rPr lang="fa-IR" altLang="en-US" sz="1700" b="1" dirty="0">
                <a:solidFill>
                  <a:srgbClr val="0F5257"/>
                </a:solidFill>
                <a:latin typeface="Tahoma" pitchFamily="34" charset="0"/>
                <a:ea typeface="Tahoma" pitchFamily="34" charset="-122"/>
                <a:cs typeface="Tahoma" pitchFamily="34" charset="-120"/>
              </a:rPr>
              <a:t>جامعه آماری</a:t>
            </a:r>
            <a:endParaRPr lang="fa-IR" sz="1700" dirty="0"/>
          </a:p>
        </p:txBody>
      </p:sp>
      <p:sp>
        <p:nvSpPr>
          <p:cNvPr id="34" name="A05_f_174"/>
          <p:cNvSpPr txBox="1"/>
          <p:nvPr/>
        </p:nvSpPr>
        <p:spPr>
          <a:xfrm>
            <a:off x="6675120" y="4434840"/>
            <a:ext cx="4800600" cy="1463040"/>
          </a:xfrm>
          <a:prstGeom prst="rect">
            <a:avLst/>
          </a:prstGeom>
          <a:noFill/>
          <a:ln/>
        </p:spPr>
        <p:txBody>
          <a:bodyPr wrap="square" lIns="0" tIns="0" rIns="0" bIns="0" rtlCol="0" anchor="t"/>
          <a:lstStyle/>
          <a:p>
            <a:pPr marL="342900" indent="-342900" algn="r" rtl="1">
              <a:spcAft>
                <a:spcPts val="800"/>
              </a:spcAft>
              <a:buSzPct val="100000"/>
              <a:buChar char="•"/>
            </a:pPr>
            <a:r>
              <a:rPr lang="fa-IR" altLang="en-US" sz="1500" dirty="0">
                <a:solidFill>
                  <a:srgbClr val="263238"/>
                </a:solidFill>
                <a:latin typeface="Tahoma" pitchFamily="34" charset="0"/>
                <a:ea typeface="Tahoma" pitchFamily="34" charset="-122"/>
                <a:cs typeface="Tahoma" pitchFamily="34" charset="-120"/>
              </a:rPr>
              <a:t>دانشجویان شاغل به تحصیل در شهر تهران</a:t>
            </a:r>
            <a:endParaRPr lang="fa-IR" sz="1500" dirty="0"/>
          </a:p>
          <a:p>
            <a:pPr marL="342900" indent="-342900" algn="r" rtl="1">
              <a:buSzPct val="100000"/>
              <a:buChar char="•"/>
            </a:pPr>
            <a:r>
              <a:rPr lang="fa-IR" altLang="en-US" sz="1500" dirty="0">
                <a:solidFill>
                  <a:srgbClr val="263238"/>
                </a:solidFill>
                <a:latin typeface="Tahoma" pitchFamily="34" charset="0"/>
                <a:ea typeface="Tahoma" pitchFamily="34" charset="-122"/>
                <a:cs typeface="Tahoma" pitchFamily="34" charset="-120"/>
              </a:rPr>
              <a:t>سال تحصیلی ۱۴۰۴ تا ۱۴۰۵</a:t>
            </a:r>
            <a:endParaRPr lang="fa-IR" sz="1500" dirty="0"/>
          </a:p>
        </p:txBody>
      </p:sp>
      <p:sp>
        <p:nvSpPr>
          <p:cNvPr id="35" name="A06_f_175b"/>
          <p:cNvSpPr/>
          <p:nvPr/>
        </p:nvSpPr>
        <p:spPr>
          <a:xfrm>
            <a:off x="457200" y="3520440"/>
            <a:ext cx="5760720" cy="2606040"/>
          </a:xfrm>
          <a:prstGeom prst="roundRect">
            <a:avLst>
              <a:gd name="adj" fmla="val 4211"/>
            </a:avLst>
          </a:prstGeom>
          <a:solidFill>
            <a:srgbClr val="FBECE7"/>
          </a:solidFill>
          <a:ln w="12700">
            <a:solidFill>
              <a:srgbClr val="FBECE7"/>
            </a:solidFill>
            <a:prstDash val="solid"/>
          </a:ln>
        </p:spPr>
      </p:sp>
      <p:sp>
        <p:nvSpPr>
          <p:cNvPr id="36" name="A06_z_176"/>
          <p:cNvSpPr txBox="1"/>
          <p:nvPr/>
        </p:nvSpPr>
        <p:spPr>
          <a:xfrm>
            <a:off x="3749040" y="3657600"/>
            <a:ext cx="2286000" cy="1325880"/>
          </a:xfrm>
          <a:prstGeom prst="rect">
            <a:avLst/>
          </a:prstGeom>
          <a:noFill/>
          <a:ln/>
        </p:spPr>
        <p:txBody>
          <a:bodyPr wrap="square" lIns="0" tIns="0" rIns="0" bIns="0" rtlCol="0" anchor="ctr"/>
          <a:lstStyle/>
          <a:p>
            <a:pPr marL="0" indent="0" algn="ctr" rtl="1">
              <a:buNone/>
            </a:pPr>
            <a:r>
              <a:rPr lang="fa-IR" altLang="en-US" sz="6600" b="1" dirty="0">
                <a:solidFill>
                  <a:srgbClr val="D9674A"/>
                </a:solidFill>
                <a:latin typeface="Tahoma" pitchFamily="34" charset="0"/>
                <a:ea typeface="Tahoma" pitchFamily="34" charset="-122"/>
                <a:cs typeface="Tahoma" pitchFamily="34" charset="-120"/>
              </a:rPr>
              <a:t>۲۰۰</a:t>
            </a:r>
            <a:endParaRPr lang="fa-IR" sz="6600" dirty="0"/>
          </a:p>
        </p:txBody>
      </p:sp>
      <p:sp>
        <p:nvSpPr>
          <p:cNvPr id="37" name="A06_z_177"/>
          <p:cNvSpPr txBox="1"/>
          <p:nvPr/>
        </p:nvSpPr>
        <p:spPr>
          <a:xfrm>
            <a:off x="3749040" y="4937760"/>
            <a:ext cx="2286000" cy="365760"/>
          </a:xfrm>
          <a:prstGeom prst="rect">
            <a:avLst/>
          </a:prstGeom>
          <a:noFill/>
          <a:ln/>
        </p:spPr>
        <p:txBody>
          <a:bodyPr wrap="square" lIns="0" tIns="0" rIns="0" bIns="0" rtlCol="0" anchor="t"/>
          <a:lstStyle/>
          <a:p>
            <a:pPr marL="0" indent="0" algn="ctr" rtl="1">
              <a:buNone/>
            </a:pPr>
            <a:r>
              <a:rPr lang="fa-IR" altLang="en-US" sz="1400" b="1" dirty="0">
                <a:solidFill>
                  <a:srgbClr val="263238"/>
                </a:solidFill>
                <a:latin typeface="Tahoma" pitchFamily="34" charset="0"/>
                <a:ea typeface="Tahoma" pitchFamily="34" charset="-122"/>
                <a:cs typeface="Tahoma" pitchFamily="34" charset="-120"/>
              </a:rPr>
              <a:t>نفر شرکت‌کننده</a:t>
            </a:r>
            <a:endParaRPr lang="fa-IR" sz="1400" dirty="0"/>
          </a:p>
        </p:txBody>
      </p:sp>
      <p:sp>
        <p:nvSpPr>
          <p:cNvPr id="38" name="A07_f_178"/>
          <p:cNvSpPr txBox="1"/>
          <p:nvPr/>
        </p:nvSpPr>
        <p:spPr>
          <a:xfrm>
            <a:off x="685800" y="3703320"/>
            <a:ext cx="2926080" cy="566928"/>
          </a:xfrm>
          <a:prstGeom prst="rect">
            <a:avLst/>
          </a:prstGeom>
          <a:noFill/>
          <a:ln/>
        </p:spPr>
        <p:txBody>
          <a:bodyPr wrap="square" lIns="0" tIns="0" rIns="0" bIns="0" rtlCol="0" anchor="ctr"/>
          <a:lstStyle/>
          <a:p>
            <a:pPr marL="0" indent="0" algn="r" rtl="1">
              <a:buNone/>
            </a:pPr>
            <a:r>
              <a:rPr lang="fa-IR" altLang="en-US" sz="1700" b="1" dirty="0">
                <a:solidFill>
                  <a:srgbClr val="D9674A"/>
                </a:solidFill>
                <a:latin typeface="Tahoma" pitchFamily="34" charset="0"/>
                <a:ea typeface="Tahoma" pitchFamily="34" charset="-122"/>
                <a:cs typeface="Tahoma" pitchFamily="34" charset="-120"/>
              </a:rPr>
              <a:t>نمونه و نمونه‌گیری</a:t>
            </a:r>
            <a:endParaRPr lang="fa-IR" sz="1700" dirty="0"/>
          </a:p>
        </p:txBody>
      </p:sp>
      <p:sp>
        <p:nvSpPr>
          <p:cNvPr id="39" name="A07_f_179"/>
          <p:cNvSpPr txBox="1"/>
          <p:nvPr/>
        </p:nvSpPr>
        <p:spPr>
          <a:xfrm>
            <a:off x="685800" y="4434840"/>
            <a:ext cx="2926080" cy="1463040"/>
          </a:xfrm>
          <a:prstGeom prst="rect">
            <a:avLst/>
          </a:prstGeom>
          <a:noFill/>
          <a:ln/>
        </p:spPr>
        <p:txBody>
          <a:bodyPr wrap="square" lIns="0" tIns="0" rIns="0" bIns="0" rtlCol="0" anchor="t"/>
          <a:lstStyle/>
          <a:p>
            <a:pPr marL="342900" indent="-342900" algn="r" rtl="1">
              <a:spcAft>
                <a:spcPts val="800"/>
              </a:spcAft>
              <a:buSzPct val="100000"/>
              <a:buChar char="•"/>
            </a:pPr>
            <a:r>
              <a:rPr lang="fa-IR" altLang="en-US" sz="1500" dirty="0">
                <a:solidFill>
                  <a:srgbClr val="263238"/>
                </a:solidFill>
                <a:latin typeface="Tahoma" pitchFamily="34" charset="0"/>
                <a:ea typeface="Tahoma" pitchFamily="34" charset="-122"/>
                <a:cs typeface="Tahoma" pitchFamily="34" charset="-120"/>
              </a:rPr>
              <a:t>نمونه‌گیری در دسترس</a:t>
            </a:r>
            <a:endParaRPr lang="fa-IR" sz="1500" dirty="0"/>
          </a:p>
          <a:p>
            <a:pPr marL="342900" indent="-342900" algn="r" rtl="1">
              <a:buSzPct val="100000"/>
              <a:buChar char="•"/>
            </a:pPr>
            <a:r>
              <a:rPr lang="fa-IR" altLang="en-US" sz="1500" dirty="0">
                <a:solidFill>
                  <a:srgbClr val="263238"/>
                </a:solidFill>
                <a:latin typeface="Tahoma" pitchFamily="34" charset="0"/>
                <a:ea typeface="Tahoma" pitchFamily="34" charset="-122"/>
                <a:cs typeface="Tahoma" pitchFamily="34" charset="-120"/>
              </a:rPr>
              <a:t>انتشار پرسش‌نامه در بسترهای مجازی</a:t>
            </a:r>
            <a:endParaRPr lang="fa-IR" sz="15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450" fill="hold"/>
                                        <p:tgtEl>
                                          <p:spTgt spid="10"/>
                                        </p:tgtEl>
                                        <p:attrNameLst>
                                          <p:attrName>ppt_w</p:attrName>
                                        </p:attrNameLst>
                                      </p:cBhvr>
                                      <p:tavLst>
                                        <p:tav tm="0">
                                          <p:val>
                                            <p:fltVal val="0"/>
                                          </p:val>
                                        </p:tav>
                                        <p:tav tm="100000">
                                          <p:val>
                                            <p:strVal val="#ppt_w"/>
                                          </p:val>
                                        </p:tav>
                                      </p:tavLst>
                                    </p:anim>
                                    <p:anim calcmode="lin" valueType="num">
                                      <p:cBhvr>
                                        <p:cTn id="8" dur="450" fill="hold"/>
                                        <p:tgtEl>
                                          <p:spTgt spid="10"/>
                                        </p:tgtEl>
                                        <p:attrNameLst>
                                          <p:attrName>ppt_h</p:attrName>
                                        </p:attrNameLst>
                                      </p:cBhvr>
                                      <p:tavLst>
                                        <p:tav tm="0">
                                          <p:val>
                                            <p:fltVal val="0"/>
                                          </p:val>
                                        </p:tav>
                                        <p:tav tm="100000">
                                          <p:val>
                                            <p:strVal val="#ppt_h"/>
                                          </p:val>
                                        </p:tav>
                                      </p:tavLst>
                                    </p:anim>
                                    <p:animEffect transition="in" filter="fade">
                                      <p:cBhvr>
                                        <p:cTn id="9" dur="45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450" fill="hold"/>
                                        <p:tgtEl>
                                          <p:spTgt spid="11"/>
                                        </p:tgtEl>
                                        <p:attrNameLst>
                                          <p:attrName>ppt_w</p:attrName>
                                        </p:attrNameLst>
                                      </p:cBhvr>
                                      <p:tavLst>
                                        <p:tav tm="0">
                                          <p:val>
                                            <p:fltVal val="0"/>
                                          </p:val>
                                        </p:tav>
                                        <p:tav tm="100000">
                                          <p:val>
                                            <p:strVal val="#ppt_w"/>
                                          </p:val>
                                        </p:tav>
                                      </p:tavLst>
                                    </p:anim>
                                    <p:anim calcmode="lin" valueType="num">
                                      <p:cBhvr>
                                        <p:cTn id="13" dur="450" fill="hold"/>
                                        <p:tgtEl>
                                          <p:spTgt spid="11"/>
                                        </p:tgtEl>
                                        <p:attrNameLst>
                                          <p:attrName>ppt_h</p:attrName>
                                        </p:attrNameLst>
                                      </p:cBhvr>
                                      <p:tavLst>
                                        <p:tav tm="0">
                                          <p:val>
                                            <p:fltVal val="0"/>
                                          </p:val>
                                        </p:tav>
                                        <p:tav tm="100000">
                                          <p:val>
                                            <p:strVal val="#ppt_h"/>
                                          </p:val>
                                        </p:tav>
                                      </p:tavLst>
                                    </p:anim>
                                    <p:animEffect transition="in" filter="fade">
                                      <p:cBhvr>
                                        <p:cTn id="14" dur="450"/>
                                        <p:tgtEl>
                                          <p:spTgt spid="11"/>
                                        </p:tgtEl>
                                      </p:cBhvr>
                                    </p:animEffect>
                                  </p:childTnLst>
                                </p:cTn>
                              </p:par>
                              <p:par>
                                <p:cTn id="15" presetID="53" presetClass="entr" presetSubtype="16"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450" fill="hold"/>
                                        <p:tgtEl>
                                          <p:spTgt spid="12"/>
                                        </p:tgtEl>
                                        <p:attrNameLst>
                                          <p:attrName>ppt_w</p:attrName>
                                        </p:attrNameLst>
                                      </p:cBhvr>
                                      <p:tavLst>
                                        <p:tav tm="0">
                                          <p:val>
                                            <p:fltVal val="0"/>
                                          </p:val>
                                        </p:tav>
                                        <p:tav tm="100000">
                                          <p:val>
                                            <p:strVal val="#ppt_w"/>
                                          </p:val>
                                        </p:tav>
                                      </p:tavLst>
                                    </p:anim>
                                    <p:anim calcmode="lin" valueType="num">
                                      <p:cBhvr>
                                        <p:cTn id="18" dur="450" fill="hold"/>
                                        <p:tgtEl>
                                          <p:spTgt spid="12"/>
                                        </p:tgtEl>
                                        <p:attrNameLst>
                                          <p:attrName>ppt_h</p:attrName>
                                        </p:attrNameLst>
                                      </p:cBhvr>
                                      <p:tavLst>
                                        <p:tav tm="0">
                                          <p:val>
                                            <p:fltVal val="0"/>
                                          </p:val>
                                        </p:tav>
                                        <p:tav tm="100000">
                                          <p:val>
                                            <p:strVal val="#ppt_h"/>
                                          </p:val>
                                        </p:tav>
                                      </p:tavLst>
                                    </p:anim>
                                    <p:animEffect transition="in" filter="fade">
                                      <p:cBhvr>
                                        <p:cTn id="19" dur="450"/>
                                        <p:tgtEl>
                                          <p:spTgt spid="12"/>
                                        </p:tgtEl>
                                      </p:cBhvr>
                                    </p:animEffect>
                                  </p:childTnLst>
                                </p:cTn>
                              </p:par>
                              <p:par>
                                <p:cTn id="20" presetID="53" presetClass="entr" presetSubtype="16"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450" fill="hold"/>
                                        <p:tgtEl>
                                          <p:spTgt spid="13"/>
                                        </p:tgtEl>
                                        <p:attrNameLst>
                                          <p:attrName>ppt_w</p:attrName>
                                        </p:attrNameLst>
                                      </p:cBhvr>
                                      <p:tavLst>
                                        <p:tav tm="0">
                                          <p:val>
                                            <p:fltVal val="0"/>
                                          </p:val>
                                        </p:tav>
                                        <p:tav tm="100000">
                                          <p:val>
                                            <p:strVal val="#ppt_w"/>
                                          </p:val>
                                        </p:tav>
                                      </p:tavLst>
                                    </p:anim>
                                    <p:anim calcmode="lin" valueType="num">
                                      <p:cBhvr>
                                        <p:cTn id="23" dur="450" fill="hold"/>
                                        <p:tgtEl>
                                          <p:spTgt spid="13"/>
                                        </p:tgtEl>
                                        <p:attrNameLst>
                                          <p:attrName>ppt_h</p:attrName>
                                        </p:attrNameLst>
                                      </p:cBhvr>
                                      <p:tavLst>
                                        <p:tav tm="0">
                                          <p:val>
                                            <p:fltVal val="0"/>
                                          </p:val>
                                        </p:tav>
                                        <p:tav tm="100000">
                                          <p:val>
                                            <p:strVal val="#ppt_h"/>
                                          </p:val>
                                        </p:tav>
                                      </p:tavLst>
                                    </p:anim>
                                    <p:animEffect transition="in" filter="fade">
                                      <p:cBhvr>
                                        <p:cTn id="24" dur="450"/>
                                        <p:tgtEl>
                                          <p:spTgt spid="13"/>
                                        </p:tgtEl>
                                      </p:cBhvr>
                                    </p:animEffect>
                                  </p:childTnLst>
                                </p:cTn>
                              </p:par>
                              <p:par>
                                <p:cTn id="25" presetID="53" presetClass="entr" presetSubtype="16"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450" fill="hold"/>
                                        <p:tgtEl>
                                          <p:spTgt spid="14"/>
                                        </p:tgtEl>
                                        <p:attrNameLst>
                                          <p:attrName>ppt_w</p:attrName>
                                        </p:attrNameLst>
                                      </p:cBhvr>
                                      <p:tavLst>
                                        <p:tav tm="0">
                                          <p:val>
                                            <p:fltVal val="0"/>
                                          </p:val>
                                        </p:tav>
                                        <p:tav tm="100000">
                                          <p:val>
                                            <p:strVal val="#ppt_w"/>
                                          </p:val>
                                        </p:tav>
                                      </p:tavLst>
                                    </p:anim>
                                    <p:anim calcmode="lin" valueType="num">
                                      <p:cBhvr>
                                        <p:cTn id="28" dur="450" fill="hold"/>
                                        <p:tgtEl>
                                          <p:spTgt spid="14"/>
                                        </p:tgtEl>
                                        <p:attrNameLst>
                                          <p:attrName>ppt_h</p:attrName>
                                        </p:attrNameLst>
                                      </p:cBhvr>
                                      <p:tavLst>
                                        <p:tav tm="0">
                                          <p:val>
                                            <p:fltVal val="0"/>
                                          </p:val>
                                        </p:tav>
                                        <p:tav tm="100000">
                                          <p:val>
                                            <p:strVal val="#ppt_h"/>
                                          </p:val>
                                        </p:tav>
                                      </p:tavLst>
                                    </p:anim>
                                    <p:animEffect transition="in" filter="fade">
                                      <p:cBhvr>
                                        <p:cTn id="29" dur="450"/>
                                        <p:tgtEl>
                                          <p:spTgt spid="14"/>
                                        </p:tgtEl>
                                      </p:cBhvr>
                                    </p:animEffect>
                                  </p:childTnLst>
                                </p:cTn>
                              </p:par>
                            </p:childTnLst>
                          </p:cTn>
                        </p:par>
                        <p:par>
                          <p:cTn id="30" fill="hold">
                            <p:stCondLst>
                              <p:cond delay="300"/>
                            </p:stCondLst>
                            <p:childTnLst>
                              <p:par>
                                <p:cTn id="31" presetID="53" presetClass="entr" presetSubtype="16" fill="hold" nodeType="after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450" fill="hold"/>
                                        <p:tgtEl>
                                          <p:spTgt spid="15"/>
                                        </p:tgtEl>
                                        <p:attrNameLst>
                                          <p:attrName>ppt_w</p:attrName>
                                        </p:attrNameLst>
                                      </p:cBhvr>
                                      <p:tavLst>
                                        <p:tav tm="0">
                                          <p:val>
                                            <p:fltVal val="0"/>
                                          </p:val>
                                        </p:tav>
                                        <p:tav tm="100000">
                                          <p:val>
                                            <p:strVal val="#ppt_w"/>
                                          </p:val>
                                        </p:tav>
                                      </p:tavLst>
                                    </p:anim>
                                    <p:anim calcmode="lin" valueType="num">
                                      <p:cBhvr>
                                        <p:cTn id="34" dur="450" fill="hold"/>
                                        <p:tgtEl>
                                          <p:spTgt spid="15"/>
                                        </p:tgtEl>
                                        <p:attrNameLst>
                                          <p:attrName>ppt_h</p:attrName>
                                        </p:attrNameLst>
                                      </p:cBhvr>
                                      <p:tavLst>
                                        <p:tav tm="0">
                                          <p:val>
                                            <p:fltVal val="0"/>
                                          </p:val>
                                        </p:tav>
                                        <p:tav tm="100000">
                                          <p:val>
                                            <p:strVal val="#ppt_h"/>
                                          </p:val>
                                        </p:tav>
                                      </p:tavLst>
                                    </p:anim>
                                    <p:animEffect transition="in" filter="fade">
                                      <p:cBhvr>
                                        <p:cTn id="35" dur="450"/>
                                        <p:tgtEl>
                                          <p:spTgt spid="15"/>
                                        </p:tgtEl>
                                      </p:cBhvr>
                                    </p:animEffect>
                                  </p:childTnLst>
                                </p:cTn>
                              </p:par>
                              <p:par>
                                <p:cTn id="36" presetID="53" presetClass="entr" presetSubtype="16"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p:cTn id="38" dur="450" fill="hold"/>
                                        <p:tgtEl>
                                          <p:spTgt spid="16"/>
                                        </p:tgtEl>
                                        <p:attrNameLst>
                                          <p:attrName>ppt_w</p:attrName>
                                        </p:attrNameLst>
                                      </p:cBhvr>
                                      <p:tavLst>
                                        <p:tav tm="0">
                                          <p:val>
                                            <p:fltVal val="0"/>
                                          </p:val>
                                        </p:tav>
                                        <p:tav tm="100000">
                                          <p:val>
                                            <p:strVal val="#ppt_w"/>
                                          </p:val>
                                        </p:tav>
                                      </p:tavLst>
                                    </p:anim>
                                    <p:anim calcmode="lin" valueType="num">
                                      <p:cBhvr>
                                        <p:cTn id="39" dur="450" fill="hold"/>
                                        <p:tgtEl>
                                          <p:spTgt spid="16"/>
                                        </p:tgtEl>
                                        <p:attrNameLst>
                                          <p:attrName>ppt_h</p:attrName>
                                        </p:attrNameLst>
                                      </p:cBhvr>
                                      <p:tavLst>
                                        <p:tav tm="0">
                                          <p:val>
                                            <p:fltVal val="0"/>
                                          </p:val>
                                        </p:tav>
                                        <p:tav tm="100000">
                                          <p:val>
                                            <p:strVal val="#ppt_h"/>
                                          </p:val>
                                        </p:tav>
                                      </p:tavLst>
                                    </p:anim>
                                    <p:animEffect transition="in" filter="fade">
                                      <p:cBhvr>
                                        <p:cTn id="40" dur="450"/>
                                        <p:tgtEl>
                                          <p:spTgt spid="16"/>
                                        </p:tgtEl>
                                      </p:cBhvr>
                                    </p:animEffect>
                                  </p:childTnLst>
                                </p:cTn>
                              </p:par>
                              <p:par>
                                <p:cTn id="41" presetID="53" presetClass="entr" presetSubtype="16"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450" fill="hold"/>
                                        <p:tgtEl>
                                          <p:spTgt spid="17"/>
                                        </p:tgtEl>
                                        <p:attrNameLst>
                                          <p:attrName>ppt_w</p:attrName>
                                        </p:attrNameLst>
                                      </p:cBhvr>
                                      <p:tavLst>
                                        <p:tav tm="0">
                                          <p:val>
                                            <p:fltVal val="0"/>
                                          </p:val>
                                        </p:tav>
                                        <p:tav tm="100000">
                                          <p:val>
                                            <p:strVal val="#ppt_w"/>
                                          </p:val>
                                        </p:tav>
                                      </p:tavLst>
                                    </p:anim>
                                    <p:anim calcmode="lin" valueType="num">
                                      <p:cBhvr>
                                        <p:cTn id="44" dur="450" fill="hold"/>
                                        <p:tgtEl>
                                          <p:spTgt spid="17"/>
                                        </p:tgtEl>
                                        <p:attrNameLst>
                                          <p:attrName>ppt_h</p:attrName>
                                        </p:attrNameLst>
                                      </p:cBhvr>
                                      <p:tavLst>
                                        <p:tav tm="0">
                                          <p:val>
                                            <p:fltVal val="0"/>
                                          </p:val>
                                        </p:tav>
                                        <p:tav tm="100000">
                                          <p:val>
                                            <p:strVal val="#ppt_h"/>
                                          </p:val>
                                        </p:tav>
                                      </p:tavLst>
                                    </p:anim>
                                    <p:animEffect transition="in" filter="fade">
                                      <p:cBhvr>
                                        <p:cTn id="45" dur="450"/>
                                        <p:tgtEl>
                                          <p:spTgt spid="17"/>
                                        </p:tgtEl>
                                      </p:cBhvr>
                                    </p:animEffect>
                                  </p:childTnLst>
                                </p:cTn>
                              </p:par>
                              <p:par>
                                <p:cTn id="46" presetID="53" presetClass="entr" presetSubtype="16"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p:cTn id="48" dur="450" fill="hold"/>
                                        <p:tgtEl>
                                          <p:spTgt spid="18"/>
                                        </p:tgtEl>
                                        <p:attrNameLst>
                                          <p:attrName>ppt_w</p:attrName>
                                        </p:attrNameLst>
                                      </p:cBhvr>
                                      <p:tavLst>
                                        <p:tav tm="0">
                                          <p:val>
                                            <p:fltVal val="0"/>
                                          </p:val>
                                        </p:tav>
                                        <p:tav tm="100000">
                                          <p:val>
                                            <p:strVal val="#ppt_w"/>
                                          </p:val>
                                        </p:tav>
                                      </p:tavLst>
                                    </p:anim>
                                    <p:anim calcmode="lin" valueType="num">
                                      <p:cBhvr>
                                        <p:cTn id="49" dur="450" fill="hold"/>
                                        <p:tgtEl>
                                          <p:spTgt spid="18"/>
                                        </p:tgtEl>
                                        <p:attrNameLst>
                                          <p:attrName>ppt_h</p:attrName>
                                        </p:attrNameLst>
                                      </p:cBhvr>
                                      <p:tavLst>
                                        <p:tav tm="0">
                                          <p:val>
                                            <p:fltVal val="0"/>
                                          </p:val>
                                        </p:tav>
                                        <p:tav tm="100000">
                                          <p:val>
                                            <p:strVal val="#ppt_h"/>
                                          </p:val>
                                        </p:tav>
                                      </p:tavLst>
                                    </p:anim>
                                    <p:animEffect transition="in" filter="fade">
                                      <p:cBhvr>
                                        <p:cTn id="50" dur="450"/>
                                        <p:tgtEl>
                                          <p:spTgt spid="18"/>
                                        </p:tgtEl>
                                      </p:cBhvr>
                                    </p:animEffect>
                                  </p:childTnLst>
                                </p:cTn>
                              </p:par>
                              <p:par>
                                <p:cTn id="51" presetID="53" presetClass="entr" presetSubtype="16"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p:cTn id="53" dur="450" fill="hold"/>
                                        <p:tgtEl>
                                          <p:spTgt spid="19"/>
                                        </p:tgtEl>
                                        <p:attrNameLst>
                                          <p:attrName>ppt_w</p:attrName>
                                        </p:attrNameLst>
                                      </p:cBhvr>
                                      <p:tavLst>
                                        <p:tav tm="0">
                                          <p:val>
                                            <p:fltVal val="0"/>
                                          </p:val>
                                        </p:tav>
                                        <p:tav tm="100000">
                                          <p:val>
                                            <p:strVal val="#ppt_w"/>
                                          </p:val>
                                        </p:tav>
                                      </p:tavLst>
                                    </p:anim>
                                    <p:anim calcmode="lin" valueType="num">
                                      <p:cBhvr>
                                        <p:cTn id="54" dur="450" fill="hold"/>
                                        <p:tgtEl>
                                          <p:spTgt spid="19"/>
                                        </p:tgtEl>
                                        <p:attrNameLst>
                                          <p:attrName>ppt_h</p:attrName>
                                        </p:attrNameLst>
                                      </p:cBhvr>
                                      <p:tavLst>
                                        <p:tav tm="0">
                                          <p:val>
                                            <p:fltVal val="0"/>
                                          </p:val>
                                        </p:tav>
                                        <p:tav tm="100000">
                                          <p:val>
                                            <p:strVal val="#ppt_h"/>
                                          </p:val>
                                        </p:tav>
                                      </p:tavLst>
                                    </p:anim>
                                    <p:animEffect transition="in" filter="fade">
                                      <p:cBhvr>
                                        <p:cTn id="55" dur="450"/>
                                        <p:tgtEl>
                                          <p:spTgt spid="19"/>
                                        </p:tgtEl>
                                      </p:cBhvr>
                                    </p:animEffect>
                                  </p:childTnLst>
                                </p:cTn>
                              </p:par>
                            </p:childTnLst>
                          </p:cTn>
                        </p:par>
                        <p:par>
                          <p:cTn id="56" fill="hold">
                            <p:stCondLst>
                              <p:cond delay="600"/>
                            </p:stCondLst>
                            <p:childTnLst>
                              <p:par>
                                <p:cTn id="57" presetID="53" presetClass="entr" presetSubtype="16" fill="hold" nodeType="after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p:cTn id="59" dur="450" fill="hold"/>
                                        <p:tgtEl>
                                          <p:spTgt spid="20"/>
                                        </p:tgtEl>
                                        <p:attrNameLst>
                                          <p:attrName>ppt_w</p:attrName>
                                        </p:attrNameLst>
                                      </p:cBhvr>
                                      <p:tavLst>
                                        <p:tav tm="0">
                                          <p:val>
                                            <p:fltVal val="0"/>
                                          </p:val>
                                        </p:tav>
                                        <p:tav tm="100000">
                                          <p:val>
                                            <p:strVal val="#ppt_w"/>
                                          </p:val>
                                        </p:tav>
                                      </p:tavLst>
                                    </p:anim>
                                    <p:anim calcmode="lin" valueType="num">
                                      <p:cBhvr>
                                        <p:cTn id="60" dur="450" fill="hold"/>
                                        <p:tgtEl>
                                          <p:spTgt spid="20"/>
                                        </p:tgtEl>
                                        <p:attrNameLst>
                                          <p:attrName>ppt_h</p:attrName>
                                        </p:attrNameLst>
                                      </p:cBhvr>
                                      <p:tavLst>
                                        <p:tav tm="0">
                                          <p:val>
                                            <p:fltVal val="0"/>
                                          </p:val>
                                        </p:tav>
                                        <p:tav tm="100000">
                                          <p:val>
                                            <p:strVal val="#ppt_h"/>
                                          </p:val>
                                        </p:tav>
                                      </p:tavLst>
                                    </p:anim>
                                    <p:animEffect transition="in" filter="fade">
                                      <p:cBhvr>
                                        <p:cTn id="61" dur="450"/>
                                        <p:tgtEl>
                                          <p:spTgt spid="20"/>
                                        </p:tgtEl>
                                      </p:cBhvr>
                                    </p:animEffect>
                                  </p:childTnLst>
                                </p:cTn>
                              </p:par>
                              <p:par>
                                <p:cTn id="62" presetID="53" presetClass="entr" presetSubtype="16"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p:cTn id="64" dur="450" fill="hold"/>
                                        <p:tgtEl>
                                          <p:spTgt spid="21"/>
                                        </p:tgtEl>
                                        <p:attrNameLst>
                                          <p:attrName>ppt_w</p:attrName>
                                        </p:attrNameLst>
                                      </p:cBhvr>
                                      <p:tavLst>
                                        <p:tav tm="0">
                                          <p:val>
                                            <p:fltVal val="0"/>
                                          </p:val>
                                        </p:tav>
                                        <p:tav tm="100000">
                                          <p:val>
                                            <p:strVal val="#ppt_w"/>
                                          </p:val>
                                        </p:tav>
                                      </p:tavLst>
                                    </p:anim>
                                    <p:anim calcmode="lin" valueType="num">
                                      <p:cBhvr>
                                        <p:cTn id="65" dur="450" fill="hold"/>
                                        <p:tgtEl>
                                          <p:spTgt spid="21"/>
                                        </p:tgtEl>
                                        <p:attrNameLst>
                                          <p:attrName>ppt_h</p:attrName>
                                        </p:attrNameLst>
                                      </p:cBhvr>
                                      <p:tavLst>
                                        <p:tav tm="0">
                                          <p:val>
                                            <p:fltVal val="0"/>
                                          </p:val>
                                        </p:tav>
                                        <p:tav tm="100000">
                                          <p:val>
                                            <p:strVal val="#ppt_h"/>
                                          </p:val>
                                        </p:tav>
                                      </p:tavLst>
                                    </p:anim>
                                    <p:animEffect transition="in" filter="fade">
                                      <p:cBhvr>
                                        <p:cTn id="66" dur="450"/>
                                        <p:tgtEl>
                                          <p:spTgt spid="21"/>
                                        </p:tgtEl>
                                      </p:cBhvr>
                                    </p:animEffect>
                                  </p:childTnLst>
                                </p:cTn>
                              </p:par>
                              <p:par>
                                <p:cTn id="67" presetID="53" presetClass="entr" presetSubtype="16"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p:cTn id="69" dur="450" fill="hold"/>
                                        <p:tgtEl>
                                          <p:spTgt spid="22"/>
                                        </p:tgtEl>
                                        <p:attrNameLst>
                                          <p:attrName>ppt_w</p:attrName>
                                        </p:attrNameLst>
                                      </p:cBhvr>
                                      <p:tavLst>
                                        <p:tav tm="0">
                                          <p:val>
                                            <p:fltVal val="0"/>
                                          </p:val>
                                        </p:tav>
                                        <p:tav tm="100000">
                                          <p:val>
                                            <p:strVal val="#ppt_w"/>
                                          </p:val>
                                        </p:tav>
                                      </p:tavLst>
                                    </p:anim>
                                    <p:anim calcmode="lin" valueType="num">
                                      <p:cBhvr>
                                        <p:cTn id="70" dur="450" fill="hold"/>
                                        <p:tgtEl>
                                          <p:spTgt spid="22"/>
                                        </p:tgtEl>
                                        <p:attrNameLst>
                                          <p:attrName>ppt_h</p:attrName>
                                        </p:attrNameLst>
                                      </p:cBhvr>
                                      <p:tavLst>
                                        <p:tav tm="0">
                                          <p:val>
                                            <p:fltVal val="0"/>
                                          </p:val>
                                        </p:tav>
                                        <p:tav tm="100000">
                                          <p:val>
                                            <p:strVal val="#ppt_h"/>
                                          </p:val>
                                        </p:tav>
                                      </p:tavLst>
                                    </p:anim>
                                    <p:animEffect transition="in" filter="fade">
                                      <p:cBhvr>
                                        <p:cTn id="71" dur="450"/>
                                        <p:tgtEl>
                                          <p:spTgt spid="22"/>
                                        </p:tgtEl>
                                      </p:cBhvr>
                                    </p:animEffect>
                                  </p:childTnLst>
                                </p:cTn>
                              </p:par>
                              <p:par>
                                <p:cTn id="72" presetID="53" presetClass="entr" presetSubtype="16"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anim calcmode="lin" valueType="num">
                                      <p:cBhvr>
                                        <p:cTn id="74" dur="450" fill="hold"/>
                                        <p:tgtEl>
                                          <p:spTgt spid="23"/>
                                        </p:tgtEl>
                                        <p:attrNameLst>
                                          <p:attrName>ppt_w</p:attrName>
                                        </p:attrNameLst>
                                      </p:cBhvr>
                                      <p:tavLst>
                                        <p:tav tm="0">
                                          <p:val>
                                            <p:fltVal val="0"/>
                                          </p:val>
                                        </p:tav>
                                        <p:tav tm="100000">
                                          <p:val>
                                            <p:strVal val="#ppt_w"/>
                                          </p:val>
                                        </p:tav>
                                      </p:tavLst>
                                    </p:anim>
                                    <p:anim calcmode="lin" valueType="num">
                                      <p:cBhvr>
                                        <p:cTn id="75" dur="450" fill="hold"/>
                                        <p:tgtEl>
                                          <p:spTgt spid="23"/>
                                        </p:tgtEl>
                                        <p:attrNameLst>
                                          <p:attrName>ppt_h</p:attrName>
                                        </p:attrNameLst>
                                      </p:cBhvr>
                                      <p:tavLst>
                                        <p:tav tm="0">
                                          <p:val>
                                            <p:fltVal val="0"/>
                                          </p:val>
                                        </p:tav>
                                        <p:tav tm="100000">
                                          <p:val>
                                            <p:strVal val="#ppt_h"/>
                                          </p:val>
                                        </p:tav>
                                      </p:tavLst>
                                    </p:anim>
                                    <p:animEffect transition="in" filter="fade">
                                      <p:cBhvr>
                                        <p:cTn id="76" dur="450"/>
                                        <p:tgtEl>
                                          <p:spTgt spid="23"/>
                                        </p:tgtEl>
                                      </p:cBhvr>
                                    </p:animEffect>
                                  </p:childTnLst>
                                </p:cTn>
                              </p:par>
                              <p:par>
                                <p:cTn id="77" presetID="53" presetClass="entr" presetSubtype="16" fill="hold"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p:cTn id="79" dur="450" fill="hold"/>
                                        <p:tgtEl>
                                          <p:spTgt spid="24"/>
                                        </p:tgtEl>
                                        <p:attrNameLst>
                                          <p:attrName>ppt_w</p:attrName>
                                        </p:attrNameLst>
                                      </p:cBhvr>
                                      <p:tavLst>
                                        <p:tav tm="0">
                                          <p:val>
                                            <p:fltVal val="0"/>
                                          </p:val>
                                        </p:tav>
                                        <p:tav tm="100000">
                                          <p:val>
                                            <p:strVal val="#ppt_w"/>
                                          </p:val>
                                        </p:tav>
                                      </p:tavLst>
                                    </p:anim>
                                    <p:anim calcmode="lin" valueType="num">
                                      <p:cBhvr>
                                        <p:cTn id="80" dur="450" fill="hold"/>
                                        <p:tgtEl>
                                          <p:spTgt spid="24"/>
                                        </p:tgtEl>
                                        <p:attrNameLst>
                                          <p:attrName>ppt_h</p:attrName>
                                        </p:attrNameLst>
                                      </p:cBhvr>
                                      <p:tavLst>
                                        <p:tav tm="0">
                                          <p:val>
                                            <p:fltVal val="0"/>
                                          </p:val>
                                        </p:tav>
                                        <p:tav tm="100000">
                                          <p:val>
                                            <p:strVal val="#ppt_h"/>
                                          </p:val>
                                        </p:tav>
                                      </p:tavLst>
                                    </p:anim>
                                    <p:animEffect transition="in" filter="fade">
                                      <p:cBhvr>
                                        <p:cTn id="81" dur="450"/>
                                        <p:tgtEl>
                                          <p:spTgt spid="24"/>
                                        </p:tgtEl>
                                      </p:cBhvr>
                                    </p:animEffect>
                                  </p:childTnLst>
                                </p:cTn>
                              </p:par>
                            </p:childTnLst>
                          </p:cTn>
                        </p:par>
                        <p:par>
                          <p:cTn id="82" fill="hold">
                            <p:stCondLst>
                              <p:cond delay="900"/>
                            </p:stCondLst>
                            <p:childTnLst>
                              <p:par>
                                <p:cTn id="83" presetID="53" presetClass="entr" presetSubtype="16" fill="hold" nodeType="after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p:cTn id="85" dur="450" fill="hold"/>
                                        <p:tgtEl>
                                          <p:spTgt spid="25"/>
                                        </p:tgtEl>
                                        <p:attrNameLst>
                                          <p:attrName>ppt_w</p:attrName>
                                        </p:attrNameLst>
                                      </p:cBhvr>
                                      <p:tavLst>
                                        <p:tav tm="0">
                                          <p:val>
                                            <p:fltVal val="0"/>
                                          </p:val>
                                        </p:tav>
                                        <p:tav tm="100000">
                                          <p:val>
                                            <p:strVal val="#ppt_w"/>
                                          </p:val>
                                        </p:tav>
                                      </p:tavLst>
                                    </p:anim>
                                    <p:anim calcmode="lin" valueType="num">
                                      <p:cBhvr>
                                        <p:cTn id="86" dur="450" fill="hold"/>
                                        <p:tgtEl>
                                          <p:spTgt spid="25"/>
                                        </p:tgtEl>
                                        <p:attrNameLst>
                                          <p:attrName>ppt_h</p:attrName>
                                        </p:attrNameLst>
                                      </p:cBhvr>
                                      <p:tavLst>
                                        <p:tav tm="0">
                                          <p:val>
                                            <p:fltVal val="0"/>
                                          </p:val>
                                        </p:tav>
                                        <p:tav tm="100000">
                                          <p:val>
                                            <p:strVal val="#ppt_h"/>
                                          </p:val>
                                        </p:tav>
                                      </p:tavLst>
                                    </p:anim>
                                    <p:animEffect transition="in" filter="fade">
                                      <p:cBhvr>
                                        <p:cTn id="87" dur="450"/>
                                        <p:tgtEl>
                                          <p:spTgt spid="25"/>
                                        </p:tgtEl>
                                      </p:cBhvr>
                                    </p:animEffect>
                                  </p:childTnLst>
                                </p:cTn>
                              </p:par>
                              <p:par>
                                <p:cTn id="88" presetID="53" presetClass="entr" presetSubtype="16" fill="hold" nodeType="withEffect">
                                  <p:stCondLst>
                                    <p:cond delay="0"/>
                                  </p:stCondLst>
                                  <p:childTnLst>
                                    <p:set>
                                      <p:cBhvr>
                                        <p:cTn id="89" dur="1" fill="hold">
                                          <p:stCondLst>
                                            <p:cond delay="0"/>
                                          </p:stCondLst>
                                        </p:cTn>
                                        <p:tgtEl>
                                          <p:spTgt spid="26"/>
                                        </p:tgtEl>
                                        <p:attrNameLst>
                                          <p:attrName>style.visibility</p:attrName>
                                        </p:attrNameLst>
                                      </p:cBhvr>
                                      <p:to>
                                        <p:strVal val="visible"/>
                                      </p:to>
                                    </p:set>
                                    <p:anim calcmode="lin" valueType="num">
                                      <p:cBhvr>
                                        <p:cTn id="90" dur="450" fill="hold"/>
                                        <p:tgtEl>
                                          <p:spTgt spid="26"/>
                                        </p:tgtEl>
                                        <p:attrNameLst>
                                          <p:attrName>ppt_w</p:attrName>
                                        </p:attrNameLst>
                                      </p:cBhvr>
                                      <p:tavLst>
                                        <p:tav tm="0">
                                          <p:val>
                                            <p:fltVal val="0"/>
                                          </p:val>
                                        </p:tav>
                                        <p:tav tm="100000">
                                          <p:val>
                                            <p:strVal val="#ppt_w"/>
                                          </p:val>
                                        </p:tav>
                                      </p:tavLst>
                                    </p:anim>
                                    <p:anim calcmode="lin" valueType="num">
                                      <p:cBhvr>
                                        <p:cTn id="91" dur="450" fill="hold"/>
                                        <p:tgtEl>
                                          <p:spTgt spid="26"/>
                                        </p:tgtEl>
                                        <p:attrNameLst>
                                          <p:attrName>ppt_h</p:attrName>
                                        </p:attrNameLst>
                                      </p:cBhvr>
                                      <p:tavLst>
                                        <p:tav tm="0">
                                          <p:val>
                                            <p:fltVal val="0"/>
                                          </p:val>
                                        </p:tav>
                                        <p:tav tm="100000">
                                          <p:val>
                                            <p:strVal val="#ppt_h"/>
                                          </p:val>
                                        </p:tav>
                                      </p:tavLst>
                                    </p:anim>
                                    <p:animEffect transition="in" filter="fade">
                                      <p:cBhvr>
                                        <p:cTn id="92" dur="450"/>
                                        <p:tgtEl>
                                          <p:spTgt spid="26"/>
                                        </p:tgtEl>
                                      </p:cBhvr>
                                    </p:animEffect>
                                  </p:childTnLst>
                                </p:cTn>
                              </p:par>
                              <p:par>
                                <p:cTn id="93" presetID="53" presetClass="entr" presetSubtype="16" fill="hold" nodeType="withEffect">
                                  <p:stCondLst>
                                    <p:cond delay="0"/>
                                  </p:stCondLst>
                                  <p:childTnLst>
                                    <p:set>
                                      <p:cBhvr>
                                        <p:cTn id="94" dur="1" fill="hold">
                                          <p:stCondLst>
                                            <p:cond delay="0"/>
                                          </p:stCondLst>
                                        </p:cTn>
                                        <p:tgtEl>
                                          <p:spTgt spid="27"/>
                                        </p:tgtEl>
                                        <p:attrNameLst>
                                          <p:attrName>style.visibility</p:attrName>
                                        </p:attrNameLst>
                                      </p:cBhvr>
                                      <p:to>
                                        <p:strVal val="visible"/>
                                      </p:to>
                                    </p:set>
                                    <p:anim calcmode="lin" valueType="num">
                                      <p:cBhvr>
                                        <p:cTn id="95" dur="450" fill="hold"/>
                                        <p:tgtEl>
                                          <p:spTgt spid="27"/>
                                        </p:tgtEl>
                                        <p:attrNameLst>
                                          <p:attrName>ppt_w</p:attrName>
                                        </p:attrNameLst>
                                      </p:cBhvr>
                                      <p:tavLst>
                                        <p:tav tm="0">
                                          <p:val>
                                            <p:fltVal val="0"/>
                                          </p:val>
                                        </p:tav>
                                        <p:tav tm="100000">
                                          <p:val>
                                            <p:strVal val="#ppt_w"/>
                                          </p:val>
                                        </p:tav>
                                      </p:tavLst>
                                    </p:anim>
                                    <p:anim calcmode="lin" valueType="num">
                                      <p:cBhvr>
                                        <p:cTn id="96" dur="450" fill="hold"/>
                                        <p:tgtEl>
                                          <p:spTgt spid="27"/>
                                        </p:tgtEl>
                                        <p:attrNameLst>
                                          <p:attrName>ppt_h</p:attrName>
                                        </p:attrNameLst>
                                      </p:cBhvr>
                                      <p:tavLst>
                                        <p:tav tm="0">
                                          <p:val>
                                            <p:fltVal val="0"/>
                                          </p:val>
                                        </p:tav>
                                        <p:tav tm="100000">
                                          <p:val>
                                            <p:strVal val="#ppt_h"/>
                                          </p:val>
                                        </p:tav>
                                      </p:tavLst>
                                    </p:anim>
                                    <p:animEffect transition="in" filter="fade">
                                      <p:cBhvr>
                                        <p:cTn id="97" dur="450"/>
                                        <p:tgtEl>
                                          <p:spTgt spid="27"/>
                                        </p:tgtEl>
                                      </p:cBhvr>
                                    </p:animEffect>
                                  </p:childTnLst>
                                </p:cTn>
                              </p:par>
                              <p:par>
                                <p:cTn id="98" presetID="53" presetClass="entr" presetSubtype="16" fill="hold" nodeType="with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p:cTn id="100" dur="450" fill="hold"/>
                                        <p:tgtEl>
                                          <p:spTgt spid="28"/>
                                        </p:tgtEl>
                                        <p:attrNameLst>
                                          <p:attrName>ppt_w</p:attrName>
                                        </p:attrNameLst>
                                      </p:cBhvr>
                                      <p:tavLst>
                                        <p:tav tm="0">
                                          <p:val>
                                            <p:fltVal val="0"/>
                                          </p:val>
                                        </p:tav>
                                        <p:tav tm="100000">
                                          <p:val>
                                            <p:strVal val="#ppt_w"/>
                                          </p:val>
                                        </p:tav>
                                      </p:tavLst>
                                    </p:anim>
                                    <p:anim calcmode="lin" valueType="num">
                                      <p:cBhvr>
                                        <p:cTn id="101" dur="450" fill="hold"/>
                                        <p:tgtEl>
                                          <p:spTgt spid="28"/>
                                        </p:tgtEl>
                                        <p:attrNameLst>
                                          <p:attrName>ppt_h</p:attrName>
                                        </p:attrNameLst>
                                      </p:cBhvr>
                                      <p:tavLst>
                                        <p:tav tm="0">
                                          <p:val>
                                            <p:fltVal val="0"/>
                                          </p:val>
                                        </p:tav>
                                        <p:tav tm="100000">
                                          <p:val>
                                            <p:strVal val="#ppt_h"/>
                                          </p:val>
                                        </p:tav>
                                      </p:tavLst>
                                    </p:anim>
                                    <p:animEffect transition="in" filter="fade">
                                      <p:cBhvr>
                                        <p:cTn id="102" dur="450"/>
                                        <p:tgtEl>
                                          <p:spTgt spid="28"/>
                                        </p:tgtEl>
                                      </p:cBhvr>
                                    </p:animEffect>
                                  </p:childTnLst>
                                </p:cTn>
                              </p:par>
                              <p:par>
                                <p:cTn id="103" presetID="53" presetClass="entr" presetSubtype="16" fill="hold" nodeType="with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p:cTn id="105" dur="450" fill="hold"/>
                                        <p:tgtEl>
                                          <p:spTgt spid="29"/>
                                        </p:tgtEl>
                                        <p:attrNameLst>
                                          <p:attrName>ppt_w</p:attrName>
                                        </p:attrNameLst>
                                      </p:cBhvr>
                                      <p:tavLst>
                                        <p:tav tm="0">
                                          <p:val>
                                            <p:fltVal val="0"/>
                                          </p:val>
                                        </p:tav>
                                        <p:tav tm="100000">
                                          <p:val>
                                            <p:strVal val="#ppt_w"/>
                                          </p:val>
                                        </p:tav>
                                      </p:tavLst>
                                    </p:anim>
                                    <p:anim calcmode="lin" valueType="num">
                                      <p:cBhvr>
                                        <p:cTn id="106" dur="450" fill="hold"/>
                                        <p:tgtEl>
                                          <p:spTgt spid="29"/>
                                        </p:tgtEl>
                                        <p:attrNameLst>
                                          <p:attrName>ppt_h</p:attrName>
                                        </p:attrNameLst>
                                      </p:cBhvr>
                                      <p:tavLst>
                                        <p:tav tm="0">
                                          <p:val>
                                            <p:fltVal val="0"/>
                                          </p:val>
                                        </p:tav>
                                        <p:tav tm="100000">
                                          <p:val>
                                            <p:strVal val="#ppt_h"/>
                                          </p:val>
                                        </p:tav>
                                      </p:tavLst>
                                    </p:anim>
                                    <p:animEffect transition="in" filter="fade">
                                      <p:cBhvr>
                                        <p:cTn id="107" dur="450"/>
                                        <p:tgtEl>
                                          <p:spTgt spid="29"/>
                                        </p:tgtEl>
                                      </p:cBhvr>
                                    </p:animEffect>
                                  </p:childTnLst>
                                </p:cTn>
                              </p:par>
                            </p:childTnLst>
                          </p:cTn>
                        </p:par>
                        <p:par>
                          <p:cTn id="108" fill="hold">
                            <p:stCondLst>
                              <p:cond delay="1200"/>
                            </p:stCondLst>
                            <p:childTnLst>
                              <p:par>
                                <p:cTn id="109" presetID="10" presetClass="entr" presetSubtype="0" fill="hold" nodeType="after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fade">
                                      <p:cBhvr>
                                        <p:cTn id="111" dur="450"/>
                                        <p:tgtEl>
                                          <p:spTgt spid="30"/>
                                        </p:tgtEl>
                                      </p:cBhvr>
                                    </p:animEffect>
                                  </p:childTnLst>
                                </p:cTn>
                              </p:par>
                              <p:par>
                                <p:cTn id="112" presetID="10" presetClass="entr" presetSubtype="0" fill="hold" nodeType="withEffect">
                                  <p:stCondLst>
                                    <p:cond delay="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450"/>
                                        <p:tgtEl>
                                          <p:spTgt spid="31"/>
                                        </p:tgtEl>
                                      </p:cBhvr>
                                    </p:animEffect>
                                  </p:childTnLst>
                                </p:cTn>
                              </p:par>
                              <p:par>
                                <p:cTn id="115" presetID="10" presetClass="entr" presetSubtype="0" fill="hold" nodeType="with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450"/>
                                        <p:tgtEl>
                                          <p:spTgt spid="32"/>
                                        </p:tgtEl>
                                      </p:cBhvr>
                                    </p:animEffect>
                                  </p:childTnLst>
                                </p:cTn>
                              </p:par>
                              <p:par>
                                <p:cTn id="118" presetID="10" presetClass="entr" presetSubtype="0" fill="hold" nodeType="withEffect">
                                  <p:stCondLst>
                                    <p:cond delay="0"/>
                                  </p:stCondLst>
                                  <p:childTnLst>
                                    <p:set>
                                      <p:cBhvr>
                                        <p:cTn id="119" dur="1" fill="hold">
                                          <p:stCondLst>
                                            <p:cond delay="0"/>
                                          </p:stCondLst>
                                        </p:cTn>
                                        <p:tgtEl>
                                          <p:spTgt spid="33"/>
                                        </p:tgtEl>
                                        <p:attrNameLst>
                                          <p:attrName>style.visibility</p:attrName>
                                        </p:attrNameLst>
                                      </p:cBhvr>
                                      <p:to>
                                        <p:strVal val="visible"/>
                                      </p:to>
                                    </p:set>
                                    <p:animEffect transition="in" filter="fade">
                                      <p:cBhvr>
                                        <p:cTn id="120" dur="450"/>
                                        <p:tgtEl>
                                          <p:spTgt spid="33"/>
                                        </p:tgtEl>
                                      </p:cBhvr>
                                    </p:animEffect>
                                  </p:childTnLst>
                                </p:cTn>
                              </p:par>
                              <p:par>
                                <p:cTn id="121" presetID="10" presetClass="entr" presetSubtype="0" fill="hold" nodeType="withEffect">
                                  <p:stCondLst>
                                    <p:cond delay="0"/>
                                  </p:stCondLst>
                                  <p:childTnLst>
                                    <p:set>
                                      <p:cBhvr>
                                        <p:cTn id="122" dur="1" fill="hold">
                                          <p:stCondLst>
                                            <p:cond delay="0"/>
                                          </p:stCondLst>
                                        </p:cTn>
                                        <p:tgtEl>
                                          <p:spTgt spid="34"/>
                                        </p:tgtEl>
                                        <p:attrNameLst>
                                          <p:attrName>style.visibility</p:attrName>
                                        </p:attrNameLst>
                                      </p:cBhvr>
                                      <p:to>
                                        <p:strVal val="visible"/>
                                      </p:to>
                                    </p:set>
                                    <p:animEffect transition="in" filter="fade">
                                      <p:cBhvr>
                                        <p:cTn id="123" dur="450"/>
                                        <p:tgtEl>
                                          <p:spTgt spid="34"/>
                                        </p:tgtEl>
                                      </p:cBhvr>
                                    </p:animEffect>
                                  </p:childTnLst>
                                </p:cTn>
                              </p:par>
                            </p:childTnLst>
                          </p:cTn>
                        </p:par>
                        <p:par>
                          <p:cTn id="124" fill="hold">
                            <p:stCondLst>
                              <p:cond delay="1500"/>
                            </p:stCondLst>
                            <p:childTnLst>
                              <p:par>
                                <p:cTn id="125" presetID="10" presetClass="entr" presetSubtype="0" fill="hold" nodeType="afterEffect">
                                  <p:stCondLst>
                                    <p:cond delay="0"/>
                                  </p:stCondLst>
                                  <p:childTnLst>
                                    <p:set>
                                      <p:cBhvr>
                                        <p:cTn id="126" dur="1" fill="hold">
                                          <p:stCondLst>
                                            <p:cond delay="0"/>
                                          </p:stCondLst>
                                        </p:cTn>
                                        <p:tgtEl>
                                          <p:spTgt spid="35"/>
                                        </p:tgtEl>
                                        <p:attrNameLst>
                                          <p:attrName>style.visibility</p:attrName>
                                        </p:attrNameLst>
                                      </p:cBhvr>
                                      <p:to>
                                        <p:strVal val="visible"/>
                                      </p:to>
                                    </p:set>
                                    <p:animEffect transition="in" filter="fade">
                                      <p:cBhvr>
                                        <p:cTn id="127" dur="450"/>
                                        <p:tgtEl>
                                          <p:spTgt spid="35"/>
                                        </p:tgtEl>
                                      </p:cBhvr>
                                    </p:animEffect>
                                  </p:childTnLst>
                                </p:cTn>
                              </p:par>
                              <p:par>
                                <p:cTn id="128" presetID="53" presetClass="entr" presetSubtype="16" fill="hold" nodeType="withEffect">
                                  <p:stCondLst>
                                    <p:cond delay="0"/>
                                  </p:stCondLst>
                                  <p:childTnLst>
                                    <p:set>
                                      <p:cBhvr>
                                        <p:cTn id="129" dur="1" fill="hold">
                                          <p:stCondLst>
                                            <p:cond delay="0"/>
                                          </p:stCondLst>
                                        </p:cTn>
                                        <p:tgtEl>
                                          <p:spTgt spid="36"/>
                                        </p:tgtEl>
                                        <p:attrNameLst>
                                          <p:attrName>style.visibility</p:attrName>
                                        </p:attrNameLst>
                                      </p:cBhvr>
                                      <p:to>
                                        <p:strVal val="visible"/>
                                      </p:to>
                                    </p:set>
                                    <p:anim calcmode="lin" valueType="num">
                                      <p:cBhvr>
                                        <p:cTn id="130" dur="450" fill="hold"/>
                                        <p:tgtEl>
                                          <p:spTgt spid="36"/>
                                        </p:tgtEl>
                                        <p:attrNameLst>
                                          <p:attrName>ppt_w</p:attrName>
                                        </p:attrNameLst>
                                      </p:cBhvr>
                                      <p:tavLst>
                                        <p:tav tm="0">
                                          <p:val>
                                            <p:fltVal val="0"/>
                                          </p:val>
                                        </p:tav>
                                        <p:tav tm="100000">
                                          <p:val>
                                            <p:strVal val="#ppt_w"/>
                                          </p:val>
                                        </p:tav>
                                      </p:tavLst>
                                    </p:anim>
                                    <p:anim calcmode="lin" valueType="num">
                                      <p:cBhvr>
                                        <p:cTn id="131" dur="450" fill="hold"/>
                                        <p:tgtEl>
                                          <p:spTgt spid="36"/>
                                        </p:tgtEl>
                                        <p:attrNameLst>
                                          <p:attrName>ppt_h</p:attrName>
                                        </p:attrNameLst>
                                      </p:cBhvr>
                                      <p:tavLst>
                                        <p:tav tm="0">
                                          <p:val>
                                            <p:fltVal val="0"/>
                                          </p:val>
                                        </p:tav>
                                        <p:tav tm="100000">
                                          <p:val>
                                            <p:strVal val="#ppt_h"/>
                                          </p:val>
                                        </p:tav>
                                      </p:tavLst>
                                    </p:anim>
                                    <p:animEffect transition="in" filter="fade">
                                      <p:cBhvr>
                                        <p:cTn id="132" dur="450"/>
                                        <p:tgtEl>
                                          <p:spTgt spid="36"/>
                                        </p:tgtEl>
                                      </p:cBhvr>
                                    </p:animEffect>
                                  </p:childTnLst>
                                </p:cTn>
                              </p:par>
                              <p:par>
                                <p:cTn id="133" presetID="53" presetClass="entr" presetSubtype="16" fill="hold" nodeType="withEffect">
                                  <p:stCondLst>
                                    <p:cond delay="0"/>
                                  </p:stCondLst>
                                  <p:childTnLst>
                                    <p:set>
                                      <p:cBhvr>
                                        <p:cTn id="134" dur="1" fill="hold">
                                          <p:stCondLst>
                                            <p:cond delay="0"/>
                                          </p:stCondLst>
                                        </p:cTn>
                                        <p:tgtEl>
                                          <p:spTgt spid="37"/>
                                        </p:tgtEl>
                                        <p:attrNameLst>
                                          <p:attrName>style.visibility</p:attrName>
                                        </p:attrNameLst>
                                      </p:cBhvr>
                                      <p:to>
                                        <p:strVal val="visible"/>
                                      </p:to>
                                    </p:set>
                                    <p:anim calcmode="lin" valueType="num">
                                      <p:cBhvr>
                                        <p:cTn id="135" dur="450" fill="hold"/>
                                        <p:tgtEl>
                                          <p:spTgt spid="37"/>
                                        </p:tgtEl>
                                        <p:attrNameLst>
                                          <p:attrName>ppt_w</p:attrName>
                                        </p:attrNameLst>
                                      </p:cBhvr>
                                      <p:tavLst>
                                        <p:tav tm="0">
                                          <p:val>
                                            <p:fltVal val="0"/>
                                          </p:val>
                                        </p:tav>
                                        <p:tav tm="100000">
                                          <p:val>
                                            <p:strVal val="#ppt_w"/>
                                          </p:val>
                                        </p:tav>
                                      </p:tavLst>
                                    </p:anim>
                                    <p:anim calcmode="lin" valueType="num">
                                      <p:cBhvr>
                                        <p:cTn id="136" dur="450" fill="hold"/>
                                        <p:tgtEl>
                                          <p:spTgt spid="37"/>
                                        </p:tgtEl>
                                        <p:attrNameLst>
                                          <p:attrName>ppt_h</p:attrName>
                                        </p:attrNameLst>
                                      </p:cBhvr>
                                      <p:tavLst>
                                        <p:tav tm="0">
                                          <p:val>
                                            <p:fltVal val="0"/>
                                          </p:val>
                                        </p:tav>
                                        <p:tav tm="100000">
                                          <p:val>
                                            <p:strVal val="#ppt_h"/>
                                          </p:val>
                                        </p:tav>
                                      </p:tavLst>
                                    </p:anim>
                                    <p:animEffect transition="in" filter="fade">
                                      <p:cBhvr>
                                        <p:cTn id="137" dur="450"/>
                                        <p:tgtEl>
                                          <p:spTgt spid="37"/>
                                        </p:tgtEl>
                                      </p:cBhvr>
                                    </p:animEffect>
                                  </p:childTnLst>
                                </p:cTn>
                              </p:par>
                            </p:childTnLst>
                          </p:cTn>
                        </p:par>
                        <p:par>
                          <p:cTn id="138" fill="hold">
                            <p:stCondLst>
                              <p:cond delay="1800"/>
                            </p:stCondLst>
                            <p:childTnLst>
                              <p:par>
                                <p:cTn id="139" presetID="10" presetClass="entr" presetSubtype="0" fill="hold" nodeType="afterEffect">
                                  <p:stCondLst>
                                    <p:cond delay="0"/>
                                  </p:stCondLst>
                                  <p:childTnLst>
                                    <p:set>
                                      <p:cBhvr>
                                        <p:cTn id="140" dur="1" fill="hold">
                                          <p:stCondLst>
                                            <p:cond delay="0"/>
                                          </p:stCondLst>
                                        </p:cTn>
                                        <p:tgtEl>
                                          <p:spTgt spid="38"/>
                                        </p:tgtEl>
                                        <p:attrNameLst>
                                          <p:attrName>style.visibility</p:attrName>
                                        </p:attrNameLst>
                                      </p:cBhvr>
                                      <p:to>
                                        <p:strVal val="visible"/>
                                      </p:to>
                                    </p:set>
                                    <p:animEffect transition="in" filter="fade">
                                      <p:cBhvr>
                                        <p:cTn id="141" dur="450"/>
                                        <p:tgtEl>
                                          <p:spTgt spid="38"/>
                                        </p:tgtEl>
                                      </p:cBhvr>
                                    </p:animEffect>
                                  </p:childTnLst>
                                </p:cTn>
                              </p:par>
                              <p:par>
                                <p:cTn id="142" presetID="10" presetClass="entr" presetSubtype="0" fill="hold" nodeType="withEffect">
                                  <p:stCondLst>
                                    <p:cond delay="0"/>
                                  </p:stCondLst>
                                  <p:childTnLst>
                                    <p:set>
                                      <p:cBhvr>
                                        <p:cTn id="143" dur="1" fill="hold">
                                          <p:stCondLst>
                                            <p:cond delay="0"/>
                                          </p:stCondLst>
                                        </p:cTn>
                                        <p:tgtEl>
                                          <p:spTgt spid="39"/>
                                        </p:tgtEl>
                                        <p:attrNameLst>
                                          <p:attrName>style.visibility</p:attrName>
                                        </p:attrNameLst>
                                      </p:cBhvr>
                                      <p:to>
                                        <p:strVal val="visible"/>
                                      </p:to>
                                    </p:set>
                                    <p:animEffect transition="in" filter="fade">
                                      <p:cBhvr>
                                        <p:cTn id="144"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روش پژوهش: ابزارها و تحلیل داده‌ها</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۹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Text 7"/>
          <p:cNvSpPr txBox="1"/>
          <p:nvPr/>
        </p:nvSpPr>
        <p:spPr>
          <a:xfrm>
            <a:off x="457200" y="1188720"/>
            <a:ext cx="11247120" cy="365760"/>
          </a:xfrm>
          <a:prstGeom prst="rect">
            <a:avLst/>
          </a:prstGeom>
          <a:noFill/>
          <a:ln/>
        </p:spPr>
        <p:txBody>
          <a:bodyPr wrap="square" lIns="0" tIns="0" rIns="0" bIns="0" rtlCol="0" anchor="t"/>
          <a:lstStyle/>
          <a:p>
            <a:pPr marL="0" indent="0" algn="r" rtl="1">
              <a:buNone/>
            </a:pPr>
            <a:r>
              <a:rPr lang="fa-IR" altLang="en-US" sz="1600" b="1" dirty="0">
                <a:solidFill>
                  <a:srgbClr val="6B7B83"/>
                </a:solidFill>
                <a:latin typeface="Tahoma" pitchFamily="34" charset="0"/>
                <a:ea typeface="Tahoma" pitchFamily="34" charset="-122"/>
                <a:cs typeface="Tahoma" pitchFamily="34" charset="-120"/>
              </a:rPr>
              <a:t>ابزارهای گردآوری داده‌ها</a:t>
            </a:r>
            <a:endParaRPr lang="fa-IR" sz="1600" dirty="0"/>
          </a:p>
        </p:txBody>
      </p:sp>
      <p:sp>
        <p:nvSpPr>
          <p:cNvPr id="11" name="A01_z_180b"/>
          <p:cNvSpPr/>
          <p:nvPr/>
        </p:nvSpPr>
        <p:spPr>
          <a:xfrm>
            <a:off x="8092440" y="1645920"/>
            <a:ext cx="3611880" cy="2148840"/>
          </a:xfrm>
          <a:prstGeom prst="roundRect">
            <a:avLst>
              <a:gd name="adj" fmla="val 5106"/>
            </a:avLst>
          </a:prstGeom>
          <a:solidFill>
            <a:srgbClr val="FBECE7"/>
          </a:solidFill>
          <a:ln w="12700">
            <a:solidFill>
              <a:srgbClr val="FBECE7"/>
            </a:solidFill>
            <a:prstDash val="solid"/>
          </a:ln>
        </p:spPr>
      </p:sp>
      <p:sp>
        <p:nvSpPr>
          <p:cNvPr id="12" name="A01_z_181c"/>
          <p:cNvSpPr/>
          <p:nvPr/>
        </p:nvSpPr>
        <p:spPr>
          <a:xfrm>
            <a:off x="10927080" y="1810512"/>
            <a:ext cx="566928" cy="566928"/>
          </a:xfrm>
          <a:prstGeom prst="ellipse">
            <a:avLst/>
          </a:prstGeom>
          <a:solidFill>
            <a:srgbClr val="D9674A"/>
          </a:solidFill>
          <a:ln w="12700">
            <a:solidFill>
              <a:srgbClr val="D9674A"/>
            </a:solidFill>
            <a:prstDash val="solid"/>
          </a:ln>
        </p:spPr>
      </p:sp>
      <p:pic>
        <p:nvPicPr>
          <p:cNvPr id="13" name="A01_z_181i" descr="preencoded.png"/>
          <p:cNvPicPr>
            <a:picLocks noChangeAspect="1"/>
          </p:cNvPicPr>
          <p:nvPr/>
        </p:nvPicPr>
        <p:blipFill>
          <a:blip r:embed="rId4"/>
          <a:stretch>
            <a:fillRect/>
          </a:stretch>
        </p:blipFill>
        <p:spPr>
          <a:xfrm>
            <a:off x="11051804" y="1935236"/>
            <a:ext cx="317480" cy="317480"/>
          </a:xfrm>
          <a:prstGeom prst="rect">
            <a:avLst/>
          </a:prstGeom>
        </p:spPr>
      </p:pic>
      <p:sp>
        <p:nvSpPr>
          <p:cNvPr id="14" name="A01_z_182"/>
          <p:cNvSpPr txBox="1"/>
          <p:nvPr/>
        </p:nvSpPr>
        <p:spPr>
          <a:xfrm>
            <a:off x="8275320" y="1810512"/>
            <a:ext cx="2560320" cy="566928"/>
          </a:xfrm>
          <a:prstGeom prst="rect">
            <a:avLst/>
          </a:prstGeom>
          <a:noFill/>
          <a:ln/>
        </p:spPr>
        <p:txBody>
          <a:bodyPr wrap="square" lIns="0" tIns="0" rIns="0" bIns="0" rtlCol="0" anchor="ctr"/>
          <a:lstStyle/>
          <a:p>
            <a:pPr marL="0" indent="0" algn="r" rtl="1">
              <a:buNone/>
            </a:pPr>
            <a:r>
              <a:rPr lang="fa-IR" altLang="en-US" sz="1500" b="1" dirty="0">
                <a:solidFill>
                  <a:srgbClr val="D9674A"/>
                </a:solidFill>
                <a:latin typeface="Tahoma" pitchFamily="34" charset="0"/>
                <a:ea typeface="Tahoma" pitchFamily="34" charset="-122"/>
                <a:cs typeface="Tahoma" pitchFamily="34" charset="-120"/>
              </a:rPr>
              <a:t>پرسش‌نامه آسیب‌های دوران کودکی</a:t>
            </a:r>
            <a:endParaRPr lang="fa-IR" sz="1500" dirty="0"/>
          </a:p>
        </p:txBody>
      </p:sp>
      <p:sp>
        <p:nvSpPr>
          <p:cNvPr id="15" name="A01_z_183"/>
          <p:cNvSpPr txBox="1"/>
          <p:nvPr/>
        </p:nvSpPr>
        <p:spPr>
          <a:xfrm>
            <a:off x="8275320" y="2514600"/>
            <a:ext cx="3246120" cy="347472"/>
          </a:xfrm>
          <a:prstGeom prst="rect">
            <a:avLst/>
          </a:prstGeom>
          <a:noFill/>
          <a:ln/>
        </p:spPr>
        <p:txBody>
          <a:bodyPr wrap="square" lIns="0" tIns="0" rIns="0" bIns="0" rtlCol="0" anchor="t"/>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فلیتی و همکاران (۱۹۹۸)</a:t>
            </a:r>
            <a:endParaRPr lang="fa-IR" sz="1300" dirty="0"/>
          </a:p>
        </p:txBody>
      </p:sp>
      <p:sp>
        <p:nvSpPr>
          <p:cNvPr id="16" name="A01_z_184x"/>
          <p:cNvSpPr/>
          <p:nvPr/>
        </p:nvSpPr>
        <p:spPr>
          <a:xfrm>
            <a:off x="8275320" y="3044952"/>
            <a:ext cx="1143000" cy="457200"/>
          </a:xfrm>
          <a:prstGeom prst="roundRect">
            <a:avLst>
              <a:gd name="adj" fmla="val 24000"/>
            </a:avLst>
          </a:prstGeom>
          <a:solidFill>
            <a:srgbClr val="D9674A"/>
          </a:solidFill>
          <a:ln w="12700">
            <a:solidFill>
              <a:srgbClr val="D9674A"/>
            </a:solidFill>
            <a:prstDash val="solid"/>
          </a:ln>
        </p:spPr>
      </p:sp>
      <p:sp>
        <p:nvSpPr>
          <p:cNvPr id="17" name="A01_z_185"/>
          <p:cNvSpPr txBox="1"/>
          <p:nvPr/>
        </p:nvSpPr>
        <p:spPr>
          <a:xfrm>
            <a:off x="8275320" y="3044952"/>
            <a:ext cx="1143000" cy="457200"/>
          </a:xfrm>
          <a:prstGeom prst="rect">
            <a:avLst/>
          </a:prstGeom>
          <a:noFill/>
          <a:ln/>
        </p:spPr>
        <p:txBody>
          <a:bodyPr wrap="square" lIns="0" tIns="0" rIns="0" bIns="0" rtlCol="0" anchor="ctr"/>
          <a:lstStyle/>
          <a:p>
            <a:pPr marL="0" indent="0" algn="ctr">
              <a:buNone/>
            </a:pPr>
            <a:r>
              <a:rPr lang="fa-IR" altLang="en-US" sz="1300" b="1" dirty="0">
                <a:solidFill>
                  <a:srgbClr val="FFFFFF"/>
                </a:solidFill>
                <a:latin typeface="Tahoma" pitchFamily="34" charset="0"/>
                <a:ea typeface="Tahoma" pitchFamily="34" charset="-122"/>
                <a:cs typeface="Tahoma" pitchFamily="34" charset="-120"/>
              </a:rPr>
              <a:t>ACE</a:t>
            </a:r>
            <a:endParaRPr lang="fa-IR" sz="1300" dirty="0"/>
          </a:p>
        </p:txBody>
      </p:sp>
      <p:sp>
        <p:nvSpPr>
          <p:cNvPr id="18" name="A01_z_186"/>
          <p:cNvSpPr txBox="1"/>
          <p:nvPr/>
        </p:nvSpPr>
        <p:spPr>
          <a:xfrm>
            <a:off x="9555480" y="2999232"/>
            <a:ext cx="1920240" cy="548640"/>
          </a:xfrm>
          <a:prstGeom prst="rect">
            <a:avLst/>
          </a:prstGeom>
          <a:noFill/>
          <a:ln/>
        </p:spPr>
        <p:txBody>
          <a:bodyPr wrap="square" lIns="0" tIns="0" rIns="0" bIns="0" rtlCol="0" anchor="ctr"/>
          <a:lstStyle/>
          <a:p>
            <a:pPr marL="0" indent="0" algn="r" rtl="1">
              <a:buNone/>
            </a:pPr>
            <a:r>
              <a:rPr lang="fa-IR" altLang="en-US" sz="2200" b="1" dirty="0">
                <a:solidFill>
                  <a:srgbClr val="D9674A"/>
                </a:solidFill>
                <a:latin typeface="Tahoma" pitchFamily="34" charset="0"/>
                <a:ea typeface="Tahoma" pitchFamily="34" charset="-122"/>
                <a:cs typeface="Tahoma" pitchFamily="34" charset="-120"/>
              </a:rPr>
              <a:t>۱۰</a:t>
            </a:r>
            <a:r>
              <a:rPr lang="fa-IR" altLang="en-US" sz="1300" dirty="0">
                <a:solidFill>
                  <a:srgbClr val="6B7B83"/>
                </a:solidFill>
                <a:latin typeface="Tahoma" pitchFamily="34" charset="0"/>
                <a:ea typeface="Tahoma" pitchFamily="34" charset="-122"/>
                <a:cs typeface="Tahoma" pitchFamily="34" charset="-120"/>
              </a:rPr>
              <a:t>  سؤال</a:t>
            </a:r>
            <a:endParaRPr lang="fa-IR" sz="1400" dirty="0"/>
          </a:p>
        </p:txBody>
      </p:sp>
      <p:sp>
        <p:nvSpPr>
          <p:cNvPr id="19" name="A02_z_187b"/>
          <p:cNvSpPr/>
          <p:nvPr/>
        </p:nvSpPr>
        <p:spPr>
          <a:xfrm>
            <a:off x="4274820" y="1645920"/>
            <a:ext cx="3611880" cy="2148840"/>
          </a:xfrm>
          <a:prstGeom prst="roundRect">
            <a:avLst>
              <a:gd name="adj" fmla="val 5106"/>
            </a:avLst>
          </a:prstGeom>
          <a:solidFill>
            <a:srgbClr val="EFEAF3"/>
          </a:solidFill>
          <a:ln w="12700">
            <a:solidFill>
              <a:srgbClr val="EFEAF3"/>
            </a:solidFill>
            <a:prstDash val="solid"/>
          </a:ln>
        </p:spPr>
      </p:sp>
      <p:sp>
        <p:nvSpPr>
          <p:cNvPr id="20" name="A02_z_188c"/>
          <p:cNvSpPr/>
          <p:nvPr/>
        </p:nvSpPr>
        <p:spPr>
          <a:xfrm>
            <a:off x="7109460" y="1810512"/>
            <a:ext cx="566928" cy="566928"/>
          </a:xfrm>
          <a:prstGeom prst="ellipse">
            <a:avLst/>
          </a:prstGeom>
          <a:solidFill>
            <a:srgbClr val="6D597A"/>
          </a:solidFill>
          <a:ln w="12700">
            <a:solidFill>
              <a:srgbClr val="6D597A"/>
            </a:solidFill>
            <a:prstDash val="solid"/>
          </a:ln>
        </p:spPr>
      </p:sp>
      <p:pic>
        <p:nvPicPr>
          <p:cNvPr id="21" name="A02_z_188i" descr="preencoded.png"/>
          <p:cNvPicPr>
            <a:picLocks noChangeAspect="1"/>
          </p:cNvPicPr>
          <p:nvPr/>
        </p:nvPicPr>
        <p:blipFill>
          <a:blip r:embed="rId4"/>
          <a:stretch>
            <a:fillRect/>
          </a:stretch>
        </p:blipFill>
        <p:spPr>
          <a:xfrm>
            <a:off x="7234184" y="1935236"/>
            <a:ext cx="317480" cy="317480"/>
          </a:xfrm>
          <a:prstGeom prst="rect">
            <a:avLst/>
          </a:prstGeom>
        </p:spPr>
      </p:pic>
      <p:sp>
        <p:nvSpPr>
          <p:cNvPr id="22" name="A02_z_189"/>
          <p:cNvSpPr txBox="1"/>
          <p:nvPr/>
        </p:nvSpPr>
        <p:spPr>
          <a:xfrm>
            <a:off x="4457700" y="1810512"/>
            <a:ext cx="2560320" cy="566928"/>
          </a:xfrm>
          <a:prstGeom prst="rect">
            <a:avLst/>
          </a:prstGeom>
          <a:noFill/>
          <a:ln/>
        </p:spPr>
        <p:txBody>
          <a:bodyPr wrap="square" lIns="0" tIns="0" rIns="0" bIns="0" rtlCol="0" anchor="ctr"/>
          <a:lstStyle/>
          <a:p>
            <a:pPr marL="0" indent="0" algn="r" rtl="1">
              <a:buNone/>
            </a:pPr>
            <a:r>
              <a:rPr lang="fa-IR" altLang="en-US" sz="1500" b="1" dirty="0">
                <a:solidFill>
                  <a:srgbClr val="6D597A"/>
                </a:solidFill>
                <a:latin typeface="Tahoma" pitchFamily="34" charset="0"/>
                <a:ea typeface="Tahoma" pitchFamily="34" charset="-122"/>
                <a:cs typeface="Tahoma" pitchFamily="34" charset="-120"/>
              </a:rPr>
              <a:t>پرسش‌نامه سبک‌های هویتی</a:t>
            </a:r>
            <a:endParaRPr lang="fa-IR" sz="1500" dirty="0"/>
          </a:p>
        </p:txBody>
      </p:sp>
      <p:sp>
        <p:nvSpPr>
          <p:cNvPr id="23" name="A02_z_190"/>
          <p:cNvSpPr txBox="1"/>
          <p:nvPr/>
        </p:nvSpPr>
        <p:spPr>
          <a:xfrm>
            <a:off x="4457700" y="2514600"/>
            <a:ext cx="3246120" cy="347472"/>
          </a:xfrm>
          <a:prstGeom prst="rect">
            <a:avLst/>
          </a:prstGeom>
          <a:noFill/>
          <a:ln/>
        </p:spPr>
        <p:txBody>
          <a:bodyPr wrap="square" lIns="0" tIns="0" rIns="0" bIns="0" rtlCol="0" anchor="t"/>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برزونسکی (۱۹۸۸)</a:t>
            </a:r>
            <a:endParaRPr lang="fa-IR" sz="1300" dirty="0"/>
          </a:p>
        </p:txBody>
      </p:sp>
      <p:sp>
        <p:nvSpPr>
          <p:cNvPr id="24" name="A02_z_191x"/>
          <p:cNvSpPr/>
          <p:nvPr/>
        </p:nvSpPr>
        <p:spPr>
          <a:xfrm>
            <a:off x="4457700" y="3044952"/>
            <a:ext cx="1143000" cy="457200"/>
          </a:xfrm>
          <a:prstGeom prst="roundRect">
            <a:avLst>
              <a:gd name="adj" fmla="val 24000"/>
            </a:avLst>
          </a:prstGeom>
          <a:solidFill>
            <a:srgbClr val="6D597A"/>
          </a:solidFill>
          <a:ln w="12700">
            <a:solidFill>
              <a:srgbClr val="6D597A"/>
            </a:solidFill>
            <a:prstDash val="solid"/>
          </a:ln>
        </p:spPr>
      </p:sp>
      <p:sp>
        <p:nvSpPr>
          <p:cNvPr id="25" name="A02_z_192"/>
          <p:cNvSpPr txBox="1"/>
          <p:nvPr/>
        </p:nvSpPr>
        <p:spPr>
          <a:xfrm>
            <a:off x="4457700" y="3044952"/>
            <a:ext cx="1143000" cy="457200"/>
          </a:xfrm>
          <a:prstGeom prst="rect">
            <a:avLst/>
          </a:prstGeom>
          <a:noFill/>
          <a:ln/>
        </p:spPr>
        <p:txBody>
          <a:bodyPr wrap="square" lIns="0" tIns="0" rIns="0" bIns="0" rtlCol="0" anchor="ctr"/>
          <a:lstStyle/>
          <a:p>
            <a:pPr marL="0" indent="0" algn="ctr">
              <a:buNone/>
            </a:pPr>
            <a:r>
              <a:rPr lang="fa-IR" altLang="en-US" sz="1300" b="1" dirty="0">
                <a:solidFill>
                  <a:srgbClr val="FFFFFF"/>
                </a:solidFill>
                <a:latin typeface="Tahoma" pitchFamily="34" charset="0"/>
                <a:ea typeface="Tahoma" pitchFamily="34" charset="-122"/>
                <a:cs typeface="Tahoma" pitchFamily="34" charset="-120"/>
              </a:rPr>
              <a:t>ISI-6G</a:t>
            </a:r>
            <a:endParaRPr lang="fa-IR" sz="1300" dirty="0"/>
          </a:p>
        </p:txBody>
      </p:sp>
      <p:sp>
        <p:nvSpPr>
          <p:cNvPr id="26" name="A02_z_193"/>
          <p:cNvSpPr txBox="1"/>
          <p:nvPr/>
        </p:nvSpPr>
        <p:spPr>
          <a:xfrm>
            <a:off x="5737860" y="2999232"/>
            <a:ext cx="1920240" cy="548640"/>
          </a:xfrm>
          <a:prstGeom prst="rect">
            <a:avLst/>
          </a:prstGeom>
          <a:noFill/>
          <a:ln/>
        </p:spPr>
        <p:txBody>
          <a:bodyPr wrap="square" lIns="0" tIns="0" rIns="0" bIns="0" rtlCol="0" anchor="ctr"/>
          <a:lstStyle/>
          <a:p>
            <a:pPr marL="0" indent="0" algn="r" rtl="1">
              <a:buNone/>
            </a:pPr>
            <a:r>
              <a:rPr lang="fa-IR" altLang="en-US" sz="2200" b="1" dirty="0">
                <a:solidFill>
                  <a:srgbClr val="6D597A"/>
                </a:solidFill>
                <a:latin typeface="Tahoma" pitchFamily="34" charset="0"/>
                <a:ea typeface="Tahoma" pitchFamily="34" charset="-122"/>
                <a:cs typeface="Tahoma" pitchFamily="34" charset="-120"/>
              </a:rPr>
              <a:t>۴۰</a:t>
            </a:r>
            <a:r>
              <a:rPr lang="fa-IR" altLang="en-US" sz="1300" dirty="0">
                <a:solidFill>
                  <a:srgbClr val="6B7B83"/>
                </a:solidFill>
                <a:latin typeface="Tahoma" pitchFamily="34" charset="0"/>
                <a:ea typeface="Tahoma" pitchFamily="34" charset="-122"/>
                <a:cs typeface="Tahoma" pitchFamily="34" charset="-120"/>
              </a:rPr>
              <a:t>  سؤال</a:t>
            </a:r>
            <a:endParaRPr lang="fa-IR" sz="1400" dirty="0"/>
          </a:p>
        </p:txBody>
      </p:sp>
      <p:sp>
        <p:nvSpPr>
          <p:cNvPr id="27" name="A03_z_194b"/>
          <p:cNvSpPr/>
          <p:nvPr/>
        </p:nvSpPr>
        <p:spPr>
          <a:xfrm>
            <a:off x="457200" y="1645920"/>
            <a:ext cx="3611880" cy="2148840"/>
          </a:xfrm>
          <a:prstGeom prst="roundRect">
            <a:avLst>
              <a:gd name="adj" fmla="val 5106"/>
            </a:avLst>
          </a:prstGeom>
          <a:solidFill>
            <a:srgbClr val="E6F2F1"/>
          </a:solidFill>
          <a:ln w="12700">
            <a:solidFill>
              <a:srgbClr val="E6F2F1"/>
            </a:solidFill>
            <a:prstDash val="solid"/>
          </a:ln>
        </p:spPr>
      </p:sp>
      <p:sp>
        <p:nvSpPr>
          <p:cNvPr id="28" name="A03_z_195c"/>
          <p:cNvSpPr/>
          <p:nvPr/>
        </p:nvSpPr>
        <p:spPr>
          <a:xfrm>
            <a:off x="3291840" y="1810512"/>
            <a:ext cx="566928" cy="566928"/>
          </a:xfrm>
          <a:prstGeom prst="ellipse">
            <a:avLst/>
          </a:prstGeom>
          <a:solidFill>
            <a:srgbClr val="2A9D8F"/>
          </a:solidFill>
          <a:ln w="12700">
            <a:solidFill>
              <a:srgbClr val="2A9D8F"/>
            </a:solidFill>
            <a:prstDash val="solid"/>
          </a:ln>
        </p:spPr>
      </p:sp>
      <p:pic>
        <p:nvPicPr>
          <p:cNvPr id="29" name="A03_z_195i" descr="preencoded.png"/>
          <p:cNvPicPr>
            <a:picLocks noChangeAspect="1"/>
          </p:cNvPicPr>
          <p:nvPr/>
        </p:nvPicPr>
        <p:blipFill>
          <a:blip r:embed="rId4"/>
          <a:stretch>
            <a:fillRect/>
          </a:stretch>
        </p:blipFill>
        <p:spPr>
          <a:xfrm>
            <a:off x="3416564" y="1935236"/>
            <a:ext cx="317480" cy="317480"/>
          </a:xfrm>
          <a:prstGeom prst="rect">
            <a:avLst/>
          </a:prstGeom>
        </p:spPr>
      </p:pic>
      <p:sp>
        <p:nvSpPr>
          <p:cNvPr id="30" name="A03_z_196"/>
          <p:cNvSpPr txBox="1"/>
          <p:nvPr/>
        </p:nvSpPr>
        <p:spPr>
          <a:xfrm>
            <a:off x="640080" y="1810512"/>
            <a:ext cx="2560320" cy="566928"/>
          </a:xfrm>
          <a:prstGeom prst="rect">
            <a:avLst/>
          </a:prstGeom>
          <a:noFill/>
          <a:ln/>
        </p:spPr>
        <p:txBody>
          <a:bodyPr wrap="square" lIns="0" tIns="0" rIns="0" bIns="0" rtlCol="0" anchor="ctr"/>
          <a:lstStyle/>
          <a:p>
            <a:pPr marL="0" indent="0" algn="r" rtl="1">
              <a:buNone/>
            </a:pPr>
            <a:r>
              <a:rPr lang="fa-IR" altLang="en-US" sz="1500" b="1" dirty="0">
                <a:solidFill>
                  <a:srgbClr val="2A9D8F"/>
                </a:solidFill>
                <a:latin typeface="Tahoma" pitchFamily="34" charset="0"/>
                <a:ea typeface="Tahoma" pitchFamily="34" charset="-122"/>
                <a:cs typeface="Tahoma" pitchFamily="34" charset="-120"/>
              </a:rPr>
              <a:t>پرسش‌نامه سبک‌های حل تعارض</a:t>
            </a:r>
            <a:endParaRPr lang="fa-IR" sz="1500" dirty="0"/>
          </a:p>
        </p:txBody>
      </p:sp>
      <p:sp>
        <p:nvSpPr>
          <p:cNvPr id="31" name="A03_z_197"/>
          <p:cNvSpPr txBox="1"/>
          <p:nvPr/>
        </p:nvSpPr>
        <p:spPr>
          <a:xfrm>
            <a:off x="640080" y="2514600"/>
            <a:ext cx="3246120" cy="347472"/>
          </a:xfrm>
          <a:prstGeom prst="rect">
            <a:avLst/>
          </a:prstGeom>
          <a:noFill/>
          <a:ln/>
        </p:spPr>
        <p:txBody>
          <a:bodyPr wrap="square" lIns="0" tIns="0" rIns="0" bIns="0" rtlCol="0" anchor="t"/>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ویکز (۱۹۹۴) و فیشر و اوری (۱۹۹۱)</a:t>
            </a:r>
            <a:endParaRPr lang="fa-IR" sz="1300" dirty="0"/>
          </a:p>
        </p:txBody>
      </p:sp>
      <p:sp>
        <p:nvSpPr>
          <p:cNvPr id="32" name="A03_z_198x"/>
          <p:cNvSpPr/>
          <p:nvPr/>
        </p:nvSpPr>
        <p:spPr>
          <a:xfrm>
            <a:off x="640080" y="3044952"/>
            <a:ext cx="1143000" cy="457200"/>
          </a:xfrm>
          <a:prstGeom prst="roundRect">
            <a:avLst>
              <a:gd name="adj" fmla="val 24000"/>
            </a:avLst>
          </a:prstGeom>
          <a:solidFill>
            <a:srgbClr val="2A9D8F"/>
          </a:solidFill>
          <a:ln w="12700">
            <a:solidFill>
              <a:srgbClr val="2A9D8F"/>
            </a:solidFill>
            <a:prstDash val="solid"/>
          </a:ln>
        </p:spPr>
      </p:sp>
      <p:sp>
        <p:nvSpPr>
          <p:cNvPr id="33" name="A03_z_199"/>
          <p:cNvSpPr txBox="1"/>
          <p:nvPr/>
        </p:nvSpPr>
        <p:spPr>
          <a:xfrm>
            <a:off x="640080" y="3044952"/>
            <a:ext cx="1143000" cy="457200"/>
          </a:xfrm>
          <a:prstGeom prst="rect">
            <a:avLst/>
          </a:prstGeom>
          <a:noFill/>
          <a:ln/>
        </p:spPr>
        <p:txBody>
          <a:bodyPr wrap="square" lIns="0" tIns="0" rIns="0" bIns="0" rtlCol="0" anchor="ctr"/>
          <a:lstStyle/>
          <a:p>
            <a:pPr marL="0" indent="0" algn="ctr">
              <a:buNone/>
            </a:pPr>
            <a:r>
              <a:rPr lang="fa-IR" altLang="en-US" sz="1300" b="1" dirty="0">
                <a:solidFill>
                  <a:srgbClr val="FFFFFF"/>
                </a:solidFill>
                <a:latin typeface="Tahoma" pitchFamily="34" charset="0"/>
                <a:ea typeface="Tahoma" pitchFamily="34" charset="-122"/>
                <a:cs typeface="Tahoma" pitchFamily="34" charset="-120"/>
              </a:rPr>
              <a:t>CRQ</a:t>
            </a:r>
            <a:endParaRPr lang="fa-IR" sz="1300" dirty="0"/>
          </a:p>
        </p:txBody>
      </p:sp>
      <p:sp>
        <p:nvSpPr>
          <p:cNvPr id="34" name="A03_z_200"/>
          <p:cNvSpPr txBox="1"/>
          <p:nvPr/>
        </p:nvSpPr>
        <p:spPr>
          <a:xfrm>
            <a:off x="1920240" y="2999232"/>
            <a:ext cx="1920240" cy="548640"/>
          </a:xfrm>
          <a:prstGeom prst="rect">
            <a:avLst/>
          </a:prstGeom>
          <a:noFill/>
          <a:ln/>
        </p:spPr>
        <p:txBody>
          <a:bodyPr wrap="square" lIns="0" tIns="0" rIns="0" bIns="0" rtlCol="0" anchor="ctr"/>
          <a:lstStyle/>
          <a:p>
            <a:pPr marL="0" indent="0" algn="r" rtl="1">
              <a:buNone/>
            </a:pPr>
            <a:r>
              <a:rPr lang="fa-IR" altLang="en-US" sz="2200" b="1" dirty="0">
                <a:solidFill>
                  <a:srgbClr val="2A9D8F"/>
                </a:solidFill>
                <a:latin typeface="Tahoma" pitchFamily="34" charset="0"/>
                <a:ea typeface="Tahoma" pitchFamily="34" charset="-122"/>
                <a:cs typeface="Tahoma" pitchFamily="34" charset="-120"/>
              </a:rPr>
              <a:t>۴۰</a:t>
            </a:r>
            <a:r>
              <a:rPr lang="fa-IR" altLang="en-US" sz="1300" dirty="0">
                <a:solidFill>
                  <a:srgbClr val="6B7B83"/>
                </a:solidFill>
                <a:latin typeface="Tahoma" pitchFamily="34" charset="0"/>
                <a:ea typeface="Tahoma" pitchFamily="34" charset="-122"/>
                <a:cs typeface="Tahoma" pitchFamily="34" charset="-120"/>
              </a:rPr>
              <a:t>  سؤال</a:t>
            </a:r>
            <a:endParaRPr lang="fa-IR" sz="1400" dirty="0"/>
          </a:p>
        </p:txBody>
      </p:sp>
      <p:sp>
        <p:nvSpPr>
          <p:cNvPr id="35" name="A04_f_201"/>
          <p:cNvSpPr txBox="1"/>
          <p:nvPr/>
        </p:nvSpPr>
        <p:spPr>
          <a:xfrm>
            <a:off x="457200" y="4023360"/>
            <a:ext cx="11247120" cy="365760"/>
          </a:xfrm>
          <a:prstGeom prst="rect">
            <a:avLst/>
          </a:prstGeom>
          <a:noFill/>
          <a:ln/>
        </p:spPr>
        <p:txBody>
          <a:bodyPr wrap="square" lIns="0" tIns="0" rIns="0" bIns="0" rtlCol="0" anchor="t"/>
          <a:lstStyle/>
          <a:p>
            <a:pPr marL="0" indent="0" algn="r" rtl="1">
              <a:buNone/>
            </a:pPr>
            <a:r>
              <a:rPr lang="fa-IR" altLang="en-US" sz="1600" b="1" dirty="0">
                <a:solidFill>
                  <a:srgbClr val="6B7B83"/>
                </a:solidFill>
                <a:latin typeface="Tahoma" pitchFamily="34" charset="0"/>
                <a:ea typeface="Tahoma" pitchFamily="34" charset="-122"/>
                <a:cs typeface="Tahoma" pitchFamily="34" charset="-120"/>
              </a:rPr>
              <a:t>تجزیه و تحلیل داده‌ها</a:t>
            </a:r>
            <a:endParaRPr lang="fa-IR" sz="1600" dirty="0"/>
          </a:p>
        </p:txBody>
      </p:sp>
      <p:sp>
        <p:nvSpPr>
          <p:cNvPr id="36" name="A04_z_202b"/>
          <p:cNvSpPr/>
          <p:nvPr/>
        </p:nvSpPr>
        <p:spPr>
          <a:xfrm>
            <a:off x="457200" y="4526280"/>
            <a:ext cx="3017520" cy="731520"/>
          </a:xfrm>
          <a:prstGeom prst="roundRect">
            <a:avLst>
              <a:gd name="adj" fmla="val 15000"/>
            </a:avLst>
          </a:prstGeom>
          <a:solidFill>
            <a:srgbClr val="0F5257"/>
          </a:solidFill>
          <a:ln w="12700">
            <a:solidFill>
              <a:srgbClr val="0F5257"/>
            </a:solidFill>
            <a:prstDash val="solid"/>
          </a:ln>
        </p:spPr>
      </p:sp>
      <p:sp>
        <p:nvSpPr>
          <p:cNvPr id="37" name="A04_z_203"/>
          <p:cNvSpPr txBox="1"/>
          <p:nvPr/>
        </p:nvSpPr>
        <p:spPr>
          <a:xfrm>
            <a:off x="457200" y="4526280"/>
            <a:ext cx="3017520" cy="731520"/>
          </a:xfrm>
          <a:prstGeom prst="rect">
            <a:avLst/>
          </a:prstGeom>
          <a:noFill/>
          <a:ln/>
        </p:spPr>
        <p:txBody>
          <a:bodyPr wrap="square" lIns="0" tIns="0" rIns="0" bIns="0" rtlCol="0" anchor="ctr"/>
          <a:lstStyle/>
          <a:p>
            <a:pPr marL="0" indent="0" algn="ctr">
              <a:buNone/>
            </a:pPr>
            <a:r>
              <a:rPr lang="fa-IR" altLang="en-US" sz="2000" b="1" dirty="0">
                <a:solidFill>
                  <a:srgbClr val="FFFFFF"/>
                </a:solidFill>
                <a:latin typeface="Tahoma" pitchFamily="34" charset="0"/>
                <a:ea typeface="Tahoma" pitchFamily="34" charset="-122"/>
                <a:cs typeface="Tahoma" pitchFamily="34" charset="-120"/>
              </a:rPr>
              <a:t>SPSS 27</a:t>
            </a:r>
            <a:endParaRPr lang="fa-IR" sz="2000" dirty="0"/>
          </a:p>
        </p:txBody>
      </p:sp>
      <p:sp>
        <p:nvSpPr>
          <p:cNvPr id="38" name="A04_z_204b"/>
          <p:cNvSpPr/>
          <p:nvPr/>
        </p:nvSpPr>
        <p:spPr>
          <a:xfrm>
            <a:off x="457200" y="5394960"/>
            <a:ext cx="3017520" cy="731520"/>
          </a:xfrm>
          <a:prstGeom prst="roundRect">
            <a:avLst>
              <a:gd name="adj" fmla="val 15000"/>
            </a:avLst>
          </a:prstGeom>
          <a:solidFill>
            <a:srgbClr val="6D597A"/>
          </a:solidFill>
          <a:ln w="12700">
            <a:solidFill>
              <a:srgbClr val="6D597A"/>
            </a:solidFill>
            <a:prstDash val="solid"/>
          </a:ln>
        </p:spPr>
      </p:sp>
      <p:sp>
        <p:nvSpPr>
          <p:cNvPr id="39" name="A04_z_205"/>
          <p:cNvSpPr txBox="1"/>
          <p:nvPr/>
        </p:nvSpPr>
        <p:spPr>
          <a:xfrm>
            <a:off x="457200" y="5394960"/>
            <a:ext cx="3017520" cy="731520"/>
          </a:xfrm>
          <a:prstGeom prst="rect">
            <a:avLst/>
          </a:prstGeom>
          <a:noFill/>
          <a:ln/>
        </p:spPr>
        <p:txBody>
          <a:bodyPr wrap="square" lIns="0" tIns="0" rIns="0" bIns="0" rtlCol="0" anchor="ctr"/>
          <a:lstStyle/>
          <a:p>
            <a:pPr marL="0" indent="0" algn="ctr">
              <a:buNone/>
            </a:pPr>
            <a:r>
              <a:rPr lang="fa-IR" altLang="en-US" sz="2000" b="1" dirty="0">
                <a:solidFill>
                  <a:srgbClr val="FFFFFF"/>
                </a:solidFill>
                <a:latin typeface="Tahoma" pitchFamily="34" charset="0"/>
                <a:ea typeface="Tahoma" pitchFamily="34" charset="-122"/>
                <a:cs typeface="Tahoma" pitchFamily="34" charset="-120"/>
              </a:rPr>
              <a:t>SmartPLS 3</a:t>
            </a:r>
            <a:endParaRPr lang="fa-IR" sz="2000" dirty="0"/>
          </a:p>
        </p:txBody>
      </p:sp>
      <p:sp>
        <p:nvSpPr>
          <p:cNvPr id="40" name="A05_wl_206b"/>
          <p:cNvSpPr/>
          <p:nvPr/>
        </p:nvSpPr>
        <p:spPr>
          <a:xfrm>
            <a:off x="9326880" y="4526280"/>
            <a:ext cx="2377440" cy="1600200"/>
          </a:xfrm>
          <a:prstGeom prst="roundRect">
            <a:avLst>
              <a:gd name="adj" fmla="val 6857"/>
            </a:avLst>
          </a:prstGeom>
          <a:solidFill>
            <a:srgbClr val="F4F6F7"/>
          </a:solidFill>
          <a:ln w="12700">
            <a:solidFill>
              <a:srgbClr val="F4F6F7"/>
            </a:solidFill>
            <a:prstDash val="solid"/>
          </a:ln>
        </p:spPr>
      </p:sp>
      <p:sp>
        <p:nvSpPr>
          <p:cNvPr id="41" name="A05_wl_207c"/>
          <p:cNvSpPr/>
          <p:nvPr/>
        </p:nvSpPr>
        <p:spPr>
          <a:xfrm>
            <a:off x="10241280" y="4636008"/>
            <a:ext cx="548640" cy="548640"/>
          </a:xfrm>
          <a:prstGeom prst="ellipse">
            <a:avLst/>
          </a:prstGeom>
          <a:solidFill>
            <a:srgbClr val="2A9D8F"/>
          </a:solidFill>
          <a:ln w="12700">
            <a:solidFill>
              <a:srgbClr val="2A9D8F"/>
            </a:solidFill>
            <a:prstDash val="solid"/>
          </a:ln>
        </p:spPr>
      </p:sp>
      <p:pic>
        <p:nvPicPr>
          <p:cNvPr id="42" name="A05_wl_207i" descr="preencoded.png"/>
          <p:cNvPicPr>
            <a:picLocks noChangeAspect="1"/>
          </p:cNvPicPr>
          <p:nvPr/>
        </p:nvPicPr>
        <p:blipFill>
          <a:blip r:embed="rId5"/>
          <a:stretch>
            <a:fillRect/>
          </a:stretch>
        </p:blipFill>
        <p:spPr>
          <a:xfrm>
            <a:off x="10361981" y="4756709"/>
            <a:ext cx="307238" cy="307238"/>
          </a:xfrm>
          <a:prstGeom prst="rect">
            <a:avLst/>
          </a:prstGeom>
        </p:spPr>
      </p:pic>
      <p:sp>
        <p:nvSpPr>
          <p:cNvPr id="43" name="A05_wl_208"/>
          <p:cNvSpPr txBox="1"/>
          <p:nvPr/>
        </p:nvSpPr>
        <p:spPr>
          <a:xfrm>
            <a:off x="11247120" y="4617720"/>
            <a:ext cx="320040" cy="365760"/>
          </a:xfrm>
          <a:prstGeom prst="rect">
            <a:avLst/>
          </a:prstGeom>
          <a:noFill/>
          <a:ln/>
        </p:spPr>
        <p:txBody>
          <a:bodyPr wrap="square" lIns="0" tIns="0" rIns="0" bIns="0" rtlCol="0" anchor="t"/>
          <a:lstStyle/>
          <a:p>
            <a:pPr marL="0" indent="0" algn="ctr" rtl="1">
              <a:buNone/>
            </a:pPr>
            <a:r>
              <a:rPr lang="fa-IR" altLang="en-US" sz="1600" b="1" dirty="0">
                <a:solidFill>
                  <a:srgbClr val="0F5257"/>
                </a:solidFill>
                <a:latin typeface="Tahoma" pitchFamily="34" charset="0"/>
                <a:ea typeface="Tahoma" pitchFamily="34" charset="-122"/>
                <a:cs typeface="Tahoma" pitchFamily="34" charset="-120"/>
              </a:rPr>
              <a:t>۱</a:t>
            </a:r>
            <a:endParaRPr lang="fa-IR" sz="1600" dirty="0"/>
          </a:p>
        </p:txBody>
      </p:sp>
      <p:sp>
        <p:nvSpPr>
          <p:cNvPr id="44" name="A05_wl_209"/>
          <p:cNvSpPr txBox="1"/>
          <p:nvPr/>
        </p:nvSpPr>
        <p:spPr>
          <a:xfrm>
            <a:off x="9418320" y="5257800"/>
            <a:ext cx="2194560" cy="731520"/>
          </a:xfrm>
          <a:prstGeom prst="rect">
            <a:avLst/>
          </a:prstGeom>
          <a:noFill/>
          <a:ln/>
        </p:spPr>
        <p:txBody>
          <a:bodyPr wrap="square" lIns="0" tIns="0" rIns="0" bIns="0" rtlCol="0" anchor="ctr"/>
          <a:lstStyle/>
          <a:p>
            <a:pPr marL="0" indent="0" algn="ctr" rtl="1">
              <a:buNone/>
            </a:pPr>
            <a:r>
              <a:rPr lang="fa-IR" altLang="en-US" sz="1400" b="1" dirty="0">
                <a:solidFill>
                  <a:srgbClr val="263238"/>
                </a:solidFill>
                <a:latin typeface="Tahoma" pitchFamily="34" charset="0"/>
                <a:ea typeface="Tahoma" pitchFamily="34" charset="-122"/>
                <a:cs typeface="Tahoma" pitchFamily="34" charset="-120"/>
              </a:rPr>
              <a:t>آمار توصیفی</a:t>
            </a:r>
            <a:endParaRPr lang="fa-IR" sz="1400" dirty="0"/>
          </a:p>
        </p:txBody>
      </p:sp>
      <p:sp>
        <p:nvSpPr>
          <p:cNvPr id="45" name="A06_f_210"/>
          <p:cNvSpPr/>
          <p:nvPr/>
        </p:nvSpPr>
        <p:spPr>
          <a:xfrm flipH="1">
            <a:off x="8997696" y="5321808"/>
            <a:ext cx="274320" cy="0"/>
          </a:xfrm>
          <a:prstGeom prst="line">
            <a:avLst/>
          </a:prstGeom>
          <a:noFill/>
          <a:ln w="28575">
            <a:solidFill>
              <a:srgbClr val="6B7B83"/>
            </a:solidFill>
            <a:prstDash val="solid"/>
            <a:tailEnd type="triangle"/>
          </a:ln>
        </p:spPr>
      </p:sp>
      <p:sp>
        <p:nvSpPr>
          <p:cNvPr id="46" name="A06_wl_211b"/>
          <p:cNvSpPr/>
          <p:nvPr/>
        </p:nvSpPr>
        <p:spPr>
          <a:xfrm>
            <a:off x="6565392" y="4526280"/>
            <a:ext cx="2377440" cy="1600200"/>
          </a:xfrm>
          <a:prstGeom prst="roundRect">
            <a:avLst>
              <a:gd name="adj" fmla="val 6857"/>
            </a:avLst>
          </a:prstGeom>
          <a:solidFill>
            <a:srgbClr val="F4F6F7"/>
          </a:solidFill>
          <a:ln w="12700">
            <a:solidFill>
              <a:srgbClr val="F4F6F7"/>
            </a:solidFill>
            <a:prstDash val="solid"/>
          </a:ln>
        </p:spPr>
      </p:sp>
      <p:sp>
        <p:nvSpPr>
          <p:cNvPr id="47" name="A06_wl_212c"/>
          <p:cNvSpPr/>
          <p:nvPr/>
        </p:nvSpPr>
        <p:spPr>
          <a:xfrm>
            <a:off x="7479792" y="4636008"/>
            <a:ext cx="548640" cy="548640"/>
          </a:xfrm>
          <a:prstGeom prst="ellipse">
            <a:avLst/>
          </a:prstGeom>
          <a:solidFill>
            <a:srgbClr val="2A9D8F"/>
          </a:solidFill>
          <a:ln w="12700">
            <a:solidFill>
              <a:srgbClr val="2A9D8F"/>
            </a:solidFill>
            <a:prstDash val="solid"/>
          </a:ln>
        </p:spPr>
      </p:sp>
      <p:pic>
        <p:nvPicPr>
          <p:cNvPr id="48" name="A06_wl_212i" descr="preencoded.png"/>
          <p:cNvPicPr>
            <a:picLocks noChangeAspect="1"/>
          </p:cNvPicPr>
          <p:nvPr/>
        </p:nvPicPr>
        <p:blipFill>
          <a:blip r:embed="rId6"/>
          <a:stretch>
            <a:fillRect/>
          </a:stretch>
        </p:blipFill>
        <p:spPr>
          <a:xfrm>
            <a:off x="7600493" y="4756709"/>
            <a:ext cx="307238" cy="307238"/>
          </a:xfrm>
          <a:prstGeom prst="rect">
            <a:avLst/>
          </a:prstGeom>
        </p:spPr>
      </p:pic>
      <p:sp>
        <p:nvSpPr>
          <p:cNvPr id="49" name="A06_wl_213"/>
          <p:cNvSpPr txBox="1"/>
          <p:nvPr/>
        </p:nvSpPr>
        <p:spPr>
          <a:xfrm>
            <a:off x="8485632" y="4617720"/>
            <a:ext cx="320040" cy="365760"/>
          </a:xfrm>
          <a:prstGeom prst="rect">
            <a:avLst/>
          </a:prstGeom>
          <a:noFill/>
          <a:ln/>
        </p:spPr>
        <p:txBody>
          <a:bodyPr wrap="square" lIns="0" tIns="0" rIns="0" bIns="0" rtlCol="0" anchor="t"/>
          <a:lstStyle/>
          <a:p>
            <a:pPr marL="0" indent="0" algn="ctr" rtl="1">
              <a:buNone/>
            </a:pPr>
            <a:r>
              <a:rPr lang="fa-IR" altLang="en-US" sz="1600" b="1" dirty="0">
                <a:solidFill>
                  <a:srgbClr val="0F5257"/>
                </a:solidFill>
                <a:latin typeface="Tahoma" pitchFamily="34" charset="0"/>
                <a:ea typeface="Tahoma" pitchFamily="34" charset="-122"/>
                <a:cs typeface="Tahoma" pitchFamily="34" charset="-120"/>
              </a:rPr>
              <a:t>۲</a:t>
            </a:r>
            <a:endParaRPr lang="fa-IR" sz="1600" dirty="0"/>
          </a:p>
        </p:txBody>
      </p:sp>
      <p:sp>
        <p:nvSpPr>
          <p:cNvPr id="50" name="A06_wl_214"/>
          <p:cNvSpPr txBox="1"/>
          <p:nvPr/>
        </p:nvSpPr>
        <p:spPr>
          <a:xfrm>
            <a:off x="6656832" y="5257800"/>
            <a:ext cx="2194560" cy="731520"/>
          </a:xfrm>
          <a:prstGeom prst="rect">
            <a:avLst/>
          </a:prstGeom>
          <a:noFill/>
          <a:ln/>
        </p:spPr>
        <p:txBody>
          <a:bodyPr wrap="square" lIns="0" tIns="0" rIns="0" bIns="0" rtlCol="0" anchor="ctr"/>
          <a:lstStyle/>
          <a:p>
            <a:pPr marL="0" indent="0" algn="ctr" rtl="1">
              <a:buNone/>
            </a:pPr>
            <a:r>
              <a:rPr lang="fa-IR" altLang="en-US" sz="1400" b="1" dirty="0">
                <a:solidFill>
                  <a:srgbClr val="263238"/>
                </a:solidFill>
                <a:latin typeface="Tahoma" pitchFamily="34" charset="0"/>
                <a:ea typeface="Tahoma" pitchFamily="34" charset="-122"/>
                <a:cs typeface="Tahoma" pitchFamily="34" charset="-120"/>
              </a:rPr>
              <a:t>ضریب همبستگی اسپیرمن</a:t>
            </a:r>
            <a:endParaRPr lang="fa-IR" sz="1400" dirty="0"/>
          </a:p>
        </p:txBody>
      </p:sp>
      <p:sp>
        <p:nvSpPr>
          <p:cNvPr id="51" name="A07_f_215"/>
          <p:cNvSpPr/>
          <p:nvPr/>
        </p:nvSpPr>
        <p:spPr>
          <a:xfrm flipH="1">
            <a:off x="6236208" y="5321808"/>
            <a:ext cx="274320" cy="0"/>
          </a:xfrm>
          <a:prstGeom prst="line">
            <a:avLst/>
          </a:prstGeom>
          <a:noFill/>
          <a:ln w="28575">
            <a:solidFill>
              <a:srgbClr val="6B7B83"/>
            </a:solidFill>
            <a:prstDash val="solid"/>
            <a:tailEnd type="triangle"/>
          </a:ln>
        </p:spPr>
      </p:sp>
      <p:sp>
        <p:nvSpPr>
          <p:cNvPr id="52" name="A07_wl_216b"/>
          <p:cNvSpPr/>
          <p:nvPr/>
        </p:nvSpPr>
        <p:spPr>
          <a:xfrm>
            <a:off x="3803904" y="4526280"/>
            <a:ext cx="2377440" cy="1600200"/>
          </a:xfrm>
          <a:prstGeom prst="roundRect">
            <a:avLst>
              <a:gd name="adj" fmla="val 6857"/>
            </a:avLst>
          </a:prstGeom>
          <a:solidFill>
            <a:srgbClr val="F4F6F7"/>
          </a:solidFill>
          <a:ln w="12700">
            <a:solidFill>
              <a:srgbClr val="F4F6F7"/>
            </a:solidFill>
            <a:prstDash val="solid"/>
          </a:ln>
        </p:spPr>
      </p:sp>
      <p:sp>
        <p:nvSpPr>
          <p:cNvPr id="53" name="A07_wl_217c"/>
          <p:cNvSpPr/>
          <p:nvPr/>
        </p:nvSpPr>
        <p:spPr>
          <a:xfrm>
            <a:off x="4718304" y="4636008"/>
            <a:ext cx="548640" cy="548640"/>
          </a:xfrm>
          <a:prstGeom prst="ellipse">
            <a:avLst/>
          </a:prstGeom>
          <a:solidFill>
            <a:srgbClr val="2A9D8F"/>
          </a:solidFill>
          <a:ln w="12700">
            <a:solidFill>
              <a:srgbClr val="2A9D8F"/>
            </a:solidFill>
            <a:prstDash val="solid"/>
          </a:ln>
        </p:spPr>
      </p:sp>
      <p:pic>
        <p:nvPicPr>
          <p:cNvPr id="54" name="A07_wl_217i" descr="preencoded.png"/>
          <p:cNvPicPr>
            <a:picLocks noChangeAspect="1"/>
          </p:cNvPicPr>
          <p:nvPr/>
        </p:nvPicPr>
        <p:blipFill>
          <a:blip r:embed="rId7"/>
          <a:stretch>
            <a:fillRect/>
          </a:stretch>
        </p:blipFill>
        <p:spPr>
          <a:xfrm>
            <a:off x="4839005" y="4756709"/>
            <a:ext cx="307238" cy="307238"/>
          </a:xfrm>
          <a:prstGeom prst="rect">
            <a:avLst/>
          </a:prstGeom>
        </p:spPr>
      </p:pic>
      <p:sp>
        <p:nvSpPr>
          <p:cNvPr id="55" name="A07_wl_218"/>
          <p:cNvSpPr txBox="1"/>
          <p:nvPr/>
        </p:nvSpPr>
        <p:spPr>
          <a:xfrm>
            <a:off x="5724144" y="4617720"/>
            <a:ext cx="320040" cy="365760"/>
          </a:xfrm>
          <a:prstGeom prst="rect">
            <a:avLst/>
          </a:prstGeom>
          <a:noFill/>
          <a:ln/>
        </p:spPr>
        <p:txBody>
          <a:bodyPr wrap="square" lIns="0" tIns="0" rIns="0" bIns="0" rtlCol="0" anchor="t"/>
          <a:lstStyle/>
          <a:p>
            <a:pPr marL="0" indent="0" algn="ctr" rtl="1">
              <a:buNone/>
            </a:pPr>
            <a:r>
              <a:rPr lang="fa-IR" altLang="en-US" sz="1600" b="1" dirty="0">
                <a:solidFill>
                  <a:srgbClr val="0F5257"/>
                </a:solidFill>
                <a:latin typeface="Tahoma" pitchFamily="34" charset="0"/>
                <a:ea typeface="Tahoma" pitchFamily="34" charset="-122"/>
                <a:cs typeface="Tahoma" pitchFamily="34" charset="-120"/>
              </a:rPr>
              <a:t>۳</a:t>
            </a:r>
            <a:endParaRPr lang="fa-IR" sz="1600" dirty="0"/>
          </a:p>
        </p:txBody>
      </p:sp>
      <p:sp>
        <p:nvSpPr>
          <p:cNvPr id="56" name="A07_wl_219"/>
          <p:cNvSpPr txBox="1"/>
          <p:nvPr/>
        </p:nvSpPr>
        <p:spPr>
          <a:xfrm>
            <a:off x="3895344" y="5257800"/>
            <a:ext cx="2194560" cy="731520"/>
          </a:xfrm>
          <a:prstGeom prst="rect">
            <a:avLst/>
          </a:prstGeom>
          <a:noFill/>
          <a:ln/>
        </p:spPr>
        <p:txBody>
          <a:bodyPr wrap="square" lIns="0" tIns="0" rIns="0" bIns="0" rtlCol="0" anchor="ctr"/>
          <a:lstStyle/>
          <a:p>
            <a:pPr marL="0" indent="0" algn="ctr" rtl="1">
              <a:buNone/>
            </a:pPr>
            <a:r>
              <a:rPr lang="fa-IR" altLang="en-US" sz="1400" b="1" dirty="0">
                <a:solidFill>
                  <a:srgbClr val="263238"/>
                </a:solidFill>
                <a:latin typeface="Tahoma" pitchFamily="34" charset="0"/>
                <a:ea typeface="Tahoma" pitchFamily="34" charset="-122"/>
                <a:cs typeface="Tahoma" pitchFamily="34" charset="-120"/>
              </a:rPr>
              <a:t>مدل‌یابی معادلات ساختاری</a:t>
            </a:r>
            <a:endParaRPr lang="fa-IR"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450" fill="hold"/>
                                        <p:tgtEl>
                                          <p:spTgt spid="11"/>
                                        </p:tgtEl>
                                        <p:attrNameLst>
                                          <p:attrName>ppt_w</p:attrName>
                                        </p:attrNameLst>
                                      </p:cBhvr>
                                      <p:tavLst>
                                        <p:tav tm="0">
                                          <p:val>
                                            <p:fltVal val="0"/>
                                          </p:val>
                                        </p:tav>
                                        <p:tav tm="100000">
                                          <p:val>
                                            <p:strVal val="#ppt_w"/>
                                          </p:val>
                                        </p:tav>
                                      </p:tavLst>
                                    </p:anim>
                                    <p:anim calcmode="lin" valueType="num">
                                      <p:cBhvr>
                                        <p:cTn id="8" dur="450" fill="hold"/>
                                        <p:tgtEl>
                                          <p:spTgt spid="11"/>
                                        </p:tgtEl>
                                        <p:attrNameLst>
                                          <p:attrName>ppt_h</p:attrName>
                                        </p:attrNameLst>
                                      </p:cBhvr>
                                      <p:tavLst>
                                        <p:tav tm="0">
                                          <p:val>
                                            <p:fltVal val="0"/>
                                          </p:val>
                                        </p:tav>
                                        <p:tav tm="100000">
                                          <p:val>
                                            <p:strVal val="#ppt_h"/>
                                          </p:val>
                                        </p:tav>
                                      </p:tavLst>
                                    </p:anim>
                                    <p:animEffect transition="in" filter="fade">
                                      <p:cBhvr>
                                        <p:cTn id="9" dur="450"/>
                                        <p:tgtEl>
                                          <p:spTgt spid="11"/>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450" fill="hold"/>
                                        <p:tgtEl>
                                          <p:spTgt spid="12"/>
                                        </p:tgtEl>
                                        <p:attrNameLst>
                                          <p:attrName>ppt_w</p:attrName>
                                        </p:attrNameLst>
                                      </p:cBhvr>
                                      <p:tavLst>
                                        <p:tav tm="0">
                                          <p:val>
                                            <p:fltVal val="0"/>
                                          </p:val>
                                        </p:tav>
                                        <p:tav tm="100000">
                                          <p:val>
                                            <p:strVal val="#ppt_w"/>
                                          </p:val>
                                        </p:tav>
                                      </p:tavLst>
                                    </p:anim>
                                    <p:anim calcmode="lin" valueType="num">
                                      <p:cBhvr>
                                        <p:cTn id="13" dur="450" fill="hold"/>
                                        <p:tgtEl>
                                          <p:spTgt spid="12"/>
                                        </p:tgtEl>
                                        <p:attrNameLst>
                                          <p:attrName>ppt_h</p:attrName>
                                        </p:attrNameLst>
                                      </p:cBhvr>
                                      <p:tavLst>
                                        <p:tav tm="0">
                                          <p:val>
                                            <p:fltVal val="0"/>
                                          </p:val>
                                        </p:tav>
                                        <p:tav tm="100000">
                                          <p:val>
                                            <p:strVal val="#ppt_h"/>
                                          </p:val>
                                        </p:tav>
                                      </p:tavLst>
                                    </p:anim>
                                    <p:animEffect transition="in" filter="fade">
                                      <p:cBhvr>
                                        <p:cTn id="14" dur="450"/>
                                        <p:tgtEl>
                                          <p:spTgt spid="12"/>
                                        </p:tgtEl>
                                      </p:cBhvr>
                                    </p:animEffect>
                                  </p:childTnLst>
                                </p:cTn>
                              </p:par>
                              <p:par>
                                <p:cTn id="15" presetID="53" presetClass="entr" presetSubtype="16"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450" fill="hold"/>
                                        <p:tgtEl>
                                          <p:spTgt spid="13"/>
                                        </p:tgtEl>
                                        <p:attrNameLst>
                                          <p:attrName>ppt_w</p:attrName>
                                        </p:attrNameLst>
                                      </p:cBhvr>
                                      <p:tavLst>
                                        <p:tav tm="0">
                                          <p:val>
                                            <p:fltVal val="0"/>
                                          </p:val>
                                        </p:tav>
                                        <p:tav tm="100000">
                                          <p:val>
                                            <p:strVal val="#ppt_w"/>
                                          </p:val>
                                        </p:tav>
                                      </p:tavLst>
                                    </p:anim>
                                    <p:anim calcmode="lin" valueType="num">
                                      <p:cBhvr>
                                        <p:cTn id="18" dur="450" fill="hold"/>
                                        <p:tgtEl>
                                          <p:spTgt spid="13"/>
                                        </p:tgtEl>
                                        <p:attrNameLst>
                                          <p:attrName>ppt_h</p:attrName>
                                        </p:attrNameLst>
                                      </p:cBhvr>
                                      <p:tavLst>
                                        <p:tav tm="0">
                                          <p:val>
                                            <p:fltVal val="0"/>
                                          </p:val>
                                        </p:tav>
                                        <p:tav tm="100000">
                                          <p:val>
                                            <p:strVal val="#ppt_h"/>
                                          </p:val>
                                        </p:tav>
                                      </p:tavLst>
                                    </p:anim>
                                    <p:animEffect transition="in" filter="fade">
                                      <p:cBhvr>
                                        <p:cTn id="19" dur="450"/>
                                        <p:tgtEl>
                                          <p:spTgt spid="13"/>
                                        </p:tgtEl>
                                      </p:cBhvr>
                                    </p:animEffect>
                                  </p:childTnLst>
                                </p:cTn>
                              </p:par>
                              <p:par>
                                <p:cTn id="20" presetID="53" presetClass="entr" presetSubtype="16"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450" fill="hold"/>
                                        <p:tgtEl>
                                          <p:spTgt spid="14"/>
                                        </p:tgtEl>
                                        <p:attrNameLst>
                                          <p:attrName>ppt_w</p:attrName>
                                        </p:attrNameLst>
                                      </p:cBhvr>
                                      <p:tavLst>
                                        <p:tav tm="0">
                                          <p:val>
                                            <p:fltVal val="0"/>
                                          </p:val>
                                        </p:tav>
                                        <p:tav tm="100000">
                                          <p:val>
                                            <p:strVal val="#ppt_w"/>
                                          </p:val>
                                        </p:tav>
                                      </p:tavLst>
                                    </p:anim>
                                    <p:anim calcmode="lin" valueType="num">
                                      <p:cBhvr>
                                        <p:cTn id="23" dur="450" fill="hold"/>
                                        <p:tgtEl>
                                          <p:spTgt spid="14"/>
                                        </p:tgtEl>
                                        <p:attrNameLst>
                                          <p:attrName>ppt_h</p:attrName>
                                        </p:attrNameLst>
                                      </p:cBhvr>
                                      <p:tavLst>
                                        <p:tav tm="0">
                                          <p:val>
                                            <p:fltVal val="0"/>
                                          </p:val>
                                        </p:tav>
                                        <p:tav tm="100000">
                                          <p:val>
                                            <p:strVal val="#ppt_h"/>
                                          </p:val>
                                        </p:tav>
                                      </p:tavLst>
                                    </p:anim>
                                    <p:animEffect transition="in" filter="fade">
                                      <p:cBhvr>
                                        <p:cTn id="24" dur="450"/>
                                        <p:tgtEl>
                                          <p:spTgt spid="14"/>
                                        </p:tgtEl>
                                      </p:cBhvr>
                                    </p:animEffect>
                                  </p:childTnLst>
                                </p:cTn>
                              </p:par>
                              <p:par>
                                <p:cTn id="25" presetID="53" presetClass="entr" presetSubtype="16"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450" fill="hold"/>
                                        <p:tgtEl>
                                          <p:spTgt spid="15"/>
                                        </p:tgtEl>
                                        <p:attrNameLst>
                                          <p:attrName>ppt_w</p:attrName>
                                        </p:attrNameLst>
                                      </p:cBhvr>
                                      <p:tavLst>
                                        <p:tav tm="0">
                                          <p:val>
                                            <p:fltVal val="0"/>
                                          </p:val>
                                        </p:tav>
                                        <p:tav tm="100000">
                                          <p:val>
                                            <p:strVal val="#ppt_w"/>
                                          </p:val>
                                        </p:tav>
                                      </p:tavLst>
                                    </p:anim>
                                    <p:anim calcmode="lin" valueType="num">
                                      <p:cBhvr>
                                        <p:cTn id="28" dur="450" fill="hold"/>
                                        <p:tgtEl>
                                          <p:spTgt spid="15"/>
                                        </p:tgtEl>
                                        <p:attrNameLst>
                                          <p:attrName>ppt_h</p:attrName>
                                        </p:attrNameLst>
                                      </p:cBhvr>
                                      <p:tavLst>
                                        <p:tav tm="0">
                                          <p:val>
                                            <p:fltVal val="0"/>
                                          </p:val>
                                        </p:tav>
                                        <p:tav tm="100000">
                                          <p:val>
                                            <p:strVal val="#ppt_h"/>
                                          </p:val>
                                        </p:tav>
                                      </p:tavLst>
                                    </p:anim>
                                    <p:animEffect transition="in" filter="fade">
                                      <p:cBhvr>
                                        <p:cTn id="29" dur="450"/>
                                        <p:tgtEl>
                                          <p:spTgt spid="15"/>
                                        </p:tgtEl>
                                      </p:cBhvr>
                                    </p:animEffect>
                                  </p:childTnLst>
                                </p:cTn>
                              </p:par>
                              <p:par>
                                <p:cTn id="30" presetID="53" presetClass="entr" presetSubtype="16"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450" fill="hold"/>
                                        <p:tgtEl>
                                          <p:spTgt spid="16"/>
                                        </p:tgtEl>
                                        <p:attrNameLst>
                                          <p:attrName>ppt_w</p:attrName>
                                        </p:attrNameLst>
                                      </p:cBhvr>
                                      <p:tavLst>
                                        <p:tav tm="0">
                                          <p:val>
                                            <p:fltVal val="0"/>
                                          </p:val>
                                        </p:tav>
                                        <p:tav tm="100000">
                                          <p:val>
                                            <p:strVal val="#ppt_w"/>
                                          </p:val>
                                        </p:tav>
                                      </p:tavLst>
                                    </p:anim>
                                    <p:anim calcmode="lin" valueType="num">
                                      <p:cBhvr>
                                        <p:cTn id="33" dur="450" fill="hold"/>
                                        <p:tgtEl>
                                          <p:spTgt spid="16"/>
                                        </p:tgtEl>
                                        <p:attrNameLst>
                                          <p:attrName>ppt_h</p:attrName>
                                        </p:attrNameLst>
                                      </p:cBhvr>
                                      <p:tavLst>
                                        <p:tav tm="0">
                                          <p:val>
                                            <p:fltVal val="0"/>
                                          </p:val>
                                        </p:tav>
                                        <p:tav tm="100000">
                                          <p:val>
                                            <p:strVal val="#ppt_h"/>
                                          </p:val>
                                        </p:tav>
                                      </p:tavLst>
                                    </p:anim>
                                    <p:animEffect transition="in" filter="fade">
                                      <p:cBhvr>
                                        <p:cTn id="34" dur="450"/>
                                        <p:tgtEl>
                                          <p:spTgt spid="16"/>
                                        </p:tgtEl>
                                      </p:cBhvr>
                                    </p:animEffect>
                                  </p:childTnLst>
                                </p:cTn>
                              </p:par>
                              <p:par>
                                <p:cTn id="35" presetID="53" presetClass="entr" presetSubtype="16"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450" fill="hold"/>
                                        <p:tgtEl>
                                          <p:spTgt spid="17"/>
                                        </p:tgtEl>
                                        <p:attrNameLst>
                                          <p:attrName>ppt_w</p:attrName>
                                        </p:attrNameLst>
                                      </p:cBhvr>
                                      <p:tavLst>
                                        <p:tav tm="0">
                                          <p:val>
                                            <p:fltVal val="0"/>
                                          </p:val>
                                        </p:tav>
                                        <p:tav tm="100000">
                                          <p:val>
                                            <p:strVal val="#ppt_w"/>
                                          </p:val>
                                        </p:tav>
                                      </p:tavLst>
                                    </p:anim>
                                    <p:anim calcmode="lin" valueType="num">
                                      <p:cBhvr>
                                        <p:cTn id="38" dur="450" fill="hold"/>
                                        <p:tgtEl>
                                          <p:spTgt spid="17"/>
                                        </p:tgtEl>
                                        <p:attrNameLst>
                                          <p:attrName>ppt_h</p:attrName>
                                        </p:attrNameLst>
                                      </p:cBhvr>
                                      <p:tavLst>
                                        <p:tav tm="0">
                                          <p:val>
                                            <p:fltVal val="0"/>
                                          </p:val>
                                        </p:tav>
                                        <p:tav tm="100000">
                                          <p:val>
                                            <p:strVal val="#ppt_h"/>
                                          </p:val>
                                        </p:tav>
                                      </p:tavLst>
                                    </p:anim>
                                    <p:animEffect transition="in" filter="fade">
                                      <p:cBhvr>
                                        <p:cTn id="39" dur="450"/>
                                        <p:tgtEl>
                                          <p:spTgt spid="17"/>
                                        </p:tgtEl>
                                      </p:cBhvr>
                                    </p:animEffect>
                                  </p:childTnLst>
                                </p:cTn>
                              </p:par>
                              <p:par>
                                <p:cTn id="40" presetID="53" presetClass="entr" presetSubtype="16"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450" fill="hold"/>
                                        <p:tgtEl>
                                          <p:spTgt spid="18"/>
                                        </p:tgtEl>
                                        <p:attrNameLst>
                                          <p:attrName>ppt_w</p:attrName>
                                        </p:attrNameLst>
                                      </p:cBhvr>
                                      <p:tavLst>
                                        <p:tav tm="0">
                                          <p:val>
                                            <p:fltVal val="0"/>
                                          </p:val>
                                        </p:tav>
                                        <p:tav tm="100000">
                                          <p:val>
                                            <p:strVal val="#ppt_w"/>
                                          </p:val>
                                        </p:tav>
                                      </p:tavLst>
                                    </p:anim>
                                    <p:anim calcmode="lin" valueType="num">
                                      <p:cBhvr>
                                        <p:cTn id="43" dur="450" fill="hold"/>
                                        <p:tgtEl>
                                          <p:spTgt spid="18"/>
                                        </p:tgtEl>
                                        <p:attrNameLst>
                                          <p:attrName>ppt_h</p:attrName>
                                        </p:attrNameLst>
                                      </p:cBhvr>
                                      <p:tavLst>
                                        <p:tav tm="0">
                                          <p:val>
                                            <p:fltVal val="0"/>
                                          </p:val>
                                        </p:tav>
                                        <p:tav tm="100000">
                                          <p:val>
                                            <p:strVal val="#ppt_h"/>
                                          </p:val>
                                        </p:tav>
                                      </p:tavLst>
                                    </p:anim>
                                    <p:animEffect transition="in" filter="fade">
                                      <p:cBhvr>
                                        <p:cTn id="44" dur="450"/>
                                        <p:tgtEl>
                                          <p:spTgt spid="18"/>
                                        </p:tgtEl>
                                      </p:cBhvr>
                                    </p:animEffect>
                                  </p:childTnLst>
                                </p:cTn>
                              </p:par>
                            </p:childTnLst>
                          </p:cTn>
                        </p:par>
                        <p:par>
                          <p:cTn id="45" fill="hold">
                            <p:stCondLst>
                              <p:cond delay="300"/>
                            </p:stCondLst>
                            <p:childTnLst>
                              <p:par>
                                <p:cTn id="46" presetID="53" presetClass="entr" presetSubtype="16" fill="hold" nodeType="after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p:cTn id="48" dur="450" fill="hold"/>
                                        <p:tgtEl>
                                          <p:spTgt spid="19"/>
                                        </p:tgtEl>
                                        <p:attrNameLst>
                                          <p:attrName>ppt_w</p:attrName>
                                        </p:attrNameLst>
                                      </p:cBhvr>
                                      <p:tavLst>
                                        <p:tav tm="0">
                                          <p:val>
                                            <p:fltVal val="0"/>
                                          </p:val>
                                        </p:tav>
                                        <p:tav tm="100000">
                                          <p:val>
                                            <p:strVal val="#ppt_w"/>
                                          </p:val>
                                        </p:tav>
                                      </p:tavLst>
                                    </p:anim>
                                    <p:anim calcmode="lin" valueType="num">
                                      <p:cBhvr>
                                        <p:cTn id="49" dur="450" fill="hold"/>
                                        <p:tgtEl>
                                          <p:spTgt spid="19"/>
                                        </p:tgtEl>
                                        <p:attrNameLst>
                                          <p:attrName>ppt_h</p:attrName>
                                        </p:attrNameLst>
                                      </p:cBhvr>
                                      <p:tavLst>
                                        <p:tav tm="0">
                                          <p:val>
                                            <p:fltVal val="0"/>
                                          </p:val>
                                        </p:tav>
                                        <p:tav tm="100000">
                                          <p:val>
                                            <p:strVal val="#ppt_h"/>
                                          </p:val>
                                        </p:tav>
                                      </p:tavLst>
                                    </p:anim>
                                    <p:animEffect transition="in" filter="fade">
                                      <p:cBhvr>
                                        <p:cTn id="50" dur="450"/>
                                        <p:tgtEl>
                                          <p:spTgt spid="19"/>
                                        </p:tgtEl>
                                      </p:cBhvr>
                                    </p:animEffect>
                                  </p:childTnLst>
                                </p:cTn>
                              </p:par>
                              <p:par>
                                <p:cTn id="51" presetID="53" presetClass="entr" presetSubtype="16"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p:cTn id="53" dur="450" fill="hold"/>
                                        <p:tgtEl>
                                          <p:spTgt spid="20"/>
                                        </p:tgtEl>
                                        <p:attrNameLst>
                                          <p:attrName>ppt_w</p:attrName>
                                        </p:attrNameLst>
                                      </p:cBhvr>
                                      <p:tavLst>
                                        <p:tav tm="0">
                                          <p:val>
                                            <p:fltVal val="0"/>
                                          </p:val>
                                        </p:tav>
                                        <p:tav tm="100000">
                                          <p:val>
                                            <p:strVal val="#ppt_w"/>
                                          </p:val>
                                        </p:tav>
                                      </p:tavLst>
                                    </p:anim>
                                    <p:anim calcmode="lin" valueType="num">
                                      <p:cBhvr>
                                        <p:cTn id="54" dur="450" fill="hold"/>
                                        <p:tgtEl>
                                          <p:spTgt spid="20"/>
                                        </p:tgtEl>
                                        <p:attrNameLst>
                                          <p:attrName>ppt_h</p:attrName>
                                        </p:attrNameLst>
                                      </p:cBhvr>
                                      <p:tavLst>
                                        <p:tav tm="0">
                                          <p:val>
                                            <p:fltVal val="0"/>
                                          </p:val>
                                        </p:tav>
                                        <p:tav tm="100000">
                                          <p:val>
                                            <p:strVal val="#ppt_h"/>
                                          </p:val>
                                        </p:tav>
                                      </p:tavLst>
                                    </p:anim>
                                    <p:animEffect transition="in" filter="fade">
                                      <p:cBhvr>
                                        <p:cTn id="55" dur="450"/>
                                        <p:tgtEl>
                                          <p:spTgt spid="20"/>
                                        </p:tgtEl>
                                      </p:cBhvr>
                                    </p:animEffect>
                                  </p:childTnLst>
                                </p:cTn>
                              </p:par>
                              <p:par>
                                <p:cTn id="56" presetID="53" presetClass="entr" presetSubtype="16"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p:cTn id="58" dur="450" fill="hold"/>
                                        <p:tgtEl>
                                          <p:spTgt spid="21"/>
                                        </p:tgtEl>
                                        <p:attrNameLst>
                                          <p:attrName>ppt_w</p:attrName>
                                        </p:attrNameLst>
                                      </p:cBhvr>
                                      <p:tavLst>
                                        <p:tav tm="0">
                                          <p:val>
                                            <p:fltVal val="0"/>
                                          </p:val>
                                        </p:tav>
                                        <p:tav tm="100000">
                                          <p:val>
                                            <p:strVal val="#ppt_w"/>
                                          </p:val>
                                        </p:tav>
                                      </p:tavLst>
                                    </p:anim>
                                    <p:anim calcmode="lin" valueType="num">
                                      <p:cBhvr>
                                        <p:cTn id="59" dur="450" fill="hold"/>
                                        <p:tgtEl>
                                          <p:spTgt spid="21"/>
                                        </p:tgtEl>
                                        <p:attrNameLst>
                                          <p:attrName>ppt_h</p:attrName>
                                        </p:attrNameLst>
                                      </p:cBhvr>
                                      <p:tavLst>
                                        <p:tav tm="0">
                                          <p:val>
                                            <p:fltVal val="0"/>
                                          </p:val>
                                        </p:tav>
                                        <p:tav tm="100000">
                                          <p:val>
                                            <p:strVal val="#ppt_h"/>
                                          </p:val>
                                        </p:tav>
                                      </p:tavLst>
                                    </p:anim>
                                    <p:animEffect transition="in" filter="fade">
                                      <p:cBhvr>
                                        <p:cTn id="60" dur="450"/>
                                        <p:tgtEl>
                                          <p:spTgt spid="21"/>
                                        </p:tgtEl>
                                      </p:cBhvr>
                                    </p:animEffect>
                                  </p:childTnLst>
                                </p:cTn>
                              </p:par>
                              <p:par>
                                <p:cTn id="61" presetID="53" presetClass="entr" presetSubtype="16"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p:cTn id="63" dur="450" fill="hold"/>
                                        <p:tgtEl>
                                          <p:spTgt spid="22"/>
                                        </p:tgtEl>
                                        <p:attrNameLst>
                                          <p:attrName>ppt_w</p:attrName>
                                        </p:attrNameLst>
                                      </p:cBhvr>
                                      <p:tavLst>
                                        <p:tav tm="0">
                                          <p:val>
                                            <p:fltVal val="0"/>
                                          </p:val>
                                        </p:tav>
                                        <p:tav tm="100000">
                                          <p:val>
                                            <p:strVal val="#ppt_w"/>
                                          </p:val>
                                        </p:tav>
                                      </p:tavLst>
                                    </p:anim>
                                    <p:anim calcmode="lin" valueType="num">
                                      <p:cBhvr>
                                        <p:cTn id="64" dur="450" fill="hold"/>
                                        <p:tgtEl>
                                          <p:spTgt spid="22"/>
                                        </p:tgtEl>
                                        <p:attrNameLst>
                                          <p:attrName>ppt_h</p:attrName>
                                        </p:attrNameLst>
                                      </p:cBhvr>
                                      <p:tavLst>
                                        <p:tav tm="0">
                                          <p:val>
                                            <p:fltVal val="0"/>
                                          </p:val>
                                        </p:tav>
                                        <p:tav tm="100000">
                                          <p:val>
                                            <p:strVal val="#ppt_h"/>
                                          </p:val>
                                        </p:tav>
                                      </p:tavLst>
                                    </p:anim>
                                    <p:animEffect transition="in" filter="fade">
                                      <p:cBhvr>
                                        <p:cTn id="65" dur="450"/>
                                        <p:tgtEl>
                                          <p:spTgt spid="22"/>
                                        </p:tgtEl>
                                      </p:cBhvr>
                                    </p:animEffect>
                                  </p:childTnLst>
                                </p:cTn>
                              </p:par>
                              <p:par>
                                <p:cTn id="66" presetID="53" presetClass="entr" presetSubtype="16"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p:cTn id="68" dur="450" fill="hold"/>
                                        <p:tgtEl>
                                          <p:spTgt spid="23"/>
                                        </p:tgtEl>
                                        <p:attrNameLst>
                                          <p:attrName>ppt_w</p:attrName>
                                        </p:attrNameLst>
                                      </p:cBhvr>
                                      <p:tavLst>
                                        <p:tav tm="0">
                                          <p:val>
                                            <p:fltVal val="0"/>
                                          </p:val>
                                        </p:tav>
                                        <p:tav tm="100000">
                                          <p:val>
                                            <p:strVal val="#ppt_w"/>
                                          </p:val>
                                        </p:tav>
                                      </p:tavLst>
                                    </p:anim>
                                    <p:anim calcmode="lin" valueType="num">
                                      <p:cBhvr>
                                        <p:cTn id="69" dur="450" fill="hold"/>
                                        <p:tgtEl>
                                          <p:spTgt spid="23"/>
                                        </p:tgtEl>
                                        <p:attrNameLst>
                                          <p:attrName>ppt_h</p:attrName>
                                        </p:attrNameLst>
                                      </p:cBhvr>
                                      <p:tavLst>
                                        <p:tav tm="0">
                                          <p:val>
                                            <p:fltVal val="0"/>
                                          </p:val>
                                        </p:tav>
                                        <p:tav tm="100000">
                                          <p:val>
                                            <p:strVal val="#ppt_h"/>
                                          </p:val>
                                        </p:tav>
                                      </p:tavLst>
                                    </p:anim>
                                    <p:animEffect transition="in" filter="fade">
                                      <p:cBhvr>
                                        <p:cTn id="70" dur="450"/>
                                        <p:tgtEl>
                                          <p:spTgt spid="23"/>
                                        </p:tgtEl>
                                      </p:cBhvr>
                                    </p:animEffect>
                                  </p:childTnLst>
                                </p:cTn>
                              </p:par>
                              <p:par>
                                <p:cTn id="71" presetID="53" presetClass="entr" presetSubtype="16" fill="hold"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p:cTn id="73" dur="450" fill="hold"/>
                                        <p:tgtEl>
                                          <p:spTgt spid="24"/>
                                        </p:tgtEl>
                                        <p:attrNameLst>
                                          <p:attrName>ppt_w</p:attrName>
                                        </p:attrNameLst>
                                      </p:cBhvr>
                                      <p:tavLst>
                                        <p:tav tm="0">
                                          <p:val>
                                            <p:fltVal val="0"/>
                                          </p:val>
                                        </p:tav>
                                        <p:tav tm="100000">
                                          <p:val>
                                            <p:strVal val="#ppt_w"/>
                                          </p:val>
                                        </p:tav>
                                      </p:tavLst>
                                    </p:anim>
                                    <p:anim calcmode="lin" valueType="num">
                                      <p:cBhvr>
                                        <p:cTn id="74" dur="450" fill="hold"/>
                                        <p:tgtEl>
                                          <p:spTgt spid="24"/>
                                        </p:tgtEl>
                                        <p:attrNameLst>
                                          <p:attrName>ppt_h</p:attrName>
                                        </p:attrNameLst>
                                      </p:cBhvr>
                                      <p:tavLst>
                                        <p:tav tm="0">
                                          <p:val>
                                            <p:fltVal val="0"/>
                                          </p:val>
                                        </p:tav>
                                        <p:tav tm="100000">
                                          <p:val>
                                            <p:strVal val="#ppt_h"/>
                                          </p:val>
                                        </p:tav>
                                      </p:tavLst>
                                    </p:anim>
                                    <p:animEffect transition="in" filter="fade">
                                      <p:cBhvr>
                                        <p:cTn id="75" dur="450"/>
                                        <p:tgtEl>
                                          <p:spTgt spid="24"/>
                                        </p:tgtEl>
                                      </p:cBhvr>
                                    </p:animEffect>
                                  </p:childTnLst>
                                </p:cTn>
                              </p:par>
                              <p:par>
                                <p:cTn id="76" presetID="53" presetClass="entr" presetSubtype="16" fill="hold"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p:cTn id="78" dur="450" fill="hold"/>
                                        <p:tgtEl>
                                          <p:spTgt spid="25"/>
                                        </p:tgtEl>
                                        <p:attrNameLst>
                                          <p:attrName>ppt_w</p:attrName>
                                        </p:attrNameLst>
                                      </p:cBhvr>
                                      <p:tavLst>
                                        <p:tav tm="0">
                                          <p:val>
                                            <p:fltVal val="0"/>
                                          </p:val>
                                        </p:tav>
                                        <p:tav tm="100000">
                                          <p:val>
                                            <p:strVal val="#ppt_w"/>
                                          </p:val>
                                        </p:tav>
                                      </p:tavLst>
                                    </p:anim>
                                    <p:anim calcmode="lin" valueType="num">
                                      <p:cBhvr>
                                        <p:cTn id="79" dur="450" fill="hold"/>
                                        <p:tgtEl>
                                          <p:spTgt spid="25"/>
                                        </p:tgtEl>
                                        <p:attrNameLst>
                                          <p:attrName>ppt_h</p:attrName>
                                        </p:attrNameLst>
                                      </p:cBhvr>
                                      <p:tavLst>
                                        <p:tav tm="0">
                                          <p:val>
                                            <p:fltVal val="0"/>
                                          </p:val>
                                        </p:tav>
                                        <p:tav tm="100000">
                                          <p:val>
                                            <p:strVal val="#ppt_h"/>
                                          </p:val>
                                        </p:tav>
                                      </p:tavLst>
                                    </p:anim>
                                    <p:animEffect transition="in" filter="fade">
                                      <p:cBhvr>
                                        <p:cTn id="80" dur="450"/>
                                        <p:tgtEl>
                                          <p:spTgt spid="25"/>
                                        </p:tgtEl>
                                      </p:cBhvr>
                                    </p:animEffect>
                                  </p:childTnLst>
                                </p:cTn>
                              </p:par>
                              <p:par>
                                <p:cTn id="81" presetID="53" presetClass="entr" presetSubtype="16"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p:cTn id="83" dur="450" fill="hold"/>
                                        <p:tgtEl>
                                          <p:spTgt spid="26"/>
                                        </p:tgtEl>
                                        <p:attrNameLst>
                                          <p:attrName>ppt_w</p:attrName>
                                        </p:attrNameLst>
                                      </p:cBhvr>
                                      <p:tavLst>
                                        <p:tav tm="0">
                                          <p:val>
                                            <p:fltVal val="0"/>
                                          </p:val>
                                        </p:tav>
                                        <p:tav tm="100000">
                                          <p:val>
                                            <p:strVal val="#ppt_w"/>
                                          </p:val>
                                        </p:tav>
                                      </p:tavLst>
                                    </p:anim>
                                    <p:anim calcmode="lin" valueType="num">
                                      <p:cBhvr>
                                        <p:cTn id="84" dur="450" fill="hold"/>
                                        <p:tgtEl>
                                          <p:spTgt spid="26"/>
                                        </p:tgtEl>
                                        <p:attrNameLst>
                                          <p:attrName>ppt_h</p:attrName>
                                        </p:attrNameLst>
                                      </p:cBhvr>
                                      <p:tavLst>
                                        <p:tav tm="0">
                                          <p:val>
                                            <p:fltVal val="0"/>
                                          </p:val>
                                        </p:tav>
                                        <p:tav tm="100000">
                                          <p:val>
                                            <p:strVal val="#ppt_h"/>
                                          </p:val>
                                        </p:tav>
                                      </p:tavLst>
                                    </p:anim>
                                    <p:animEffect transition="in" filter="fade">
                                      <p:cBhvr>
                                        <p:cTn id="85" dur="450"/>
                                        <p:tgtEl>
                                          <p:spTgt spid="26"/>
                                        </p:tgtEl>
                                      </p:cBhvr>
                                    </p:animEffect>
                                  </p:childTnLst>
                                </p:cTn>
                              </p:par>
                            </p:childTnLst>
                          </p:cTn>
                        </p:par>
                        <p:par>
                          <p:cTn id="86" fill="hold">
                            <p:stCondLst>
                              <p:cond delay="600"/>
                            </p:stCondLst>
                            <p:childTnLst>
                              <p:par>
                                <p:cTn id="87" presetID="53" presetClass="entr" presetSubtype="16" fill="hold" nodeType="afterEffect">
                                  <p:stCondLst>
                                    <p:cond delay="0"/>
                                  </p:stCondLst>
                                  <p:childTnLst>
                                    <p:set>
                                      <p:cBhvr>
                                        <p:cTn id="88" dur="1" fill="hold">
                                          <p:stCondLst>
                                            <p:cond delay="0"/>
                                          </p:stCondLst>
                                        </p:cTn>
                                        <p:tgtEl>
                                          <p:spTgt spid="27"/>
                                        </p:tgtEl>
                                        <p:attrNameLst>
                                          <p:attrName>style.visibility</p:attrName>
                                        </p:attrNameLst>
                                      </p:cBhvr>
                                      <p:to>
                                        <p:strVal val="visible"/>
                                      </p:to>
                                    </p:set>
                                    <p:anim calcmode="lin" valueType="num">
                                      <p:cBhvr>
                                        <p:cTn id="89" dur="450" fill="hold"/>
                                        <p:tgtEl>
                                          <p:spTgt spid="27"/>
                                        </p:tgtEl>
                                        <p:attrNameLst>
                                          <p:attrName>ppt_w</p:attrName>
                                        </p:attrNameLst>
                                      </p:cBhvr>
                                      <p:tavLst>
                                        <p:tav tm="0">
                                          <p:val>
                                            <p:fltVal val="0"/>
                                          </p:val>
                                        </p:tav>
                                        <p:tav tm="100000">
                                          <p:val>
                                            <p:strVal val="#ppt_w"/>
                                          </p:val>
                                        </p:tav>
                                      </p:tavLst>
                                    </p:anim>
                                    <p:anim calcmode="lin" valueType="num">
                                      <p:cBhvr>
                                        <p:cTn id="90" dur="450" fill="hold"/>
                                        <p:tgtEl>
                                          <p:spTgt spid="27"/>
                                        </p:tgtEl>
                                        <p:attrNameLst>
                                          <p:attrName>ppt_h</p:attrName>
                                        </p:attrNameLst>
                                      </p:cBhvr>
                                      <p:tavLst>
                                        <p:tav tm="0">
                                          <p:val>
                                            <p:fltVal val="0"/>
                                          </p:val>
                                        </p:tav>
                                        <p:tav tm="100000">
                                          <p:val>
                                            <p:strVal val="#ppt_h"/>
                                          </p:val>
                                        </p:tav>
                                      </p:tavLst>
                                    </p:anim>
                                    <p:animEffect transition="in" filter="fade">
                                      <p:cBhvr>
                                        <p:cTn id="91" dur="450"/>
                                        <p:tgtEl>
                                          <p:spTgt spid="27"/>
                                        </p:tgtEl>
                                      </p:cBhvr>
                                    </p:animEffect>
                                  </p:childTnLst>
                                </p:cTn>
                              </p:par>
                              <p:par>
                                <p:cTn id="92" presetID="53" presetClass="entr" presetSubtype="16" fill="hold" nodeType="withEffect">
                                  <p:stCondLst>
                                    <p:cond delay="0"/>
                                  </p:stCondLst>
                                  <p:childTnLst>
                                    <p:set>
                                      <p:cBhvr>
                                        <p:cTn id="93" dur="1" fill="hold">
                                          <p:stCondLst>
                                            <p:cond delay="0"/>
                                          </p:stCondLst>
                                        </p:cTn>
                                        <p:tgtEl>
                                          <p:spTgt spid="28"/>
                                        </p:tgtEl>
                                        <p:attrNameLst>
                                          <p:attrName>style.visibility</p:attrName>
                                        </p:attrNameLst>
                                      </p:cBhvr>
                                      <p:to>
                                        <p:strVal val="visible"/>
                                      </p:to>
                                    </p:set>
                                    <p:anim calcmode="lin" valueType="num">
                                      <p:cBhvr>
                                        <p:cTn id="94" dur="450" fill="hold"/>
                                        <p:tgtEl>
                                          <p:spTgt spid="28"/>
                                        </p:tgtEl>
                                        <p:attrNameLst>
                                          <p:attrName>ppt_w</p:attrName>
                                        </p:attrNameLst>
                                      </p:cBhvr>
                                      <p:tavLst>
                                        <p:tav tm="0">
                                          <p:val>
                                            <p:fltVal val="0"/>
                                          </p:val>
                                        </p:tav>
                                        <p:tav tm="100000">
                                          <p:val>
                                            <p:strVal val="#ppt_w"/>
                                          </p:val>
                                        </p:tav>
                                      </p:tavLst>
                                    </p:anim>
                                    <p:anim calcmode="lin" valueType="num">
                                      <p:cBhvr>
                                        <p:cTn id="95" dur="450" fill="hold"/>
                                        <p:tgtEl>
                                          <p:spTgt spid="28"/>
                                        </p:tgtEl>
                                        <p:attrNameLst>
                                          <p:attrName>ppt_h</p:attrName>
                                        </p:attrNameLst>
                                      </p:cBhvr>
                                      <p:tavLst>
                                        <p:tav tm="0">
                                          <p:val>
                                            <p:fltVal val="0"/>
                                          </p:val>
                                        </p:tav>
                                        <p:tav tm="100000">
                                          <p:val>
                                            <p:strVal val="#ppt_h"/>
                                          </p:val>
                                        </p:tav>
                                      </p:tavLst>
                                    </p:anim>
                                    <p:animEffect transition="in" filter="fade">
                                      <p:cBhvr>
                                        <p:cTn id="96" dur="450"/>
                                        <p:tgtEl>
                                          <p:spTgt spid="28"/>
                                        </p:tgtEl>
                                      </p:cBhvr>
                                    </p:animEffect>
                                  </p:childTnLst>
                                </p:cTn>
                              </p:par>
                              <p:par>
                                <p:cTn id="97" presetID="53" presetClass="entr" presetSubtype="16" fill="hold" nodeType="withEffect">
                                  <p:stCondLst>
                                    <p:cond delay="0"/>
                                  </p:stCondLst>
                                  <p:childTnLst>
                                    <p:set>
                                      <p:cBhvr>
                                        <p:cTn id="98" dur="1" fill="hold">
                                          <p:stCondLst>
                                            <p:cond delay="0"/>
                                          </p:stCondLst>
                                        </p:cTn>
                                        <p:tgtEl>
                                          <p:spTgt spid="29"/>
                                        </p:tgtEl>
                                        <p:attrNameLst>
                                          <p:attrName>style.visibility</p:attrName>
                                        </p:attrNameLst>
                                      </p:cBhvr>
                                      <p:to>
                                        <p:strVal val="visible"/>
                                      </p:to>
                                    </p:set>
                                    <p:anim calcmode="lin" valueType="num">
                                      <p:cBhvr>
                                        <p:cTn id="99" dur="450" fill="hold"/>
                                        <p:tgtEl>
                                          <p:spTgt spid="29"/>
                                        </p:tgtEl>
                                        <p:attrNameLst>
                                          <p:attrName>ppt_w</p:attrName>
                                        </p:attrNameLst>
                                      </p:cBhvr>
                                      <p:tavLst>
                                        <p:tav tm="0">
                                          <p:val>
                                            <p:fltVal val="0"/>
                                          </p:val>
                                        </p:tav>
                                        <p:tav tm="100000">
                                          <p:val>
                                            <p:strVal val="#ppt_w"/>
                                          </p:val>
                                        </p:tav>
                                      </p:tavLst>
                                    </p:anim>
                                    <p:anim calcmode="lin" valueType="num">
                                      <p:cBhvr>
                                        <p:cTn id="100" dur="450" fill="hold"/>
                                        <p:tgtEl>
                                          <p:spTgt spid="29"/>
                                        </p:tgtEl>
                                        <p:attrNameLst>
                                          <p:attrName>ppt_h</p:attrName>
                                        </p:attrNameLst>
                                      </p:cBhvr>
                                      <p:tavLst>
                                        <p:tav tm="0">
                                          <p:val>
                                            <p:fltVal val="0"/>
                                          </p:val>
                                        </p:tav>
                                        <p:tav tm="100000">
                                          <p:val>
                                            <p:strVal val="#ppt_h"/>
                                          </p:val>
                                        </p:tav>
                                      </p:tavLst>
                                    </p:anim>
                                    <p:animEffect transition="in" filter="fade">
                                      <p:cBhvr>
                                        <p:cTn id="101" dur="450"/>
                                        <p:tgtEl>
                                          <p:spTgt spid="29"/>
                                        </p:tgtEl>
                                      </p:cBhvr>
                                    </p:animEffect>
                                  </p:childTnLst>
                                </p:cTn>
                              </p:par>
                              <p:par>
                                <p:cTn id="102" presetID="53" presetClass="entr" presetSubtype="16" fill="hold" nodeType="withEffect">
                                  <p:stCondLst>
                                    <p:cond delay="0"/>
                                  </p:stCondLst>
                                  <p:childTnLst>
                                    <p:set>
                                      <p:cBhvr>
                                        <p:cTn id="103" dur="1" fill="hold">
                                          <p:stCondLst>
                                            <p:cond delay="0"/>
                                          </p:stCondLst>
                                        </p:cTn>
                                        <p:tgtEl>
                                          <p:spTgt spid="30"/>
                                        </p:tgtEl>
                                        <p:attrNameLst>
                                          <p:attrName>style.visibility</p:attrName>
                                        </p:attrNameLst>
                                      </p:cBhvr>
                                      <p:to>
                                        <p:strVal val="visible"/>
                                      </p:to>
                                    </p:set>
                                    <p:anim calcmode="lin" valueType="num">
                                      <p:cBhvr>
                                        <p:cTn id="104" dur="450" fill="hold"/>
                                        <p:tgtEl>
                                          <p:spTgt spid="30"/>
                                        </p:tgtEl>
                                        <p:attrNameLst>
                                          <p:attrName>ppt_w</p:attrName>
                                        </p:attrNameLst>
                                      </p:cBhvr>
                                      <p:tavLst>
                                        <p:tav tm="0">
                                          <p:val>
                                            <p:fltVal val="0"/>
                                          </p:val>
                                        </p:tav>
                                        <p:tav tm="100000">
                                          <p:val>
                                            <p:strVal val="#ppt_w"/>
                                          </p:val>
                                        </p:tav>
                                      </p:tavLst>
                                    </p:anim>
                                    <p:anim calcmode="lin" valueType="num">
                                      <p:cBhvr>
                                        <p:cTn id="105" dur="450" fill="hold"/>
                                        <p:tgtEl>
                                          <p:spTgt spid="30"/>
                                        </p:tgtEl>
                                        <p:attrNameLst>
                                          <p:attrName>ppt_h</p:attrName>
                                        </p:attrNameLst>
                                      </p:cBhvr>
                                      <p:tavLst>
                                        <p:tav tm="0">
                                          <p:val>
                                            <p:fltVal val="0"/>
                                          </p:val>
                                        </p:tav>
                                        <p:tav tm="100000">
                                          <p:val>
                                            <p:strVal val="#ppt_h"/>
                                          </p:val>
                                        </p:tav>
                                      </p:tavLst>
                                    </p:anim>
                                    <p:animEffect transition="in" filter="fade">
                                      <p:cBhvr>
                                        <p:cTn id="106" dur="450"/>
                                        <p:tgtEl>
                                          <p:spTgt spid="30"/>
                                        </p:tgtEl>
                                      </p:cBhvr>
                                    </p:animEffect>
                                  </p:childTnLst>
                                </p:cTn>
                              </p:par>
                              <p:par>
                                <p:cTn id="107" presetID="53" presetClass="entr" presetSubtype="16" fill="hold" nodeType="with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p:cTn id="109" dur="450" fill="hold"/>
                                        <p:tgtEl>
                                          <p:spTgt spid="31"/>
                                        </p:tgtEl>
                                        <p:attrNameLst>
                                          <p:attrName>ppt_w</p:attrName>
                                        </p:attrNameLst>
                                      </p:cBhvr>
                                      <p:tavLst>
                                        <p:tav tm="0">
                                          <p:val>
                                            <p:fltVal val="0"/>
                                          </p:val>
                                        </p:tav>
                                        <p:tav tm="100000">
                                          <p:val>
                                            <p:strVal val="#ppt_w"/>
                                          </p:val>
                                        </p:tav>
                                      </p:tavLst>
                                    </p:anim>
                                    <p:anim calcmode="lin" valueType="num">
                                      <p:cBhvr>
                                        <p:cTn id="110" dur="450" fill="hold"/>
                                        <p:tgtEl>
                                          <p:spTgt spid="31"/>
                                        </p:tgtEl>
                                        <p:attrNameLst>
                                          <p:attrName>ppt_h</p:attrName>
                                        </p:attrNameLst>
                                      </p:cBhvr>
                                      <p:tavLst>
                                        <p:tav tm="0">
                                          <p:val>
                                            <p:fltVal val="0"/>
                                          </p:val>
                                        </p:tav>
                                        <p:tav tm="100000">
                                          <p:val>
                                            <p:strVal val="#ppt_h"/>
                                          </p:val>
                                        </p:tav>
                                      </p:tavLst>
                                    </p:anim>
                                    <p:animEffect transition="in" filter="fade">
                                      <p:cBhvr>
                                        <p:cTn id="111" dur="450"/>
                                        <p:tgtEl>
                                          <p:spTgt spid="31"/>
                                        </p:tgtEl>
                                      </p:cBhvr>
                                    </p:animEffect>
                                  </p:childTnLst>
                                </p:cTn>
                              </p:par>
                              <p:par>
                                <p:cTn id="112" presetID="53" presetClass="entr" presetSubtype="16" fill="hold" nodeType="withEffect">
                                  <p:stCondLst>
                                    <p:cond delay="0"/>
                                  </p:stCondLst>
                                  <p:childTnLst>
                                    <p:set>
                                      <p:cBhvr>
                                        <p:cTn id="113" dur="1" fill="hold">
                                          <p:stCondLst>
                                            <p:cond delay="0"/>
                                          </p:stCondLst>
                                        </p:cTn>
                                        <p:tgtEl>
                                          <p:spTgt spid="32"/>
                                        </p:tgtEl>
                                        <p:attrNameLst>
                                          <p:attrName>style.visibility</p:attrName>
                                        </p:attrNameLst>
                                      </p:cBhvr>
                                      <p:to>
                                        <p:strVal val="visible"/>
                                      </p:to>
                                    </p:set>
                                    <p:anim calcmode="lin" valueType="num">
                                      <p:cBhvr>
                                        <p:cTn id="114" dur="450" fill="hold"/>
                                        <p:tgtEl>
                                          <p:spTgt spid="32"/>
                                        </p:tgtEl>
                                        <p:attrNameLst>
                                          <p:attrName>ppt_w</p:attrName>
                                        </p:attrNameLst>
                                      </p:cBhvr>
                                      <p:tavLst>
                                        <p:tav tm="0">
                                          <p:val>
                                            <p:fltVal val="0"/>
                                          </p:val>
                                        </p:tav>
                                        <p:tav tm="100000">
                                          <p:val>
                                            <p:strVal val="#ppt_w"/>
                                          </p:val>
                                        </p:tav>
                                      </p:tavLst>
                                    </p:anim>
                                    <p:anim calcmode="lin" valueType="num">
                                      <p:cBhvr>
                                        <p:cTn id="115" dur="450" fill="hold"/>
                                        <p:tgtEl>
                                          <p:spTgt spid="32"/>
                                        </p:tgtEl>
                                        <p:attrNameLst>
                                          <p:attrName>ppt_h</p:attrName>
                                        </p:attrNameLst>
                                      </p:cBhvr>
                                      <p:tavLst>
                                        <p:tav tm="0">
                                          <p:val>
                                            <p:fltVal val="0"/>
                                          </p:val>
                                        </p:tav>
                                        <p:tav tm="100000">
                                          <p:val>
                                            <p:strVal val="#ppt_h"/>
                                          </p:val>
                                        </p:tav>
                                      </p:tavLst>
                                    </p:anim>
                                    <p:animEffect transition="in" filter="fade">
                                      <p:cBhvr>
                                        <p:cTn id="116" dur="450"/>
                                        <p:tgtEl>
                                          <p:spTgt spid="32"/>
                                        </p:tgtEl>
                                      </p:cBhvr>
                                    </p:animEffect>
                                  </p:childTnLst>
                                </p:cTn>
                              </p:par>
                              <p:par>
                                <p:cTn id="117" presetID="53" presetClass="entr" presetSubtype="16" fill="hold" nodeType="withEffect">
                                  <p:stCondLst>
                                    <p:cond delay="0"/>
                                  </p:stCondLst>
                                  <p:childTnLst>
                                    <p:set>
                                      <p:cBhvr>
                                        <p:cTn id="118" dur="1" fill="hold">
                                          <p:stCondLst>
                                            <p:cond delay="0"/>
                                          </p:stCondLst>
                                        </p:cTn>
                                        <p:tgtEl>
                                          <p:spTgt spid="33"/>
                                        </p:tgtEl>
                                        <p:attrNameLst>
                                          <p:attrName>style.visibility</p:attrName>
                                        </p:attrNameLst>
                                      </p:cBhvr>
                                      <p:to>
                                        <p:strVal val="visible"/>
                                      </p:to>
                                    </p:set>
                                    <p:anim calcmode="lin" valueType="num">
                                      <p:cBhvr>
                                        <p:cTn id="119" dur="450" fill="hold"/>
                                        <p:tgtEl>
                                          <p:spTgt spid="33"/>
                                        </p:tgtEl>
                                        <p:attrNameLst>
                                          <p:attrName>ppt_w</p:attrName>
                                        </p:attrNameLst>
                                      </p:cBhvr>
                                      <p:tavLst>
                                        <p:tav tm="0">
                                          <p:val>
                                            <p:fltVal val="0"/>
                                          </p:val>
                                        </p:tav>
                                        <p:tav tm="100000">
                                          <p:val>
                                            <p:strVal val="#ppt_w"/>
                                          </p:val>
                                        </p:tav>
                                      </p:tavLst>
                                    </p:anim>
                                    <p:anim calcmode="lin" valueType="num">
                                      <p:cBhvr>
                                        <p:cTn id="120" dur="450" fill="hold"/>
                                        <p:tgtEl>
                                          <p:spTgt spid="33"/>
                                        </p:tgtEl>
                                        <p:attrNameLst>
                                          <p:attrName>ppt_h</p:attrName>
                                        </p:attrNameLst>
                                      </p:cBhvr>
                                      <p:tavLst>
                                        <p:tav tm="0">
                                          <p:val>
                                            <p:fltVal val="0"/>
                                          </p:val>
                                        </p:tav>
                                        <p:tav tm="100000">
                                          <p:val>
                                            <p:strVal val="#ppt_h"/>
                                          </p:val>
                                        </p:tav>
                                      </p:tavLst>
                                    </p:anim>
                                    <p:animEffect transition="in" filter="fade">
                                      <p:cBhvr>
                                        <p:cTn id="121" dur="450"/>
                                        <p:tgtEl>
                                          <p:spTgt spid="33"/>
                                        </p:tgtEl>
                                      </p:cBhvr>
                                    </p:animEffect>
                                  </p:childTnLst>
                                </p:cTn>
                              </p:par>
                              <p:par>
                                <p:cTn id="122" presetID="53" presetClass="entr" presetSubtype="16" fill="hold" nodeType="withEffect">
                                  <p:stCondLst>
                                    <p:cond delay="0"/>
                                  </p:stCondLst>
                                  <p:childTnLst>
                                    <p:set>
                                      <p:cBhvr>
                                        <p:cTn id="123" dur="1" fill="hold">
                                          <p:stCondLst>
                                            <p:cond delay="0"/>
                                          </p:stCondLst>
                                        </p:cTn>
                                        <p:tgtEl>
                                          <p:spTgt spid="34"/>
                                        </p:tgtEl>
                                        <p:attrNameLst>
                                          <p:attrName>style.visibility</p:attrName>
                                        </p:attrNameLst>
                                      </p:cBhvr>
                                      <p:to>
                                        <p:strVal val="visible"/>
                                      </p:to>
                                    </p:set>
                                    <p:anim calcmode="lin" valueType="num">
                                      <p:cBhvr>
                                        <p:cTn id="124" dur="450" fill="hold"/>
                                        <p:tgtEl>
                                          <p:spTgt spid="34"/>
                                        </p:tgtEl>
                                        <p:attrNameLst>
                                          <p:attrName>ppt_w</p:attrName>
                                        </p:attrNameLst>
                                      </p:cBhvr>
                                      <p:tavLst>
                                        <p:tav tm="0">
                                          <p:val>
                                            <p:fltVal val="0"/>
                                          </p:val>
                                        </p:tav>
                                        <p:tav tm="100000">
                                          <p:val>
                                            <p:strVal val="#ppt_w"/>
                                          </p:val>
                                        </p:tav>
                                      </p:tavLst>
                                    </p:anim>
                                    <p:anim calcmode="lin" valueType="num">
                                      <p:cBhvr>
                                        <p:cTn id="125" dur="450" fill="hold"/>
                                        <p:tgtEl>
                                          <p:spTgt spid="34"/>
                                        </p:tgtEl>
                                        <p:attrNameLst>
                                          <p:attrName>ppt_h</p:attrName>
                                        </p:attrNameLst>
                                      </p:cBhvr>
                                      <p:tavLst>
                                        <p:tav tm="0">
                                          <p:val>
                                            <p:fltVal val="0"/>
                                          </p:val>
                                        </p:tav>
                                        <p:tav tm="100000">
                                          <p:val>
                                            <p:strVal val="#ppt_h"/>
                                          </p:val>
                                        </p:tav>
                                      </p:tavLst>
                                    </p:anim>
                                    <p:animEffect transition="in" filter="fade">
                                      <p:cBhvr>
                                        <p:cTn id="126" dur="450"/>
                                        <p:tgtEl>
                                          <p:spTgt spid="34"/>
                                        </p:tgtEl>
                                      </p:cBhvr>
                                    </p:animEffect>
                                  </p:childTnLst>
                                </p:cTn>
                              </p:par>
                            </p:childTnLst>
                          </p:cTn>
                        </p:par>
                        <p:par>
                          <p:cTn id="127" fill="hold">
                            <p:stCondLst>
                              <p:cond delay="900"/>
                            </p:stCondLst>
                            <p:childTnLst>
                              <p:par>
                                <p:cTn id="128" presetID="10" presetClass="entr" presetSubtype="0" fill="hold" nodeType="after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450"/>
                                        <p:tgtEl>
                                          <p:spTgt spid="35"/>
                                        </p:tgtEl>
                                      </p:cBhvr>
                                    </p:animEffect>
                                  </p:childTnLst>
                                </p:cTn>
                              </p:par>
                              <p:par>
                                <p:cTn id="131" presetID="53" presetClass="entr" presetSubtype="16" fill="hold" nodeType="withEffect">
                                  <p:stCondLst>
                                    <p:cond delay="0"/>
                                  </p:stCondLst>
                                  <p:childTnLst>
                                    <p:set>
                                      <p:cBhvr>
                                        <p:cTn id="132" dur="1" fill="hold">
                                          <p:stCondLst>
                                            <p:cond delay="0"/>
                                          </p:stCondLst>
                                        </p:cTn>
                                        <p:tgtEl>
                                          <p:spTgt spid="36"/>
                                        </p:tgtEl>
                                        <p:attrNameLst>
                                          <p:attrName>style.visibility</p:attrName>
                                        </p:attrNameLst>
                                      </p:cBhvr>
                                      <p:to>
                                        <p:strVal val="visible"/>
                                      </p:to>
                                    </p:set>
                                    <p:anim calcmode="lin" valueType="num">
                                      <p:cBhvr>
                                        <p:cTn id="133" dur="450" fill="hold"/>
                                        <p:tgtEl>
                                          <p:spTgt spid="36"/>
                                        </p:tgtEl>
                                        <p:attrNameLst>
                                          <p:attrName>ppt_w</p:attrName>
                                        </p:attrNameLst>
                                      </p:cBhvr>
                                      <p:tavLst>
                                        <p:tav tm="0">
                                          <p:val>
                                            <p:fltVal val="0"/>
                                          </p:val>
                                        </p:tav>
                                        <p:tav tm="100000">
                                          <p:val>
                                            <p:strVal val="#ppt_w"/>
                                          </p:val>
                                        </p:tav>
                                      </p:tavLst>
                                    </p:anim>
                                    <p:anim calcmode="lin" valueType="num">
                                      <p:cBhvr>
                                        <p:cTn id="134" dur="450" fill="hold"/>
                                        <p:tgtEl>
                                          <p:spTgt spid="36"/>
                                        </p:tgtEl>
                                        <p:attrNameLst>
                                          <p:attrName>ppt_h</p:attrName>
                                        </p:attrNameLst>
                                      </p:cBhvr>
                                      <p:tavLst>
                                        <p:tav tm="0">
                                          <p:val>
                                            <p:fltVal val="0"/>
                                          </p:val>
                                        </p:tav>
                                        <p:tav tm="100000">
                                          <p:val>
                                            <p:strVal val="#ppt_h"/>
                                          </p:val>
                                        </p:tav>
                                      </p:tavLst>
                                    </p:anim>
                                    <p:animEffect transition="in" filter="fade">
                                      <p:cBhvr>
                                        <p:cTn id="135" dur="450"/>
                                        <p:tgtEl>
                                          <p:spTgt spid="36"/>
                                        </p:tgtEl>
                                      </p:cBhvr>
                                    </p:animEffect>
                                  </p:childTnLst>
                                </p:cTn>
                              </p:par>
                              <p:par>
                                <p:cTn id="136" presetID="53" presetClass="entr" presetSubtype="16" fill="hold" nodeType="withEffect">
                                  <p:stCondLst>
                                    <p:cond delay="0"/>
                                  </p:stCondLst>
                                  <p:childTnLst>
                                    <p:set>
                                      <p:cBhvr>
                                        <p:cTn id="137" dur="1" fill="hold">
                                          <p:stCondLst>
                                            <p:cond delay="0"/>
                                          </p:stCondLst>
                                        </p:cTn>
                                        <p:tgtEl>
                                          <p:spTgt spid="37"/>
                                        </p:tgtEl>
                                        <p:attrNameLst>
                                          <p:attrName>style.visibility</p:attrName>
                                        </p:attrNameLst>
                                      </p:cBhvr>
                                      <p:to>
                                        <p:strVal val="visible"/>
                                      </p:to>
                                    </p:set>
                                    <p:anim calcmode="lin" valueType="num">
                                      <p:cBhvr>
                                        <p:cTn id="138" dur="450" fill="hold"/>
                                        <p:tgtEl>
                                          <p:spTgt spid="37"/>
                                        </p:tgtEl>
                                        <p:attrNameLst>
                                          <p:attrName>ppt_w</p:attrName>
                                        </p:attrNameLst>
                                      </p:cBhvr>
                                      <p:tavLst>
                                        <p:tav tm="0">
                                          <p:val>
                                            <p:fltVal val="0"/>
                                          </p:val>
                                        </p:tav>
                                        <p:tav tm="100000">
                                          <p:val>
                                            <p:strVal val="#ppt_w"/>
                                          </p:val>
                                        </p:tav>
                                      </p:tavLst>
                                    </p:anim>
                                    <p:anim calcmode="lin" valueType="num">
                                      <p:cBhvr>
                                        <p:cTn id="139" dur="450" fill="hold"/>
                                        <p:tgtEl>
                                          <p:spTgt spid="37"/>
                                        </p:tgtEl>
                                        <p:attrNameLst>
                                          <p:attrName>ppt_h</p:attrName>
                                        </p:attrNameLst>
                                      </p:cBhvr>
                                      <p:tavLst>
                                        <p:tav tm="0">
                                          <p:val>
                                            <p:fltVal val="0"/>
                                          </p:val>
                                        </p:tav>
                                        <p:tav tm="100000">
                                          <p:val>
                                            <p:strVal val="#ppt_h"/>
                                          </p:val>
                                        </p:tav>
                                      </p:tavLst>
                                    </p:anim>
                                    <p:animEffect transition="in" filter="fade">
                                      <p:cBhvr>
                                        <p:cTn id="140" dur="450"/>
                                        <p:tgtEl>
                                          <p:spTgt spid="37"/>
                                        </p:tgtEl>
                                      </p:cBhvr>
                                    </p:animEffect>
                                  </p:childTnLst>
                                </p:cTn>
                              </p:par>
                              <p:par>
                                <p:cTn id="141" presetID="53" presetClass="entr" presetSubtype="16" fill="hold" nodeType="withEffect">
                                  <p:stCondLst>
                                    <p:cond delay="0"/>
                                  </p:stCondLst>
                                  <p:childTnLst>
                                    <p:set>
                                      <p:cBhvr>
                                        <p:cTn id="142" dur="1" fill="hold">
                                          <p:stCondLst>
                                            <p:cond delay="0"/>
                                          </p:stCondLst>
                                        </p:cTn>
                                        <p:tgtEl>
                                          <p:spTgt spid="38"/>
                                        </p:tgtEl>
                                        <p:attrNameLst>
                                          <p:attrName>style.visibility</p:attrName>
                                        </p:attrNameLst>
                                      </p:cBhvr>
                                      <p:to>
                                        <p:strVal val="visible"/>
                                      </p:to>
                                    </p:set>
                                    <p:anim calcmode="lin" valueType="num">
                                      <p:cBhvr>
                                        <p:cTn id="143" dur="450" fill="hold"/>
                                        <p:tgtEl>
                                          <p:spTgt spid="38"/>
                                        </p:tgtEl>
                                        <p:attrNameLst>
                                          <p:attrName>ppt_w</p:attrName>
                                        </p:attrNameLst>
                                      </p:cBhvr>
                                      <p:tavLst>
                                        <p:tav tm="0">
                                          <p:val>
                                            <p:fltVal val="0"/>
                                          </p:val>
                                        </p:tav>
                                        <p:tav tm="100000">
                                          <p:val>
                                            <p:strVal val="#ppt_w"/>
                                          </p:val>
                                        </p:tav>
                                      </p:tavLst>
                                    </p:anim>
                                    <p:anim calcmode="lin" valueType="num">
                                      <p:cBhvr>
                                        <p:cTn id="144" dur="450" fill="hold"/>
                                        <p:tgtEl>
                                          <p:spTgt spid="38"/>
                                        </p:tgtEl>
                                        <p:attrNameLst>
                                          <p:attrName>ppt_h</p:attrName>
                                        </p:attrNameLst>
                                      </p:cBhvr>
                                      <p:tavLst>
                                        <p:tav tm="0">
                                          <p:val>
                                            <p:fltVal val="0"/>
                                          </p:val>
                                        </p:tav>
                                        <p:tav tm="100000">
                                          <p:val>
                                            <p:strVal val="#ppt_h"/>
                                          </p:val>
                                        </p:tav>
                                      </p:tavLst>
                                    </p:anim>
                                    <p:animEffect transition="in" filter="fade">
                                      <p:cBhvr>
                                        <p:cTn id="145" dur="450"/>
                                        <p:tgtEl>
                                          <p:spTgt spid="38"/>
                                        </p:tgtEl>
                                      </p:cBhvr>
                                    </p:animEffect>
                                  </p:childTnLst>
                                </p:cTn>
                              </p:par>
                              <p:par>
                                <p:cTn id="146" presetID="53" presetClass="entr" presetSubtype="16" fill="hold" nodeType="withEffect">
                                  <p:stCondLst>
                                    <p:cond delay="0"/>
                                  </p:stCondLst>
                                  <p:childTnLst>
                                    <p:set>
                                      <p:cBhvr>
                                        <p:cTn id="147" dur="1" fill="hold">
                                          <p:stCondLst>
                                            <p:cond delay="0"/>
                                          </p:stCondLst>
                                        </p:cTn>
                                        <p:tgtEl>
                                          <p:spTgt spid="39"/>
                                        </p:tgtEl>
                                        <p:attrNameLst>
                                          <p:attrName>style.visibility</p:attrName>
                                        </p:attrNameLst>
                                      </p:cBhvr>
                                      <p:to>
                                        <p:strVal val="visible"/>
                                      </p:to>
                                    </p:set>
                                    <p:anim calcmode="lin" valueType="num">
                                      <p:cBhvr>
                                        <p:cTn id="148" dur="450" fill="hold"/>
                                        <p:tgtEl>
                                          <p:spTgt spid="39"/>
                                        </p:tgtEl>
                                        <p:attrNameLst>
                                          <p:attrName>ppt_w</p:attrName>
                                        </p:attrNameLst>
                                      </p:cBhvr>
                                      <p:tavLst>
                                        <p:tav tm="0">
                                          <p:val>
                                            <p:fltVal val="0"/>
                                          </p:val>
                                        </p:tav>
                                        <p:tav tm="100000">
                                          <p:val>
                                            <p:strVal val="#ppt_w"/>
                                          </p:val>
                                        </p:tav>
                                      </p:tavLst>
                                    </p:anim>
                                    <p:anim calcmode="lin" valueType="num">
                                      <p:cBhvr>
                                        <p:cTn id="149" dur="450" fill="hold"/>
                                        <p:tgtEl>
                                          <p:spTgt spid="39"/>
                                        </p:tgtEl>
                                        <p:attrNameLst>
                                          <p:attrName>ppt_h</p:attrName>
                                        </p:attrNameLst>
                                      </p:cBhvr>
                                      <p:tavLst>
                                        <p:tav tm="0">
                                          <p:val>
                                            <p:fltVal val="0"/>
                                          </p:val>
                                        </p:tav>
                                        <p:tav tm="100000">
                                          <p:val>
                                            <p:strVal val="#ppt_h"/>
                                          </p:val>
                                        </p:tav>
                                      </p:tavLst>
                                    </p:anim>
                                    <p:animEffect transition="in" filter="fade">
                                      <p:cBhvr>
                                        <p:cTn id="150" dur="450"/>
                                        <p:tgtEl>
                                          <p:spTgt spid="39"/>
                                        </p:tgtEl>
                                      </p:cBhvr>
                                    </p:animEffect>
                                  </p:childTnLst>
                                </p:cTn>
                              </p:par>
                            </p:childTnLst>
                          </p:cTn>
                        </p:par>
                        <p:par>
                          <p:cTn id="151" fill="hold">
                            <p:stCondLst>
                              <p:cond delay="1200"/>
                            </p:stCondLst>
                            <p:childTnLst>
                              <p:par>
                                <p:cTn id="152" presetID="22" presetClass="entr" presetSubtype="2" fill="hold"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wipe(right)">
                                      <p:cBhvr>
                                        <p:cTn id="154" dur="450"/>
                                        <p:tgtEl>
                                          <p:spTgt spid="40"/>
                                        </p:tgtEl>
                                      </p:cBhvr>
                                    </p:animEffect>
                                  </p:childTnLst>
                                </p:cTn>
                              </p:par>
                              <p:par>
                                <p:cTn id="155" presetID="22" presetClass="entr" presetSubtype="2" fill="hold" nodeType="withEffect">
                                  <p:stCondLst>
                                    <p:cond delay="0"/>
                                  </p:stCondLst>
                                  <p:childTnLst>
                                    <p:set>
                                      <p:cBhvr>
                                        <p:cTn id="156" dur="1" fill="hold">
                                          <p:stCondLst>
                                            <p:cond delay="0"/>
                                          </p:stCondLst>
                                        </p:cTn>
                                        <p:tgtEl>
                                          <p:spTgt spid="41"/>
                                        </p:tgtEl>
                                        <p:attrNameLst>
                                          <p:attrName>style.visibility</p:attrName>
                                        </p:attrNameLst>
                                      </p:cBhvr>
                                      <p:to>
                                        <p:strVal val="visible"/>
                                      </p:to>
                                    </p:set>
                                    <p:animEffect transition="in" filter="wipe(right)">
                                      <p:cBhvr>
                                        <p:cTn id="157" dur="450"/>
                                        <p:tgtEl>
                                          <p:spTgt spid="41"/>
                                        </p:tgtEl>
                                      </p:cBhvr>
                                    </p:animEffect>
                                  </p:childTnLst>
                                </p:cTn>
                              </p:par>
                              <p:par>
                                <p:cTn id="158" presetID="22" presetClass="entr" presetSubtype="2" fill="hold" nodeType="withEffect">
                                  <p:stCondLst>
                                    <p:cond delay="0"/>
                                  </p:stCondLst>
                                  <p:childTnLst>
                                    <p:set>
                                      <p:cBhvr>
                                        <p:cTn id="159" dur="1" fill="hold">
                                          <p:stCondLst>
                                            <p:cond delay="0"/>
                                          </p:stCondLst>
                                        </p:cTn>
                                        <p:tgtEl>
                                          <p:spTgt spid="42"/>
                                        </p:tgtEl>
                                        <p:attrNameLst>
                                          <p:attrName>style.visibility</p:attrName>
                                        </p:attrNameLst>
                                      </p:cBhvr>
                                      <p:to>
                                        <p:strVal val="visible"/>
                                      </p:to>
                                    </p:set>
                                    <p:animEffect transition="in" filter="wipe(right)">
                                      <p:cBhvr>
                                        <p:cTn id="160" dur="450"/>
                                        <p:tgtEl>
                                          <p:spTgt spid="42"/>
                                        </p:tgtEl>
                                      </p:cBhvr>
                                    </p:animEffect>
                                  </p:childTnLst>
                                </p:cTn>
                              </p:par>
                              <p:par>
                                <p:cTn id="161" presetID="22" presetClass="entr" presetSubtype="2" fill="hold" nodeType="withEffect">
                                  <p:stCondLst>
                                    <p:cond delay="0"/>
                                  </p:stCondLst>
                                  <p:childTnLst>
                                    <p:set>
                                      <p:cBhvr>
                                        <p:cTn id="162" dur="1" fill="hold">
                                          <p:stCondLst>
                                            <p:cond delay="0"/>
                                          </p:stCondLst>
                                        </p:cTn>
                                        <p:tgtEl>
                                          <p:spTgt spid="43"/>
                                        </p:tgtEl>
                                        <p:attrNameLst>
                                          <p:attrName>style.visibility</p:attrName>
                                        </p:attrNameLst>
                                      </p:cBhvr>
                                      <p:to>
                                        <p:strVal val="visible"/>
                                      </p:to>
                                    </p:set>
                                    <p:animEffect transition="in" filter="wipe(right)">
                                      <p:cBhvr>
                                        <p:cTn id="163" dur="450"/>
                                        <p:tgtEl>
                                          <p:spTgt spid="43"/>
                                        </p:tgtEl>
                                      </p:cBhvr>
                                    </p:animEffect>
                                  </p:childTnLst>
                                </p:cTn>
                              </p:par>
                              <p:par>
                                <p:cTn id="164" presetID="22" presetClass="entr" presetSubtype="2" fill="hold" nodeType="with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wipe(right)">
                                      <p:cBhvr>
                                        <p:cTn id="166" dur="450"/>
                                        <p:tgtEl>
                                          <p:spTgt spid="44"/>
                                        </p:tgtEl>
                                      </p:cBhvr>
                                    </p:animEffect>
                                  </p:childTnLst>
                                </p:cTn>
                              </p:par>
                            </p:childTnLst>
                          </p:cTn>
                        </p:par>
                        <p:par>
                          <p:cTn id="167" fill="hold">
                            <p:stCondLst>
                              <p:cond delay="1500"/>
                            </p:stCondLst>
                            <p:childTnLst>
                              <p:par>
                                <p:cTn id="168" presetID="10" presetClass="entr" presetSubtype="0" fill="hold" nodeType="afterEffect">
                                  <p:stCondLst>
                                    <p:cond delay="0"/>
                                  </p:stCondLst>
                                  <p:childTnLst>
                                    <p:set>
                                      <p:cBhvr>
                                        <p:cTn id="169" dur="1" fill="hold">
                                          <p:stCondLst>
                                            <p:cond delay="0"/>
                                          </p:stCondLst>
                                        </p:cTn>
                                        <p:tgtEl>
                                          <p:spTgt spid="45"/>
                                        </p:tgtEl>
                                        <p:attrNameLst>
                                          <p:attrName>style.visibility</p:attrName>
                                        </p:attrNameLst>
                                      </p:cBhvr>
                                      <p:to>
                                        <p:strVal val="visible"/>
                                      </p:to>
                                    </p:set>
                                    <p:animEffect transition="in" filter="fade">
                                      <p:cBhvr>
                                        <p:cTn id="170" dur="450"/>
                                        <p:tgtEl>
                                          <p:spTgt spid="45"/>
                                        </p:tgtEl>
                                      </p:cBhvr>
                                    </p:animEffect>
                                  </p:childTnLst>
                                </p:cTn>
                              </p:par>
                              <p:par>
                                <p:cTn id="171" presetID="22" presetClass="entr" presetSubtype="2" fill="hold" nodeType="withEffect">
                                  <p:stCondLst>
                                    <p:cond delay="0"/>
                                  </p:stCondLst>
                                  <p:childTnLst>
                                    <p:set>
                                      <p:cBhvr>
                                        <p:cTn id="172" dur="1" fill="hold">
                                          <p:stCondLst>
                                            <p:cond delay="0"/>
                                          </p:stCondLst>
                                        </p:cTn>
                                        <p:tgtEl>
                                          <p:spTgt spid="46"/>
                                        </p:tgtEl>
                                        <p:attrNameLst>
                                          <p:attrName>style.visibility</p:attrName>
                                        </p:attrNameLst>
                                      </p:cBhvr>
                                      <p:to>
                                        <p:strVal val="visible"/>
                                      </p:to>
                                    </p:set>
                                    <p:animEffect transition="in" filter="wipe(right)">
                                      <p:cBhvr>
                                        <p:cTn id="173" dur="450"/>
                                        <p:tgtEl>
                                          <p:spTgt spid="46"/>
                                        </p:tgtEl>
                                      </p:cBhvr>
                                    </p:animEffect>
                                  </p:childTnLst>
                                </p:cTn>
                              </p:par>
                              <p:par>
                                <p:cTn id="174" presetID="22" presetClass="entr" presetSubtype="2" fill="hold" nodeType="withEffect">
                                  <p:stCondLst>
                                    <p:cond delay="0"/>
                                  </p:stCondLst>
                                  <p:childTnLst>
                                    <p:set>
                                      <p:cBhvr>
                                        <p:cTn id="175" dur="1" fill="hold">
                                          <p:stCondLst>
                                            <p:cond delay="0"/>
                                          </p:stCondLst>
                                        </p:cTn>
                                        <p:tgtEl>
                                          <p:spTgt spid="47"/>
                                        </p:tgtEl>
                                        <p:attrNameLst>
                                          <p:attrName>style.visibility</p:attrName>
                                        </p:attrNameLst>
                                      </p:cBhvr>
                                      <p:to>
                                        <p:strVal val="visible"/>
                                      </p:to>
                                    </p:set>
                                    <p:animEffect transition="in" filter="wipe(right)">
                                      <p:cBhvr>
                                        <p:cTn id="176" dur="450"/>
                                        <p:tgtEl>
                                          <p:spTgt spid="47"/>
                                        </p:tgtEl>
                                      </p:cBhvr>
                                    </p:animEffect>
                                  </p:childTnLst>
                                </p:cTn>
                              </p:par>
                              <p:par>
                                <p:cTn id="177" presetID="22" presetClass="entr" presetSubtype="2" fill="hold" nodeType="withEffect">
                                  <p:stCondLst>
                                    <p:cond delay="0"/>
                                  </p:stCondLst>
                                  <p:childTnLst>
                                    <p:set>
                                      <p:cBhvr>
                                        <p:cTn id="178" dur="1" fill="hold">
                                          <p:stCondLst>
                                            <p:cond delay="0"/>
                                          </p:stCondLst>
                                        </p:cTn>
                                        <p:tgtEl>
                                          <p:spTgt spid="48"/>
                                        </p:tgtEl>
                                        <p:attrNameLst>
                                          <p:attrName>style.visibility</p:attrName>
                                        </p:attrNameLst>
                                      </p:cBhvr>
                                      <p:to>
                                        <p:strVal val="visible"/>
                                      </p:to>
                                    </p:set>
                                    <p:animEffect transition="in" filter="wipe(right)">
                                      <p:cBhvr>
                                        <p:cTn id="179" dur="450"/>
                                        <p:tgtEl>
                                          <p:spTgt spid="48"/>
                                        </p:tgtEl>
                                      </p:cBhvr>
                                    </p:animEffect>
                                  </p:childTnLst>
                                </p:cTn>
                              </p:par>
                              <p:par>
                                <p:cTn id="180" presetID="22" presetClass="entr" presetSubtype="2" fill="hold" nodeType="withEffect">
                                  <p:stCondLst>
                                    <p:cond delay="0"/>
                                  </p:stCondLst>
                                  <p:childTnLst>
                                    <p:set>
                                      <p:cBhvr>
                                        <p:cTn id="181" dur="1" fill="hold">
                                          <p:stCondLst>
                                            <p:cond delay="0"/>
                                          </p:stCondLst>
                                        </p:cTn>
                                        <p:tgtEl>
                                          <p:spTgt spid="49"/>
                                        </p:tgtEl>
                                        <p:attrNameLst>
                                          <p:attrName>style.visibility</p:attrName>
                                        </p:attrNameLst>
                                      </p:cBhvr>
                                      <p:to>
                                        <p:strVal val="visible"/>
                                      </p:to>
                                    </p:set>
                                    <p:animEffect transition="in" filter="wipe(right)">
                                      <p:cBhvr>
                                        <p:cTn id="182" dur="450"/>
                                        <p:tgtEl>
                                          <p:spTgt spid="49"/>
                                        </p:tgtEl>
                                      </p:cBhvr>
                                    </p:animEffect>
                                  </p:childTnLst>
                                </p:cTn>
                              </p:par>
                              <p:par>
                                <p:cTn id="183" presetID="22" presetClass="entr" presetSubtype="2" fill="hold" nodeType="withEffect">
                                  <p:stCondLst>
                                    <p:cond delay="0"/>
                                  </p:stCondLst>
                                  <p:childTnLst>
                                    <p:set>
                                      <p:cBhvr>
                                        <p:cTn id="184" dur="1" fill="hold">
                                          <p:stCondLst>
                                            <p:cond delay="0"/>
                                          </p:stCondLst>
                                        </p:cTn>
                                        <p:tgtEl>
                                          <p:spTgt spid="50"/>
                                        </p:tgtEl>
                                        <p:attrNameLst>
                                          <p:attrName>style.visibility</p:attrName>
                                        </p:attrNameLst>
                                      </p:cBhvr>
                                      <p:to>
                                        <p:strVal val="visible"/>
                                      </p:to>
                                    </p:set>
                                    <p:animEffect transition="in" filter="wipe(right)">
                                      <p:cBhvr>
                                        <p:cTn id="185" dur="450"/>
                                        <p:tgtEl>
                                          <p:spTgt spid="50"/>
                                        </p:tgtEl>
                                      </p:cBhvr>
                                    </p:animEffect>
                                  </p:childTnLst>
                                </p:cTn>
                              </p:par>
                            </p:childTnLst>
                          </p:cTn>
                        </p:par>
                        <p:par>
                          <p:cTn id="186" fill="hold">
                            <p:stCondLst>
                              <p:cond delay="1800"/>
                            </p:stCondLst>
                            <p:childTnLst>
                              <p:par>
                                <p:cTn id="187" presetID="10" presetClass="entr" presetSubtype="0" fill="hold" nodeType="afterEffect">
                                  <p:stCondLst>
                                    <p:cond delay="0"/>
                                  </p:stCondLst>
                                  <p:childTnLst>
                                    <p:set>
                                      <p:cBhvr>
                                        <p:cTn id="188" dur="1" fill="hold">
                                          <p:stCondLst>
                                            <p:cond delay="0"/>
                                          </p:stCondLst>
                                        </p:cTn>
                                        <p:tgtEl>
                                          <p:spTgt spid="51"/>
                                        </p:tgtEl>
                                        <p:attrNameLst>
                                          <p:attrName>style.visibility</p:attrName>
                                        </p:attrNameLst>
                                      </p:cBhvr>
                                      <p:to>
                                        <p:strVal val="visible"/>
                                      </p:to>
                                    </p:set>
                                    <p:animEffect transition="in" filter="fade">
                                      <p:cBhvr>
                                        <p:cTn id="189" dur="450"/>
                                        <p:tgtEl>
                                          <p:spTgt spid="51"/>
                                        </p:tgtEl>
                                      </p:cBhvr>
                                    </p:animEffect>
                                  </p:childTnLst>
                                </p:cTn>
                              </p:par>
                              <p:par>
                                <p:cTn id="190" presetID="22" presetClass="entr" presetSubtype="2" fill="hold" nodeType="withEffect">
                                  <p:stCondLst>
                                    <p:cond delay="0"/>
                                  </p:stCondLst>
                                  <p:childTnLst>
                                    <p:set>
                                      <p:cBhvr>
                                        <p:cTn id="191" dur="1" fill="hold">
                                          <p:stCondLst>
                                            <p:cond delay="0"/>
                                          </p:stCondLst>
                                        </p:cTn>
                                        <p:tgtEl>
                                          <p:spTgt spid="52"/>
                                        </p:tgtEl>
                                        <p:attrNameLst>
                                          <p:attrName>style.visibility</p:attrName>
                                        </p:attrNameLst>
                                      </p:cBhvr>
                                      <p:to>
                                        <p:strVal val="visible"/>
                                      </p:to>
                                    </p:set>
                                    <p:animEffect transition="in" filter="wipe(right)">
                                      <p:cBhvr>
                                        <p:cTn id="192" dur="450"/>
                                        <p:tgtEl>
                                          <p:spTgt spid="52"/>
                                        </p:tgtEl>
                                      </p:cBhvr>
                                    </p:animEffect>
                                  </p:childTnLst>
                                </p:cTn>
                              </p:par>
                              <p:par>
                                <p:cTn id="193" presetID="22" presetClass="entr" presetSubtype="2" fill="hold" nodeType="withEffect">
                                  <p:stCondLst>
                                    <p:cond delay="0"/>
                                  </p:stCondLst>
                                  <p:childTnLst>
                                    <p:set>
                                      <p:cBhvr>
                                        <p:cTn id="194" dur="1" fill="hold">
                                          <p:stCondLst>
                                            <p:cond delay="0"/>
                                          </p:stCondLst>
                                        </p:cTn>
                                        <p:tgtEl>
                                          <p:spTgt spid="53"/>
                                        </p:tgtEl>
                                        <p:attrNameLst>
                                          <p:attrName>style.visibility</p:attrName>
                                        </p:attrNameLst>
                                      </p:cBhvr>
                                      <p:to>
                                        <p:strVal val="visible"/>
                                      </p:to>
                                    </p:set>
                                    <p:animEffect transition="in" filter="wipe(right)">
                                      <p:cBhvr>
                                        <p:cTn id="195" dur="450"/>
                                        <p:tgtEl>
                                          <p:spTgt spid="53"/>
                                        </p:tgtEl>
                                      </p:cBhvr>
                                    </p:animEffect>
                                  </p:childTnLst>
                                </p:cTn>
                              </p:par>
                              <p:par>
                                <p:cTn id="196" presetID="22" presetClass="entr" presetSubtype="2" fill="hold" nodeType="withEffect">
                                  <p:stCondLst>
                                    <p:cond delay="0"/>
                                  </p:stCondLst>
                                  <p:childTnLst>
                                    <p:set>
                                      <p:cBhvr>
                                        <p:cTn id="197" dur="1" fill="hold">
                                          <p:stCondLst>
                                            <p:cond delay="0"/>
                                          </p:stCondLst>
                                        </p:cTn>
                                        <p:tgtEl>
                                          <p:spTgt spid="54"/>
                                        </p:tgtEl>
                                        <p:attrNameLst>
                                          <p:attrName>style.visibility</p:attrName>
                                        </p:attrNameLst>
                                      </p:cBhvr>
                                      <p:to>
                                        <p:strVal val="visible"/>
                                      </p:to>
                                    </p:set>
                                    <p:animEffect transition="in" filter="wipe(right)">
                                      <p:cBhvr>
                                        <p:cTn id="198" dur="450"/>
                                        <p:tgtEl>
                                          <p:spTgt spid="54"/>
                                        </p:tgtEl>
                                      </p:cBhvr>
                                    </p:animEffect>
                                  </p:childTnLst>
                                </p:cTn>
                              </p:par>
                              <p:par>
                                <p:cTn id="199" presetID="22" presetClass="entr" presetSubtype="2" fill="hold" nodeType="withEffect">
                                  <p:stCondLst>
                                    <p:cond delay="0"/>
                                  </p:stCondLst>
                                  <p:childTnLst>
                                    <p:set>
                                      <p:cBhvr>
                                        <p:cTn id="200" dur="1" fill="hold">
                                          <p:stCondLst>
                                            <p:cond delay="0"/>
                                          </p:stCondLst>
                                        </p:cTn>
                                        <p:tgtEl>
                                          <p:spTgt spid="55"/>
                                        </p:tgtEl>
                                        <p:attrNameLst>
                                          <p:attrName>style.visibility</p:attrName>
                                        </p:attrNameLst>
                                      </p:cBhvr>
                                      <p:to>
                                        <p:strVal val="visible"/>
                                      </p:to>
                                    </p:set>
                                    <p:animEffect transition="in" filter="wipe(right)">
                                      <p:cBhvr>
                                        <p:cTn id="201" dur="450"/>
                                        <p:tgtEl>
                                          <p:spTgt spid="55"/>
                                        </p:tgtEl>
                                      </p:cBhvr>
                                    </p:animEffect>
                                  </p:childTnLst>
                                </p:cTn>
                              </p:par>
                              <p:par>
                                <p:cTn id="202" presetID="22" presetClass="entr" presetSubtype="2" fill="hold" nodeType="withEffect">
                                  <p:stCondLst>
                                    <p:cond delay="0"/>
                                  </p:stCondLst>
                                  <p:childTnLst>
                                    <p:set>
                                      <p:cBhvr>
                                        <p:cTn id="203" dur="1" fill="hold">
                                          <p:stCondLst>
                                            <p:cond delay="0"/>
                                          </p:stCondLst>
                                        </p:cTn>
                                        <p:tgtEl>
                                          <p:spTgt spid="56"/>
                                        </p:tgtEl>
                                        <p:attrNameLst>
                                          <p:attrName>style.visibility</p:attrName>
                                        </p:attrNameLst>
                                      </p:cBhvr>
                                      <p:to>
                                        <p:strVal val="visible"/>
                                      </p:to>
                                    </p:set>
                                    <p:animEffect transition="in" filter="wipe(right)">
                                      <p:cBhvr>
                                        <p:cTn id="204" dur="4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مشخصات جمعیت‌شناختی پاسخگویان</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۱۰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Text 7"/>
          <p:cNvSpPr txBox="1"/>
          <p:nvPr/>
        </p:nvSpPr>
        <p:spPr>
          <a:xfrm>
            <a:off x="6766560" y="1143000"/>
            <a:ext cx="4937760" cy="320040"/>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جدول ۴-۱- مشخصات جمعیت‌شناختی پاسخگویان</a:t>
            </a:r>
            <a:endParaRPr lang="fa-IR" sz="1200" dirty="0"/>
          </a:p>
        </p:txBody>
      </p:sp>
      <p:graphicFrame>
        <p:nvGraphicFramePr>
          <p:cNvPr id="11" name="A01_f_220"/>
          <p:cNvGraphicFramePr>
            <a:graphicFrameLocks noGrp="1"/>
          </p:cNvGraphicFramePr>
          <p:nvPr>
            <p:extLst>
              <p:ext uri="{D42A27DB-BD31-4B8C-83A1-F6EECF244321}">
                <p14:modId xmlns:p14="http://schemas.microsoft.com/office/powerpoint/2010/main" val="1579011935"/>
              </p:ext>
            </p:extLst>
          </p:nvPr>
        </p:nvGraphicFramePr>
        <p:xfrm>
          <a:off x="6858000" y="1481328"/>
          <a:ext cx="4846320" cy="4498848"/>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74904">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درصد</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تعداد</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طبقه</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مشخصات</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extLst>
                  <a:ext uri="{0D108BD9-81ED-4DB2-BD59-A6C34878D82A}">
                    <a16:rowId xmlns:a16="http://schemas.microsoft.com/office/drawing/2014/main" val="10000"/>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۶</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۱۲</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مرد</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rowSpan="2">
                  <a:txBody>
                    <a:bodyPr/>
                    <a:lstStyle/>
                    <a:p>
                      <a:pPr marL="0" indent="0" algn="ctr" rtl="1">
                        <a:buNone/>
                      </a:pPr>
                      <a:r>
                        <a:rPr lang="fa-IR" altLang="en-US" sz="1300" b="1" dirty="0">
                          <a:solidFill>
                            <a:srgbClr val="0F5257"/>
                          </a:solidFill>
                          <a:latin typeface="Tahoma" pitchFamily="34" charset="0"/>
                          <a:ea typeface="Tahoma" pitchFamily="34" charset="-122"/>
                          <a:cs typeface="Tahoma" pitchFamily="34" charset="-120"/>
                        </a:rPr>
                        <a:t>جنسیت</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E6F2F1"/>
                    </a:solidFill>
                  </a:tcPr>
                </a:tc>
                <a:extLst>
                  <a:ext uri="{0D108BD9-81ED-4DB2-BD59-A6C34878D82A}">
                    <a16:rowId xmlns:a16="http://schemas.microsoft.com/office/drawing/2014/main" val="10001"/>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۹۴</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۱۸۸</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زن</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vMerge="1">
                  <a:txBody>
                    <a:bodyPr/>
                    <a:lstStyle/>
                    <a:p>
                      <a:endParaRPr lang="en-US"/>
                    </a:p>
                  </a:txBody>
                  <a:tcPr/>
                </a:tc>
                <a:extLst>
                  <a:ext uri="{0D108BD9-81ED-4DB2-BD59-A6C34878D82A}">
                    <a16:rowId xmlns:a16="http://schemas.microsoft.com/office/drawing/2014/main" val="10002"/>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۳۶</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۷۲</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۱۸ تا ۲۳ سال</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rowSpan="5">
                  <a:txBody>
                    <a:bodyPr/>
                    <a:lstStyle/>
                    <a:p>
                      <a:pPr marL="0" indent="0" algn="ctr" rtl="1">
                        <a:buNone/>
                      </a:pPr>
                      <a:r>
                        <a:rPr lang="fa-IR" altLang="en-US" sz="1300" b="1" dirty="0">
                          <a:solidFill>
                            <a:srgbClr val="0F5257"/>
                          </a:solidFill>
                          <a:latin typeface="Tahoma" pitchFamily="34" charset="0"/>
                          <a:ea typeface="Tahoma" pitchFamily="34" charset="-122"/>
                          <a:cs typeface="Tahoma" pitchFamily="34" charset="-120"/>
                        </a:rPr>
                        <a:t>سن</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E6F2F1"/>
                    </a:solidFill>
                  </a:tcPr>
                </a:tc>
                <a:extLst>
                  <a:ext uri="{0D108BD9-81ED-4DB2-BD59-A6C34878D82A}">
                    <a16:rowId xmlns:a16="http://schemas.microsoft.com/office/drawing/2014/main" val="10003"/>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۲۲</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۴۳</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۲۴ تا ۲۹ سال</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vMerge="1">
                  <a:txBody>
                    <a:bodyPr/>
                    <a:lstStyle/>
                    <a:p>
                      <a:endParaRPr lang="en-US"/>
                    </a:p>
                  </a:txBody>
                  <a:tcPr/>
                </a:tc>
                <a:extLst>
                  <a:ext uri="{0D108BD9-81ED-4DB2-BD59-A6C34878D82A}">
                    <a16:rowId xmlns:a16="http://schemas.microsoft.com/office/drawing/2014/main" val="10004"/>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۱۹</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۳۷</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۳۰ تا ۳۵ سال</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10005"/>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۱۳</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۲۸</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۳۶ تا ۴۰ سال</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vMerge="1">
                  <a:txBody>
                    <a:bodyPr/>
                    <a:lstStyle/>
                    <a:p>
                      <a:endParaRPr lang="en-US"/>
                    </a:p>
                  </a:txBody>
                  <a:tcPr/>
                </a:tc>
                <a:extLst>
                  <a:ext uri="{0D108BD9-81ED-4DB2-BD59-A6C34878D82A}">
                    <a16:rowId xmlns:a16="http://schemas.microsoft.com/office/drawing/2014/main" val="10006"/>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۱۰</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۲۰</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۴۱ تا ۵۰ سال</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10007"/>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۷۵</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۱۳۰</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کارشناسی</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rowSpan="3">
                  <a:txBody>
                    <a:bodyPr/>
                    <a:lstStyle/>
                    <a:p>
                      <a:pPr marL="0" indent="0" algn="ctr" rtl="1">
                        <a:buNone/>
                      </a:pPr>
                      <a:r>
                        <a:rPr lang="fa-IR" altLang="en-US" sz="1300" b="1" dirty="0">
                          <a:solidFill>
                            <a:srgbClr val="0F5257"/>
                          </a:solidFill>
                          <a:latin typeface="Tahoma" pitchFamily="34" charset="0"/>
                          <a:ea typeface="Tahoma" pitchFamily="34" charset="-122"/>
                          <a:cs typeface="Tahoma" pitchFamily="34" charset="-120"/>
                        </a:rPr>
                        <a:t>سطح تحصیلات</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E6F2F1"/>
                    </a:solidFill>
                  </a:tcPr>
                </a:tc>
                <a:extLst>
                  <a:ext uri="{0D108BD9-81ED-4DB2-BD59-A6C34878D82A}">
                    <a16:rowId xmlns:a16="http://schemas.microsoft.com/office/drawing/2014/main" val="10008"/>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۲۰</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۴۰</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کارشناسی ارشد</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10009"/>
                  </a:ext>
                </a:extLst>
              </a:tr>
              <a:tr h="374904">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۵</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۳۰</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دکتری و بالاتر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vMerge="1">
                  <a:txBody>
                    <a:bodyPr/>
                    <a:lstStyle/>
                    <a:p>
                      <a:endParaRPr lang="en-US"/>
                    </a:p>
                  </a:txBody>
                  <a:tcPr/>
                </a:tc>
                <a:extLst>
                  <a:ext uri="{0D108BD9-81ED-4DB2-BD59-A6C34878D82A}">
                    <a16:rowId xmlns:a16="http://schemas.microsoft.com/office/drawing/2014/main" val="10010"/>
                  </a:ext>
                </a:extLst>
              </a:tr>
              <a:tr h="374904">
                <a:tc>
                  <a:txBody>
                    <a:bodyPr/>
                    <a:lstStyle/>
                    <a:p>
                      <a:pPr marL="0" indent="0" algn="ctr" rtl="1">
                        <a:buNone/>
                      </a:pPr>
                      <a:r>
                        <a:rPr lang="fa-IR" altLang="en-US" sz="1300" b="1" dirty="0">
                          <a:solidFill>
                            <a:srgbClr val="263238"/>
                          </a:solidFill>
                          <a:latin typeface="Tahoma" pitchFamily="34" charset="0"/>
                          <a:ea typeface="Tahoma" pitchFamily="34" charset="-122"/>
                          <a:cs typeface="Tahoma" pitchFamily="34" charset="-120"/>
                        </a:rPr>
                        <a:t>۱۰۰</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b="1" dirty="0">
                          <a:solidFill>
                            <a:srgbClr val="263238"/>
                          </a:solidFill>
                          <a:latin typeface="Tahoma" pitchFamily="34" charset="0"/>
                          <a:ea typeface="Tahoma" pitchFamily="34" charset="-122"/>
                          <a:cs typeface="Tahoma" pitchFamily="34" charset="-120"/>
                        </a:rPr>
                        <a:t>۲۰۰</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gridSpan="2">
                  <a:txBody>
                    <a:bodyPr/>
                    <a:lstStyle/>
                    <a:p>
                      <a:pPr marL="0" indent="0" algn="ctr" rtl="1">
                        <a:buNone/>
                      </a:pPr>
                      <a:r>
                        <a:rPr lang="fa-IR" altLang="en-US" sz="1300" b="1" dirty="0">
                          <a:solidFill>
                            <a:srgbClr val="263238"/>
                          </a:solidFill>
                          <a:latin typeface="Tahoma" pitchFamily="34" charset="0"/>
                          <a:ea typeface="Tahoma" pitchFamily="34" charset="-122"/>
                          <a:cs typeface="Tahoma" pitchFamily="34" charset="-120"/>
                        </a:rPr>
                        <a:t>کل</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12" name="A02_z_221b"/>
          <p:cNvSpPr/>
          <p:nvPr/>
        </p:nvSpPr>
        <p:spPr>
          <a:xfrm>
            <a:off x="2423160" y="1234440"/>
            <a:ext cx="2011680" cy="685800"/>
          </a:xfrm>
          <a:prstGeom prst="roundRect">
            <a:avLst>
              <a:gd name="adj" fmla="val 16000"/>
            </a:avLst>
          </a:prstGeom>
          <a:solidFill>
            <a:srgbClr val="0F5257"/>
          </a:solidFill>
          <a:ln w="12700">
            <a:solidFill>
              <a:srgbClr val="0F5257"/>
            </a:solidFill>
            <a:prstDash val="solid"/>
          </a:ln>
        </p:spPr>
      </p:sp>
      <p:sp>
        <p:nvSpPr>
          <p:cNvPr id="13" name="A02_z_222"/>
          <p:cNvSpPr txBox="1"/>
          <p:nvPr/>
        </p:nvSpPr>
        <p:spPr>
          <a:xfrm>
            <a:off x="2423160" y="1234440"/>
            <a:ext cx="2011680" cy="685800"/>
          </a:xfrm>
          <a:prstGeom prst="rect">
            <a:avLst/>
          </a:prstGeom>
          <a:noFill/>
          <a:ln/>
        </p:spPr>
        <p:txBody>
          <a:bodyPr wrap="square" lIns="0" tIns="0" rIns="0" bIns="0" rtlCol="0" anchor="ctr"/>
          <a:lstStyle/>
          <a:p>
            <a:pPr marL="0" indent="0" algn="ctr" rtl="1">
              <a:buNone/>
            </a:pPr>
            <a:r>
              <a:rPr lang="fa-IR" altLang="en-US" sz="2200" b="1" dirty="0">
                <a:solidFill>
                  <a:srgbClr val="FFFFFF"/>
                </a:solidFill>
                <a:latin typeface="Tahoma" pitchFamily="34" charset="0"/>
                <a:ea typeface="Tahoma" pitchFamily="34" charset="-122"/>
                <a:cs typeface="Tahoma" pitchFamily="34" charset="-120"/>
              </a:rPr>
              <a:t>۲۰۰</a:t>
            </a:r>
            <a:r>
              <a:rPr lang="fa-IR" altLang="en-US" sz="1400" dirty="0">
                <a:solidFill>
                  <a:srgbClr val="FFFFFF"/>
                </a:solidFill>
                <a:latin typeface="Tahoma" pitchFamily="34" charset="0"/>
                <a:ea typeface="Tahoma" pitchFamily="34" charset="-122"/>
                <a:cs typeface="Tahoma" pitchFamily="34" charset="-120"/>
              </a:rPr>
              <a:t> پاسخگو</a:t>
            </a:r>
            <a:endParaRPr lang="fa-IR" sz="1400" dirty="0"/>
          </a:p>
        </p:txBody>
      </p:sp>
      <p:sp>
        <p:nvSpPr>
          <p:cNvPr id="14" name="A03_f_223"/>
          <p:cNvSpPr/>
          <p:nvPr/>
        </p:nvSpPr>
        <p:spPr>
          <a:xfrm>
            <a:off x="3429000" y="1920240"/>
            <a:ext cx="0" cy="228600"/>
          </a:xfrm>
          <a:prstGeom prst="line">
            <a:avLst/>
          </a:prstGeom>
          <a:noFill/>
          <a:ln w="19050">
            <a:solidFill>
              <a:srgbClr val="6B7B83"/>
            </a:solidFill>
            <a:prstDash val="solid"/>
          </a:ln>
        </p:spPr>
      </p:sp>
      <p:sp>
        <p:nvSpPr>
          <p:cNvPr id="15" name="A03_f_224"/>
          <p:cNvSpPr/>
          <p:nvPr/>
        </p:nvSpPr>
        <p:spPr>
          <a:xfrm>
            <a:off x="1325880" y="2148840"/>
            <a:ext cx="4206240" cy="0"/>
          </a:xfrm>
          <a:prstGeom prst="line">
            <a:avLst/>
          </a:prstGeom>
          <a:noFill/>
          <a:ln w="19050">
            <a:solidFill>
              <a:srgbClr val="6B7B83"/>
            </a:solidFill>
            <a:prstDash val="solid"/>
          </a:ln>
        </p:spPr>
      </p:sp>
      <p:sp>
        <p:nvSpPr>
          <p:cNvPr id="16" name="A04_f_225"/>
          <p:cNvSpPr/>
          <p:nvPr/>
        </p:nvSpPr>
        <p:spPr>
          <a:xfrm>
            <a:off x="5532120" y="2148840"/>
            <a:ext cx="0" cy="228600"/>
          </a:xfrm>
          <a:prstGeom prst="line">
            <a:avLst/>
          </a:prstGeom>
          <a:noFill/>
          <a:ln w="19050">
            <a:solidFill>
              <a:srgbClr val="6B7B83"/>
            </a:solidFill>
            <a:prstDash val="solid"/>
          </a:ln>
        </p:spPr>
      </p:sp>
      <p:sp>
        <p:nvSpPr>
          <p:cNvPr id="17" name="A04_z_226b"/>
          <p:cNvSpPr/>
          <p:nvPr/>
        </p:nvSpPr>
        <p:spPr>
          <a:xfrm>
            <a:off x="4544568" y="2377440"/>
            <a:ext cx="1975104" cy="502920"/>
          </a:xfrm>
          <a:prstGeom prst="roundRect">
            <a:avLst>
              <a:gd name="adj" fmla="val 21818"/>
            </a:avLst>
          </a:prstGeom>
          <a:solidFill>
            <a:srgbClr val="D9674A"/>
          </a:solidFill>
          <a:ln w="12700">
            <a:solidFill>
              <a:srgbClr val="D9674A"/>
            </a:solidFill>
            <a:prstDash val="solid"/>
          </a:ln>
        </p:spPr>
      </p:sp>
      <p:pic>
        <p:nvPicPr>
          <p:cNvPr id="18" name="A04_z_227i" descr="preencoded.png"/>
          <p:cNvPicPr>
            <a:picLocks noChangeAspect="1"/>
          </p:cNvPicPr>
          <p:nvPr/>
        </p:nvPicPr>
        <p:blipFill>
          <a:blip r:embed="rId4"/>
          <a:stretch>
            <a:fillRect/>
          </a:stretch>
        </p:blipFill>
        <p:spPr>
          <a:xfrm>
            <a:off x="6080760" y="2468880"/>
            <a:ext cx="310896" cy="310896"/>
          </a:xfrm>
          <a:prstGeom prst="rect">
            <a:avLst/>
          </a:prstGeom>
        </p:spPr>
      </p:pic>
      <p:sp>
        <p:nvSpPr>
          <p:cNvPr id="19" name="A04_z_228"/>
          <p:cNvSpPr txBox="1"/>
          <p:nvPr/>
        </p:nvSpPr>
        <p:spPr>
          <a:xfrm>
            <a:off x="4636008" y="2377440"/>
            <a:ext cx="1380744" cy="502920"/>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Tahoma" pitchFamily="34" charset="0"/>
                <a:ea typeface="Tahoma" pitchFamily="34" charset="-122"/>
                <a:cs typeface="Tahoma" pitchFamily="34" charset="-120"/>
              </a:rPr>
              <a:t>جنسیت</a:t>
            </a:r>
            <a:endParaRPr lang="fa-IR" sz="1400" dirty="0"/>
          </a:p>
        </p:txBody>
      </p:sp>
      <p:sp>
        <p:nvSpPr>
          <p:cNvPr id="20" name="A04_f_229p"/>
          <p:cNvSpPr/>
          <p:nvPr/>
        </p:nvSpPr>
        <p:spPr>
          <a:xfrm>
            <a:off x="4544568" y="2971800"/>
            <a:ext cx="1975104" cy="1435608"/>
          </a:xfrm>
          <a:prstGeom prst="roundRect">
            <a:avLst>
              <a:gd name="adj" fmla="val 7643"/>
            </a:avLst>
          </a:prstGeom>
          <a:solidFill>
            <a:srgbClr val="FBECE7"/>
          </a:solidFill>
          <a:ln w="12700">
            <a:solidFill>
              <a:srgbClr val="FBECE7"/>
            </a:solidFill>
            <a:prstDash val="solid"/>
          </a:ln>
        </p:spPr>
      </p:sp>
      <p:sp>
        <p:nvSpPr>
          <p:cNvPr id="21" name="A04_f_230"/>
          <p:cNvSpPr txBox="1"/>
          <p:nvPr/>
        </p:nvSpPr>
        <p:spPr>
          <a:xfrm>
            <a:off x="5321808" y="3081528"/>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زن</a:t>
            </a:r>
            <a:endParaRPr lang="fa-IR" sz="1200" dirty="0"/>
          </a:p>
        </p:txBody>
      </p:sp>
      <p:sp>
        <p:nvSpPr>
          <p:cNvPr id="22" name="A04_f_231"/>
          <p:cNvSpPr txBox="1"/>
          <p:nvPr/>
        </p:nvSpPr>
        <p:spPr>
          <a:xfrm>
            <a:off x="4654296" y="3081528"/>
            <a:ext cx="685800" cy="274320"/>
          </a:xfrm>
          <a:prstGeom prst="rect">
            <a:avLst/>
          </a:prstGeom>
          <a:noFill/>
          <a:ln/>
        </p:spPr>
        <p:txBody>
          <a:bodyPr wrap="square" lIns="0" tIns="0" rIns="0" bIns="0" rtlCol="0" anchor="t"/>
          <a:lstStyle/>
          <a:p>
            <a:pPr marL="0" indent="0" algn="l" rtl="1">
              <a:buNone/>
            </a:pPr>
            <a:r>
              <a:rPr lang="fa-IR" altLang="en-US" sz="1300" b="1" dirty="0">
                <a:solidFill>
                  <a:srgbClr val="D9674A"/>
                </a:solidFill>
                <a:latin typeface="Tahoma" pitchFamily="34" charset="0"/>
                <a:ea typeface="Tahoma" pitchFamily="34" charset="-122"/>
                <a:cs typeface="Tahoma" pitchFamily="34" charset="-120"/>
              </a:rPr>
              <a:t>۹۴٪</a:t>
            </a:r>
            <a:endParaRPr lang="fa-IR" sz="1300" dirty="0"/>
          </a:p>
        </p:txBody>
      </p:sp>
      <p:sp>
        <p:nvSpPr>
          <p:cNvPr id="23" name="A04_f_232t"/>
          <p:cNvSpPr/>
          <p:nvPr/>
        </p:nvSpPr>
        <p:spPr>
          <a:xfrm>
            <a:off x="4654296" y="3392424"/>
            <a:ext cx="1755648" cy="118872"/>
          </a:xfrm>
          <a:prstGeom prst="roundRect">
            <a:avLst>
              <a:gd name="adj" fmla="val 46154"/>
            </a:avLst>
          </a:prstGeom>
          <a:solidFill>
            <a:srgbClr val="FFFFFF"/>
          </a:solidFill>
          <a:ln w="12700">
            <a:solidFill>
              <a:srgbClr val="FFFFFF"/>
            </a:solidFill>
            <a:prstDash val="solid"/>
          </a:ln>
        </p:spPr>
      </p:sp>
      <p:sp>
        <p:nvSpPr>
          <p:cNvPr id="24" name="A04_wl_233v"/>
          <p:cNvSpPr/>
          <p:nvPr/>
        </p:nvSpPr>
        <p:spPr>
          <a:xfrm>
            <a:off x="4759635" y="3392424"/>
            <a:ext cx="1650309" cy="118872"/>
          </a:xfrm>
          <a:prstGeom prst="roundRect">
            <a:avLst>
              <a:gd name="adj" fmla="val 46154"/>
            </a:avLst>
          </a:prstGeom>
          <a:solidFill>
            <a:srgbClr val="D9674A"/>
          </a:solidFill>
          <a:ln w="12700">
            <a:solidFill>
              <a:srgbClr val="D9674A"/>
            </a:solidFill>
            <a:prstDash val="solid"/>
          </a:ln>
        </p:spPr>
      </p:sp>
      <p:sp>
        <p:nvSpPr>
          <p:cNvPr id="25" name="A04_f_234"/>
          <p:cNvSpPr txBox="1"/>
          <p:nvPr/>
        </p:nvSpPr>
        <p:spPr>
          <a:xfrm>
            <a:off x="5321808" y="3685032"/>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مرد</a:t>
            </a:r>
            <a:endParaRPr lang="fa-IR" sz="1200" dirty="0"/>
          </a:p>
        </p:txBody>
      </p:sp>
      <p:sp>
        <p:nvSpPr>
          <p:cNvPr id="26" name="A04_f_235"/>
          <p:cNvSpPr txBox="1"/>
          <p:nvPr/>
        </p:nvSpPr>
        <p:spPr>
          <a:xfrm>
            <a:off x="4654296" y="3685032"/>
            <a:ext cx="685800" cy="274320"/>
          </a:xfrm>
          <a:prstGeom prst="rect">
            <a:avLst/>
          </a:prstGeom>
          <a:noFill/>
          <a:ln/>
        </p:spPr>
        <p:txBody>
          <a:bodyPr wrap="square" lIns="0" tIns="0" rIns="0" bIns="0" rtlCol="0" anchor="t"/>
          <a:lstStyle/>
          <a:p>
            <a:pPr marL="0" indent="0" algn="l" rtl="1">
              <a:buNone/>
            </a:pPr>
            <a:r>
              <a:rPr lang="fa-IR" altLang="en-US" sz="1300" b="1" dirty="0">
                <a:solidFill>
                  <a:srgbClr val="D9674A"/>
                </a:solidFill>
                <a:latin typeface="Tahoma" pitchFamily="34" charset="0"/>
                <a:ea typeface="Tahoma" pitchFamily="34" charset="-122"/>
                <a:cs typeface="Tahoma" pitchFamily="34" charset="-120"/>
              </a:rPr>
              <a:t>۶٪</a:t>
            </a:r>
            <a:endParaRPr lang="fa-IR" sz="1300" dirty="0"/>
          </a:p>
        </p:txBody>
      </p:sp>
      <p:sp>
        <p:nvSpPr>
          <p:cNvPr id="27" name="A04_f_236t"/>
          <p:cNvSpPr/>
          <p:nvPr/>
        </p:nvSpPr>
        <p:spPr>
          <a:xfrm>
            <a:off x="4654296" y="3995928"/>
            <a:ext cx="1755648" cy="118872"/>
          </a:xfrm>
          <a:prstGeom prst="roundRect">
            <a:avLst>
              <a:gd name="adj" fmla="val 46154"/>
            </a:avLst>
          </a:prstGeom>
          <a:solidFill>
            <a:srgbClr val="FFFFFF"/>
          </a:solidFill>
          <a:ln w="12700">
            <a:solidFill>
              <a:srgbClr val="FFFFFF"/>
            </a:solidFill>
            <a:prstDash val="solid"/>
          </a:ln>
        </p:spPr>
      </p:sp>
      <p:sp>
        <p:nvSpPr>
          <p:cNvPr id="28" name="A04_wl_237v"/>
          <p:cNvSpPr/>
          <p:nvPr/>
        </p:nvSpPr>
        <p:spPr>
          <a:xfrm>
            <a:off x="6304605" y="3995928"/>
            <a:ext cx="105339" cy="118872"/>
          </a:xfrm>
          <a:prstGeom prst="roundRect">
            <a:avLst>
              <a:gd name="adj" fmla="val 52083"/>
            </a:avLst>
          </a:prstGeom>
          <a:solidFill>
            <a:srgbClr val="D9674A"/>
          </a:solidFill>
          <a:ln w="12700">
            <a:solidFill>
              <a:srgbClr val="D9674A"/>
            </a:solidFill>
            <a:prstDash val="solid"/>
          </a:ln>
        </p:spPr>
      </p:sp>
      <p:sp>
        <p:nvSpPr>
          <p:cNvPr id="29" name="A05_f_238"/>
          <p:cNvSpPr/>
          <p:nvPr/>
        </p:nvSpPr>
        <p:spPr>
          <a:xfrm>
            <a:off x="3429000" y="2148840"/>
            <a:ext cx="0" cy="228600"/>
          </a:xfrm>
          <a:prstGeom prst="line">
            <a:avLst/>
          </a:prstGeom>
          <a:noFill/>
          <a:ln w="19050">
            <a:solidFill>
              <a:srgbClr val="6B7B83"/>
            </a:solidFill>
            <a:prstDash val="solid"/>
          </a:ln>
        </p:spPr>
      </p:sp>
      <p:sp>
        <p:nvSpPr>
          <p:cNvPr id="30" name="A05_z_239b"/>
          <p:cNvSpPr/>
          <p:nvPr/>
        </p:nvSpPr>
        <p:spPr>
          <a:xfrm>
            <a:off x="2441448" y="2377440"/>
            <a:ext cx="1975104" cy="502920"/>
          </a:xfrm>
          <a:prstGeom prst="roundRect">
            <a:avLst>
              <a:gd name="adj" fmla="val 21818"/>
            </a:avLst>
          </a:prstGeom>
          <a:solidFill>
            <a:srgbClr val="2A9D8F"/>
          </a:solidFill>
          <a:ln w="12700">
            <a:solidFill>
              <a:srgbClr val="2A9D8F"/>
            </a:solidFill>
            <a:prstDash val="solid"/>
          </a:ln>
        </p:spPr>
      </p:sp>
      <p:pic>
        <p:nvPicPr>
          <p:cNvPr id="31" name="A05_z_240i" descr="preencoded.png"/>
          <p:cNvPicPr>
            <a:picLocks noChangeAspect="1"/>
          </p:cNvPicPr>
          <p:nvPr/>
        </p:nvPicPr>
        <p:blipFill>
          <a:blip r:embed="rId5"/>
          <a:stretch>
            <a:fillRect/>
          </a:stretch>
        </p:blipFill>
        <p:spPr>
          <a:xfrm>
            <a:off x="3977640" y="2468880"/>
            <a:ext cx="310896" cy="310896"/>
          </a:xfrm>
          <a:prstGeom prst="rect">
            <a:avLst/>
          </a:prstGeom>
        </p:spPr>
      </p:pic>
      <p:sp>
        <p:nvSpPr>
          <p:cNvPr id="32" name="A05_z_241"/>
          <p:cNvSpPr txBox="1"/>
          <p:nvPr/>
        </p:nvSpPr>
        <p:spPr>
          <a:xfrm>
            <a:off x="2532888" y="2377440"/>
            <a:ext cx="1380744" cy="502920"/>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Tahoma" pitchFamily="34" charset="0"/>
                <a:ea typeface="Tahoma" pitchFamily="34" charset="-122"/>
                <a:cs typeface="Tahoma" pitchFamily="34" charset="-120"/>
              </a:rPr>
              <a:t>سن</a:t>
            </a:r>
            <a:endParaRPr lang="fa-IR" sz="1400" dirty="0"/>
          </a:p>
        </p:txBody>
      </p:sp>
      <p:sp>
        <p:nvSpPr>
          <p:cNvPr id="33" name="A05_f_242p"/>
          <p:cNvSpPr/>
          <p:nvPr/>
        </p:nvSpPr>
        <p:spPr>
          <a:xfrm>
            <a:off x="2441448" y="2971800"/>
            <a:ext cx="1975104" cy="3246120"/>
          </a:xfrm>
          <a:prstGeom prst="roundRect">
            <a:avLst>
              <a:gd name="adj" fmla="val 5556"/>
            </a:avLst>
          </a:prstGeom>
          <a:solidFill>
            <a:srgbClr val="E6F2F1"/>
          </a:solidFill>
          <a:ln w="12700">
            <a:solidFill>
              <a:srgbClr val="E6F2F1"/>
            </a:solidFill>
            <a:prstDash val="solid"/>
          </a:ln>
        </p:spPr>
      </p:sp>
      <p:sp>
        <p:nvSpPr>
          <p:cNvPr id="34" name="A05_f_243"/>
          <p:cNvSpPr txBox="1"/>
          <p:nvPr/>
        </p:nvSpPr>
        <p:spPr>
          <a:xfrm>
            <a:off x="3218688" y="3081528"/>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۱۸ تا ۲۳</a:t>
            </a:r>
            <a:endParaRPr lang="fa-IR" sz="1200" dirty="0"/>
          </a:p>
        </p:txBody>
      </p:sp>
      <p:sp>
        <p:nvSpPr>
          <p:cNvPr id="35" name="A05_f_244"/>
          <p:cNvSpPr txBox="1"/>
          <p:nvPr/>
        </p:nvSpPr>
        <p:spPr>
          <a:xfrm>
            <a:off x="2551176" y="3081528"/>
            <a:ext cx="685800" cy="274320"/>
          </a:xfrm>
          <a:prstGeom prst="rect">
            <a:avLst/>
          </a:prstGeom>
          <a:noFill/>
          <a:ln/>
        </p:spPr>
        <p:txBody>
          <a:bodyPr wrap="square" lIns="0" tIns="0" rIns="0" bIns="0" rtlCol="0" anchor="t"/>
          <a:lstStyle/>
          <a:p>
            <a:pPr marL="0" indent="0" algn="l" rtl="1">
              <a:buNone/>
            </a:pPr>
            <a:r>
              <a:rPr lang="fa-IR" altLang="en-US" sz="1300" b="1" dirty="0">
                <a:solidFill>
                  <a:srgbClr val="2A9D8F"/>
                </a:solidFill>
                <a:latin typeface="Tahoma" pitchFamily="34" charset="0"/>
                <a:ea typeface="Tahoma" pitchFamily="34" charset="-122"/>
                <a:cs typeface="Tahoma" pitchFamily="34" charset="-120"/>
              </a:rPr>
              <a:t>۳۶٪</a:t>
            </a:r>
            <a:endParaRPr lang="fa-IR" sz="1300" dirty="0"/>
          </a:p>
        </p:txBody>
      </p:sp>
      <p:sp>
        <p:nvSpPr>
          <p:cNvPr id="36" name="A05_f_245t"/>
          <p:cNvSpPr/>
          <p:nvPr/>
        </p:nvSpPr>
        <p:spPr>
          <a:xfrm>
            <a:off x="2551176" y="3392424"/>
            <a:ext cx="1755648" cy="118872"/>
          </a:xfrm>
          <a:prstGeom prst="roundRect">
            <a:avLst>
              <a:gd name="adj" fmla="val 46154"/>
            </a:avLst>
          </a:prstGeom>
          <a:solidFill>
            <a:srgbClr val="FFFFFF"/>
          </a:solidFill>
          <a:ln w="12700">
            <a:solidFill>
              <a:srgbClr val="FFFFFF"/>
            </a:solidFill>
            <a:prstDash val="solid"/>
          </a:ln>
        </p:spPr>
      </p:sp>
      <p:sp>
        <p:nvSpPr>
          <p:cNvPr id="37" name="A05_wl_246v"/>
          <p:cNvSpPr/>
          <p:nvPr/>
        </p:nvSpPr>
        <p:spPr>
          <a:xfrm>
            <a:off x="3674791" y="3392424"/>
            <a:ext cx="632033" cy="118872"/>
          </a:xfrm>
          <a:prstGeom prst="roundRect">
            <a:avLst>
              <a:gd name="adj" fmla="val 46154"/>
            </a:avLst>
          </a:prstGeom>
          <a:solidFill>
            <a:srgbClr val="2A9D8F"/>
          </a:solidFill>
          <a:ln w="12700">
            <a:solidFill>
              <a:srgbClr val="2A9D8F"/>
            </a:solidFill>
            <a:prstDash val="solid"/>
          </a:ln>
        </p:spPr>
      </p:sp>
      <p:sp>
        <p:nvSpPr>
          <p:cNvPr id="38" name="A05_f_247"/>
          <p:cNvSpPr txBox="1"/>
          <p:nvPr/>
        </p:nvSpPr>
        <p:spPr>
          <a:xfrm>
            <a:off x="3218688" y="3685032"/>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۲۴ تا ۲۹</a:t>
            </a:r>
            <a:endParaRPr lang="fa-IR" sz="1200" dirty="0"/>
          </a:p>
        </p:txBody>
      </p:sp>
      <p:sp>
        <p:nvSpPr>
          <p:cNvPr id="39" name="A05_f_248"/>
          <p:cNvSpPr txBox="1"/>
          <p:nvPr/>
        </p:nvSpPr>
        <p:spPr>
          <a:xfrm>
            <a:off x="2551176" y="3685032"/>
            <a:ext cx="685800" cy="274320"/>
          </a:xfrm>
          <a:prstGeom prst="rect">
            <a:avLst/>
          </a:prstGeom>
          <a:noFill/>
          <a:ln/>
        </p:spPr>
        <p:txBody>
          <a:bodyPr wrap="square" lIns="0" tIns="0" rIns="0" bIns="0" rtlCol="0" anchor="t"/>
          <a:lstStyle/>
          <a:p>
            <a:pPr marL="0" indent="0" algn="l" rtl="1">
              <a:buNone/>
            </a:pPr>
            <a:r>
              <a:rPr lang="fa-IR" altLang="en-US" sz="1300" b="1" dirty="0">
                <a:solidFill>
                  <a:srgbClr val="2A9D8F"/>
                </a:solidFill>
                <a:latin typeface="Tahoma" pitchFamily="34" charset="0"/>
                <a:ea typeface="Tahoma" pitchFamily="34" charset="-122"/>
                <a:cs typeface="Tahoma" pitchFamily="34" charset="-120"/>
              </a:rPr>
              <a:t>۲۲٪</a:t>
            </a:r>
            <a:endParaRPr lang="fa-IR" sz="1300" dirty="0"/>
          </a:p>
        </p:txBody>
      </p:sp>
      <p:sp>
        <p:nvSpPr>
          <p:cNvPr id="40" name="A05_f_249t"/>
          <p:cNvSpPr/>
          <p:nvPr/>
        </p:nvSpPr>
        <p:spPr>
          <a:xfrm>
            <a:off x="2551176" y="3995928"/>
            <a:ext cx="1755648" cy="118872"/>
          </a:xfrm>
          <a:prstGeom prst="roundRect">
            <a:avLst>
              <a:gd name="adj" fmla="val 46154"/>
            </a:avLst>
          </a:prstGeom>
          <a:solidFill>
            <a:srgbClr val="FFFFFF"/>
          </a:solidFill>
          <a:ln w="12700">
            <a:solidFill>
              <a:srgbClr val="FFFFFF"/>
            </a:solidFill>
            <a:prstDash val="solid"/>
          </a:ln>
        </p:spPr>
      </p:sp>
      <p:sp>
        <p:nvSpPr>
          <p:cNvPr id="41" name="A05_wl_250v"/>
          <p:cNvSpPr/>
          <p:nvPr/>
        </p:nvSpPr>
        <p:spPr>
          <a:xfrm>
            <a:off x="3920581" y="3995928"/>
            <a:ext cx="386243" cy="118872"/>
          </a:xfrm>
          <a:prstGeom prst="roundRect">
            <a:avLst>
              <a:gd name="adj" fmla="val 46154"/>
            </a:avLst>
          </a:prstGeom>
          <a:solidFill>
            <a:srgbClr val="2A9D8F"/>
          </a:solidFill>
          <a:ln w="12700">
            <a:solidFill>
              <a:srgbClr val="2A9D8F"/>
            </a:solidFill>
            <a:prstDash val="solid"/>
          </a:ln>
        </p:spPr>
      </p:sp>
      <p:sp>
        <p:nvSpPr>
          <p:cNvPr id="42" name="A05_f_251"/>
          <p:cNvSpPr txBox="1"/>
          <p:nvPr/>
        </p:nvSpPr>
        <p:spPr>
          <a:xfrm>
            <a:off x="3218688" y="4288536"/>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۳۰ تا ۳۵</a:t>
            </a:r>
            <a:endParaRPr lang="fa-IR" sz="1200" dirty="0"/>
          </a:p>
        </p:txBody>
      </p:sp>
      <p:sp>
        <p:nvSpPr>
          <p:cNvPr id="43" name="A05_f_252"/>
          <p:cNvSpPr txBox="1"/>
          <p:nvPr/>
        </p:nvSpPr>
        <p:spPr>
          <a:xfrm>
            <a:off x="2551176" y="4288536"/>
            <a:ext cx="685800" cy="274320"/>
          </a:xfrm>
          <a:prstGeom prst="rect">
            <a:avLst/>
          </a:prstGeom>
          <a:noFill/>
          <a:ln/>
        </p:spPr>
        <p:txBody>
          <a:bodyPr wrap="square" lIns="0" tIns="0" rIns="0" bIns="0" rtlCol="0" anchor="t"/>
          <a:lstStyle/>
          <a:p>
            <a:pPr marL="0" indent="0" algn="l" rtl="1">
              <a:buNone/>
            </a:pPr>
            <a:r>
              <a:rPr lang="fa-IR" altLang="en-US" sz="1300" b="1" dirty="0">
                <a:solidFill>
                  <a:srgbClr val="2A9D8F"/>
                </a:solidFill>
                <a:latin typeface="Tahoma" pitchFamily="34" charset="0"/>
                <a:ea typeface="Tahoma" pitchFamily="34" charset="-122"/>
                <a:cs typeface="Tahoma" pitchFamily="34" charset="-120"/>
              </a:rPr>
              <a:t>۱۹٪</a:t>
            </a:r>
            <a:endParaRPr lang="fa-IR" sz="1300" dirty="0"/>
          </a:p>
        </p:txBody>
      </p:sp>
      <p:sp>
        <p:nvSpPr>
          <p:cNvPr id="44" name="A05_f_253t"/>
          <p:cNvSpPr/>
          <p:nvPr/>
        </p:nvSpPr>
        <p:spPr>
          <a:xfrm>
            <a:off x="2551176" y="4599432"/>
            <a:ext cx="1755648" cy="118872"/>
          </a:xfrm>
          <a:prstGeom prst="roundRect">
            <a:avLst>
              <a:gd name="adj" fmla="val 46154"/>
            </a:avLst>
          </a:prstGeom>
          <a:solidFill>
            <a:srgbClr val="FFFFFF"/>
          </a:solidFill>
          <a:ln w="12700">
            <a:solidFill>
              <a:srgbClr val="FFFFFF"/>
            </a:solidFill>
            <a:prstDash val="solid"/>
          </a:ln>
        </p:spPr>
      </p:sp>
      <p:sp>
        <p:nvSpPr>
          <p:cNvPr id="45" name="A05_wl_254v"/>
          <p:cNvSpPr/>
          <p:nvPr/>
        </p:nvSpPr>
        <p:spPr>
          <a:xfrm>
            <a:off x="3973251" y="4599432"/>
            <a:ext cx="333573" cy="118872"/>
          </a:xfrm>
          <a:prstGeom prst="roundRect">
            <a:avLst>
              <a:gd name="adj" fmla="val 46154"/>
            </a:avLst>
          </a:prstGeom>
          <a:solidFill>
            <a:srgbClr val="2A9D8F"/>
          </a:solidFill>
          <a:ln w="12700">
            <a:solidFill>
              <a:srgbClr val="2A9D8F"/>
            </a:solidFill>
            <a:prstDash val="solid"/>
          </a:ln>
        </p:spPr>
      </p:sp>
      <p:sp>
        <p:nvSpPr>
          <p:cNvPr id="46" name="A05_f_255"/>
          <p:cNvSpPr txBox="1"/>
          <p:nvPr/>
        </p:nvSpPr>
        <p:spPr>
          <a:xfrm>
            <a:off x="3218688" y="4892040"/>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۳۶ تا ۴۰</a:t>
            </a:r>
            <a:endParaRPr lang="fa-IR" sz="1200" dirty="0"/>
          </a:p>
        </p:txBody>
      </p:sp>
      <p:sp>
        <p:nvSpPr>
          <p:cNvPr id="47" name="A05_f_256"/>
          <p:cNvSpPr txBox="1"/>
          <p:nvPr/>
        </p:nvSpPr>
        <p:spPr>
          <a:xfrm>
            <a:off x="2551176" y="4892040"/>
            <a:ext cx="685800" cy="274320"/>
          </a:xfrm>
          <a:prstGeom prst="rect">
            <a:avLst/>
          </a:prstGeom>
          <a:noFill/>
          <a:ln/>
        </p:spPr>
        <p:txBody>
          <a:bodyPr wrap="square" lIns="0" tIns="0" rIns="0" bIns="0" rtlCol="0" anchor="t"/>
          <a:lstStyle/>
          <a:p>
            <a:pPr marL="0" indent="0" algn="l" rtl="1">
              <a:buNone/>
            </a:pPr>
            <a:r>
              <a:rPr lang="fa-IR" altLang="en-US" sz="1300" b="1" dirty="0">
                <a:solidFill>
                  <a:srgbClr val="2A9D8F"/>
                </a:solidFill>
                <a:latin typeface="Tahoma" pitchFamily="34" charset="0"/>
                <a:ea typeface="Tahoma" pitchFamily="34" charset="-122"/>
                <a:cs typeface="Tahoma" pitchFamily="34" charset="-120"/>
              </a:rPr>
              <a:t>۱۳٪</a:t>
            </a:r>
            <a:endParaRPr lang="fa-IR" sz="1300" dirty="0"/>
          </a:p>
        </p:txBody>
      </p:sp>
      <p:sp>
        <p:nvSpPr>
          <p:cNvPr id="48" name="A05_f_257t"/>
          <p:cNvSpPr/>
          <p:nvPr/>
        </p:nvSpPr>
        <p:spPr>
          <a:xfrm>
            <a:off x="2551176" y="5202936"/>
            <a:ext cx="1755648" cy="118872"/>
          </a:xfrm>
          <a:prstGeom prst="roundRect">
            <a:avLst>
              <a:gd name="adj" fmla="val 46154"/>
            </a:avLst>
          </a:prstGeom>
          <a:solidFill>
            <a:srgbClr val="FFFFFF"/>
          </a:solidFill>
          <a:ln w="12700">
            <a:solidFill>
              <a:srgbClr val="FFFFFF"/>
            </a:solidFill>
            <a:prstDash val="solid"/>
          </a:ln>
        </p:spPr>
      </p:sp>
      <p:sp>
        <p:nvSpPr>
          <p:cNvPr id="49" name="A05_wl_258v"/>
          <p:cNvSpPr/>
          <p:nvPr/>
        </p:nvSpPr>
        <p:spPr>
          <a:xfrm>
            <a:off x="4078590" y="5202936"/>
            <a:ext cx="228234" cy="118872"/>
          </a:xfrm>
          <a:prstGeom prst="roundRect">
            <a:avLst>
              <a:gd name="adj" fmla="val 46154"/>
            </a:avLst>
          </a:prstGeom>
          <a:solidFill>
            <a:srgbClr val="2A9D8F"/>
          </a:solidFill>
          <a:ln w="12700">
            <a:solidFill>
              <a:srgbClr val="2A9D8F"/>
            </a:solidFill>
            <a:prstDash val="solid"/>
          </a:ln>
        </p:spPr>
      </p:sp>
      <p:sp>
        <p:nvSpPr>
          <p:cNvPr id="50" name="A05_f_259"/>
          <p:cNvSpPr txBox="1"/>
          <p:nvPr/>
        </p:nvSpPr>
        <p:spPr>
          <a:xfrm>
            <a:off x="3218688" y="5495544"/>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۴۱ تا ۵۰</a:t>
            </a:r>
            <a:endParaRPr lang="fa-IR" sz="1200" dirty="0"/>
          </a:p>
        </p:txBody>
      </p:sp>
      <p:sp>
        <p:nvSpPr>
          <p:cNvPr id="51" name="A05_f_260"/>
          <p:cNvSpPr txBox="1"/>
          <p:nvPr/>
        </p:nvSpPr>
        <p:spPr>
          <a:xfrm>
            <a:off x="2551176" y="5495544"/>
            <a:ext cx="685800" cy="274320"/>
          </a:xfrm>
          <a:prstGeom prst="rect">
            <a:avLst/>
          </a:prstGeom>
          <a:noFill/>
          <a:ln/>
        </p:spPr>
        <p:txBody>
          <a:bodyPr wrap="square" lIns="0" tIns="0" rIns="0" bIns="0" rtlCol="0" anchor="t"/>
          <a:lstStyle/>
          <a:p>
            <a:pPr marL="0" indent="0" algn="l" rtl="1">
              <a:buNone/>
            </a:pPr>
            <a:r>
              <a:rPr lang="fa-IR" altLang="en-US" sz="1300" b="1" dirty="0">
                <a:solidFill>
                  <a:srgbClr val="2A9D8F"/>
                </a:solidFill>
                <a:latin typeface="Tahoma" pitchFamily="34" charset="0"/>
                <a:ea typeface="Tahoma" pitchFamily="34" charset="-122"/>
                <a:cs typeface="Tahoma" pitchFamily="34" charset="-120"/>
              </a:rPr>
              <a:t>۱۰٪</a:t>
            </a:r>
            <a:endParaRPr lang="fa-IR" sz="1300" dirty="0"/>
          </a:p>
        </p:txBody>
      </p:sp>
      <p:sp>
        <p:nvSpPr>
          <p:cNvPr id="52" name="A05_f_261t"/>
          <p:cNvSpPr/>
          <p:nvPr/>
        </p:nvSpPr>
        <p:spPr>
          <a:xfrm>
            <a:off x="2551176" y="5806440"/>
            <a:ext cx="1755648" cy="118872"/>
          </a:xfrm>
          <a:prstGeom prst="roundRect">
            <a:avLst>
              <a:gd name="adj" fmla="val 46154"/>
            </a:avLst>
          </a:prstGeom>
          <a:solidFill>
            <a:srgbClr val="FFFFFF"/>
          </a:solidFill>
          <a:ln w="12700">
            <a:solidFill>
              <a:srgbClr val="FFFFFF"/>
            </a:solidFill>
            <a:prstDash val="solid"/>
          </a:ln>
        </p:spPr>
      </p:sp>
      <p:sp>
        <p:nvSpPr>
          <p:cNvPr id="53" name="A05_wl_262v"/>
          <p:cNvSpPr/>
          <p:nvPr/>
        </p:nvSpPr>
        <p:spPr>
          <a:xfrm>
            <a:off x="4131259" y="5806440"/>
            <a:ext cx="175565" cy="118872"/>
          </a:xfrm>
          <a:prstGeom prst="roundRect">
            <a:avLst>
              <a:gd name="adj" fmla="val 46154"/>
            </a:avLst>
          </a:prstGeom>
          <a:solidFill>
            <a:srgbClr val="2A9D8F"/>
          </a:solidFill>
          <a:ln w="12700">
            <a:solidFill>
              <a:srgbClr val="2A9D8F"/>
            </a:solidFill>
            <a:prstDash val="solid"/>
          </a:ln>
        </p:spPr>
      </p:sp>
      <p:sp>
        <p:nvSpPr>
          <p:cNvPr id="54" name="A06_f_263"/>
          <p:cNvSpPr/>
          <p:nvPr/>
        </p:nvSpPr>
        <p:spPr>
          <a:xfrm>
            <a:off x="1325880" y="2148840"/>
            <a:ext cx="0" cy="228600"/>
          </a:xfrm>
          <a:prstGeom prst="line">
            <a:avLst/>
          </a:prstGeom>
          <a:noFill/>
          <a:ln w="19050">
            <a:solidFill>
              <a:srgbClr val="6B7B83"/>
            </a:solidFill>
            <a:prstDash val="solid"/>
          </a:ln>
        </p:spPr>
      </p:sp>
      <p:sp>
        <p:nvSpPr>
          <p:cNvPr id="55" name="A06_z_264b"/>
          <p:cNvSpPr/>
          <p:nvPr/>
        </p:nvSpPr>
        <p:spPr>
          <a:xfrm>
            <a:off x="338328" y="2377440"/>
            <a:ext cx="1975104" cy="502920"/>
          </a:xfrm>
          <a:prstGeom prst="roundRect">
            <a:avLst>
              <a:gd name="adj" fmla="val 21818"/>
            </a:avLst>
          </a:prstGeom>
          <a:solidFill>
            <a:srgbClr val="6D597A"/>
          </a:solidFill>
          <a:ln w="12700">
            <a:solidFill>
              <a:srgbClr val="6D597A"/>
            </a:solidFill>
            <a:prstDash val="solid"/>
          </a:ln>
        </p:spPr>
      </p:sp>
      <p:pic>
        <p:nvPicPr>
          <p:cNvPr id="56" name="A06_z_265i" descr="preencoded.png"/>
          <p:cNvPicPr>
            <a:picLocks noChangeAspect="1"/>
          </p:cNvPicPr>
          <p:nvPr/>
        </p:nvPicPr>
        <p:blipFill>
          <a:blip r:embed="rId6"/>
          <a:stretch>
            <a:fillRect/>
          </a:stretch>
        </p:blipFill>
        <p:spPr>
          <a:xfrm>
            <a:off x="1874520" y="2468880"/>
            <a:ext cx="310896" cy="310896"/>
          </a:xfrm>
          <a:prstGeom prst="rect">
            <a:avLst/>
          </a:prstGeom>
        </p:spPr>
      </p:pic>
      <p:sp>
        <p:nvSpPr>
          <p:cNvPr id="57" name="A06_z_266"/>
          <p:cNvSpPr txBox="1"/>
          <p:nvPr/>
        </p:nvSpPr>
        <p:spPr>
          <a:xfrm>
            <a:off x="429768" y="2377440"/>
            <a:ext cx="1380744" cy="502920"/>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Tahoma" pitchFamily="34" charset="0"/>
                <a:ea typeface="Tahoma" pitchFamily="34" charset="-122"/>
                <a:cs typeface="Tahoma" pitchFamily="34" charset="-120"/>
              </a:rPr>
              <a:t>تحصیلات</a:t>
            </a:r>
            <a:endParaRPr lang="fa-IR" sz="1400" dirty="0"/>
          </a:p>
        </p:txBody>
      </p:sp>
      <p:sp>
        <p:nvSpPr>
          <p:cNvPr id="58" name="A06_f_267p"/>
          <p:cNvSpPr/>
          <p:nvPr/>
        </p:nvSpPr>
        <p:spPr>
          <a:xfrm>
            <a:off x="338328" y="2971800"/>
            <a:ext cx="1975104" cy="2039112"/>
          </a:xfrm>
          <a:prstGeom prst="roundRect">
            <a:avLst>
              <a:gd name="adj" fmla="val 5556"/>
            </a:avLst>
          </a:prstGeom>
          <a:solidFill>
            <a:srgbClr val="EFEAF3"/>
          </a:solidFill>
          <a:ln w="12700">
            <a:solidFill>
              <a:srgbClr val="EFEAF3"/>
            </a:solidFill>
            <a:prstDash val="solid"/>
          </a:ln>
        </p:spPr>
      </p:sp>
      <p:sp>
        <p:nvSpPr>
          <p:cNvPr id="59" name="A06_f_268"/>
          <p:cNvSpPr txBox="1"/>
          <p:nvPr/>
        </p:nvSpPr>
        <p:spPr>
          <a:xfrm>
            <a:off x="1115568" y="3081528"/>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کارشناسی</a:t>
            </a:r>
            <a:endParaRPr lang="fa-IR" sz="1200" dirty="0"/>
          </a:p>
        </p:txBody>
      </p:sp>
      <p:sp>
        <p:nvSpPr>
          <p:cNvPr id="60" name="A06_f_269"/>
          <p:cNvSpPr txBox="1"/>
          <p:nvPr/>
        </p:nvSpPr>
        <p:spPr>
          <a:xfrm>
            <a:off x="448056" y="3081528"/>
            <a:ext cx="685800" cy="274320"/>
          </a:xfrm>
          <a:prstGeom prst="rect">
            <a:avLst/>
          </a:prstGeom>
          <a:noFill/>
          <a:ln/>
        </p:spPr>
        <p:txBody>
          <a:bodyPr wrap="square" lIns="0" tIns="0" rIns="0" bIns="0" rtlCol="0" anchor="t"/>
          <a:lstStyle/>
          <a:p>
            <a:pPr marL="0" indent="0" algn="l" rtl="1">
              <a:buNone/>
            </a:pPr>
            <a:r>
              <a:rPr lang="fa-IR" altLang="en-US" sz="1300" b="1" dirty="0">
                <a:solidFill>
                  <a:srgbClr val="6D597A"/>
                </a:solidFill>
                <a:latin typeface="Tahoma" pitchFamily="34" charset="0"/>
                <a:ea typeface="Tahoma" pitchFamily="34" charset="-122"/>
                <a:cs typeface="Tahoma" pitchFamily="34" charset="-120"/>
              </a:rPr>
              <a:t>۶۵٪</a:t>
            </a:r>
            <a:endParaRPr lang="fa-IR" sz="1300" dirty="0"/>
          </a:p>
        </p:txBody>
      </p:sp>
      <p:sp>
        <p:nvSpPr>
          <p:cNvPr id="61" name="A06_f_270t"/>
          <p:cNvSpPr/>
          <p:nvPr/>
        </p:nvSpPr>
        <p:spPr>
          <a:xfrm>
            <a:off x="448056" y="3392424"/>
            <a:ext cx="1755648" cy="118872"/>
          </a:xfrm>
          <a:prstGeom prst="roundRect">
            <a:avLst>
              <a:gd name="adj" fmla="val 46154"/>
            </a:avLst>
          </a:prstGeom>
          <a:solidFill>
            <a:srgbClr val="FFFFFF"/>
          </a:solidFill>
          <a:ln w="12700">
            <a:solidFill>
              <a:srgbClr val="FFFFFF"/>
            </a:solidFill>
            <a:prstDash val="solid"/>
          </a:ln>
        </p:spPr>
      </p:sp>
      <p:sp>
        <p:nvSpPr>
          <p:cNvPr id="62" name="A06_wl_271v"/>
          <p:cNvSpPr/>
          <p:nvPr/>
        </p:nvSpPr>
        <p:spPr>
          <a:xfrm>
            <a:off x="1051560" y="3392424"/>
            <a:ext cx="1152144" cy="118872"/>
          </a:xfrm>
          <a:prstGeom prst="roundRect">
            <a:avLst>
              <a:gd name="adj" fmla="val 46154"/>
            </a:avLst>
          </a:prstGeom>
          <a:solidFill>
            <a:srgbClr val="6D597A"/>
          </a:solidFill>
          <a:ln w="12700">
            <a:solidFill>
              <a:srgbClr val="6D597A"/>
            </a:solidFill>
            <a:prstDash val="solid"/>
          </a:ln>
        </p:spPr>
      </p:sp>
      <p:sp>
        <p:nvSpPr>
          <p:cNvPr id="63" name="A06_f_272"/>
          <p:cNvSpPr txBox="1"/>
          <p:nvPr/>
        </p:nvSpPr>
        <p:spPr>
          <a:xfrm>
            <a:off x="1115568" y="3685032"/>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ارشد</a:t>
            </a:r>
            <a:endParaRPr lang="fa-IR" sz="1200" dirty="0"/>
          </a:p>
        </p:txBody>
      </p:sp>
      <p:sp>
        <p:nvSpPr>
          <p:cNvPr id="64" name="A06_f_273"/>
          <p:cNvSpPr txBox="1"/>
          <p:nvPr/>
        </p:nvSpPr>
        <p:spPr>
          <a:xfrm>
            <a:off x="448056" y="3685032"/>
            <a:ext cx="685800" cy="274320"/>
          </a:xfrm>
          <a:prstGeom prst="rect">
            <a:avLst/>
          </a:prstGeom>
          <a:noFill/>
          <a:ln/>
        </p:spPr>
        <p:txBody>
          <a:bodyPr wrap="square" lIns="0" tIns="0" rIns="0" bIns="0" rtlCol="0" anchor="t"/>
          <a:lstStyle/>
          <a:p>
            <a:pPr marL="0" indent="0" algn="l" rtl="1">
              <a:buNone/>
            </a:pPr>
            <a:r>
              <a:rPr lang="fa-IR" altLang="en-US" sz="1300" b="1" dirty="0">
                <a:solidFill>
                  <a:srgbClr val="6D597A"/>
                </a:solidFill>
                <a:latin typeface="Tahoma" pitchFamily="34" charset="0"/>
                <a:ea typeface="Tahoma" pitchFamily="34" charset="-122"/>
                <a:cs typeface="Tahoma" pitchFamily="34" charset="-120"/>
              </a:rPr>
              <a:t>۲۰٪</a:t>
            </a:r>
            <a:endParaRPr lang="fa-IR" sz="1300" dirty="0"/>
          </a:p>
        </p:txBody>
      </p:sp>
      <p:sp>
        <p:nvSpPr>
          <p:cNvPr id="65" name="A06_f_274t"/>
          <p:cNvSpPr/>
          <p:nvPr/>
        </p:nvSpPr>
        <p:spPr>
          <a:xfrm>
            <a:off x="448056" y="3995928"/>
            <a:ext cx="1755648" cy="118872"/>
          </a:xfrm>
          <a:prstGeom prst="roundRect">
            <a:avLst>
              <a:gd name="adj" fmla="val 46154"/>
            </a:avLst>
          </a:prstGeom>
          <a:solidFill>
            <a:srgbClr val="FFFFFF"/>
          </a:solidFill>
          <a:ln w="12700">
            <a:solidFill>
              <a:srgbClr val="FFFFFF"/>
            </a:solidFill>
            <a:prstDash val="solid"/>
          </a:ln>
        </p:spPr>
      </p:sp>
      <p:sp>
        <p:nvSpPr>
          <p:cNvPr id="66" name="A06_wl_275v"/>
          <p:cNvSpPr/>
          <p:nvPr/>
        </p:nvSpPr>
        <p:spPr>
          <a:xfrm>
            <a:off x="1852574" y="3995928"/>
            <a:ext cx="351130" cy="118872"/>
          </a:xfrm>
          <a:prstGeom prst="roundRect">
            <a:avLst>
              <a:gd name="adj" fmla="val 46154"/>
            </a:avLst>
          </a:prstGeom>
          <a:solidFill>
            <a:srgbClr val="6D597A"/>
          </a:solidFill>
          <a:ln w="12700">
            <a:solidFill>
              <a:srgbClr val="6D597A"/>
            </a:solidFill>
            <a:prstDash val="solid"/>
          </a:ln>
        </p:spPr>
      </p:sp>
      <p:sp>
        <p:nvSpPr>
          <p:cNvPr id="67" name="A06_f_276"/>
          <p:cNvSpPr txBox="1"/>
          <p:nvPr/>
        </p:nvSpPr>
        <p:spPr>
          <a:xfrm>
            <a:off x="1115568" y="4288536"/>
            <a:ext cx="1088136" cy="274320"/>
          </a:xfrm>
          <a:prstGeom prst="rect">
            <a:avLst/>
          </a:prstGeom>
          <a:noFill/>
          <a:ln/>
        </p:spPr>
        <p:txBody>
          <a:bodyPr wrap="square" lIns="0" tIns="0" rIns="0" bIns="0" rtlCol="0" anchor="t"/>
          <a:lstStyle/>
          <a:p>
            <a:pPr marL="0" indent="0" algn="r" rtl="1">
              <a:buNone/>
            </a:pPr>
            <a:r>
              <a:rPr lang="fa-IR" altLang="en-US" sz="1200" b="1" dirty="0">
                <a:solidFill>
                  <a:srgbClr val="263238"/>
                </a:solidFill>
                <a:latin typeface="Tahoma" pitchFamily="34" charset="0"/>
                <a:ea typeface="Tahoma" pitchFamily="34" charset="-122"/>
                <a:cs typeface="Tahoma" pitchFamily="34" charset="-120"/>
              </a:rPr>
              <a:t>دکتری+</a:t>
            </a:r>
            <a:endParaRPr lang="fa-IR" sz="1200" dirty="0"/>
          </a:p>
        </p:txBody>
      </p:sp>
      <p:sp>
        <p:nvSpPr>
          <p:cNvPr id="68" name="A06_f_277"/>
          <p:cNvSpPr txBox="1"/>
          <p:nvPr/>
        </p:nvSpPr>
        <p:spPr>
          <a:xfrm>
            <a:off x="448056" y="4288536"/>
            <a:ext cx="685800" cy="274320"/>
          </a:xfrm>
          <a:prstGeom prst="rect">
            <a:avLst/>
          </a:prstGeom>
          <a:noFill/>
          <a:ln/>
        </p:spPr>
        <p:txBody>
          <a:bodyPr wrap="square" lIns="0" tIns="0" rIns="0" bIns="0" rtlCol="0" anchor="t"/>
          <a:lstStyle/>
          <a:p>
            <a:pPr marL="0" indent="0" algn="l" rtl="1">
              <a:buNone/>
            </a:pPr>
            <a:r>
              <a:rPr lang="fa-IR" altLang="en-US" sz="1300" b="1" dirty="0">
                <a:solidFill>
                  <a:srgbClr val="6D597A"/>
                </a:solidFill>
                <a:latin typeface="Tahoma" pitchFamily="34" charset="0"/>
                <a:ea typeface="Tahoma" pitchFamily="34" charset="-122"/>
                <a:cs typeface="Tahoma" pitchFamily="34" charset="-120"/>
              </a:rPr>
              <a:t>۱۵٪</a:t>
            </a:r>
            <a:endParaRPr lang="fa-IR" sz="1300" dirty="0"/>
          </a:p>
        </p:txBody>
      </p:sp>
      <p:sp>
        <p:nvSpPr>
          <p:cNvPr id="69" name="A06_f_278t"/>
          <p:cNvSpPr/>
          <p:nvPr/>
        </p:nvSpPr>
        <p:spPr>
          <a:xfrm>
            <a:off x="448056" y="4599432"/>
            <a:ext cx="1755648" cy="118872"/>
          </a:xfrm>
          <a:prstGeom prst="roundRect">
            <a:avLst>
              <a:gd name="adj" fmla="val 46154"/>
            </a:avLst>
          </a:prstGeom>
          <a:solidFill>
            <a:srgbClr val="FFFFFF"/>
          </a:solidFill>
          <a:ln w="12700">
            <a:solidFill>
              <a:srgbClr val="FFFFFF"/>
            </a:solidFill>
            <a:prstDash val="solid"/>
          </a:ln>
        </p:spPr>
      </p:sp>
      <p:sp>
        <p:nvSpPr>
          <p:cNvPr id="70" name="A06_wl_279v"/>
          <p:cNvSpPr/>
          <p:nvPr/>
        </p:nvSpPr>
        <p:spPr>
          <a:xfrm>
            <a:off x="1962615" y="4599432"/>
            <a:ext cx="241089" cy="118872"/>
          </a:xfrm>
          <a:prstGeom prst="roundRect">
            <a:avLst>
              <a:gd name="adj" fmla="val 62500"/>
            </a:avLst>
          </a:prstGeom>
          <a:solidFill>
            <a:srgbClr val="6D597A"/>
          </a:solidFill>
          <a:ln w="12700">
            <a:solidFill>
              <a:srgbClr val="6D597A"/>
            </a:solidFill>
            <a:prstDash val="solid"/>
          </a:ln>
        </p:spPr>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par>
                          <p:cTn id="8" fill="hold">
                            <p:stCondLst>
                              <p:cond delay="300"/>
                            </p:stCondLst>
                            <p:childTnLst>
                              <p:par>
                                <p:cTn id="9" presetID="53" presetClass="entr" presetSubtype="16"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450" fill="hold"/>
                                        <p:tgtEl>
                                          <p:spTgt spid="12"/>
                                        </p:tgtEl>
                                        <p:attrNameLst>
                                          <p:attrName>ppt_w</p:attrName>
                                        </p:attrNameLst>
                                      </p:cBhvr>
                                      <p:tavLst>
                                        <p:tav tm="0">
                                          <p:val>
                                            <p:fltVal val="0"/>
                                          </p:val>
                                        </p:tav>
                                        <p:tav tm="100000">
                                          <p:val>
                                            <p:strVal val="#ppt_w"/>
                                          </p:val>
                                        </p:tav>
                                      </p:tavLst>
                                    </p:anim>
                                    <p:anim calcmode="lin" valueType="num">
                                      <p:cBhvr>
                                        <p:cTn id="12" dur="450" fill="hold"/>
                                        <p:tgtEl>
                                          <p:spTgt spid="12"/>
                                        </p:tgtEl>
                                        <p:attrNameLst>
                                          <p:attrName>ppt_h</p:attrName>
                                        </p:attrNameLst>
                                      </p:cBhvr>
                                      <p:tavLst>
                                        <p:tav tm="0">
                                          <p:val>
                                            <p:fltVal val="0"/>
                                          </p:val>
                                        </p:tav>
                                        <p:tav tm="100000">
                                          <p:val>
                                            <p:strVal val="#ppt_h"/>
                                          </p:val>
                                        </p:tav>
                                      </p:tavLst>
                                    </p:anim>
                                    <p:animEffect transition="in" filter="fade">
                                      <p:cBhvr>
                                        <p:cTn id="13" dur="450"/>
                                        <p:tgtEl>
                                          <p:spTgt spid="12"/>
                                        </p:tgtEl>
                                      </p:cBhvr>
                                    </p:animEffect>
                                  </p:childTnLst>
                                </p:cTn>
                              </p:par>
                              <p:par>
                                <p:cTn id="14" presetID="53" presetClass="entr" presetSubtype="16"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450" fill="hold"/>
                                        <p:tgtEl>
                                          <p:spTgt spid="13"/>
                                        </p:tgtEl>
                                        <p:attrNameLst>
                                          <p:attrName>ppt_w</p:attrName>
                                        </p:attrNameLst>
                                      </p:cBhvr>
                                      <p:tavLst>
                                        <p:tav tm="0">
                                          <p:val>
                                            <p:fltVal val="0"/>
                                          </p:val>
                                        </p:tav>
                                        <p:tav tm="100000">
                                          <p:val>
                                            <p:strVal val="#ppt_w"/>
                                          </p:val>
                                        </p:tav>
                                      </p:tavLst>
                                    </p:anim>
                                    <p:anim calcmode="lin" valueType="num">
                                      <p:cBhvr>
                                        <p:cTn id="17" dur="450" fill="hold"/>
                                        <p:tgtEl>
                                          <p:spTgt spid="13"/>
                                        </p:tgtEl>
                                        <p:attrNameLst>
                                          <p:attrName>ppt_h</p:attrName>
                                        </p:attrNameLst>
                                      </p:cBhvr>
                                      <p:tavLst>
                                        <p:tav tm="0">
                                          <p:val>
                                            <p:fltVal val="0"/>
                                          </p:val>
                                        </p:tav>
                                        <p:tav tm="100000">
                                          <p:val>
                                            <p:strVal val="#ppt_h"/>
                                          </p:val>
                                        </p:tav>
                                      </p:tavLst>
                                    </p:anim>
                                    <p:animEffect transition="in" filter="fade">
                                      <p:cBhvr>
                                        <p:cTn id="18" dur="450"/>
                                        <p:tgtEl>
                                          <p:spTgt spid="13"/>
                                        </p:tgtEl>
                                      </p:cBhvr>
                                    </p:animEffect>
                                  </p:childTnLst>
                                </p:cTn>
                              </p:par>
                            </p:childTnLst>
                          </p:cTn>
                        </p:par>
                        <p:par>
                          <p:cTn id="19" fill="hold">
                            <p:stCondLst>
                              <p:cond delay="600"/>
                            </p:stCondLst>
                            <p:childTnLst>
                              <p:par>
                                <p:cTn id="20" presetID="10" presetClass="entr" presetSubtype="0"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50"/>
                                        <p:tgtEl>
                                          <p:spTgt spid="15"/>
                                        </p:tgtEl>
                                      </p:cBhvr>
                                    </p:animEffect>
                                  </p:childTnLst>
                                </p:cTn>
                              </p:par>
                            </p:childTnLst>
                          </p:cTn>
                        </p:par>
                        <p:par>
                          <p:cTn id="26" fill="hold">
                            <p:stCondLst>
                              <p:cond delay="900"/>
                            </p:stCondLst>
                            <p:childTnLst>
                              <p:par>
                                <p:cTn id="27" presetID="10" presetClass="entr" presetSubtype="0" fill="hold"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53" presetClass="entr" presetSubtype="16"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450" fill="hold"/>
                                        <p:tgtEl>
                                          <p:spTgt spid="17"/>
                                        </p:tgtEl>
                                        <p:attrNameLst>
                                          <p:attrName>ppt_w</p:attrName>
                                        </p:attrNameLst>
                                      </p:cBhvr>
                                      <p:tavLst>
                                        <p:tav tm="0">
                                          <p:val>
                                            <p:fltVal val="0"/>
                                          </p:val>
                                        </p:tav>
                                        <p:tav tm="100000">
                                          <p:val>
                                            <p:strVal val="#ppt_w"/>
                                          </p:val>
                                        </p:tav>
                                      </p:tavLst>
                                    </p:anim>
                                    <p:anim calcmode="lin" valueType="num">
                                      <p:cBhvr>
                                        <p:cTn id="33" dur="450" fill="hold"/>
                                        <p:tgtEl>
                                          <p:spTgt spid="17"/>
                                        </p:tgtEl>
                                        <p:attrNameLst>
                                          <p:attrName>ppt_h</p:attrName>
                                        </p:attrNameLst>
                                      </p:cBhvr>
                                      <p:tavLst>
                                        <p:tav tm="0">
                                          <p:val>
                                            <p:fltVal val="0"/>
                                          </p:val>
                                        </p:tav>
                                        <p:tav tm="100000">
                                          <p:val>
                                            <p:strVal val="#ppt_h"/>
                                          </p:val>
                                        </p:tav>
                                      </p:tavLst>
                                    </p:anim>
                                    <p:animEffect transition="in" filter="fade">
                                      <p:cBhvr>
                                        <p:cTn id="34" dur="450"/>
                                        <p:tgtEl>
                                          <p:spTgt spid="17"/>
                                        </p:tgtEl>
                                      </p:cBhvr>
                                    </p:animEffect>
                                  </p:childTnLst>
                                </p:cTn>
                              </p:par>
                              <p:par>
                                <p:cTn id="35" presetID="53" presetClass="entr" presetSubtype="16"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450" fill="hold"/>
                                        <p:tgtEl>
                                          <p:spTgt spid="18"/>
                                        </p:tgtEl>
                                        <p:attrNameLst>
                                          <p:attrName>ppt_w</p:attrName>
                                        </p:attrNameLst>
                                      </p:cBhvr>
                                      <p:tavLst>
                                        <p:tav tm="0">
                                          <p:val>
                                            <p:fltVal val="0"/>
                                          </p:val>
                                        </p:tav>
                                        <p:tav tm="100000">
                                          <p:val>
                                            <p:strVal val="#ppt_w"/>
                                          </p:val>
                                        </p:tav>
                                      </p:tavLst>
                                    </p:anim>
                                    <p:anim calcmode="lin" valueType="num">
                                      <p:cBhvr>
                                        <p:cTn id="38" dur="450" fill="hold"/>
                                        <p:tgtEl>
                                          <p:spTgt spid="18"/>
                                        </p:tgtEl>
                                        <p:attrNameLst>
                                          <p:attrName>ppt_h</p:attrName>
                                        </p:attrNameLst>
                                      </p:cBhvr>
                                      <p:tavLst>
                                        <p:tav tm="0">
                                          <p:val>
                                            <p:fltVal val="0"/>
                                          </p:val>
                                        </p:tav>
                                        <p:tav tm="100000">
                                          <p:val>
                                            <p:strVal val="#ppt_h"/>
                                          </p:val>
                                        </p:tav>
                                      </p:tavLst>
                                    </p:anim>
                                    <p:animEffect transition="in" filter="fade">
                                      <p:cBhvr>
                                        <p:cTn id="39" dur="450"/>
                                        <p:tgtEl>
                                          <p:spTgt spid="18"/>
                                        </p:tgtEl>
                                      </p:cBhvr>
                                    </p:animEffect>
                                  </p:childTnLst>
                                </p:cTn>
                              </p:par>
                              <p:par>
                                <p:cTn id="40" presetID="53" presetClass="entr" presetSubtype="16"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p:cTn id="42" dur="450" fill="hold"/>
                                        <p:tgtEl>
                                          <p:spTgt spid="19"/>
                                        </p:tgtEl>
                                        <p:attrNameLst>
                                          <p:attrName>ppt_w</p:attrName>
                                        </p:attrNameLst>
                                      </p:cBhvr>
                                      <p:tavLst>
                                        <p:tav tm="0">
                                          <p:val>
                                            <p:fltVal val="0"/>
                                          </p:val>
                                        </p:tav>
                                        <p:tav tm="100000">
                                          <p:val>
                                            <p:strVal val="#ppt_w"/>
                                          </p:val>
                                        </p:tav>
                                      </p:tavLst>
                                    </p:anim>
                                    <p:anim calcmode="lin" valueType="num">
                                      <p:cBhvr>
                                        <p:cTn id="43" dur="450" fill="hold"/>
                                        <p:tgtEl>
                                          <p:spTgt spid="19"/>
                                        </p:tgtEl>
                                        <p:attrNameLst>
                                          <p:attrName>ppt_h</p:attrName>
                                        </p:attrNameLst>
                                      </p:cBhvr>
                                      <p:tavLst>
                                        <p:tav tm="0">
                                          <p:val>
                                            <p:fltVal val="0"/>
                                          </p:val>
                                        </p:tav>
                                        <p:tav tm="100000">
                                          <p:val>
                                            <p:strVal val="#ppt_h"/>
                                          </p:val>
                                        </p:tav>
                                      </p:tavLst>
                                    </p:anim>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par>
                                <p:cTn id="57" presetID="22" presetClass="entr" presetSubtype="2"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right)">
                                      <p:cBhvr>
                                        <p:cTn id="59" dur="45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5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50"/>
                                        <p:tgtEl>
                                          <p:spTgt spid="26"/>
                                        </p:tgtEl>
                                      </p:cBhvr>
                                    </p:animEffect>
                                  </p:childTnLst>
                                </p:cTn>
                              </p:par>
                              <p:par>
                                <p:cTn id="66" presetID="10" presetClass="entr" presetSubtype="0" fill="hold"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childTnLst>
                                </p:cTn>
                              </p:par>
                              <p:par>
                                <p:cTn id="69" presetID="22" presetClass="entr" presetSubtype="2"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wipe(right)">
                                      <p:cBhvr>
                                        <p:cTn id="71" dur="450"/>
                                        <p:tgtEl>
                                          <p:spTgt spid="28"/>
                                        </p:tgtEl>
                                      </p:cBhvr>
                                    </p:animEffect>
                                  </p:childTnLst>
                                </p:cTn>
                              </p:par>
                            </p:childTnLst>
                          </p:cTn>
                        </p:par>
                        <p:par>
                          <p:cTn id="72" fill="hold">
                            <p:stCondLst>
                              <p:cond delay="1200"/>
                            </p:stCondLst>
                            <p:childTnLst>
                              <p:par>
                                <p:cTn id="73" presetID="10" presetClass="entr" presetSubtype="0" fill="hold" nodeType="after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50"/>
                                        <p:tgtEl>
                                          <p:spTgt spid="29"/>
                                        </p:tgtEl>
                                      </p:cBhvr>
                                    </p:animEffect>
                                  </p:childTnLst>
                                </p:cTn>
                              </p:par>
                              <p:par>
                                <p:cTn id="76" presetID="53" presetClass="entr" presetSubtype="16"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 calcmode="lin" valueType="num">
                                      <p:cBhvr>
                                        <p:cTn id="78" dur="450" fill="hold"/>
                                        <p:tgtEl>
                                          <p:spTgt spid="30"/>
                                        </p:tgtEl>
                                        <p:attrNameLst>
                                          <p:attrName>ppt_w</p:attrName>
                                        </p:attrNameLst>
                                      </p:cBhvr>
                                      <p:tavLst>
                                        <p:tav tm="0">
                                          <p:val>
                                            <p:fltVal val="0"/>
                                          </p:val>
                                        </p:tav>
                                        <p:tav tm="100000">
                                          <p:val>
                                            <p:strVal val="#ppt_w"/>
                                          </p:val>
                                        </p:tav>
                                      </p:tavLst>
                                    </p:anim>
                                    <p:anim calcmode="lin" valueType="num">
                                      <p:cBhvr>
                                        <p:cTn id="79" dur="450" fill="hold"/>
                                        <p:tgtEl>
                                          <p:spTgt spid="30"/>
                                        </p:tgtEl>
                                        <p:attrNameLst>
                                          <p:attrName>ppt_h</p:attrName>
                                        </p:attrNameLst>
                                      </p:cBhvr>
                                      <p:tavLst>
                                        <p:tav tm="0">
                                          <p:val>
                                            <p:fltVal val="0"/>
                                          </p:val>
                                        </p:tav>
                                        <p:tav tm="100000">
                                          <p:val>
                                            <p:strVal val="#ppt_h"/>
                                          </p:val>
                                        </p:tav>
                                      </p:tavLst>
                                    </p:anim>
                                    <p:animEffect transition="in" filter="fade">
                                      <p:cBhvr>
                                        <p:cTn id="80" dur="450"/>
                                        <p:tgtEl>
                                          <p:spTgt spid="30"/>
                                        </p:tgtEl>
                                      </p:cBhvr>
                                    </p:animEffect>
                                  </p:childTnLst>
                                </p:cTn>
                              </p:par>
                              <p:par>
                                <p:cTn id="81" presetID="53" presetClass="entr" presetSubtype="16" fill="hold" nodeType="withEffect">
                                  <p:stCondLst>
                                    <p:cond delay="0"/>
                                  </p:stCondLst>
                                  <p:childTnLst>
                                    <p:set>
                                      <p:cBhvr>
                                        <p:cTn id="82" dur="1" fill="hold">
                                          <p:stCondLst>
                                            <p:cond delay="0"/>
                                          </p:stCondLst>
                                        </p:cTn>
                                        <p:tgtEl>
                                          <p:spTgt spid="31"/>
                                        </p:tgtEl>
                                        <p:attrNameLst>
                                          <p:attrName>style.visibility</p:attrName>
                                        </p:attrNameLst>
                                      </p:cBhvr>
                                      <p:to>
                                        <p:strVal val="visible"/>
                                      </p:to>
                                    </p:set>
                                    <p:anim calcmode="lin" valueType="num">
                                      <p:cBhvr>
                                        <p:cTn id="83" dur="450" fill="hold"/>
                                        <p:tgtEl>
                                          <p:spTgt spid="31"/>
                                        </p:tgtEl>
                                        <p:attrNameLst>
                                          <p:attrName>ppt_w</p:attrName>
                                        </p:attrNameLst>
                                      </p:cBhvr>
                                      <p:tavLst>
                                        <p:tav tm="0">
                                          <p:val>
                                            <p:fltVal val="0"/>
                                          </p:val>
                                        </p:tav>
                                        <p:tav tm="100000">
                                          <p:val>
                                            <p:strVal val="#ppt_w"/>
                                          </p:val>
                                        </p:tav>
                                      </p:tavLst>
                                    </p:anim>
                                    <p:anim calcmode="lin" valueType="num">
                                      <p:cBhvr>
                                        <p:cTn id="84" dur="450" fill="hold"/>
                                        <p:tgtEl>
                                          <p:spTgt spid="31"/>
                                        </p:tgtEl>
                                        <p:attrNameLst>
                                          <p:attrName>ppt_h</p:attrName>
                                        </p:attrNameLst>
                                      </p:cBhvr>
                                      <p:tavLst>
                                        <p:tav tm="0">
                                          <p:val>
                                            <p:fltVal val="0"/>
                                          </p:val>
                                        </p:tav>
                                        <p:tav tm="100000">
                                          <p:val>
                                            <p:strVal val="#ppt_h"/>
                                          </p:val>
                                        </p:tav>
                                      </p:tavLst>
                                    </p:anim>
                                    <p:animEffect transition="in" filter="fade">
                                      <p:cBhvr>
                                        <p:cTn id="85" dur="450"/>
                                        <p:tgtEl>
                                          <p:spTgt spid="31"/>
                                        </p:tgtEl>
                                      </p:cBhvr>
                                    </p:animEffect>
                                  </p:childTnLst>
                                </p:cTn>
                              </p:par>
                              <p:par>
                                <p:cTn id="86" presetID="53" presetClass="entr" presetSubtype="16" fill="hold" nodeType="withEffect">
                                  <p:stCondLst>
                                    <p:cond delay="0"/>
                                  </p:stCondLst>
                                  <p:childTnLst>
                                    <p:set>
                                      <p:cBhvr>
                                        <p:cTn id="87" dur="1" fill="hold">
                                          <p:stCondLst>
                                            <p:cond delay="0"/>
                                          </p:stCondLst>
                                        </p:cTn>
                                        <p:tgtEl>
                                          <p:spTgt spid="32"/>
                                        </p:tgtEl>
                                        <p:attrNameLst>
                                          <p:attrName>style.visibility</p:attrName>
                                        </p:attrNameLst>
                                      </p:cBhvr>
                                      <p:to>
                                        <p:strVal val="visible"/>
                                      </p:to>
                                    </p:set>
                                    <p:anim calcmode="lin" valueType="num">
                                      <p:cBhvr>
                                        <p:cTn id="88" dur="450" fill="hold"/>
                                        <p:tgtEl>
                                          <p:spTgt spid="32"/>
                                        </p:tgtEl>
                                        <p:attrNameLst>
                                          <p:attrName>ppt_w</p:attrName>
                                        </p:attrNameLst>
                                      </p:cBhvr>
                                      <p:tavLst>
                                        <p:tav tm="0">
                                          <p:val>
                                            <p:fltVal val="0"/>
                                          </p:val>
                                        </p:tav>
                                        <p:tav tm="100000">
                                          <p:val>
                                            <p:strVal val="#ppt_w"/>
                                          </p:val>
                                        </p:tav>
                                      </p:tavLst>
                                    </p:anim>
                                    <p:anim calcmode="lin" valueType="num">
                                      <p:cBhvr>
                                        <p:cTn id="89" dur="450" fill="hold"/>
                                        <p:tgtEl>
                                          <p:spTgt spid="32"/>
                                        </p:tgtEl>
                                        <p:attrNameLst>
                                          <p:attrName>ppt_h</p:attrName>
                                        </p:attrNameLst>
                                      </p:cBhvr>
                                      <p:tavLst>
                                        <p:tav tm="0">
                                          <p:val>
                                            <p:fltVal val="0"/>
                                          </p:val>
                                        </p:tav>
                                        <p:tav tm="100000">
                                          <p:val>
                                            <p:strVal val="#ppt_h"/>
                                          </p:val>
                                        </p:tav>
                                      </p:tavLst>
                                    </p:anim>
                                    <p:animEffect transition="in" filter="fade">
                                      <p:cBhvr>
                                        <p:cTn id="90" dur="450"/>
                                        <p:tgtEl>
                                          <p:spTgt spid="32"/>
                                        </p:tgtEl>
                                      </p:cBhvr>
                                    </p:animEffect>
                                  </p:childTnLst>
                                </p:cTn>
                              </p:par>
                              <p:par>
                                <p:cTn id="91" presetID="10" presetClass="entr" presetSubtype="0" fill="hold"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450"/>
                                        <p:tgtEl>
                                          <p:spTgt spid="33"/>
                                        </p:tgtEl>
                                      </p:cBhvr>
                                    </p:animEffect>
                                  </p:childTnLst>
                                </p:cTn>
                              </p:par>
                              <p:par>
                                <p:cTn id="94" presetID="10" presetClass="entr" presetSubtype="0" fill="hold"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450"/>
                                        <p:tgtEl>
                                          <p:spTgt spid="34"/>
                                        </p:tgtEl>
                                      </p:cBhvr>
                                    </p:animEffect>
                                  </p:childTnLst>
                                </p:cTn>
                              </p:par>
                              <p:par>
                                <p:cTn id="97" presetID="10" presetClass="entr" presetSubtype="0" fill="hold"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450"/>
                                        <p:tgtEl>
                                          <p:spTgt spid="35"/>
                                        </p:tgtEl>
                                      </p:cBhvr>
                                    </p:animEffect>
                                  </p:childTnLst>
                                </p:cTn>
                              </p:par>
                              <p:par>
                                <p:cTn id="100" presetID="10" presetClass="entr" presetSubtype="0" fill="hold"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450"/>
                                        <p:tgtEl>
                                          <p:spTgt spid="36"/>
                                        </p:tgtEl>
                                      </p:cBhvr>
                                    </p:animEffect>
                                  </p:childTnLst>
                                </p:cTn>
                              </p:par>
                              <p:par>
                                <p:cTn id="103" presetID="22" presetClass="entr" presetSubtype="2" fill="hold"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wipe(right)">
                                      <p:cBhvr>
                                        <p:cTn id="105" dur="450"/>
                                        <p:tgtEl>
                                          <p:spTgt spid="37"/>
                                        </p:tgtEl>
                                      </p:cBhvr>
                                    </p:animEffect>
                                  </p:childTnLst>
                                </p:cTn>
                              </p:par>
                              <p:par>
                                <p:cTn id="106" presetID="10" presetClass="entr" presetSubtype="0" fill="hold" nodeType="withEffect">
                                  <p:stCondLst>
                                    <p:cond delay="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450"/>
                                        <p:tgtEl>
                                          <p:spTgt spid="38"/>
                                        </p:tgtEl>
                                      </p:cBhvr>
                                    </p:animEffect>
                                  </p:childTnLst>
                                </p:cTn>
                              </p:par>
                              <p:par>
                                <p:cTn id="109" presetID="10" presetClass="entr" presetSubtype="0" fill="hold"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450"/>
                                        <p:tgtEl>
                                          <p:spTgt spid="39"/>
                                        </p:tgtEl>
                                      </p:cBhvr>
                                    </p:animEffect>
                                  </p:childTnLst>
                                </p:cTn>
                              </p:par>
                              <p:par>
                                <p:cTn id="112" presetID="10" presetClass="entr" presetSubtype="0" fill="hold" nodeType="withEffect">
                                  <p:stCondLst>
                                    <p:cond delay="0"/>
                                  </p:stCondLst>
                                  <p:childTnLst>
                                    <p:set>
                                      <p:cBhvr>
                                        <p:cTn id="113" dur="1" fill="hold">
                                          <p:stCondLst>
                                            <p:cond delay="0"/>
                                          </p:stCondLst>
                                        </p:cTn>
                                        <p:tgtEl>
                                          <p:spTgt spid="40"/>
                                        </p:tgtEl>
                                        <p:attrNameLst>
                                          <p:attrName>style.visibility</p:attrName>
                                        </p:attrNameLst>
                                      </p:cBhvr>
                                      <p:to>
                                        <p:strVal val="visible"/>
                                      </p:to>
                                    </p:set>
                                    <p:animEffect transition="in" filter="fade">
                                      <p:cBhvr>
                                        <p:cTn id="114" dur="450"/>
                                        <p:tgtEl>
                                          <p:spTgt spid="40"/>
                                        </p:tgtEl>
                                      </p:cBhvr>
                                    </p:animEffect>
                                  </p:childTnLst>
                                </p:cTn>
                              </p:par>
                              <p:par>
                                <p:cTn id="115" presetID="22" presetClass="entr" presetSubtype="2" fill="hold" nodeType="withEffect">
                                  <p:stCondLst>
                                    <p:cond delay="0"/>
                                  </p:stCondLst>
                                  <p:childTnLst>
                                    <p:set>
                                      <p:cBhvr>
                                        <p:cTn id="116" dur="1" fill="hold">
                                          <p:stCondLst>
                                            <p:cond delay="0"/>
                                          </p:stCondLst>
                                        </p:cTn>
                                        <p:tgtEl>
                                          <p:spTgt spid="41"/>
                                        </p:tgtEl>
                                        <p:attrNameLst>
                                          <p:attrName>style.visibility</p:attrName>
                                        </p:attrNameLst>
                                      </p:cBhvr>
                                      <p:to>
                                        <p:strVal val="visible"/>
                                      </p:to>
                                    </p:set>
                                    <p:animEffect transition="in" filter="wipe(right)">
                                      <p:cBhvr>
                                        <p:cTn id="117" dur="450"/>
                                        <p:tgtEl>
                                          <p:spTgt spid="41"/>
                                        </p:tgtEl>
                                      </p:cBhvr>
                                    </p:animEffect>
                                  </p:childTnLst>
                                </p:cTn>
                              </p:par>
                              <p:par>
                                <p:cTn id="118" presetID="10" presetClass="entr" presetSubtype="0" fill="hold" nodeType="withEffect">
                                  <p:stCondLst>
                                    <p:cond delay="0"/>
                                  </p:stCondLst>
                                  <p:childTnLst>
                                    <p:set>
                                      <p:cBhvr>
                                        <p:cTn id="119" dur="1" fill="hold">
                                          <p:stCondLst>
                                            <p:cond delay="0"/>
                                          </p:stCondLst>
                                        </p:cTn>
                                        <p:tgtEl>
                                          <p:spTgt spid="42"/>
                                        </p:tgtEl>
                                        <p:attrNameLst>
                                          <p:attrName>style.visibility</p:attrName>
                                        </p:attrNameLst>
                                      </p:cBhvr>
                                      <p:to>
                                        <p:strVal val="visible"/>
                                      </p:to>
                                    </p:set>
                                    <p:animEffect transition="in" filter="fade">
                                      <p:cBhvr>
                                        <p:cTn id="120" dur="450"/>
                                        <p:tgtEl>
                                          <p:spTgt spid="42"/>
                                        </p:tgtEl>
                                      </p:cBhvr>
                                    </p:animEffect>
                                  </p:childTnLst>
                                </p:cTn>
                              </p:par>
                              <p:par>
                                <p:cTn id="121" presetID="10" presetClass="entr" presetSubtype="0" fill="hold" nodeType="withEffect">
                                  <p:stCondLst>
                                    <p:cond delay="0"/>
                                  </p:stCondLst>
                                  <p:childTnLst>
                                    <p:set>
                                      <p:cBhvr>
                                        <p:cTn id="122" dur="1" fill="hold">
                                          <p:stCondLst>
                                            <p:cond delay="0"/>
                                          </p:stCondLst>
                                        </p:cTn>
                                        <p:tgtEl>
                                          <p:spTgt spid="43"/>
                                        </p:tgtEl>
                                        <p:attrNameLst>
                                          <p:attrName>style.visibility</p:attrName>
                                        </p:attrNameLst>
                                      </p:cBhvr>
                                      <p:to>
                                        <p:strVal val="visible"/>
                                      </p:to>
                                    </p:set>
                                    <p:animEffect transition="in" filter="fade">
                                      <p:cBhvr>
                                        <p:cTn id="123" dur="450"/>
                                        <p:tgtEl>
                                          <p:spTgt spid="43"/>
                                        </p:tgtEl>
                                      </p:cBhvr>
                                    </p:animEffect>
                                  </p:childTnLst>
                                </p:cTn>
                              </p:par>
                              <p:par>
                                <p:cTn id="124" presetID="10" presetClass="entr" presetSubtype="0" fill="hold" nodeType="withEffect">
                                  <p:stCondLst>
                                    <p:cond delay="0"/>
                                  </p:stCondLst>
                                  <p:childTnLst>
                                    <p:set>
                                      <p:cBhvr>
                                        <p:cTn id="125" dur="1" fill="hold">
                                          <p:stCondLst>
                                            <p:cond delay="0"/>
                                          </p:stCondLst>
                                        </p:cTn>
                                        <p:tgtEl>
                                          <p:spTgt spid="44"/>
                                        </p:tgtEl>
                                        <p:attrNameLst>
                                          <p:attrName>style.visibility</p:attrName>
                                        </p:attrNameLst>
                                      </p:cBhvr>
                                      <p:to>
                                        <p:strVal val="visible"/>
                                      </p:to>
                                    </p:set>
                                    <p:animEffect transition="in" filter="fade">
                                      <p:cBhvr>
                                        <p:cTn id="126" dur="450"/>
                                        <p:tgtEl>
                                          <p:spTgt spid="44"/>
                                        </p:tgtEl>
                                      </p:cBhvr>
                                    </p:animEffect>
                                  </p:childTnLst>
                                </p:cTn>
                              </p:par>
                              <p:par>
                                <p:cTn id="127" presetID="22" presetClass="entr" presetSubtype="2" fill="hold" nodeType="withEffect">
                                  <p:stCondLst>
                                    <p:cond delay="0"/>
                                  </p:stCondLst>
                                  <p:childTnLst>
                                    <p:set>
                                      <p:cBhvr>
                                        <p:cTn id="128" dur="1" fill="hold">
                                          <p:stCondLst>
                                            <p:cond delay="0"/>
                                          </p:stCondLst>
                                        </p:cTn>
                                        <p:tgtEl>
                                          <p:spTgt spid="45"/>
                                        </p:tgtEl>
                                        <p:attrNameLst>
                                          <p:attrName>style.visibility</p:attrName>
                                        </p:attrNameLst>
                                      </p:cBhvr>
                                      <p:to>
                                        <p:strVal val="visible"/>
                                      </p:to>
                                    </p:set>
                                    <p:animEffect transition="in" filter="wipe(right)">
                                      <p:cBhvr>
                                        <p:cTn id="129" dur="450"/>
                                        <p:tgtEl>
                                          <p:spTgt spid="45"/>
                                        </p:tgtEl>
                                      </p:cBhvr>
                                    </p:animEffect>
                                  </p:childTnLst>
                                </p:cTn>
                              </p:par>
                              <p:par>
                                <p:cTn id="130" presetID="10" presetClass="entr" presetSubtype="0" fill="hold" nodeType="withEffect">
                                  <p:stCondLst>
                                    <p:cond delay="0"/>
                                  </p:stCondLst>
                                  <p:childTnLst>
                                    <p:set>
                                      <p:cBhvr>
                                        <p:cTn id="131" dur="1" fill="hold">
                                          <p:stCondLst>
                                            <p:cond delay="0"/>
                                          </p:stCondLst>
                                        </p:cTn>
                                        <p:tgtEl>
                                          <p:spTgt spid="46"/>
                                        </p:tgtEl>
                                        <p:attrNameLst>
                                          <p:attrName>style.visibility</p:attrName>
                                        </p:attrNameLst>
                                      </p:cBhvr>
                                      <p:to>
                                        <p:strVal val="visible"/>
                                      </p:to>
                                    </p:set>
                                    <p:animEffect transition="in" filter="fade">
                                      <p:cBhvr>
                                        <p:cTn id="132" dur="450"/>
                                        <p:tgtEl>
                                          <p:spTgt spid="46"/>
                                        </p:tgtEl>
                                      </p:cBhvr>
                                    </p:animEffect>
                                  </p:childTnLst>
                                </p:cTn>
                              </p:par>
                              <p:par>
                                <p:cTn id="133" presetID="10" presetClass="entr" presetSubtype="0" fill="hold" nodeType="with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fade">
                                      <p:cBhvr>
                                        <p:cTn id="135" dur="450"/>
                                        <p:tgtEl>
                                          <p:spTgt spid="47"/>
                                        </p:tgtEl>
                                      </p:cBhvr>
                                    </p:animEffect>
                                  </p:childTnLst>
                                </p:cTn>
                              </p:par>
                              <p:par>
                                <p:cTn id="136" presetID="10" presetClass="entr" presetSubtype="0" fill="hold" nodeType="withEffect">
                                  <p:stCondLst>
                                    <p:cond delay="0"/>
                                  </p:stCondLst>
                                  <p:childTnLst>
                                    <p:set>
                                      <p:cBhvr>
                                        <p:cTn id="137" dur="1" fill="hold">
                                          <p:stCondLst>
                                            <p:cond delay="0"/>
                                          </p:stCondLst>
                                        </p:cTn>
                                        <p:tgtEl>
                                          <p:spTgt spid="48"/>
                                        </p:tgtEl>
                                        <p:attrNameLst>
                                          <p:attrName>style.visibility</p:attrName>
                                        </p:attrNameLst>
                                      </p:cBhvr>
                                      <p:to>
                                        <p:strVal val="visible"/>
                                      </p:to>
                                    </p:set>
                                    <p:animEffect transition="in" filter="fade">
                                      <p:cBhvr>
                                        <p:cTn id="138" dur="450"/>
                                        <p:tgtEl>
                                          <p:spTgt spid="48"/>
                                        </p:tgtEl>
                                      </p:cBhvr>
                                    </p:animEffect>
                                  </p:childTnLst>
                                </p:cTn>
                              </p:par>
                              <p:par>
                                <p:cTn id="139" presetID="22" presetClass="entr" presetSubtype="2" fill="hold" nodeType="withEffect">
                                  <p:stCondLst>
                                    <p:cond delay="0"/>
                                  </p:stCondLst>
                                  <p:childTnLst>
                                    <p:set>
                                      <p:cBhvr>
                                        <p:cTn id="140" dur="1" fill="hold">
                                          <p:stCondLst>
                                            <p:cond delay="0"/>
                                          </p:stCondLst>
                                        </p:cTn>
                                        <p:tgtEl>
                                          <p:spTgt spid="49"/>
                                        </p:tgtEl>
                                        <p:attrNameLst>
                                          <p:attrName>style.visibility</p:attrName>
                                        </p:attrNameLst>
                                      </p:cBhvr>
                                      <p:to>
                                        <p:strVal val="visible"/>
                                      </p:to>
                                    </p:set>
                                    <p:animEffect transition="in" filter="wipe(right)">
                                      <p:cBhvr>
                                        <p:cTn id="141" dur="450"/>
                                        <p:tgtEl>
                                          <p:spTgt spid="49"/>
                                        </p:tgtEl>
                                      </p:cBhvr>
                                    </p:animEffect>
                                  </p:childTnLst>
                                </p:cTn>
                              </p:par>
                              <p:par>
                                <p:cTn id="142" presetID="10" presetClass="entr" presetSubtype="0" fill="hold" nodeType="with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450"/>
                                        <p:tgtEl>
                                          <p:spTgt spid="50"/>
                                        </p:tgtEl>
                                      </p:cBhvr>
                                    </p:animEffect>
                                  </p:childTnLst>
                                </p:cTn>
                              </p:par>
                              <p:par>
                                <p:cTn id="145" presetID="10" presetClass="entr" presetSubtype="0" fill="hold" nodeType="withEffect">
                                  <p:stCondLst>
                                    <p:cond delay="0"/>
                                  </p:stCondLst>
                                  <p:childTnLst>
                                    <p:set>
                                      <p:cBhvr>
                                        <p:cTn id="146" dur="1" fill="hold">
                                          <p:stCondLst>
                                            <p:cond delay="0"/>
                                          </p:stCondLst>
                                        </p:cTn>
                                        <p:tgtEl>
                                          <p:spTgt spid="51"/>
                                        </p:tgtEl>
                                        <p:attrNameLst>
                                          <p:attrName>style.visibility</p:attrName>
                                        </p:attrNameLst>
                                      </p:cBhvr>
                                      <p:to>
                                        <p:strVal val="visible"/>
                                      </p:to>
                                    </p:set>
                                    <p:animEffect transition="in" filter="fade">
                                      <p:cBhvr>
                                        <p:cTn id="147" dur="450"/>
                                        <p:tgtEl>
                                          <p:spTgt spid="51"/>
                                        </p:tgtEl>
                                      </p:cBhvr>
                                    </p:animEffect>
                                  </p:childTnLst>
                                </p:cTn>
                              </p:par>
                              <p:par>
                                <p:cTn id="148" presetID="10" presetClass="entr" presetSubtype="0" fill="hold" nodeType="withEffect">
                                  <p:stCondLst>
                                    <p:cond delay="0"/>
                                  </p:stCondLst>
                                  <p:childTnLst>
                                    <p:set>
                                      <p:cBhvr>
                                        <p:cTn id="149" dur="1" fill="hold">
                                          <p:stCondLst>
                                            <p:cond delay="0"/>
                                          </p:stCondLst>
                                        </p:cTn>
                                        <p:tgtEl>
                                          <p:spTgt spid="52"/>
                                        </p:tgtEl>
                                        <p:attrNameLst>
                                          <p:attrName>style.visibility</p:attrName>
                                        </p:attrNameLst>
                                      </p:cBhvr>
                                      <p:to>
                                        <p:strVal val="visible"/>
                                      </p:to>
                                    </p:set>
                                    <p:animEffect transition="in" filter="fade">
                                      <p:cBhvr>
                                        <p:cTn id="150" dur="450"/>
                                        <p:tgtEl>
                                          <p:spTgt spid="52"/>
                                        </p:tgtEl>
                                      </p:cBhvr>
                                    </p:animEffect>
                                  </p:childTnLst>
                                </p:cTn>
                              </p:par>
                              <p:par>
                                <p:cTn id="151" presetID="22" presetClass="entr" presetSubtype="2" fill="hold" nodeType="withEffect">
                                  <p:stCondLst>
                                    <p:cond delay="0"/>
                                  </p:stCondLst>
                                  <p:childTnLst>
                                    <p:set>
                                      <p:cBhvr>
                                        <p:cTn id="152" dur="1" fill="hold">
                                          <p:stCondLst>
                                            <p:cond delay="0"/>
                                          </p:stCondLst>
                                        </p:cTn>
                                        <p:tgtEl>
                                          <p:spTgt spid="53"/>
                                        </p:tgtEl>
                                        <p:attrNameLst>
                                          <p:attrName>style.visibility</p:attrName>
                                        </p:attrNameLst>
                                      </p:cBhvr>
                                      <p:to>
                                        <p:strVal val="visible"/>
                                      </p:to>
                                    </p:set>
                                    <p:animEffect transition="in" filter="wipe(right)">
                                      <p:cBhvr>
                                        <p:cTn id="153" dur="450"/>
                                        <p:tgtEl>
                                          <p:spTgt spid="53"/>
                                        </p:tgtEl>
                                      </p:cBhvr>
                                    </p:animEffect>
                                  </p:childTnLst>
                                </p:cTn>
                              </p:par>
                            </p:childTnLst>
                          </p:cTn>
                        </p:par>
                        <p:par>
                          <p:cTn id="154" fill="hold">
                            <p:stCondLst>
                              <p:cond delay="1500"/>
                            </p:stCondLst>
                            <p:childTnLst>
                              <p:par>
                                <p:cTn id="155" presetID="10" presetClass="entr" presetSubtype="0" fill="hold" nodeType="after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50"/>
                                        <p:tgtEl>
                                          <p:spTgt spid="54"/>
                                        </p:tgtEl>
                                      </p:cBhvr>
                                    </p:animEffect>
                                  </p:childTnLst>
                                </p:cTn>
                              </p:par>
                              <p:par>
                                <p:cTn id="158" presetID="53" presetClass="entr" presetSubtype="16" fill="hold" nodeType="withEffect">
                                  <p:stCondLst>
                                    <p:cond delay="0"/>
                                  </p:stCondLst>
                                  <p:childTnLst>
                                    <p:set>
                                      <p:cBhvr>
                                        <p:cTn id="159" dur="1" fill="hold">
                                          <p:stCondLst>
                                            <p:cond delay="0"/>
                                          </p:stCondLst>
                                        </p:cTn>
                                        <p:tgtEl>
                                          <p:spTgt spid="55"/>
                                        </p:tgtEl>
                                        <p:attrNameLst>
                                          <p:attrName>style.visibility</p:attrName>
                                        </p:attrNameLst>
                                      </p:cBhvr>
                                      <p:to>
                                        <p:strVal val="visible"/>
                                      </p:to>
                                    </p:set>
                                    <p:anim calcmode="lin" valueType="num">
                                      <p:cBhvr>
                                        <p:cTn id="160" dur="450" fill="hold"/>
                                        <p:tgtEl>
                                          <p:spTgt spid="55"/>
                                        </p:tgtEl>
                                        <p:attrNameLst>
                                          <p:attrName>ppt_w</p:attrName>
                                        </p:attrNameLst>
                                      </p:cBhvr>
                                      <p:tavLst>
                                        <p:tav tm="0">
                                          <p:val>
                                            <p:fltVal val="0"/>
                                          </p:val>
                                        </p:tav>
                                        <p:tav tm="100000">
                                          <p:val>
                                            <p:strVal val="#ppt_w"/>
                                          </p:val>
                                        </p:tav>
                                      </p:tavLst>
                                    </p:anim>
                                    <p:anim calcmode="lin" valueType="num">
                                      <p:cBhvr>
                                        <p:cTn id="161" dur="450" fill="hold"/>
                                        <p:tgtEl>
                                          <p:spTgt spid="55"/>
                                        </p:tgtEl>
                                        <p:attrNameLst>
                                          <p:attrName>ppt_h</p:attrName>
                                        </p:attrNameLst>
                                      </p:cBhvr>
                                      <p:tavLst>
                                        <p:tav tm="0">
                                          <p:val>
                                            <p:fltVal val="0"/>
                                          </p:val>
                                        </p:tav>
                                        <p:tav tm="100000">
                                          <p:val>
                                            <p:strVal val="#ppt_h"/>
                                          </p:val>
                                        </p:tav>
                                      </p:tavLst>
                                    </p:anim>
                                    <p:animEffect transition="in" filter="fade">
                                      <p:cBhvr>
                                        <p:cTn id="162" dur="450"/>
                                        <p:tgtEl>
                                          <p:spTgt spid="55"/>
                                        </p:tgtEl>
                                      </p:cBhvr>
                                    </p:animEffect>
                                  </p:childTnLst>
                                </p:cTn>
                              </p:par>
                              <p:par>
                                <p:cTn id="163" presetID="53" presetClass="entr" presetSubtype="16" fill="hold" nodeType="withEffect">
                                  <p:stCondLst>
                                    <p:cond delay="0"/>
                                  </p:stCondLst>
                                  <p:childTnLst>
                                    <p:set>
                                      <p:cBhvr>
                                        <p:cTn id="164" dur="1" fill="hold">
                                          <p:stCondLst>
                                            <p:cond delay="0"/>
                                          </p:stCondLst>
                                        </p:cTn>
                                        <p:tgtEl>
                                          <p:spTgt spid="56"/>
                                        </p:tgtEl>
                                        <p:attrNameLst>
                                          <p:attrName>style.visibility</p:attrName>
                                        </p:attrNameLst>
                                      </p:cBhvr>
                                      <p:to>
                                        <p:strVal val="visible"/>
                                      </p:to>
                                    </p:set>
                                    <p:anim calcmode="lin" valueType="num">
                                      <p:cBhvr>
                                        <p:cTn id="165" dur="450" fill="hold"/>
                                        <p:tgtEl>
                                          <p:spTgt spid="56"/>
                                        </p:tgtEl>
                                        <p:attrNameLst>
                                          <p:attrName>ppt_w</p:attrName>
                                        </p:attrNameLst>
                                      </p:cBhvr>
                                      <p:tavLst>
                                        <p:tav tm="0">
                                          <p:val>
                                            <p:fltVal val="0"/>
                                          </p:val>
                                        </p:tav>
                                        <p:tav tm="100000">
                                          <p:val>
                                            <p:strVal val="#ppt_w"/>
                                          </p:val>
                                        </p:tav>
                                      </p:tavLst>
                                    </p:anim>
                                    <p:anim calcmode="lin" valueType="num">
                                      <p:cBhvr>
                                        <p:cTn id="166" dur="450" fill="hold"/>
                                        <p:tgtEl>
                                          <p:spTgt spid="56"/>
                                        </p:tgtEl>
                                        <p:attrNameLst>
                                          <p:attrName>ppt_h</p:attrName>
                                        </p:attrNameLst>
                                      </p:cBhvr>
                                      <p:tavLst>
                                        <p:tav tm="0">
                                          <p:val>
                                            <p:fltVal val="0"/>
                                          </p:val>
                                        </p:tav>
                                        <p:tav tm="100000">
                                          <p:val>
                                            <p:strVal val="#ppt_h"/>
                                          </p:val>
                                        </p:tav>
                                      </p:tavLst>
                                    </p:anim>
                                    <p:animEffect transition="in" filter="fade">
                                      <p:cBhvr>
                                        <p:cTn id="167" dur="450"/>
                                        <p:tgtEl>
                                          <p:spTgt spid="56"/>
                                        </p:tgtEl>
                                      </p:cBhvr>
                                    </p:animEffect>
                                  </p:childTnLst>
                                </p:cTn>
                              </p:par>
                              <p:par>
                                <p:cTn id="168" presetID="53" presetClass="entr" presetSubtype="16" fill="hold" nodeType="withEffect">
                                  <p:stCondLst>
                                    <p:cond delay="0"/>
                                  </p:stCondLst>
                                  <p:childTnLst>
                                    <p:set>
                                      <p:cBhvr>
                                        <p:cTn id="169" dur="1" fill="hold">
                                          <p:stCondLst>
                                            <p:cond delay="0"/>
                                          </p:stCondLst>
                                        </p:cTn>
                                        <p:tgtEl>
                                          <p:spTgt spid="57"/>
                                        </p:tgtEl>
                                        <p:attrNameLst>
                                          <p:attrName>style.visibility</p:attrName>
                                        </p:attrNameLst>
                                      </p:cBhvr>
                                      <p:to>
                                        <p:strVal val="visible"/>
                                      </p:to>
                                    </p:set>
                                    <p:anim calcmode="lin" valueType="num">
                                      <p:cBhvr>
                                        <p:cTn id="170" dur="450" fill="hold"/>
                                        <p:tgtEl>
                                          <p:spTgt spid="57"/>
                                        </p:tgtEl>
                                        <p:attrNameLst>
                                          <p:attrName>ppt_w</p:attrName>
                                        </p:attrNameLst>
                                      </p:cBhvr>
                                      <p:tavLst>
                                        <p:tav tm="0">
                                          <p:val>
                                            <p:fltVal val="0"/>
                                          </p:val>
                                        </p:tav>
                                        <p:tav tm="100000">
                                          <p:val>
                                            <p:strVal val="#ppt_w"/>
                                          </p:val>
                                        </p:tav>
                                      </p:tavLst>
                                    </p:anim>
                                    <p:anim calcmode="lin" valueType="num">
                                      <p:cBhvr>
                                        <p:cTn id="171" dur="450" fill="hold"/>
                                        <p:tgtEl>
                                          <p:spTgt spid="57"/>
                                        </p:tgtEl>
                                        <p:attrNameLst>
                                          <p:attrName>ppt_h</p:attrName>
                                        </p:attrNameLst>
                                      </p:cBhvr>
                                      <p:tavLst>
                                        <p:tav tm="0">
                                          <p:val>
                                            <p:fltVal val="0"/>
                                          </p:val>
                                        </p:tav>
                                        <p:tav tm="100000">
                                          <p:val>
                                            <p:strVal val="#ppt_h"/>
                                          </p:val>
                                        </p:tav>
                                      </p:tavLst>
                                    </p:anim>
                                    <p:animEffect transition="in" filter="fade">
                                      <p:cBhvr>
                                        <p:cTn id="172" dur="450"/>
                                        <p:tgtEl>
                                          <p:spTgt spid="57"/>
                                        </p:tgtEl>
                                      </p:cBhvr>
                                    </p:animEffect>
                                  </p:childTnLst>
                                </p:cTn>
                              </p:par>
                              <p:par>
                                <p:cTn id="173" presetID="10" presetClass="entr" presetSubtype="0" fill="hold" nodeType="withEffect">
                                  <p:stCondLst>
                                    <p:cond delay="0"/>
                                  </p:stCondLst>
                                  <p:childTnLst>
                                    <p:set>
                                      <p:cBhvr>
                                        <p:cTn id="174" dur="1" fill="hold">
                                          <p:stCondLst>
                                            <p:cond delay="0"/>
                                          </p:stCondLst>
                                        </p:cTn>
                                        <p:tgtEl>
                                          <p:spTgt spid="58"/>
                                        </p:tgtEl>
                                        <p:attrNameLst>
                                          <p:attrName>style.visibility</p:attrName>
                                        </p:attrNameLst>
                                      </p:cBhvr>
                                      <p:to>
                                        <p:strVal val="visible"/>
                                      </p:to>
                                    </p:set>
                                    <p:animEffect transition="in" filter="fade">
                                      <p:cBhvr>
                                        <p:cTn id="175" dur="450"/>
                                        <p:tgtEl>
                                          <p:spTgt spid="58"/>
                                        </p:tgtEl>
                                      </p:cBhvr>
                                    </p:animEffect>
                                  </p:childTnLst>
                                </p:cTn>
                              </p:par>
                              <p:par>
                                <p:cTn id="176" presetID="10" presetClass="entr" presetSubtype="0" fill="hold" nodeType="withEffect">
                                  <p:stCondLst>
                                    <p:cond delay="0"/>
                                  </p:stCondLst>
                                  <p:childTnLst>
                                    <p:set>
                                      <p:cBhvr>
                                        <p:cTn id="177" dur="1" fill="hold">
                                          <p:stCondLst>
                                            <p:cond delay="0"/>
                                          </p:stCondLst>
                                        </p:cTn>
                                        <p:tgtEl>
                                          <p:spTgt spid="59"/>
                                        </p:tgtEl>
                                        <p:attrNameLst>
                                          <p:attrName>style.visibility</p:attrName>
                                        </p:attrNameLst>
                                      </p:cBhvr>
                                      <p:to>
                                        <p:strVal val="visible"/>
                                      </p:to>
                                    </p:set>
                                    <p:animEffect transition="in" filter="fade">
                                      <p:cBhvr>
                                        <p:cTn id="178" dur="450"/>
                                        <p:tgtEl>
                                          <p:spTgt spid="59"/>
                                        </p:tgtEl>
                                      </p:cBhvr>
                                    </p:animEffect>
                                  </p:childTnLst>
                                </p:cTn>
                              </p:par>
                              <p:par>
                                <p:cTn id="179" presetID="10" presetClass="entr" presetSubtype="0" fill="hold" nodeType="withEffect">
                                  <p:stCondLst>
                                    <p:cond delay="0"/>
                                  </p:stCondLst>
                                  <p:childTnLst>
                                    <p:set>
                                      <p:cBhvr>
                                        <p:cTn id="180" dur="1" fill="hold">
                                          <p:stCondLst>
                                            <p:cond delay="0"/>
                                          </p:stCondLst>
                                        </p:cTn>
                                        <p:tgtEl>
                                          <p:spTgt spid="60"/>
                                        </p:tgtEl>
                                        <p:attrNameLst>
                                          <p:attrName>style.visibility</p:attrName>
                                        </p:attrNameLst>
                                      </p:cBhvr>
                                      <p:to>
                                        <p:strVal val="visible"/>
                                      </p:to>
                                    </p:set>
                                    <p:animEffect transition="in" filter="fade">
                                      <p:cBhvr>
                                        <p:cTn id="181" dur="450"/>
                                        <p:tgtEl>
                                          <p:spTgt spid="60"/>
                                        </p:tgtEl>
                                      </p:cBhvr>
                                    </p:animEffect>
                                  </p:childTnLst>
                                </p:cTn>
                              </p:par>
                              <p:par>
                                <p:cTn id="182" presetID="10" presetClass="entr" presetSubtype="0" fill="hold" nodeType="withEffect">
                                  <p:stCondLst>
                                    <p:cond delay="0"/>
                                  </p:stCondLst>
                                  <p:childTnLst>
                                    <p:set>
                                      <p:cBhvr>
                                        <p:cTn id="183" dur="1" fill="hold">
                                          <p:stCondLst>
                                            <p:cond delay="0"/>
                                          </p:stCondLst>
                                        </p:cTn>
                                        <p:tgtEl>
                                          <p:spTgt spid="61"/>
                                        </p:tgtEl>
                                        <p:attrNameLst>
                                          <p:attrName>style.visibility</p:attrName>
                                        </p:attrNameLst>
                                      </p:cBhvr>
                                      <p:to>
                                        <p:strVal val="visible"/>
                                      </p:to>
                                    </p:set>
                                    <p:animEffect transition="in" filter="fade">
                                      <p:cBhvr>
                                        <p:cTn id="184" dur="450"/>
                                        <p:tgtEl>
                                          <p:spTgt spid="61"/>
                                        </p:tgtEl>
                                      </p:cBhvr>
                                    </p:animEffect>
                                  </p:childTnLst>
                                </p:cTn>
                              </p:par>
                              <p:par>
                                <p:cTn id="185" presetID="22" presetClass="entr" presetSubtype="2" fill="hold" nodeType="withEffect">
                                  <p:stCondLst>
                                    <p:cond delay="0"/>
                                  </p:stCondLst>
                                  <p:childTnLst>
                                    <p:set>
                                      <p:cBhvr>
                                        <p:cTn id="186" dur="1" fill="hold">
                                          <p:stCondLst>
                                            <p:cond delay="0"/>
                                          </p:stCondLst>
                                        </p:cTn>
                                        <p:tgtEl>
                                          <p:spTgt spid="62"/>
                                        </p:tgtEl>
                                        <p:attrNameLst>
                                          <p:attrName>style.visibility</p:attrName>
                                        </p:attrNameLst>
                                      </p:cBhvr>
                                      <p:to>
                                        <p:strVal val="visible"/>
                                      </p:to>
                                    </p:set>
                                    <p:animEffect transition="in" filter="wipe(right)">
                                      <p:cBhvr>
                                        <p:cTn id="187" dur="450"/>
                                        <p:tgtEl>
                                          <p:spTgt spid="62"/>
                                        </p:tgtEl>
                                      </p:cBhvr>
                                    </p:animEffect>
                                  </p:childTnLst>
                                </p:cTn>
                              </p:par>
                              <p:par>
                                <p:cTn id="188" presetID="10" presetClass="entr" presetSubtype="0" fill="hold" nodeType="withEffect">
                                  <p:stCondLst>
                                    <p:cond delay="0"/>
                                  </p:stCondLst>
                                  <p:childTnLst>
                                    <p:set>
                                      <p:cBhvr>
                                        <p:cTn id="189" dur="1" fill="hold">
                                          <p:stCondLst>
                                            <p:cond delay="0"/>
                                          </p:stCondLst>
                                        </p:cTn>
                                        <p:tgtEl>
                                          <p:spTgt spid="63"/>
                                        </p:tgtEl>
                                        <p:attrNameLst>
                                          <p:attrName>style.visibility</p:attrName>
                                        </p:attrNameLst>
                                      </p:cBhvr>
                                      <p:to>
                                        <p:strVal val="visible"/>
                                      </p:to>
                                    </p:set>
                                    <p:animEffect transition="in" filter="fade">
                                      <p:cBhvr>
                                        <p:cTn id="190" dur="450"/>
                                        <p:tgtEl>
                                          <p:spTgt spid="63"/>
                                        </p:tgtEl>
                                      </p:cBhvr>
                                    </p:animEffect>
                                  </p:childTnLst>
                                </p:cTn>
                              </p:par>
                              <p:par>
                                <p:cTn id="191" presetID="10" presetClass="entr" presetSubtype="0" fill="hold" nodeType="withEffect">
                                  <p:stCondLst>
                                    <p:cond delay="0"/>
                                  </p:stCondLst>
                                  <p:childTnLst>
                                    <p:set>
                                      <p:cBhvr>
                                        <p:cTn id="192" dur="1" fill="hold">
                                          <p:stCondLst>
                                            <p:cond delay="0"/>
                                          </p:stCondLst>
                                        </p:cTn>
                                        <p:tgtEl>
                                          <p:spTgt spid="64"/>
                                        </p:tgtEl>
                                        <p:attrNameLst>
                                          <p:attrName>style.visibility</p:attrName>
                                        </p:attrNameLst>
                                      </p:cBhvr>
                                      <p:to>
                                        <p:strVal val="visible"/>
                                      </p:to>
                                    </p:set>
                                    <p:animEffect transition="in" filter="fade">
                                      <p:cBhvr>
                                        <p:cTn id="193" dur="450"/>
                                        <p:tgtEl>
                                          <p:spTgt spid="64"/>
                                        </p:tgtEl>
                                      </p:cBhvr>
                                    </p:animEffect>
                                  </p:childTnLst>
                                </p:cTn>
                              </p:par>
                              <p:par>
                                <p:cTn id="194" presetID="10" presetClass="entr" presetSubtype="0" fill="hold" nodeType="withEffect">
                                  <p:stCondLst>
                                    <p:cond delay="0"/>
                                  </p:stCondLst>
                                  <p:childTnLst>
                                    <p:set>
                                      <p:cBhvr>
                                        <p:cTn id="195" dur="1" fill="hold">
                                          <p:stCondLst>
                                            <p:cond delay="0"/>
                                          </p:stCondLst>
                                        </p:cTn>
                                        <p:tgtEl>
                                          <p:spTgt spid="65"/>
                                        </p:tgtEl>
                                        <p:attrNameLst>
                                          <p:attrName>style.visibility</p:attrName>
                                        </p:attrNameLst>
                                      </p:cBhvr>
                                      <p:to>
                                        <p:strVal val="visible"/>
                                      </p:to>
                                    </p:set>
                                    <p:animEffect transition="in" filter="fade">
                                      <p:cBhvr>
                                        <p:cTn id="196" dur="450"/>
                                        <p:tgtEl>
                                          <p:spTgt spid="65"/>
                                        </p:tgtEl>
                                      </p:cBhvr>
                                    </p:animEffect>
                                  </p:childTnLst>
                                </p:cTn>
                              </p:par>
                              <p:par>
                                <p:cTn id="197" presetID="22" presetClass="entr" presetSubtype="2" fill="hold" nodeType="withEffect">
                                  <p:stCondLst>
                                    <p:cond delay="0"/>
                                  </p:stCondLst>
                                  <p:childTnLst>
                                    <p:set>
                                      <p:cBhvr>
                                        <p:cTn id="198" dur="1" fill="hold">
                                          <p:stCondLst>
                                            <p:cond delay="0"/>
                                          </p:stCondLst>
                                        </p:cTn>
                                        <p:tgtEl>
                                          <p:spTgt spid="66"/>
                                        </p:tgtEl>
                                        <p:attrNameLst>
                                          <p:attrName>style.visibility</p:attrName>
                                        </p:attrNameLst>
                                      </p:cBhvr>
                                      <p:to>
                                        <p:strVal val="visible"/>
                                      </p:to>
                                    </p:set>
                                    <p:animEffect transition="in" filter="wipe(right)">
                                      <p:cBhvr>
                                        <p:cTn id="199" dur="450"/>
                                        <p:tgtEl>
                                          <p:spTgt spid="66"/>
                                        </p:tgtEl>
                                      </p:cBhvr>
                                    </p:animEffect>
                                  </p:childTnLst>
                                </p:cTn>
                              </p:par>
                              <p:par>
                                <p:cTn id="200" presetID="10" presetClass="entr" presetSubtype="0" fill="hold" nodeType="withEffect">
                                  <p:stCondLst>
                                    <p:cond delay="0"/>
                                  </p:stCondLst>
                                  <p:childTnLst>
                                    <p:set>
                                      <p:cBhvr>
                                        <p:cTn id="201" dur="1" fill="hold">
                                          <p:stCondLst>
                                            <p:cond delay="0"/>
                                          </p:stCondLst>
                                        </p:cTn>
                                        <p:tgtEl>
                                          <p:spTgt spid="67"/>
                                        </p:tgtEl>
                                        <p:attrNameLst>
                                          <p:attrName>style.visibility</p:attrName>
                                        </p:attrNameLst>
                                      </p:cBhvr>
                                      <p:to>
                                        <p:strVal val="visible"/>
                                      </p:to>
                                    </p:set>
                                    <p:animEffect transition="in" filter="fade">
                                      <p:cBhvr>
                                        <p:cTn id="202" dur="450"/>
                                        <p:tgtEl>
                                          <p:spTgt spid="67"/>
                                        </p:tgtEl>
                                      </p:cBhvr>
                                    </p:animEffect>
                                  </p:childTnLst>
                                </p:cTn>
                              </p:par>
                              <p:par>
                                <p:cTn id="203" presetID="10" presetClass="entr" presetSubtype="0" fill="hold" nodeType="withEffect">
                                  <p:stCondLst>
                                    <p:cond delay="0"/>
                                  </p:stCondLst>
                                  <p:childTnLst>
                                    <p:set>
                                      <p:cBhvr>
                                        <p:cTn id="204" dur="1" fill="hold">
                                          <p:stCondLst>
                                            <p:cond delay="0"/>
                                          </p:stCondLst>
                                        </p:cTn>
                                        <p:tgtEl>
                                          <p:spTgt spid="68"/>
                                        </p:tgtEl>
                                        <p:attrNameLst>
                                          <p:attrName>style.visibility</p:attrName>
                                        </p:attrNameLst>
                                      </p:cBhvr>
                                      <p:to>
                                        <p:strVal val="visible"/>
                                      </p:to>
                                    </p:set>
                                    <p:animEffect transition="in" filter="fade">
                                      <p:cBhvr>
                                        <p:cTn id="205" dur="450"/>
                                        <p:tgtEl>
                                          <p:spTgt spid="68"/>
                                        </p:tgtEl>
                                      </p:cBhvr>
                                    </p:animEffect>
                                  </p:childTnLst>
                                </p:cTn>
                              </p:par>
                              <p:par>
                                <p:cTn id="206" presetID="10" presetClass="entr" presetSubtype="0" fill="hold" nodeType="withEffect">
                                  <p:stCondLst>
                                    <p:cond delay="0"/>
                                  </p:stCondLst>
                                  <p:childTnLst>
                                    <p:set>
                                      <p:cBhvr>
                                        <p:cTn id="207" dur="1" fill="hold">
                                          <p:stCondLst>
                                            <p:cond delay="0"/>
                                          </p:stCondLst>
                                        </p:cTn>
                                        <p:tgtEl>
                                          <p:spTgt spid="69"/>
                                        </p:tgtEl>
                                        <p:attrNameLst>
                                          <p:attrName>style.visibility</p:attrName>
                                        </p:attrNameLst>
                                      </p:cBhvr>
                                      <p:to>
                                        <p:strVal val="visible"/>
                                      </p:to>
                                    </p:set>
                                    <p:animEffect transition="in" filter="fade">
                                      <p:cBhvr>
                                        <p:cTn id="208" dur="450"/>
                                        <p:tgtEl>
                                          <p:spTgt spid="69"/>
                                        </p:tgtEl>
                                      </p:cBhvr>
                                    </p:animEffect>
                                  </p:childTnLst>
                                </p:cTn>
                              </p:par>
                              <p:par>
                                <p:cTn id="209" presetID="22" presetClass="entr" presetSubtype="2" fill="hold" nodeType="withEffect">
                                  <p:stCondLst>
                                    <p:cond delay="0"/>
                                  </p:stCondLst>
                                  <p:childTnLst>
                                    <p:set>
                                      <p:cBhvr>
                                        <p:cTn id="210" dur="1" fill="hold">
                                          <p:stCondLst>
                                            <p:cond delay="0"/>
                                          </p:stCondLst>
                                        </p:cTn>
                                        <p:tgtEl>
                                          <p:spTgt spid="70"/>
                                        </p:tgtEl>
                                        <p:attrNameLst>
                                          <p:attrName>style.visibility</p:attrName>
                                        </p:attrNameLst>
                                      </p:cBhvr>
                                      <p:to>
                                        <p:strVal val="visible"/>
                                      </p:to>
                                    </p:set>
                                    <p:animEffect transition="in" filter="wipe(right)">
                                      <p:cBhvr>
                                        <p:cTn id="211" dur="45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فرضیه اصلی</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۱۱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A01_z_280b"/>
          <p:cNvSpPr/>
          <p:nvPr/>
        </p:nvSpPr>
        <p:spPr>
          <a:xfrm>
            <a:off x="8183880" y="1234440"/>
            <a:ext cx="3154680" cy="640080"/>
          </a:xfrm>
          <a:prstGeom prst="roundRect">
            <a:avLst>
              <a:gd name="adj" fmla="val 17143"/>
            </a:avLst>
          </a:prstGeom>
          <a:solidFill>
            <a:srgbClr val="D9674A"/>
          </a:solidFill>
          <a:ln w="12700">
            <a:solidFill>
              <a:srgbClr val="D9674A"/>
            </a:solidFill>
            <a:prstDash val="solid"/>
          </a:ln>
        </p:spPr>
      </p:sp>
      <p:pic>
        <p:nvPicPr>
          <p:cNvPr id="11" name="A01_z_281i" descr="preencoded.png"/>
          <p:cNvPicPr>
            <a:picLocks noChangeAspect="1"/>
          </p:cNvPicPr>
          <p:nvPr/>
        </p:nvPicPr>
        <p:blipFill>
          <a:blip r:embed="rId4"/>
          <a:stretch>
            <a:fillRect/>
          </a:stretch>
        </p:blipFill>
        <p:spPr>
          <a:xfrm>
            <a:off x="10881360" y="1371600"/>
            <a:ext cx="365760" cy="365760"/>
          </a:xfrm>
          <a:prstGeom prst="rect">
            <a:avLst/>
          </a:prstGeom>
        </p:spPr>
      </p:pic>
      <p:sp>
        <p:nvSpPr>
          <p:cNvPr id="12" name="A01_z_282"/>
          <p:cNvSpPr txBox="1"/>
          <p:nvPr/>
        </p:nvSpPr>
        <p:spPr>
          <a:xfrm>
            <a:off x="8275320" y="1234440"/>
            <a:ext cx="2560320" cy="640080"/>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Tahoma" pitchFamily="34" charset="0"/>
                <a:ea typeface="Tahoma" pitchFamily="34" charset="-122"/>
                <a:cs typeface="Tahoma" pitchFamily="34" charset="-120"/>
              </a:rPr>
              <a:t>آسیب‌های دوران کودکی</a:t>
            </a:r>
            <a:endParaRPr lang="fa-IR" sz="1400" dirty="0"/>
          </a:p>
        </p:txBody>
      </p:sp>
      <p:sp>
        <p:nvSpPr>
          <p:cNvPr id="13" name="A02_f_283"/>
          <p:cNvSpPr/>
          <p:nvPr/>
        </p:nvSpPr>
        <p:spPr>
          <a:xfrm flipH="1">
            <a:off x="7772400" y="1554480"/>
            <a:ext cx="365760" cy="0"/>
          </a:xfrm>
          <a:prstGeom prst="line">
            <a:avLst/>
          </a:prstGeom>
          <a:noFill/>
          <a:ln w="28575">
            <a:solidFill>
              <a:srgbClr val="6B7B83"/>
            </a:solidFill>
            <a:prstDash val="solid"/>
            <a:tailEnd type="triangle"/>
          </a:ln>
        </p:spPr>
      </p:sp>
      <p:sp>
        <p:nvSpPr>
          <p:cNvPr id="14" name="A02_z_284b"/>
          <p:cNvSpPr/>
          <p:nvPr/>
        </p:nvSpPr>
        <p:spPr>
          <a:xfrm>
            <a:off x="4526280" y="1234440"/>
            <a:ext cx="3154680" cy="640080"/>
          </a:xfrm>
          <a:prstGeom prst="roundRect">
            <a:avLst>
              <a:gd name="adj" fmla="val 17143"/>
            </a:avLst>
          </a:prstGeom>
          <a:solidFill>
            <a:srgbClr val="2A9D8F"/>
          </a:solidFill>
          <a:ln w="12700">
            <a:solidFill>
              <a:srgbClr val="2A9D8F"/>
            </a:solidFill>
            <a:prstDash val="solid"/>
          </a:ln>
        </p:spPr>
      </p:sp>
      <p:pic>
        <p:nvPicPr>
          <p:cNvPr id="15" name="A02_z_285i" descr="preencoded.png"/>
          <p:cNvPicPr>
            <a:picLocks noChangeAspect="1"/>
          </p:cNvPicPr>
          <p:nvPr/>
        </p:nvPicPr>
        <p:blipFill>
          <a:blip r:embed="rId5"/>
          <a:stretch>
            <a:fillRect/>
          </a:stretch>
        </p:blipFill>
        <p:spPr>
          <a:xfrm>
            <a:off x="7223760" y="1371600"/>
            <a:ext cx="365760" cy="365760"/>
          </a:xfrm>
          <a:prstGeom prst="rect">
            <a:avLst/>
          </a:prstGeom>
        </p:spPr>
      </p:pic>
      <p:sp>
        <p:nvSpPr>
          <p:cNvPr id="16" name="A02_z_286"/>
          <p:cNvSpPr txBox="1"/>
          <p:nvPr/>
        </p:nvSpPr>
        <p:spPr>
          <a:xfrm>
            <a:off x="4617720" y="1234440"/>
            <a:ext cx="2560320" cy="640080"/>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Tahoma" pitchFamily="34" charset="0"/>
                <a:ea typeface="Tahoma" pitchFamily="34" charset="-122"/>
                <a:cs typeface="Tahoma" pitchFamily="34" charset="-120"/>
              </a:rPr>
              <a:t>سبک‌های حل تعارض (میانجی)</a:t>
            </a:r>
            <a:endParaRPr lang="fa-IR" sz="1400" dirty="0"/>
          </a:p>
        </p:txBody>
      </p:sp>
      <p:sp>
        <p:nvSpPr>
          <p:cNvPr id="17" name="A03_f_287"/>
          <p:cNvSpPr/>
          <p:nvPr/>
        </p:nvSpPr>
        <p:spPr>
          <a:xfrm flipH="1">
            <a:off x="4114800" y="1554480"/>
            <a:ext cx="365760" cy="0"/>
          </a:xfrm>
          <a:prstGeom prst="line">
            <a:avLst/>
          </a:prstGeom>
          <a:noFill/>
          <a:ln w="28575">
            <a:solidFill>
              <a:srgbClr val="6B7B83"/>
            </a:solidFill>
            <a:prstDash val="solid"/>
            <a:tailEnd type="triangle"/>
          </a:ln>
        </p:spPr>
      </p:sp>
      <p:sp>
        <p:nvSpPr>
          <p:cNvPr id="18" name="A03_z_288b"/>
          <p:cNvSpPr/>
          <p:nvPr/>
        </p:nvSpPr>
        <p:spPr>
          <a:xfrm>
            <a:off x="868680" y="1234440"/>
            <a:ext cx="3154680" cy="640080"/>
          </a:xfrm>
          <a:prstGeom prst="roundRect">
            <a:avLst>
              <a:gd name="adj" fmla="val 17143"/>
            </a:avLst>
          </a:prstGeom>
          <a:solidFill>
            <a:srgbClr val="6D597A"/>
          </a:solidFill>
          <a:ln w="12700">
            <a:solidFill>
              <a:srgbClr val="6D597A"/>
            </a:solidFill>
            <a:prstDash val="solid"/>
          </a:ln>
        </p:spPr>
      </p:sp>
      <p:pic>
        <p:nvPicPr>
          <p:cNvPr id="19" name="A03_z_289i" descr="preencoded.png"/>
          <p:cNvPicPr>
            <a:picLocks noChangeAspect="1"/>
          </p:cNvPicPr>
          <p:nvPr/>
        </p:nvPicPr>
        <p:blipFill>
          <a:blip r:embed="rId6"/>
          <a:stretch>
            <a:fillRect/>
          </a:stretch>
        </p:blipFill>
        <p:spPr>
          <a:xfrm>
            <a:off x="3566160" y="1371600"/>
            <a:ext cx="365760" cy="365760"/>
          </a:xfrm>
          <a:prstGeom prst="rect">
            <a:avLst/>
          </a:prstGeom>
        </p:spPr>
      </p:pic>
      <p:sp>
        <p:nvSpPr>
          <p:cNvPr id="20" name="A03_z_290"/>
          <p:cNvSpPr txBox="1"/>
          <p:nvPr/>
        </p:nvSpPr>
        <p:spPr>
          <a:xfrm>
            <a:off x="960120" y="1234440"/>
            <a:ext cx="2560320" cy="640080"/>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Tahoma" pitchFamily="34" charset="0"/>
                <a:ea typeface="Tahoma" pitchFamily="34" charset="-122"/>
                <a:cs typeface="Tahoma" pitchFamily="34" charset="-120"/>
              </a:rPr>
              <a:t>سبک‌های هویتی</a:t>
            </a:r>
            <a:endParaRPr lang="fa-IR" sz="1400" dirty="0"/>
          </a:p>
        </p:txBody>
      </p:sp>
      <p:sp>
        <p:nvSpPr>
          <p:cNvPr id="21" name="Text 15"/>
          <p:cNvSpPr txBox="1"/>
          <p:nvPr/>
        </p:nvSpPr>
        <p:spPr>
          <a:xfrm>
            <a:off x="5669280" y="2148840"/>
            <a:ext cx="6035040" cy="320040"/>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جدول ۴-۱۳- ضرایب مسیر و آماره‌های مربوط به روابط غیرمستقیم</a:t>
            </a:r>
            <a:endParaRPr lang="fa-IR" sz="1200" dirty="0"/>
          </a:p>
        </p:txBody>
      </p:sp>
      <p:graphicFrame>
        <p:nvGraphicFramePr>
          <p:cNvPr id="22" name="A04_f_291"/>
          <p:cNvGraphicFramePr>
            <a:graphicFrameLocks noGrp="1"/>
          </p:cNvGraphicFramePr>
          <p:nvPr>
            <p:extLst>
              <p:ext uri="{D42A27DB-BD31-4B8C-83A1-F6EECF244321}">
                <p14:modId xmlns:p14="http://schemas.microsoft.com/office/powerpoint/2010/main" val="696470190"/>
              </p:ext>
            </p:extLst>
          </p:nvPr>
        </p:nvGraphicFramePr>
        <p:xfrm>
          <a:off x="5669280" y="2514600"/>
          <a:ext cx="6035040" cy="2834640"/>
        </p:xfrm>
        <a:graphic>
          <a:graphicData uri="http://schemas.openxmlformats.org/drawingml/2006/table">
            <a:tbl>
              <a:tblPr/>
              <a:tblGrid>
                <a:gridCol w="914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2697480">
                  <a:extLst>
                    <a:ext uri="{9D8B030D-6E8A-4147-A177-3AD203B41FA5}">
                      <a16:colId xmlns:a16="http://schemas.microsoft.com/office/drawing/2014/main" val="20004"/>
                    </a:ext>
                  </a:extLst>
                </a:gridCol>
              </a:tblGrid>
              <a:tr h="566928">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مقدار معناداری</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قدرمطلق t</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انحراف معیار</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ضریب مسیر</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مسیر غیرمستقیم</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extLst>
                  <a:ext uri="{0D108BD9-81ED-4DB2-BD59-A6C34878D82A}">
                    <a16:rowId xmlns:a16="http://schemas.microsoft.com/office/drawing/2014/main" val="10000"/>
                  </a:ext>
                </a:extLst>
              </a:tr>
              <a:tr h="566928">
                <a:tc>
                  <a:txBody>
                    <a:bodyPr/>
                    <a:lstStyle/>
                    <a:p>
                      <a:pPr marL="0" indent="0" algn="ctr">
                        <a:buNone/>
                      </a:pPr>
                      <a:r>
                        <a:rPr lang="fa-IR" altLang="en-US" sz="1250" dirty="0">
                          <a:solidFill>
                            <a:srgbClr val="263238"/>
                          </a:solidFill>
                          <a:latin typeface="Tahoma" pitchFamily="34" charset="0"/>
                          <a:ea typeface="Tahoma" pitchFamily="34" charset="-122"/>
                          <a:cs typeface="Tahoma" pitchFamily="34" charset="-120"/>
                        </a:rPr>
                        <a:t>۰/۰۰۱</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۳/۲۶</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۰/۰۵</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b="1" dirty="0">
                          <a:solidFill>
                            <a:srgbClr val="D9674A"/>
                          </a:solidFill>
                          <a:latin typeface="Tahoma" pitchFamily="34" charset="0"/>
                          <a:ea typeface="Tahoma" pitchFamily="34" charset="-122"/>
                          <a:cs typeface="Tahoma" pitchFamily="34" charset="-120"/>
                        </a:rPr>
                        <a:t>۰/۱۸-</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200" dirty="0">
                          <a:solidFill>
                            <a:srgbClr val="263238"/>
                          </a:solidFill>
                          <a:latin typeface="Tahoma" pitchFamily="34" charset="0"/>
                          <a:ea typeface="Tahoma" pitchFamily="34" charset="-122"/>
                          <a:cs typeface="Tahoma" pitchFamily="34" charset="-120"/>
                        </a:rPr>
                        <a:t>آسیب کودکی ← حل تعارض ← هویت اطلاعاتی</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fa-IR" altLang="en-US" sz="1250" dirty="0">
                          <a:solidFill>
                            <a:srgbClr val="263238"/>
                          </a:solidFill>
                          <a:latin typeface="Tahoma" pitchFamily="34" charset="0"/>
                          <a:ea typeface="Tahoma" pitchFamily="34" charset="-122"/>
                          <a:cs typeface="Tahoma" pitchFamily="34" charset="-120"/>
                        </a:rPr>
                        <a:t>۰/۰۰۲</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۳/۱۷</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۰/۰۳</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b="1" dirty="0">
                          <a:solidFill>
                            <a:srgbClr val="D9674A"/>
                          </a:solidFill>
                          <a:latin typeface="Tahoma" pitchFamily="34" charset="0"/>
                          <a:ea typeface="Tahoma" pitchFamily="34" charset="-122"/>
                          <a:cs typeface="Tahoma" pitchFamily="34" charset="-120"/>
                        </a:rPr>
                        <a:t>‎۰/۱۰-</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200" dirty="0">
                          <a:solidFill>
                            <a:srgbClr val="263238"/>
                          </a:solidFill>
                          <a:latin typeface="Tahoma" pitchFamily="34" charset="0"/>
                          <a:ea typeface="Tahoma" pitchFamily="34" charset="-122"/>
                          <a:cs typeface="Tahoma" pitchFamily="34" charset="-120"/>
                        </a:rPr>
                        <a:t>آسیب کودکی ← حل تعارض ← هویت هنجاری</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566928">
                <a:tc>
                  <a:txBody>
                    <a:bodyPr/>
                    <a:lstStyle/>
                    <a:p>
                      <a:pPr marL="0" indent="0" algn="ctr">
                        <a:buNone/>
                      </a:pPr>
                      <a:r>
                        <a:rPr lang="fa-IR" altLang="en-US" sz="1250" dirty="0">
                          <a:solidFill>
                            <a:srgbClr val="263238"/>
                          </a:solidFill>
                          <a:latin typeface="Tahoma" pitchFamily="34" charset="0"/>
                          <a:ea typeface="Tahoma" pitchFamily="34" charset="-122"/>
                          <a:cs typeface="Tahoma" pitchFamily="34" charset="-120"/>
                        </a:rPr>
                        <a:t>۰/۰۰۱</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۳/۱۸</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۰/۰۴</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b="1" dirty="0">
                          <a:solidFill>
                            <a:srgbClr val="2A9D8F"/>
                          </a:solidFill>
                          <a:latin typeface="Tahoma" pitchFamily="34" charset="0"/>
                          <a:ea typeface="Tahoma" pitchFamily="34" charset="-122"/>
                          <a:cs typeface="Tahoma" pitchFamily="34" charset="-120"/>
                        </a:rPr>
                        <a:t>۰/۱۳</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200" dirty="0">
                          <a:solidFill>
                            <a:srgbClr val="263238"/>
                          </a:solidFill>
                          <a:latin typeface="Tahoma" pitchFamily="34" charset="0"/>
                          <a:ea typeface="Tahoma" pitchFamily="34" charset="-122"/>
                          <a:cs typeface="Tahoma" pitchFamily="34" charset="-120"/>
                        </a:rPr>
                        <a:t>آسیب کودکی ← حل تعارض ← هویت سردرگمی/اجتنابی</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fa-IR" altLang="en-US" sz="1250" dirty="0">
                          <a:solidFill>
                            <a:srgbClr val="263238"/>
                          </a:solidFill>
                          <a:latin typeface="Tahoma" pitchFamily="34" charset="0"/>
                          <a:ea typeface="Tahoma" pitchFamily="34" charset="-122"/>
                          <a:cs typeface="Tahoma" pitchFamily="34" charset="-120"/>
                        </a:rPr>
                        <a:t>۰/۰۰۱</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۳/۲۳</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۰/۰۴</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b="1" dirty="0">
                          <a:solidFill>
                            <a:srgbClr val="D9674A"/>
                          </a:solidFill>
                          <a:latin typeface="Tahoma" pitchFamily="34" charset="0"/>
                          <a:ea typeface="Tahoma" pitchFamily="34" charset="-122"/>
                          <a:cs typeface="Tahoma" pitchFamily="34" charset="-120"/>
                        </a:rPr>
                        <a:t>‎۰/۱۳-</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200" dirty="0">
                          <a:solidFill>
                            <a:srgbClr val="263238"/>
                          </a:solidFill>
                          <a:latin typeface="Tahoma" pitchFamily="34" charset="0"/>
                          <a:ea typeface="Tahoma" pitchFamily="34" charset="-122"/>
                          <a:cs typeface="Tahoma" pitchFamily="34" charset="-120"/>
                        </a:rPr>
                        <a:t>آسیب کودکی ← حل تعارض ← تعهد هویتی</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bl>
          </a:graphicData>
        </a:graphic>
      </p:graphicFrame>
      <p:sp>
        <p:nvSpPr>
          <p:cNvPr id="23" name="Text 16"/>
          <p:cNvSpPr txBox="1"/>
          <p:nvPr/>
        </p:nvSpPr>
        <p:spPr>
          <a:xfrm>
            <a:off x="457200" y="2148840"/>
            <a:ext cx="4937760" cy="320040"/>
          </a:xfrm>
          <a:prstGeom prst="rect">
            <a:avLst/>
          </a:prstGeom>
          <a:noFill/>
          <a:ln/>
        </p:spPr>
        <p:txBody>
          <a:bodyPr wrap="square" lIns="0" tIns="0" rIns="0" bIns="0" rtlCol="0" anchor="t"/>
          <a:lstStyle/>
          <a:p>
            <a:pPr marL="0" indent="0" algn="ctr" rtl="1">
              <a:buNone/>
            </a:pPr>
            <a:r>
              <a:rPr lang="fa-IR" altLang="en-US" sz="1300" b="1" dirty="0">
                <a:solidFill>
                  <a:srgbClr val="6B7B83"/>
                </a:solidFill>
                <a:latin typeface="Tahoma" pitchFamily="34" charset="0"/>
                <a:ea typeface="Tahoma" pitchFamily="34" charset="-122"/>
                <a:cs typeface="Tahoma" pitchFamily="34" charset="-120"/>
              </a:rPr>
              <a:t>ضرایب مسیر غیرمستقیم (β)</a:t>
            </a:r>
            <a:endParaRPr lang="fa-IR" sz="1300" dirty="0"/>
          </a:p>
        </p:txBody>
      </p:sp>
      <p:sp>
        <p:nvSpPr>
          <p:cNvPr id="24" name="Shape 17"/>
          <p:cNvSpPr/>
          <p:nvPr/>
        </p:nvSpPr>
        <p:spPr>
          <a:xfrm>
            <a:off x="1965960" y="2560320"/>
            <a:ext cx="0" cy="2359152"/>
          </a:xfrm>
          <a:prstGeom prst="line">
            <a:avLst/>
          </a:prstGeom>
          <a:noFill/>
          <a:ln w="12700">
            <a:solidFill>
              <a:srgbClr val="6B7B83"/>
            </a:solidFill>
            <a:prstDash val="solid"/>
          </a:ln>
        </p:spPr>
      </p:sp>
      <p:sp>
        <p:nvSpPr>
          <p:cNvPr id="25" name="Text 18"/>
          <p:cNvSpPr txBox="1"/>
          <p:nvPr/>
        </p:nvSpPr>
        <p:spPr>
          <a:xfrm>
            <a:off x="457200" y="4937760"/>
            <a:ext cx="1417320" cy="274320"/>
          </a:xfrm>
          <a:prstGeom prst="rect">
            <a:avLst/>
          </a:prstGeom>
          <a:noFill/>
          <a:ln/>
        </p:spPr>
        <p:txBody>
          <a:bodyPr wrap="square" lIns="0" tIns="0" rIns="0" bIns="0" rtlCol="0" anchor="t"/>
          <a:lstStyle/>
          <a:p>
            <a:pPr marL="0" indent="0" algn="ctr" rtl="1">
              <a:buNone/>
            </a:pPr>
            <a:r>
              <a:rPr lang="fa-IR" altLang="en-US" sz="1000" dirty="0">
                <a:solidFill>
                  <a:srgbClr val="D9674A"/>
                </a:solidFill>
                <a:latin typeface="Tahoma" pitchFamily="34" charset="0"/>
                <a:ea typeface="Tahoma" pitchFamily="34" charset="-122"/>
                <a:cs typeface="Tahoma" pitchFamily="34" charset="-120"/>
              </a:rPr>
              <a:t>منفی</a:t>
            </a:r>
            <a:endParaRPr lang="fa-IR" sz="1000" dirty="0"/>
          </a:p>
        </p:txBody>
      </p:sp>
      <p:sp>
        <p:nvSpPr>
          <p:cNvPr id="26" name="Text 19"/>
          <p:cNvSpPr txBox="1"/>
          <p:nvPr/>
        </p:nvSpPr>
        <p:spPr>
          <a:xfrm>
            <a:off x="2057400" y="4937760"/>
            <a:ext cx="1417320" cy="274320"/>
          </a:xfrm>
          <a:prstGeom prst="rect">
            <a:avLst/>
          </a:prstGeom>
          <a:noFill/>
          <a:ln/>
        </p:spPr>
        <p:txBody>
          <a:bodyPr wrap="square" lIns="0" tIns="0" rIns="0" bIns="0" rtlCol="0" anchor="t"/>
          <a:lstStyle/>
          <a:p>
            <a:pPr marL="0" indent="0" algn="ctr" rtl="1">
              <a:buNone/>
            </a:pPr>
            <a:r>
              <a:rPr lang="fa-IR" altLang="en-US" sz="1000" dirty="0">
                <a:solidFill>
                  <a:srgbClr val="2A9D8F"/>
                </a:solidFill>
                <a:latin typeface="Tahoma" pitchFamily="34" charset="0"/>
                <a:ea typeface="Tahoma" pitchFamily="34" charset="-122"/>
                <a:cs typeface="Tahoma" pitchFamily="34" charset="-120"/>
              </a:rPr>
              <a:t>مثبت</a:t>
            </a:r>
            <a:endParaRPr lang="fa-IR" sz="1000" dirty="0"/>
          </a:p>
        </p:txBody>
      </p:sp>
      <p:sp>
        <p:nvSpPr>
          <p:cNvPr id="27" name="A05_f_292"/>
          <p:cNvSpPr txBox="1"/>
          <p:nvPr/>
        </p:nvSpPr>
        <p:spPr>
          <a:xfrm>
            <a:off x="3611880" y="2651760"/>
            <a:ext cx="1783080" cy="566928"/>
          </a:xfrm>
          <a:prstGeom prst="rect">
            <a:avLst/>
          </a:prstGeom>
          <a:noFill/>
          <a:ln/>
        </p:spPr>
        <p:txBody>
          <a:bodyPr wrap="square" lIns="0" tIns="0" rIns="0" bIns="0" rtlCol="0" anchor="ctr"/>
          <a:lstStyle/>
          <a:p>
            <a:pPr marL="0" indent="0" algn="r" rtl="1">
              <a:buNone/>
            </a:pPr>
            <a:r>
              <a:rPr lang="fa-IR" altLang="en-US" sz="1300" b="1" dirty="0">
                <a:solidFill>
                  <a:srgbClr val="263238"/>
                </a:solidFill>
                <a:latin typeface="Tahoma" pitchFamily="34" charset="0"/>
                <a:ea typeface="Tahoma" pitchFamily="34" charset="-122"/>
                <a:cs typeface="Tahoma" pitchFamily="34" charset="-120"/>
              </a:rPr>
              <a:t>هویت اطلاعاتی</a:t>
            </a:r>
            <a:endParaRPr lang="fa-IR" sz="1300" dirty="0"/>
          </a:p>
        </p:txBody>
      </p:sp>
      <p:sp>
        <p:nvSpPr>
          <p:cNvPr id="28" name="A05_wl_293"/>
          <p:cNvSpPr/>
          <p:nvPr/>
        </p:nvSpPr>
        <p:spPr>
          <a:xfrm>
            <a:off x="1143000" y="2793492"/>
            <a:ext cx="822960" cy="283464"/>
          </a:xfrm>
          <a:prstGeom prst="roundRect">
            <a:avLst>
              <a:gd name="adj" fmla="val 16129"/>
            </a:avLst>
          </a:prstGeom>
          <a:solidFill>
            <a:srgbClr val="D9674A"/>
          </a:solidFill>
          <a:ln w="12700">
            <a:solidFill>
              <a:srgbClr val="D9674A"/>
            </a:solidFill>
            <a:prstDash val="solid"/>
          </a:ln>
        </p:spPr>
      </p:sp>
      <p:sp>
        <p:nvSpPr>
          <p:cNvPr id="29" name="A05_f_294"/>
          <p:cNvSpPr txBox="1"/>
          <p:nvPr/>
        </p:nvSpPr>
        <p:spPr>
          <a:xfrm>
            <a:off x="576072" y="2756916"/>
            <a:ext cx="512064" cy="356616"/>
          </a:xfrm>
          <a:prstGeom prst="rect">
            <a:avLst/>
          </a:prstGeom>
          <a:noFill/>
          <a:ln/>
        </p:spPr>
        <p:txBody>
          <a:bodyPr wrap="square" lIns="0" tIns="0" rIns="0" bIns="0" rtlCol="0" anchor="ctr"/>
          <a:lstStyle/>
          <a:p>
            <a:pPr marL="0" indent="0" algn="r">
              <a:buNone/>
            </a:pPr>
            <a:r>
              <a:rPr lang="fa-IR" altLang="en-US" sz="1300" b="1" dirty="0">
                <a:solidFill>
                  <a:srgbClr val="D9674A"/>
                </a:solidFill>
                <a:latin typeface="Tahoma" pitchFamily="34" charset="0"/>
                <a:ea typeface="Tahoma" pitchFamily="34" charset="-122"/>
                <a:cs typeface="Tahoma" pitchFamily="34" charset="-120"/>
              </a:rPr>
              <a:t>۰/۱۸-</a:t>
            </a:r>
            <a:endParaRPr lang="fa-IR" sz="1300" dirty="0"/>
          </a:p>
        </p:txBody>
      </p:sp>
      <p:sp>
        <p:nvSpPr>
          <p:cNvPr id="30" name="A06_f_295"/>
          <p:cNvSpPr txBox="1"/>
          <p:nvPr/>
        </p:nvSpPr>
        <p:spPr>
          <a:xfrm>
            <a:off x="3611880" y="3218688"/>
            <a:ext cx="1783080" cy="566928"/>
          </a:xfrm>
          <a:prstGeom prst="rect">
            <a:avLst/>
          </a:prstGeom>
          <a:noFill/>
          <a:ln/>
        </p:spPr>
        <p:txBody>
          <a:bodyPr wrap="square" lIns="0" tIns="0" rIns="0" bIns="0" rtlCol="0" anchor="ctr"/>
          <a:lstStyle/>
          <a:p>
            <a:pPr marL="0" indent="0" algn="r" rtl="1">
              <a:buNone/>
            </a:pPr>
            <a:r>
              <a:rPr lang="fa-IR" altLang="en-US" sz="1300" b="1" dirty="0">
                <a:solidFill>
                  <a:srgbClr val="263238"/>
                </a:solidFill>
                <a:latin typeface="Tahoma" pitchFamily="34" charset="0"/>
                <a:ea typeface="Tahoma" pitchFamily="34" charset="-122"/>
                <a:cs typeface="Tahoma" pitchFamily="34" charset="-120"/>
              </a:rPr>
              <a:t>هویت هنجاری</a:t>
            </a:r>
            <a:endParaRPr lang="fa-IR" sz="1300" dirty="0"/>
          </a:p>
        </p:txBody>
      </p:sp>
      <p:sp>
        <p:nvSpPr>
          <p:cNvPr id="31" name="A06_wl_296"/>
          <p:cNvSpPr/>
          <p:nvPr/>
        </p:nvSpPr>
        <p:spPr>
          <a:xfrm>
            <a:off x="1508760" y="3360420"/>
            <a:ext cx="457200" cy="283464"/>
          </a:xfrm>
          <a:prstGeom prst="roundRect">
            <a:avLst>
              <a:gd name="adj" fmla="val 16129"/>
            </a:avLst>
          </a:prstGeom>
          <a:solidFill>
            <a:srgbClr val="D9674A"/>
          </a:solidFill>
          <a:ln w="12700">
            <a:solidFill>
              <a:srgbClr val="D9674A"/>
            </a:solidFill>
            <a:prstDash val="solid"/>
          </a:ln>
        </p:spPr>
      </p:sp>
      <p:sp>
        <p:nvSpPr>
          <p:cNvPr id="32" name="A06_f_297"/>
          <p:cNvSpPr txBox="1"/>
          <p:nvPr/>
        </p:nvSpPr>
        <p:spPr>
          <a:xfrm>
            <a:off x="941832" y="3323844"/>
            <a:ext cx="512064" cy="356616"/>
          </a:xfrm>
          <a:prstGeom prst="rect">
            <a:avLst/>
          </a:prstGeom>
          <a:noFill/>
          <a:ln/>
        </p:spPr>
        <p:txBody>
          <a:bodyPr wrap="square" lIns="0" tIns="0" rIns="0" bIns="0" rtlCol="0" anchor="ctr"/>
          <a:lstStyle/>
          <a:p>
            <a:pPr marL="0" indent="0" algn="r">
              <a:buNone/>
            </a:pPr>
            <a:r>
              <a:rPr lang="fa-IR" altLang="en-US" sz="1300" b="1" dirty="0">
                <a:solidFill>
                  <a:srgbClr val="D9674A"/>
                </a:solidFill>
                <a:latin typeface="Tahoma" pitchFamily="34" charset="0"/>
                <a:ea typeface="Tahoma" pitchFamily="34" charset="-122"/>
                <a:cs typeface="Tahoma" pitchFamily="34" charset="-120"/>
              </a:rPr>
              <a:t>۰/۱۰-</a:t>
            </a:r>
            <a:endParaRPr lang="fa-IR" sz="1300" dirty="0"/>
          </a:p>
        </p:txBody>
      </p:sp>
      <p:sp>
        <p:nvSpPr>
          <p:cNvPr id="33" name="A07_f_298"/>
          <p:cNvSpPr txBox="1"/>
          <p:nvPr/>
        </p:nvSpPr>
        <p:spPr>
          <a:xfrm>
            <a:off x="3611880" y="3785616"/>
            <a:ext cx="1783080" cy="566928"/>
          </a:xfrm>
          <a:prstGeom prst="rect">
            <a:avLst/>
          </a:prstGeom>
          <a:noFill/>
          <a:ln/>
        </p:spPr>
        <p:txBody>
          <a:bodyPr wrap="square" lIns="0" tIns="0" rIns="0" bIns="0" rtlCol="0" anchor="ctr"/>
          <a:lstStyle/>
          <a:p>
            <a:pPr marL="0" indent="0" algn="r" rtl="1">
              <a:buNone/>
            </a:pPr>
            <a:r>
              <a:rPr lang="fa-IR" altLang="en-US" sz="1300" b="1" dirty="0">
                <a:solidFill>
                  <a:srgbClr val="263238"/>
                </a:solidFill>
                <a:latin typeface="Tahoma" pitchFamily="34" charset="0"/>
                <a:ea typeface="Tahoma" pitchFamily="34" charset="-122"/>
                <a:cs typeface="Tahoma" pitchFamily="34" charset="-120"/>
              </a:rPr>
              <a:t>هویت سردرگمی/اجتنابی</a:t>
            </a:r>
            <a:endParaRPr lang="fa-IR" sz="1300" dirty="0"/>
          </a:p>
        </p:txBody>
      </p:sp>
      <p:sp>
        <p:nvSpPr>
          <p:cNvPr id="34" name="A07_wr_299"/>
          <p:cNvSpPr/>
          <p:nvPr/>
        </p:nvSpPr>
        <p:spPr>
          <a:xfrm>
            <a:off x="1965960" y="3927348"/>
            <a:ext cx="594360" cy="283464"/>
          </a:xfrm>
          <a:prstGeom prst="roundRect">
            <a:avLst>
              <a:gd name="adj" fmla="val 16129"/>
            </a:avLst>
          </a:prstGeom>
          <a:solidFill>
            <a:srgbClr val="2A9D8F"/>
          </a:solidFill>
          <a:ln w="12700">
            <a:solidFill>
              <a:srgbClr val="2A9D8F"/>
            </a:solidFill>
            <a:prstDash val="solid"/>
          </a:ln>
        </p:spPr>
      </p:sp>
      <p:sp>
        <p:nvSpPr>
          <p:cNvPr id="35" name="A07_f_300"/>
          <p:cNvSpPr txBox="1"/>
          <p:nvPr/>
        </p:nvSpPr>
        <p:spPr>
          <a:xfrm>
            <a:off x="2615184" y="3890772"/>
            <a:ext cx="512064" cy="356616"/>
          </a:xfrm>
          <a:prstGeom prst="rect">
            <a:avLst/>
          </a:prstGeom>
          <a:noFill/>
          <a:ln/>
        </p:spPr>
        <p:txBody>
          <a:bodyPr wrap="square" lIns="0" tIns="0" rIns="0" bIns="0" rtlCol="0" anchor="ctr"/>
          <a:lstStyle/>
          <a:p>
            <a:pPr marL="0" indent="0" algn="l">
              <a:buNone/>
            </a:pPr>
            <a:r>
              <a:rPr lang="fa-IR" altLang="en-US" sz="1300" b="1" dirty="0">
                <a:solidFill>
                  <a:srgbClr val="2A9D8F"/>
                </a:solidFill>
                <a:latin typeface="Tahoma" pitchFamily="34" charset="0"/>
                <a:ea typeface="Tahoma" pitchFamily="34" charset="-122"/>
                <a:cs typeface="Tahoma" pitchFamily="34" charset="-120"/>
              </a:rPr>
              <a:t>۰/۱۳</a:t>
            </a:r>
            <a:endParaRPr lang="fa-IR" sz="1300" dirty="0"/>
          </a:p>
        </p:txBody>
      </p:sp>
      <p:sp>
        <p:nvSpPr>
          <p:cNvPr id="36" name="A08_f_301"/>
          <p:cNvSpPr txBox="1"/>
          <p:nvPr/>
        </p:nvSpPr>
        <p:spPr>
          <a:xfrm>
            <a:off x="3611880" y="4352544"/>
            <a:ext cx="1783080" cy="566928"/>
          </a:xfrm>
          <a:prstGeom prst="rect">
            <a:avLst/>
          </a:prstGeom>
          <a:noFill/>
          <a:ln/>
        </p:spPr>
        <p:txBody>
          <a:bodyPr wrap="square" lIns="0" tIns="0" rIns="0" bIns="0" rtlCol="0" anchor="ctr"/>
          <a:lstStyle/>
          <a:p>
            <a:pPr marL="0" indent="0" algn="r" rtl="1">
              <a:buNone/>
            </a:pPr>
            <a:r>
              <a:rPr lang="fa-IR" altLang="en-US" sz="1300" b="1" dirty="0">
                <a:solidFill>
                  <a:srgbClr val="263238"/>
                </a:solidFill>
                <a:latin typeface="Tahoma" pitchFamily="34" charset="0"/>
                <a:ea typeface="Tahoma" pitchFamily="34" charset="-122"/>
                <a:cs typeface="Tahoma" pitchFamily="34" charset="-120"/>
              </a:rPr>
              <a:t>تعهد هویتی</a:t>
            </a:r>
            <a:endParaRPr lang="fa-IR" sz="1300" dirty="0"/>
          </a:p>
        </p:txBody>
      </p:sp>
      <p:sp>
        <p:nvSpPr>
          <p:cNvPr id="37" name="A08_wl_302"/>
          <p:cNvSpPr/>
          <p:nvPr/>
        </p:nvSpPr>
        <p:spPr>
          <a:xfrm>
            <a:off x="1371600" y="4494276"/>
            <a:ext cx="594360" cy="283464"/>
          </a:xfrm>
          <a:prstGeom prst="roundRect">
            <a:avLst>
              <a:gd name="adj" fmla="val 16129"/>
            </a:avLst>
          </a:prstGeom>
          <a:solidFill>
            <a:srgbClr val="D9674A"/>
          </a:solidFill>
          <a:ln w="12700">
            <a:solidFill>
              <a:srgbClr val="D9674A"/>
            </a:solidFill>
            <a:prstDash val="solid"/>
          </a:ln>
        </p:spPr>
      </p:sp>
      <p:sp>
        <p:nvSpPr>
          <p:cNvPr id="38" name="A08_f_303"/>
          <p:cNvSpPr txBox="1"/>
          <p:nvPr/>
        </p:nvSpPr>
        <p:spPr>
          <a:xfrm>
            <a:off x="804672" y="4457700"/>
            <a:ext cx="512064" cy="356616"/>
          </a:xfrm>
          <a:prstGeom prst="rect">
            <a:avLst/>
          </a:prstGeom>
          <a:noFill/>
          <a:ln/>
        </p:spPr>
        <p:txBody>
          <a:bodyPr wrap="square" lIns="0" tIns="0" rIns="0" bIns="0" rtlCol="0" anchor="ctr"/>
          <a:lstStyle/>
          <a:p>
            <a:pPr marL="0" indent="0" algn="r">
              <a:buNone/>
            </a:pPr>
            <a:r>
              <a:rPr lang="fa-IR" altLang="en-US" sz="1300" b="1" dirty="0">
                <a:solidFill>
                  <a:srgbClr val="D9674A"/>
                </a:solidFill>
                <a:latin typeface="Tahoma" pitchFamily="34" charset="0"/>
                <a:ea typeface="Tahoma" pitchFamily="34" charset="-122"/>
                <a:cs typeface="Tahoma" pitchFamily="34" charset="-120"/>
              </a:rPr>
              <a:t>۰/۱۳-</a:t>
            </a:r>
            <a:endParaRPr lang="fa-IR" sz="1300" dirty="0"/>
          </a:p>
        </p:txBody>
      </p:sp>
      <p:sp>
        <p:nvSpPr>
          <p:cNvPr id="39" name="A09_z_304b"/>
          <p:cNvSpPr/>
          <p:nvPr/>
        </p:nvSpPr>
        <p:spPr>
          <a:xfrm>
            <a:off x="457200" y="5532120"/>
            <a:ext cx="11247120" cy="658368"/>
          </a:xfrm>
          <a:prstGeom prst="roundRect">
            <a:avLst>
              <a:gd name="adj" fmla="val 16667"/>
            </a:avLst>
          </a:prstGeom>
          <a:solidFill>
            <a:srgbClr val="E6F2F1"/>
          </a:solidFill>
          <a:ln w="12700">
            <a:solidFill>
              <a:srgbClr val="E6F2F1"/>
            </a:solidFill>
            <a:prstDash val="solid"/>
          </a:ln>
        </p:spPr>
      </p:sp>
      <p:pic>
        <p:nvPicPr>
          <p:cNvPr id="40" name="A09_z_305i" descr="preencoded.png"/>
          <p:cNvPicPr>
            <a:picLocks noChangeAspect="1"/>
          </p:cNvPicPr>
          <p:nvPr/>
        </p:nvPicPr>
        <p:blipFill>
          <a:blip r:embed="rId7"/>
          <a:stretch>
            <a:fillRect/>
          </a:stretch>
        </p:blipFill>
        <p:spPr>
          <a:xfrm>
            <a:off x="11155680" y="5669280"/>
            <a:ext cx="384048" cy="384048"/>
          </a:xfrm>
          <a:prstGeom prst="rect">
            <a:avLst/>
          </a:prstGeom>
        </p:spPr>
      </p:pic>
      <p:sp>
        <p:nvSpPr>
          <p:cNvPr id="41" name="A09_z_306"/>
          <p:cNvSpPr txBox="1"/>
          <p:nvPr/>
        </p:nvSpPr>
        <p:spPr>
          <a:xfrm>
            <a:off x="731520" y="5532120"/>
            <a:ext cx="10287000" cy="658368"/>
          </a:xfrm>
          <a:prstGeom prst="rect">
            <a:avLst/>
          </a:prstGeom>
          <a:noFill/>
          <a:ln/>
        </p:spPr>
        <p:txBody>
          <a:bodyPr wrap="square" lIns="0" tIns="0" rIns="0" bIns="0" rtlCol="0" anchor="ctr"/>
          <a:lstStyle/>
          <a:p>
            <a:pPr marL="0" indent="0" algn="r" rtl="1">
              <a:buNone/>
            </a:pPr>
            <a:r>
              <a:rPr lang="fa-IR" altLang="en-US" sz="1500" b="1" dirty="0">
                <a:solidFill>
                  <a:srgbClr val="0F5257"/>
                </a:solidFill>
                <a:latin typeface="Tahoma" pitchFamily="34" charset="0"/>
                <a:ea typeface="Tahoma" pitchFamily="34" charset="-122"/>
                <a:cs typeface="Tahoma" pitchFamily="34" charset="-120"/>
              </a:rPr>
              <a:t>تأیید فرضیه: </a:t>
            </a:r>
            <a:r>
              <a:rPr lang="fa-IR" altLang="en-US" sz="1500" dirty="0">
                <a:solidFill>
                  <a:srgbClr val="263238"/>
                </a:solidFill>
                <a:latin typeface="Tahoma" pitchFamily="34" charset="0"/>
                <a:ea typeface="Tahoma" pitchFamily="34" charset="-122"/>
                <a:cs typeface="Tahoma" pitchFamily="34" charset="-120"/>
              </a:rPr>
              <a:t>هر ۴ مسیر غیرمستقیم معنادار </a:t>
            </a:r>
            <a:r>
              <a:rPr lang="en-US" altLang="en-US" sz="1500" dirty="0">
                <a:solidFill>
                  <a:srgbClr val="263238"/>
                </a:solidFill>
                <a:latin typeface="Tahoma" pitchFamily="34" charset="0"/>
                <a:ea typeface="Tahoma" pitchFamily="34" charset="-122"/>
                <a:cs typeface="Tahoma" pitchFamily="34" charset="-120"/>
              </a:rPr>
              <a:t>    </a:t>
            </a:r>
            <a:r>
              <a:rPr lang="fa-IR" altLang="en-US" sz="1500" dirty="0">
                <a:solidFill>
                  <a:srgbClr val="263238"/>
                </a:solidFill>
                <a:latin typeface="Tahoma" pitchFamily="34" charset="0"/>
                <a:ea typeface="Tahoma" pitchFamily="34" charset="-122"/>
                <a:cs typeface="Tahoma" pitchFamily="34" charset="-120"/>
              </a:rPr>
              <a:t>p ۰/۰۵</a:t>
            </a:r>
            <a:r>
              <a:rPr lang="en-US" altLang="en-US" sz="1500" dirty="0">
                <a:solidFill>
                  <a:srgbClr val="263238"/>
                </a:solidFill>
                <a:latin typeface="Tahoma" pitchFamily="34" charset="0"/>
                <a:ea typeface="Tahoma" pitchFamily="34" charset="-122"/>
                <a:cs typeface="Tahoma" pitchFamily="34" charset="-120"/>
              </a:rPr>
              <a:t> </a:t>
            </a:r>
            <a:r>
              <a:rPr lang="fa-IR" altLang="en-US" sz="1500" dirty="0">
                <a:solidFill>
                  <a:srgbClr val="263238"/>
                </a:solidFill>
                <a:latin typeface="Tahoma" pitchFamily="34" charset="0"/>
                <a:ea typeface="Tahoma" pitchFamily="34" charset="-122"/>
                <a:cs typeface="Tahoma" pitchFamily="34" charset="-120"/>
              </a:rPr>
              <a:t>و</a:t>
            </a:r>
            <a:r>
              <a:rPr lang="en-US" altLang="en-US" sz="1500" dirty="0">
                <a:solidFill>
                  <a:srgbClr val="263238"/>
                </a:solidFill>
                <a:latin typeface="Tahoma" pitchFamily="34" charset="0"/>
                <a:ea typeface="Tahoma" pitchFamily="34" charset="-122"/>
                <a:cs typeface="Tahoma" pitchFamily="34" charset="-120"/>
              </a:rPr>
              <a:t>  </a:t>
            </a:r>
            <a:r>
              <a:rPr lang="fa-IR" altLang="en-US" sz="1500" dirty="0">
                <a:solidFill>
                  <a:srgbClr val="263238"/>
                </a:solidFill>
                <a:latin typeface="Tahoma" pitchFamily="34" charset="0"/>
                <a:ea typeface="Tahoma" pitchFamily="34" charset="-122"/>
                <a:cs typeface="Tahoma" pitchFamily="34" charset="-120"/>
              </a:rPr>
              <a:t> </a:t>
            </a:r>
            <a:r>
              <a:rPr lang="en-US" altLang="en-US" sz="1500" dirty="0">
                <a:solidFill>
                  <a:srgbClr val="263238"/>
                </a:solidFill>
                <a:latin typeface="Tahoma" pitchFamily="34" charset="0"/>
                <a:ea typeface="Tahoma" pitchFamily="34" charset="-122"/>
                <a:cs typeface="Tahoma" pitchFamily="34" charset="-120"/>
              </a:rPr>
              <a:t>|</a:t>
            </a:r>
            <a:r>
              <a:rPr lang="fa-IR" altLang="en-US" sz="1500" dirty="0">
                <a:solidFill>
                  <a:srgbClr val="263238"/>
                </a:solidFill>
                <a:latin typeface="Tahoma" pitchFamily="34" charset="0"/>
                <a:ea typeface="Tahoma" pitchFamily="34" charset="-122"/>
                <a:cs typeface="Tahoma" pitchFamily="34" charset="-120"/>
              </a:rPr>
              <a:t>t</a:t>
            </a:r>
            <a:r>
              <a:rPr lang="en-US" altLang="en-US" sz="1500" dirty="0">
                <a:solidFill>
                  <a:srgbClr val="263238"/>
                </a:solidFill>
                <a:latin typeface="Tahoma" pitchFamily="34" charset="0"/>
                <a:ea typeface="Tahoma" pitchFamily="34" charset="-122"/>
                <a:cs typeface="Tahoma" pitchFamily="34" charset="-120"/>
              </a:rPr>
              <a:t>|</a:t>
            </a:r>
            <a:r>
              <a:rPr lang="fa-IR" altLang="en-US" sz="1500" dirty="0">
                <a:solidFill>
                  <a:srgbClr val="263238"/>
                </a:solidFill>
                <a:latin typeface="Tahoma" pitchFamily="34" charset="0"/>
                <a:ea typeface="Tahoma" pitchFamily="34" charset="-122"/>
                <a:cs typeface="Tahoma" pitchFamily="34" charset="-120"/>
              </a:rPr>
              <a:t> &gt; ۱/۹۶</a:t>
            </a:r>
            <a:endParaRPr lang="fa-IR" sz="1500" dirty="0"/>
          </a:p>
        </p:txBody>
      </p:sp>
      <p:sp>
        <p:nvSpPr>
          <p:cNvPr id="43" name="TextBox 42">
            <a:extLst>
              <a:ext uri="{FF2B5EF4-FFF2-40B4-BE49-F238E27FC236}">
                <a16:creationId xmlns:a16="http://schemas.microsoft.com/office/drawing/2014/main" id="{FD66F77F-64EB-71EB-11F7-462ADD7877A7}"/>
              </a:ext>
            </a:extLst>
          </p:cNvPr>
          <p:cNvSpPr txBox="1"/>
          <p:nvPr/>
        </p:nvSpPr>
        <p:spPr>
          <a:xfrm rot="10800000">
            <a:off x="6837930" y="5723140"/>
            <a:ext cx="419283" cy="323165"/>
          </a:xfrm>
          <a:prstGeom prst="rect">
            <a:avLst/>
          </a:prstGeom>
          <a:noFill/>
        </p:spPr>
        <p:txBody>
          <a:bodyPr wrap="square">
            <a:spAutoFit/>
          </a:bodyPr>
          <a:lstStyle/>
          <a:p>
            <a:r>
              <a:rPr lang="fa-IR" altLang="en-US" sz="1500" dirty="0">
                <a:solidFill>
                  <a:srgbClr val="263238"/>
                </a:solidFill>
                <a:latin typeface="Tahoma" pitchFamily="34" charset="0"/>
                <a:ea typeface="Tahoma" pitchFamily="34" charset="-122"/>
                <a:cs typeface="Tahoma" pitchFamily="34" charset="-120"/>
              </a:rPr>
              <a:t>&gt;</a:t>
            </a:r>
            <a:endParaRPr lang="en-US"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450" fill="hold"/>
                                        <p:tgtEl>
                                          <p:spTgt spid="10"/>
                                        </p:tgtEl>
                                        <p:attrNameLst>
                                          <p:attrName>ppt_w</p:attrName>
                                        </p:attrNameLst>
                                      </p:cBhvr>
                                      <p:tavLst>
                                        <p:tav tm="0">
                                          <p:val>
                                            <p:fltVal val="0"/>
                                          </p:val>
                                        </p:tav>
                                        <p:tav tm="100000">
                                          <p:val>
                                            <p:strVal val="#ppt_w"/>
                                          </p:val>
                                        </p:tav>
                                      </p:tavLst>
                                    </p:anim>
                                    <p:anim calcmode="lin" valueType="num">
                                      <p:cBhvr>
                                        <p:cTn id="8" dur="450" fill="hold"/>
                                        <p:tgtEl>
                                          <p:spTgt spid="10"/>
                                        </p:tgtEl>
                                        <p:attrNameLst>
                                          <p:attrName>ppt_h</p:attrName>
                                        </p:attrNameLst>
                                      </p:cBhvr>
                                      <p:tavLst>
                                        <p:tav tm="0">
                                          <p:val>
                                            <p:fltVal val="0"/>
                                          </p:val>
                                        </p:tav>
                                        <p:tav tm="100000">
                                          <p:val>
                                            <p:strVal val="#ppt_h"/>
                                          </p:val>
                                        </p:tav>
                                      </p:tavLst>
                                    </p:anim>
                                    <p:animEffect transition="in" filter="fade">
                                      <p:cBhvr>
                                        <p:cTn id="9" dur="45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450" fill="hold"/>
                                        <p:tgtEl>
                                          <p:spTgt spid="11"/>
                                        </p:tgtEl>
                                        <p:attrNameLst>
                                          <p:attrName>ppt_w</p:attrName>
                                        </p:attrNameLst>
                                      </p:cBhvr>
                                      <p:tavLst>
                                        <p:tav tm="0">
                                          <p:val>
                                            <p:fltVal val="0"/>
                                          </p:val>
                                        </p:tav>
                                        <p:tav tm="100000">
                                          <p:val>
                                            <p:strVal val="#ppt_w"/>
                                          </p:val>
                                        </p:tav>
                                      </p:tavLst>
                                    </p:anim>
                                    <p:anim calcmode="lin" valueType="num">
                                      <p:cBhvr>
                                        <p:cTn id="13" dur="450" fill="hold"/>
                                        <p:tgtEl>
                                          <p:spTgt spid="11"/>
                                        </p:tgtEl>
                                        <p:attrNameLst>
                                          <p:attrName>ppt_h</p:attrName>
                                        </p:attrNameLst>
                                      </p:cBhvr>
                                      <p:tavLst>
                                        <p:tav tm="0">
                                          <p:val>
                                            <p:fltVal val="0"/>
                                          </p:val>
                                        </p:tav>
                                        <p:tav tm="100000">
                                          <p:val>
                                            <p:strVal val="#ppt_h"/>
                                          </p:val>
                                        </p:tav>
                                      </p:tavLst>
                                    </p:anim>
                                    <p:animEffect transition="in" filter="fade">
                                      <p:cBhvr>
                                        <p:cTn id="14" dur="450"/>
                                        <p:tgtEl>
                                          <p:spTgt spid="11"/>
                                        </p:tgtEl>
                                      </p:cBhvr>
                                    </p:animEffect>
                                  </p:childTnLst>
                                </p:cTn>
                              </p:par>
                              <p:par>
                                <p:cTn id="15" presetID="53" presetClass="entr" presetSubtype="16"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450" fill="hold"/>
                                        <p:tgtEl>
                                          <p:spTgt spid="12"/>
                                        </p:tgtEl>
                                        <p:attrNameLst>
                                          <p:attrName>ppt_w</p:attrName>
                                        </p:attrNameLst>
                                      </p:cBhvr>
                                      <p:tavLst>
                                        <p:tav tm="0">
                                          <p:val>
                                            <p:fltVal val="0"/>
                                          </p:val>
                                        </p:tav>
                                        <p:tav tm="100000">
                                          <p:val>
                                            <p:strVal val="#ppt_w"/>
                                          </p:val>
                                        </p:tav>
                                      </p:tavLst>
                                    </p:anim>
                                    <p:anim calcmode="lin" valueType="num">
                                      <p:cBhvr>
                                        <p:cTn id="18" dur="450" fill="hold"/>
                                        <p:tgtEl>
                                          <p:spTgt spid="12"/>
                                        </p:tgtEl>
                                        <p:attrNameLst>
                                          <p:attrName>ppt_h</p:attrName>
                                        </p:attrNameLst>
                                      </p:cBhvr>
                                      <p:tavLst>
                                        <p:tav tm="0">
                                          <p:val>
                                            <p:fltVal val="0"/>
                                          </p:val>
                                        </p:tav>
                                        <p:tav tm="100000">
                                          <p:val>
                                            <p:strVal val="#ppt_h"/>
                                          </p:val>
                                        </p:tav>
                                      </p:tavLst>
                                    </p:anim>
                                    <p:animEffect transition="in" filter="fade">
                                      <p:cBhvr>
                                        <p:cTn id="19" dur="450"/>
                                        <p:tgtEl>
                                          <p:spTgt spid="12"/>
                                        </p:tgtEl>
                                      </p:cBhvr>
                                    </p:animEffect>
                                  </p:childTnLst>
                                </p:cTn>
                              </p:par>
                            </p:childTnLst>
                          </p:cTn>
                        </p:par>
                        <p:par>
                          <p:cTn id="20" fill="hold">
                            <p:stCondLst>
                              <p:cond delay="300"/>
                            </p:stCondLst>
                            <p:childTnLst>
                              <p:par>
                                <p:cTn id="21" presetID="10" presetClass="entr" presetSubtype="0"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50"/>
                                        <p:tgtEl>
                                          <p:spTgt spid="13"/>
                                        </p:tgtEl>
                                      </p:cBhvr>
                                    </p:animEffect>
                                  </p:childTnLst>
                                </p:cTn>
                              </p:par>
                              <p:par>
                                <p:cTn id="24" presetID="53" presetClass="entr" presetSubtype="16"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450" fill="hold"/>
                                        <p:tgtEl>
                                          <p:spTgt spid="14"/>
                                        </p:tgtEl>
                                        <p:attrNameLst>
                                          <p:attrName>ppt_w</p:attrName>
                                        </p:attrNameLst>
                                      </p:cBhvr>
                                      <p:tavLst>
                                        <p:tav tm="0">
                                          <p:val>
                                            <p:fltVal val="0"/>
                                          </p:val>
                                        </p:tav>
                                        <p:tav tm="100000">
                                          <p:val>
                                            <p:strVal val="#ppt_w"/>
                                          </p:val>
                                        </p:tav>
                                      </p:tavLst>
                                    </p:anim>
                                    <p:anim calcmode="lin" valueType="num">
                                      <p:cBhvr>
                                        <p:cTn id="27" dur="450" fill="hold"/>
                                        <p:tgtEl>
                                          <p:spTgt spid="14"/>
                                        </p:tgtEl>
                                        <p:attrNameLst>
                                          <p:attrName>ppt_h</p:attrName>
                                        </p:attrNameLst>
                                      </p:cBhvr>
                                      <p:tavLst>
                                        <p:tav tm="0">
                                          <p:val>
                                            <p:fltVal val="0"/>
                                          </p:val>
                                        </p:tav>
                                        <p:tav tm="100000">
                                          <p:val>
                                            <p:strVal val="#ppt_h"/>
                                          </p:val>
                                        </p:tav>
                                      </p:tavLst>
                                    </p:anim>
                                    <p:animEffect transition="in" filter="fade">
                                      <p:cBhvr>
                                        <p:cTn id="28" dur="450"/>
                                        <p:tgtEl>
                                          <p:spTgt spid="14"/>
                                        </p:tgtEl>
                                      </p:cBhvr>
                                    </p:animEffect>
                                  </p:childTnLst>
                                </p:cTn>
                              </p:par>
                              <p:par>
                                <p:cTn id="29" presetID="53" presetClass="entr" presetSubtype="16"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450" fill="hold"/>
                                        <p:tgtEl>
                                          <p:spTgt spid="15"/>
                                        </p:tgtEl>
                                        <p:attrNameLst>
                                          <p:attrName>ppt_w</p:attrName>
                                        </p:attrNameLst>
                                      </p:cBhvr>
                                      <p:tavLst>
                                        <p:tav tm="0">
                                          <p:val>
                                            <p:fltVal val="0"/>
                                          </p:val>
                                        </p:tav>
                                        <p:tav tm="100000">
                                          <p:val>
                                            <p:strVal val="#ppt_w"/>
                                          </p:val>
                                        </p:tav>
                                      </p:tavLst>
                                    </p:anim>
                                    <p:anim calcmode="lin" valueType="num">
                                      <p:cBhvr>
                                        <p:cTn id="32" dur="450" fill="hold"/>
                                        <p:tgtEl>
                                          <p:spTgt spid="15"/>
                                        </p:tgtEl>
                                        <p:attrNameLst>
                                          <p:attrName>ppt_h</p:attrName>
                                        </p:attrNameLst>
                                      </p:cBhvr>
                                      <p:tavLst>
                                        <p:tav tm="0">
                                          <p:val>
                                            <p:fltVal val="0"/>
                                          </p:val>
                                        </p:tav>
                                        <p:tav tm="100000">
                                          <p:val>
                                            <p:strVal val="#ppt_h"/>
                                          </p:val>
                                        </p:tav>
                                      </p:tavLst>
                                    </p:anim>
                                    <p:animEffect transition="in" filter="fade">
                                      <p:cBhvr>
                                        <p:cTn id="33" dur="450"/>
                                        <p:tgtEl>
                                          <p:spTgt spid="15"/>
                                        </p:tgtEl>
                                      </p:cBhvr>
                                    </p:animEffect>
                                  </p:childTnLst>
                                </p:cTn>
                              </p:par>
                              <p:par>
                                <p:cTn id="34" presetID="53" presetClass="entr" presetSubtype="16"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450" fill="hold"/>
                                        <p:tgtEl>
                                          <p:spTgt spid="16"/>
                                        </p:tgtEl>
                                        <p:attrNameLst>
                                          <p:attrName>ppt_w</p:attrName>
                                        </p:attrNameLst>
                                      </p:cBhvr>
                                      <p:tavLst>
                                        <p:tav tm="0">
                                          <p:val>
                                            <p:fltVal val="0"/>
                                          </p:val>
                                        </p:tav>
                                        <p:tav tm="100000">
                                          <p:val>
                                            <p:strVal val="#ppt_w"/>
                                          </p:val>
                                        </p:tav>
                                      </p:tavLst>
                                    </p:anim>
                                    <p:anim calcmode="lin" valueType="num">
                                      <p:cBhvr>
                                        <p:cTn id="37" dur="450" fill="hold"/>
                                        <p:tgtEl>
                                          <p:spTgt spid="16"/>
                                        </p:tgtEl>
                                        <p:attrNameLst>
                                          <p:attrName>ppt_h</p:attrName>
                                        </p:attrNameLst>
                                      </p:cBhvr>
                                      <p:tavLst>
                                        <p:tav tm="0">
                                          <p:val>
                                            <p:fltVal val="0"/>
                                          </p:val>
                                        </p:tav>
                                        <p:tav tm="100000">
                                          <p:val>
                                            <p:strVal val="#ppt_h"/>
                                          </p:val>
                                        </p:tav>
                                      </p:tavLst>
                                    </p:anim>
                                    <p:animEffect transition="in" filter="fade">
                                      <p:cBhvr>
                                        <p:cTn id="38" dur="450"/>
                                        <p:tgtEl>
                                          <p:spTgt spid="16"/>
                                        </p:tgtEl>
                                      </p:cBhvr>
                                    </p:animEffect>
                                  </p:childTnLst>
                                </p:cTn>
                              </p:par>
                            </p:childTnLst>
                          </p:cTn>
                        </p:par>
                        <p:par>
                          <p:cTn id="39" fill="hold">
                            <p:stCondLst>
                              <p:cond delay="600"/>
                            </p:stCondLst>
                            <p:childTnLst>
                              <p:par>
                                <p:cTn id="40" presetID="10" presetClass="entr" presetSubtype="0" fill="hold"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53" presetClass="entr" presetSubtype="16"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p:cTn id="45" dur="450" fill="hold"/>
                                        <p:tgtEl>
                                          <p:spTgt spid="18"/>
                                        </p:tgtEl>
                                        <p:attrNameLst>
                                          <p:attrName>ppt_w</p:attrName>
                                        </p:attrNameLst>
                                      </p:cBhvr>
                                      <p:tavLst>
                                        <p:tav tm="0">
                                          <p:val>
                                            <p:fltVal val="0"/>
                                          </p:val>
                                        </p:tav>
                                        <p:tav tm="100000">
                                          <p:val>
                                            <p:strVal val="#ppt_w"/>
                                          </p:val>
                                        </p:tav>
                                      </p:tavLst>
                                    </p:anim>
                                    <p:anim calcmode="lin" valueType="num">
                                      <p:cBhvr>
                                        <p:cTn id="46" dur="450" fill="hold"/>
                                        <p:tgtEl>
                                          <p:spTgt spid="18"/>
                                        </p:tgtEl>
                                        <p:attrNameLst>
                                          <p:attrName>ppt_h</p:attrName>
                                        </p:attrNameLst>
                                      </p:cBhvr>
                                      <p:tavLst>
                                        <p:tav tm="0">
                                          <p:val>
                                            <p:fltVal val="0"/>
                                          </p:val>
                                        </p:tav>
                                        <p:tav tm="100000">
                                          <p:val>
                                            <p:strVal val="#ppt_h"/>
                                          </p:val>
                                        </p:tav>
                                      </p:tavLst>
                                    </p:anim>
                                    <p:animEffect transition="in" filter="fade">
                                      <p:cBhvr>
                                        <p:cTn id="47" dur="450"/>
                                        <p:tgtEl>
                                          <p:spTgt spid="18"/>
                                        </p:tgtEl>
                                      </p:cBhvr>
                                    </p:animEffect>
                                  </p:childTnLst>
                                </p:cTn>
                              </p:par>
                              <p:par>
                                <p:cTn id="48" presetID="53" presetClass="entr" presetSubtype="16" fill="hold"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p:cTn id="50" dur="450" fill="hold"/>
                                        <p:tgtEl>
                                          <p:spTgt spid="19"/>
                                        </p:tgtEl>
                                        <p:attrNameLst>
                                          <p:attrName>ppt_w</p:attrName>
                                        </p:attrNameLst>
                                      </p:cBhvr>
                                      <p:tavLst>
                                        <p:tav tm="0">
                                          <p:val>
                                            <p:fltVal val="0"/>
                                          </p:val>
                                        </p:tav>
                                        <p:tav tm="100000">
                                          <p:val>
                                            <p:strVal val="#ppt_w"/>
                                          </p:val>
                                        </p:tav>
                                      </p:tavLst>
                                    </p:anim>
                                    <p:anim calcmode="lin" valueType="num">
                                      <p:cBhvr>
                                        <p:cTn id="51" dur="450" fill="hold"/>
                                        <p:tgtEl>
                                          <p:spTgt spid="19"/>
                                        </p:tgtEl>
                                        <p:attrNameLst>
                                          <p:attrName>ppt_h</p:attrName>
                                        </p:attrNameLst>
                                      </p:cBhvr>
                                      <p:tavLst>
                                        <p:tav tm="0">
                                          <p:val>
                                            <p:fltVal val="0"/>
                                          </p:val>
                                        </p:tav>
                                        <p:tav tm="100000">
                                          <p:val>
                                            <p:strVal val="#ppt_h"/>
                                          </p:val>
                                        </p:tav>
                                      </p:tavLst>
                                    </p:anim>
                                    <p:animEffect transition="in" filter="fade">
                                      <p:cBhvr>
                                        <p:cTn id="52" dur="450"/>
                                        <p:tgtEl>
                                          <p:spTgt spid="19"/>
                                        </p:tgtEl>
                                      </p:cBhvr>
                                    </p:animEffect>
                                  </p:childTnLst>
                                </p:cTn>
                              </p:par>
                              <p:par>
                                <p:cTn id="53" presetID="53" presetClass="entr" presetSubtype="16"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p:cTn id="55" dur="450" fill="hold"/>
                                        <p:tgtEl>
                                          <p:spTgt spid="20"/>
                                        </p:tgtEl>
                                        <p:attrNameLst>
                                          <p:attrName>ppt_w</p:attrName>
                                        </p:attrNameLst>
                                      </p:cBhvr>
                                      <p:tavLst>
                                        <p:tav tm="0">
                                          <p:val>
                                            <p:fltVal val="0"/>
                                          </p:val>
                                        </p:tav>
                                        <p:tav tm="100000">
                                          <p:val>
                                            <p:strVal val="#ppt_w"/>
                                          </p:val>
                                        </p:tav>
                                      </p:tavLst>
                                    </p:anim>
                                    <p:anim calcmode="lin" valueType="num">
                                      <p:cBhvr>
                                        <p:cTn id="56" dur="450" fill="hold"/>
                                        <p:tgtEl>
                                          <p:spTgt spid="20"/>
                                        </p:tgtEl>
                                        <p:attrNameLst>
                                          <p:attrName>ppt_h</p:attrName>
                                        </p:attrNameLst>
                                      </p:cBhvr>
                                      <p:tavLst>
                                        <p:tav tm="0">
                                          <p:val>
                                            <p:fltVal val="0"/>
                                          </p:val>
                                        </p:tav>
                                        <p:tav tm="100000">
                                          <p:val>
                                            <p:strVal val="#ppt_h"/>
                                          </p:val>
                                        </p:tav>
                                      </p:tavLst>
                                    </p:anim>
                                    <p:animEffect transition="in" filter="fade">
                                      <p:cBhvr>
                                        <p:cTn id="57" dur="450"/>
                                        <p:tgtEl>
                                          <p:spTgt spid="20"/>
                                        </p:tgtEl>
                                      </p:cBhvr>
                                    </p:animEffect>
                                  </p:childTnLst>
                                </p:cTn>
                              </p:par>
                            </p:childTnLst>
                          </p:cTn>
                        </p:par>
                        <p:par>
                          <p:cTn id="58" fill="hold">
                            <p:stCondLst>
                              <p:cond delay="900"/>
                            </p:stCondLst>
                            <p:childTnLst>
                              <p:par>
                                <p:cTn id="59" presetID="10" presetClass="entr" presetSubtype="0" fill="hold"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450"/>
                                        <p:tgtEl>
                                          <p:spTgt spid="12"/>
                                        </p:tgtEl>
                                      </p:cBhvr>
                                    </p:animEffect>
                                  </p:childTnLst>
                                </p:cTn>
                              </p:par>
                            </p:childTnLst>
                          </p:cTn>
                        </p:par>
                        <p:par>
                          <p:cTn id="62" fill="hold">
                            <p:stCondLst>
                              <p:cond delay="1200"/>
                            </p:stCondLst>
                            <p:childTnLst>
                              <p:par>
                                <p:cTn id="63" presetID="10" presetClass="entr" presetSubtype="0" fill="hold" nodeType="after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22" presetClass="entr" presetSubtype="2"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wipe(right)">
                                      <p:cBhvr>
                                        <p:cTn id="68" dur="450"/>
                                        <p:tgtEl>
                                          <p:spTgt spid="28"/>
                                        </p:tgtEl>
                                      </p:cBhvr>
                                    </p:animEffect>
                                  </p:childTnLst>
                                </p:cTn>
                              </p:par>
                              <p:par>
                                <p:cTn id="69" presetID="10" presetClass="entr" presetSubtype="0" fill="hold"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50"/>
                                        <p:tgtEl>
                                          <p:spTgt spid="29"/>
                                        </p:tgtEl>
                                      </p:cBhvr>
                                    </p:animEffect>
                                  </p:childTnLst>
                                </p:cTn>
                              </p:par>
                            </p:childTnLst>
                          </p:cTn>
                        </p:par>
                        <p:par>
                          <p:cTn id="72" fill="hold">
                            <p:stCondLst>
                              <p:cond delay="1500"/>
                            </p:stCondLst>
                            <p:childTnLst>
                              <p:par>
                                <p:cTn id="73" presetID="10" presetClass="entr" presetSubtype="0" fill="hold"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450"/>
                                        <p:tgtEl>
                                          <p:spTgt spid="30"/>
                                        </p:tgtEl>
                                      </p:cBhvr>
                                    </p:animEffect>
                                  </p:childTnLst>
                                </p:cTn>
                              </p:par>
                              <p:par>
                                <p:cTn id="76" presetID="22" presetClass="entr" presetSubtype="2" fill="hold"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wipe(right)">
                                      <p:cBhvr>
                                        <p:cTn id="78" dur="450"/>
                                        <p:tgtEl>
                                          <p:spTgt spid="31"/>
                                        </p:tgtEl>
                                      </p:cBhvr>
                                    </p:animEffect>
                                  </p:childTnLst>
                                </p:cTn>
                              </p:par>
                              <p:par>
                                <p:cTn id="79" presetID="10" presetClass="entr" presetSubtype="0" fill="hold"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450"/>
                                        <p:tgtEl>
                                          <p:spTgt spid="32"/>
                                        </p:tgtEl>
                                      </p:cBhvr>
                                    </p:animEffect>
                                  </p:childTnLst>
                                </p:cTn>
                              </p:par>
                            </p:childTnLst>
                          </p:cTn>
                        </p:par>
                        <p:par>
                          <p:cTn id="82" fill="hold">
                            <p:stCondLst>
                              <p:cond delay="1800"/>
                            </p:stCondLst>
                            <p:childTnLst>
                              <p:par>
                                <p:cTn id="83" presetID="10" presetClass="entr" presetSubtype="0" fill="hold" nodeType="after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50"/>
                                        <p:tgtEl>
                                          <p:spTgt spid="33"/>
                                        </p:tgtEl>
                                      </p:cBhvr>
                                    </p:animEffect>
                                  </p:childTnLst>
                                </p:cTn>
                              </p:par>
                              <p:par>
                                <p:cTn id="86" presetID="22" presetClass="entr" presetSubtype="8" fill="hold"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wipe(left)">
                                      <p:cBhvr>
                                        <p:cTn id="88" dur="450"/>
                                        <p:tgtEl>
                                          <p:spTgt spid="34"/>
                                        </p:tgtEl>
                                      </p:cBhvr>
                                    </p:animEffect>
                                  </p:childTnLst>
                                </p:cTn>
                              </p:par>
                              <p:par>
                                <p:cTn id="89" presetID="10" presetClass="entr" presetSubtype="0" fill="hold"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450"/>
                                        <p:tgtEl>
                                          <p:spTgt spid="35"/>
                                        </p:tgtEl>
                                      </p:cBhvr>
                                    </p:animEffect>
                                  </p:childTnLst>
                                </p:cTn>
                              </p:par>
                            </p:childTnLst>
                          </p:cTn>
                        </p:par>
                        <p:par>
                          <p:cTn id="92" fill="hold">
                            <p:stCondLst>
                              <p:cond delay="2100"/>
                            </p:stCondLst>
                            <p:childTnLst>
                              <p:par>
                                <p:cTn id="93" presetID="10" presetClass="entr" presetSubtype="0" fill="hold" nodeType="after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450"/>
                                        <p:tgtEl>
                                          <p:spTgt spid="36"/>
                                        </p:tgtEl>
                                      </p:cBhvr>
                                    </p:animEffect>
                                  </p:childTnLst>
                                </p:cTn>
                              </p:par>
                              <p:par>
                                <p:cTn id="96" presetID="22" presetClass="entr" presetSubtype="2" fill="hold" nodeType="with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wipe(right)">
                                      <p:cBhvr>
                                        <p:cTn id="98" dur="450"/>
                                        <p:tgtEl>
                                          <p:spTgt spid="37"/>
                                        </p:tgtEl>
                                      </p:cBhvr>
                                    </p:animEffect>
                                  </p:childTnLst>
                                </p:cTn>
                              </p:par>
                              <p:par>
                                <p:cTn id="99" presetID="10" presetClass="entr" presetSubtype="0" fill="hold" nodeType="with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450"/>
                                        <p:tgtEl>
                                          <p:spTgt spid="38"/>
                                        </p:tgtEl>
                                      </p:cBhvr>
                                    </p:animEffect>
                                  </p:childTnLst>
                                </p:cTn>
                              </p:par>
                            </p:childTnLst>
                          </p:cTn>
                        </p:par>
                        <p:par>
                          <p:cTn id="102" fill="hold">
                            <p:stCondLst>
                              <p:cond delay="2400"/>
                            </p:stCondLst>
                            <p:childTnLst>
                              <p:par>
                                <p:cTn id="103" presetID="53" presetClass="entr" presetSubtype="16" fill="hold" nodeType="afterEffect">
                                  <p:stCondLst>
                                    <p:cond delay="0"/>
                                  </p:stCondLst>
                                  <p:childTnLst>
                                    <p:set>
                                      <p:cBhvr>
                                        <p:cTn id="104" dur="1" fill="hold">
                                          <p:stCondLst>
                                            <p:cond delay="0"/>
                                          </p:stCondLst>
                                        </p:cTn>
                                        <p:tgtEl>
                                          <p:spTgt spid="39"/>
                                        </p:tgtEl>
                                        <p:attrNameLst>
                                          <p:attrName>style.visibility</p:attrName>
                                        </p:attrNameLst>
                                      </p:cBhvr>
                                      <p:to>
                                        <p:strVal val="visible"/>
                                      </p:to>
                                    </p:set>
                                    <p:anim calcmode="lin" valueType="num">
                                      <p:cBhvr>
                                        <p:cTn id="105" dur="450" fill="hold"/>
                                        <p:tgtEl>
                                          <p:spTgt spid="39"/>
                                        </p:tgtEl>
                                        <p:attrNameLst>
                                          <p:attrName>ppt_w</p:attrName>
                                        </p:attrNameLst>
                                      </p:cBhvr>
                                      <p:tavLst>
                                        <p:tav tm="0">
                                          <p:val>
                                            <p:fltVal val="0"/>
                                          </p:val>
                                        </p:tav>
                                        <p:tav tm="100000">
                                          <p:val>
                                            <p:strVal val="#ppt_w"/>
                                          </p:val>
                                        </p:tav>
                                      </p:tavLst>
                                    </p:anim>
                                    <p:anim calcmode="lin" valueType="num">
                                      <p:cBhvr>
                                        <p:cTn id="106" dur="450" fill="hold"/>
                                        <p:tgtEl>
                                          <p:spTgt spid="39"/>
                                        </p:tgtEl>
                                        <p:attrNameLst>
                                          <p:attrName>ppt_h</p:attrName>
                                        </p:attrNameLst>
                                      </p:cBhvr>
                                      <p:tavLst>
                                        <p:tav tm="0">
                                          <p:val>
                                            <p:fltVal val="0"/>
                                          </p:val>
                                        </p:tav>
                                        <p:tav tm="100000">
                                          <p:val>
                                            <p:strVal val="#ppt_h"/>
                                          </p:val>
                                        </p:tav>
                                      </p:tavLst>
                                    </p:anim>
                                    <p:animEffect transition="in" filter="fade">
                                      <p:cBhvr>
                                        <p:cTn id="107" dur="450"/>
                                        <p:tgtEl>
                                          <p:spTgt spid="39"/>
                                        </p:tgtEl>
                                      </p:cBhvr>
                                    </p:animEffect>
                                  </p:childTnLst>
                                </p:cTn>
                              </p:par>
                              <p:par>
                                <p:cTn id="108" presetID="53" presetClass="entr" presetSubtype="16" fill="hold" nodeType="withEffect">
                                  <p:stCondLst>
                                    <p:cond delay="0"/>
                                  </p:stCondLst>
                                  <p:childTnLst>
                                    <p:set>
                                      <p:cBhvr>
                                        <p:cTn id="109" dur="1" fill="hold">
                                          <p:stCondLst>
                                            <p:cond delay="0"/>
                                          </p:stCondLst>
                                        </p:cTn>
                                        <p:tgtEl>
                                          <p:spTgt spid="40"/>
                                        </p:tgtEl>
                                        <p:attrNameLst>
                                          <p:attrName>style.visibility</p:attrName>
                                        </p:attrNameLst>
                                      </p:cBhvr>
                                      <p:to>
                                        <p:strVal val="visible"/>
                                      </p:to>
                                    </p:set>
                                    <p:anim calcmode="lin" valueType="num">
                                      <p:cBhvr>
                                        <p:cTn id="110" dur="450" fill="hold"/>
                                        <p:tgtEl>
                                          <p:spTgt spid="40"/>
                                        </p:tgtEl>
                                        <p:attrNameLst>
                                          <p:attrName>ppt_w</p:attrName>
                                        </p:attrNameLst>
                                      </p:cBhvr>
                                      <p:tavLst>
                                        <p:tav tm="0">
                                          <p:val>
                                            <p:fltVal val="0"/>
                                          </p:val>
                                        </p:tav>
                                        <p:tav tm="100000">
                                          <p:val>
                                            <p:strVal val="#ppt_w"/>
                                          </p:val>
                                        </p:tav>
                                      </p:tavLst>
                                    </p:anim>
                                    <p:anim calcmode="lin" valueType="num">
                                      <p:cBhvr>
                                        <p:cTn id="111" dur="450" fill="hold"/>
                                        <p:tgtEl>
                                          <p:spTgt spid="40"/>
                                        </p:tgtEl>
                                        <p:attrNameLst>
                                          <p:attrName>ppt_h</p:attrName>
                                        </p:attrNameLst>
                                      </p:cBhvr>
                                      <p:tavLst>
                                        <p:tav tm="0">
                                          <p:val>
                                            <p:fltVal val="0"/>
                                          </p:val>
                                        </p:tav>
                                        <p:tav tm="100000">
                                          <p:val>
                                            <p:strVal val="#ppt_h"/>
                                          </p:val>
                                        </p:tav>
                                      </p:tavLst>
                                    </p:anim>
                                    <p:animEffect transition="in" filter="fade">
                                      <p:cBhvr>
                                        <p:cTn id="112" dur="450"/>
                                        <p:tgtEl>
                                          <p:spTgt spid="40"/>
                                        </p:tgtEl>
                                      </p:cBhvr>
                                    </p:animEffect>
                                  </p:childTnLst>
                                </p:cTn>
                              </p:par>
                              <p:par>
                                <p:cTn id="113" presetID="53" presetClass="entr" presetSubtype="16" fill="hold" nodeType="withEffect">
                                  <p:stCondLst>
                                    <p:cond delay="0"/>
                                  </p:stCondLst>
                                  <p:childTnLst>
                                    <p:set>
                                      <p:cBhvr>
                                        <p:cTn id="114" dur="1" fill="hold">
                                          <p:stCondLst>
                                            <p:cond delay="0"/>
                                          </p:stCondLst>
                                        </p:cTn>
                                        <p:tgtEl>
                                          <p:spTgt spid="41"/>
                                        </p:tgtEl>
                                        <p:attrNameLst>
                                          <p:attrName>style.visibility</p:attrName>
                                        </p:attrNameLst>
                                      </p:cBhvr>
                                      <p:to>
                                        <p:strVal val="visible"/>
                                      </p:to>
                                    </p:set>
                                    <p:anim calcmode="lin" valueType="num">
                                      <p:cBhvr>
                                        <p:cTn id="115" dur="450" fill="hold"/>
                                        <p:tgtEl>
                                          <p:spTgt spid="41"/>
                                        </p:tgtEl>
                                        <p:attrNameLst>
                                          <p:attrName>ppt_w</p:attrName>
                                        </p:attrNameLst>
                                      </p:cBhvr>
                                      <p:tavLst>
                                        <p:tav tm="0">
                                          <p:val>
                                            <p:fltVal val="0"/>
                                          </p:val>
                                        </p:tav>
                                        <p:tav tm="100000">
                                          <p:val>
                                            <p:strVal val="#ppt_w"/>
                                          </p:val>
                                        </p:tav>
                                      </p:tavLst>
                                    </p:anim>
                                    <p:anim calcmode="lin" valueType="num">
                                      <p:cBhvr>
                                        <p:cTn id="116" dur="450" fill="hold"/>
                                        <p:tgtEl>
                                          <p:spTgt spid="41"/>
                                        </p:tgtEl>
                                        <p:attrNameLst>
                                          <p:attrName>ppt_h</p:attrName>
                                        </p:attrNameLst>
                                      </p:cBhvr>
                                      <p:tavLst>
                                        <p:tav tm="0">
                                          <p:val>
                                            <p:fltVal val="0"/>
                                          </p:val>
                                        </p:tav>
                                        <p:tav tm="100000">
                                          <p:val>
                                            <p:strVal val="#ppt_h"/>
                                          </p:val>
                                        </p:tav>
                                      </p:tavLst>
                                    </p:anim>
                                    <p:animEffect transition="in" filter="fade">
                                      <p:cBhvr>
                                        <p:cTn id="117" dur="4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فرضیه جزئی اول</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۱۲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Text 7"/>
          <p:cNvSpPr txBox="1"/>
          <p:nvPr/>
        </p:nvSpPr>
        <p:spPr>
          <a:xfrm>
            <a:off x="457200" y="1097280"/>
            <a:ext cx="11247120" cy="365760"/>
          </a:xfrm>
          <a:prstGeom prst="rect">
            <a:avLst/>
          </a:prstGeom>
          <a:noFill/>
          <a:ln/>
        </p:spPr>
        <p:txBody>
          <a:bodyPr wrap="square" lIns="0" tIns="0" rIns="0" bIns="0" rtlCol="0" anchor="t"/>
          <a:lstStyle/>
          <a:p>
            <a:pPr marL="0" indent="0" algn="r" rtl="1">
              <a:buNone/>
            </a:pPr>
            <a:r>
              <a:rPr lang="fa-IR" altLang="en-US" sz="1500" b="1" dirty="0">
                <a:solidFill>
                  <a:srgbClr val="6D597A"/>
                </a:solidFill>
                <a:latin typeface="Tahoma" pitchFamily="34" charset="0"/>
                <a:ea typeface="Tahoma" pitchFamily="34" charset="-122"/>
                <a:cs typeface="Tahoma" pitchFamily="34" charset="-120"/>
              </a:rPr>
              <a:t>آسیب‌های دوران کودکی و سبک‌های هویتی در دانشجویان رابطه معنادار دارند</a:t>
            </a:r>
            <a:endParaRPr lang="fa-IR" sz="1500" dirty="0"/>
          </a:p>
        </p:txBody>
      </p:sp>
      <p:sp>
        <p:nvSpPr>
          <p:cNvPr id="11" name="A01_z_307c"/>
          <p:cNvSpPr/>
          <p:nvPr/>
        </p:nvSpPr>
        <p:spPr>
          <a:xfrm>
            <a:off x="9829800" y="2834640"/>
            <a:ext cx="1783080" cy="1783080"/>
          </a:xfrm>
          <a:prstGeom prst="ellipse">
            <a:avLst/>
          </a:prstGeom>
          <a:solidFill>
            <a:srgbClr val="D9674A"/>
          </a:solidFill>
          <a:ln w="12700">
            <a:solidFill>
              <a:srgbClr val="D9674A"/>
            </a:solidFill>
            <a:prstDash val="solid"/>
          </a:ln>
        </p:spPr>
      </p:sp>
      <p:pic>
        <p:nvPicPr>
          <p:cNvPr id="12" name="A01_z_308i" descr="preencoded.png"/>
          <p:cNvPicPr>
            <a:picLocks noChangeAspect="1"/>
          </p:cNvPicPr>
          <p:nvPr/>
        </p:nvPicPr>
        <p:blipFill>
          <a:blip r:embed="rId4"/>
          <a:stretch>
            <a:fillRect/>
          </a:stretch>
        </p:blipFill>
        <p:spPr>
          <a:xfrm>
            <a:off x="10488168" y="3017520"/>
            <a:ext cx="457200" cy="457200"/>
          </a:xfrm>
          <a:prstGeom prst="rect">
            <a:avLst/>
          </a:prstGeom>
        </p:spPr>
      </p:pic>
      <p:sp>
        <p:nvSpPr>
          <p:cNvPr id="13" name="A01_z_309"/>
          <p:cNvSpPr txBox="1"/>
          <p:nvPr/>
        </p:nvSpPr>
        <p:spPr>
          <a:xfrm>
            <a:off x="9921240" y="3520440"/>
            <a:ext cx="1600200" cy="822960"/>
          </a:xfrm>
          <a:prstGeom prst="rect">
            <a:avLst/>
          </a:prstGeom>
          <a:noFill/>
          <a:ln/>
        </p:spPr>
        <p:txBody>
          <a:bodyPr wrap="square" lIns="0" tIns="0" rIns="0" bIns="0" rtlCol="0" anchor="ct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آسیب‌های دوران کودکی</a:t>
            </a:r>
            <a:endParaRPr lang="fa-IR" sz="1300" dirty="0"/>
          </a:p>
        </p:txBody>
      </p:sp>
      <p:sp>
        <p:nvSpPr>
          <p:cNvPr id="14" name="A02_z_310b"/>
          <p:cNvSpPr/>
          <p:nvPr/>
        </p:nvSpPr>
        <p:spPr>
          <a:xfrm>
            <a:off x="6263640" y="1691640"/>
            <a:ext cx="1828800" cy="685800"/>
          </a:xfrm>
          <a:prstGeom prst="roundRect">
            <a:avLst>
              <a:gd name="adj" fmla="val 16000"/>
            </a:avLst>
          </a:prstGeom>
          <a:solidFill>
            <a:srgbClr val="EFEAF3"/>
          </a:solidFill>
          <a:ln w="12700">
            <a:solidFill>
              <a:srgbClr val="EFEAF3"/>
            </a:solidFill>
            <a:prstDash val="solid"/>
          </a:ln>
        </p:spPr>
      </p:sp>
      <p:sp>
        <p:nvSpPr>
          <p:cNvPr id="15" name="A02_z_311"/>
          <p:cNvSpPr txBox="1"/>
          <p:nvPr/>
        </p:nvSpPr>
        <p:spPr>
          <a:xfrm>
            <a:off x="6309360" y="1691640"/>
            <a:ext cx="1737360" cy="685800"/>
          </a:xfrm>
          <a:prstGeom prst="rect">
            <a:avLst/>
          </a:prstGeom>
          <a:noFill/>
          <a:ln/>
        </p:spPr>
        <p:txBody>
          <a:bodyPr wrap="square" lIns="0" tIns="0" rIns="0" bIns="0" rtlCol="0" anchor="ctr"/>
          <a:lstStyle/>
          <a:p>
            <a:pPr marL="0" indent="0" algn="ctr" rtl="1">
              <a:buNone/>
            </a:pPr>
            <a:r>
              <a:rPr lang="fa-IR" altLang="en-US" sz="1300" b="1" dirty="0">
                <a:solidFill>
                  <a:srgbClr val="6D597A"/>
                </a:solidFill>
                <a:latin typeface="Tahoma" pitchFamily="34" charset="0"/>
                <a:ea typeface="Tahoma" pitchFamily="34" charset="-122"/>
                <a:cs typeface="Tahoma" pitchFamily="34" charset="-120"/>
              </a:rPr>
              <a:t>هویت اطلاعاتی</a:t>
            </a:r>
            <a:endParaRPr lang="fa-IR" sz="1300" dirty="0"/>
          </a:p>
        </p:txBody>
      </p:sp>
      <p:sp>
        <p:nvSpPr>
          <p:cNvPr id="16" name="A02_f_312"/>
          <p:cNvSpPr/>
          <p:nvPr/>
        </p:nvSpPr>
        <p:spPr>
          <a:xfrm flipH="1" flipV="1">
            <a:off x="8129016" y="2034540"/>
            <a:ext cx="1839946" cy="1206222"/>
          </a:xfrm>
          <a:prstGeom prst="line">
            <a:avLst/>
          </a:prstGeom>
          <a:noFill/>
          <a:ln w="28575">
            <a:solidFill>
              <a:srgbClr val="D9674A"/>
            </a:solidFill>
            <a:prstDash val="solid"/>
            <a:tailEnd type="triangle"/>
          </a:ln>
        </p:spPr>
      </p:sp>
      <p:sp>
        <p:nvSpPr>
          <p:cNvPr id="17" name="A02_f_313t"/>
          <p:cNvSpPr/>
          <p:nvPr/>
        </p:nvSpPr>
        <p:spPr>
          <a:xfrm>
            <a:off x="8692373" y="2454771"/>
            <a:ext cx="694944" cy="365760"/>
          </a:xfrm>
          <a:prstGeom prst="roundRect">
            <a:avLst>
              <a:gd name="adj" fmla="val 30000"/>
            </a:avLst>
          </a:prstGeom>
          <a:solidFill>
            <a:srgbClr val="FFFFFF"/>
          </a:solidFill>
          <a:ln w="19050">
            <a:solidFill>
              <a:srgbClr val="D9674A"/>
            </a:solidFill>
            <a:prstDash val="solid"/>
          </a:ln>
        </p:spPr>
      </p:sp>
      <p:sp>
        <p:nvSpPr>
          <p:cNvPr id="18" name="A02_f_314"/>
          <p:cNvSpPr txBox="1"/>
          <p:nvPr/>
        </p:nvSpPr>
        <p:spPr>
          <a:xfrm>
            <a:off x="8692373" y="2454771"/>
            <a:ext cx="694944" cy="365760"/>
          </a:xfrm>
          <a:prstGeom prst="rect">
            <a:avLst/>
          </a:prstGeom>
          <a:noFill/>
          <a:ln/>
        </p:spPr>
        <p:txBody>
          <a:bodyPr wrap="square" lIns="0" tIns="0" rIns="0" bIns="0" rtlCol="0" anchor="ctr"/>
          <a:lstStyle/>
          <a:p>
            <a:pPr marL="0" indent="0" algn="ctr">
              <a:buNone/>
            </a:pPr>
            <a:r>
              <a:rPr lang="en-US" altLang="en-US" sz="1200" b="1" dirty="0">
                <a:solidFill>
                  <a:srgbClr val="D9674A"/>
                </a:solidFill>
                <a:latin typeface="Tahoma" pitchFamily="34" charset="0"/>
                <a:ea typeface="Tahoma" pitchFamily="34" charset="-122"/>
                <a:cs typeface="Tahoma" pitchFamily="34" charset="-120"/>
              </a:rPr>
              <a:t>-</a:t>
            </a:r>
            <a:r>
              <a:rPr lang="fa-IR" altLang="en-US" sz="1200" b="1" dirty="0">
                <a:solidFill>
                  <a:srgbClr val="D9674A"/>
                </a:solidFill>
                <a:latin typeface="Tahoma" pitchFamily="34" charset="0"/>
                <a:ea typeface="Tahoma" pitchFamily="34" charset="-122"/>
                <a:cs typeface="Tahoma" pitchFamily="34" charset="-120"/>
              </a:rPr>
              <a:t>‎۰/۲۳</a:t>
            </a:r>
            <a:endParaRPr lang="fa-IR" sz="1200" dirty="0"/>
          </a:p>
        </p:txBody>
      </p:sp>
      <p:sp>
        <p:nvSpPr>
          <p:cNvPr id="19" name="A03_z_315b"/>
          <p:cNvSpPr/>
          <p:nvPr/>
        </p:nvSpPr>
        <p:spPr>
          <a:xfrm>
            <a:off x="6263640" y="2788920"/>
            <a:ext cx="1828800" cy="685800"/>
          </a:xfrm>
          <a:prstGeom prst="roundRect">
            <a:avLst>
              <a:gd name="adj" fmla="val 16000"/>
            </a:avLst>
          </a:prstGeom>
          <a:solidFill>
            <a:srgbClr val="EFEAF3"/>
          </a:solidFill>
          <a:ln w="12700">
            <a:solidFill>
              <a:srgbClr val="EFEAF3"/>
            </a:solidFill>
            <a:prstDash val="solid"/>
          </a:ln>
        </p:spPr>
      </p:sp>
      <p:sp>
        <p:nvSpPr>
          <p:cNvPr id="20" name="A03_z_316"/>
          <p:cNvSpPr txBox="1"/>
          <p:nvPr/>
        </p:nvSpPr>
        <p:spPr>
          <a:xfrm>
            <a:off x="6309360" y="2788920"/>
            <a:ext cx="1737360" cy="685800"/>
          </a:xfrm>
          <a:prstGeom prst="rect">
            <a:avLst/>
          </a:prstGeom>
          <a:noFill/>
          <a:ln/>
        </p:spPr>
        <p:txBody>
          <a:bodyPr wrap="square" lIns="0" tIns="0" rIns="0" bIns="0" rtlCol="0" anchor="ctr"/>
          <a:lstStyle/>
          <a:p>
            <a:pPr marL="0" indent="0" algn="ctr" rtl="1">
              <a:buNone/>
            </a:pPr>
            <a:r>
              <a:rPr lang="fa-IR" altLang="en-US" sz="1300" b="1" dirty="0">
                <a:solidFill>
                  <a:srgbClr val="6D597A"/>
                </a:solidFill>
                <a:latin typeface="Tahoma" pitchFamily="34" charset="0"/>
                <a:ea typeface="Tahoma" pitchFamily="34" charset="-122"/>
                <a:cs typeface="Tahoma" pitchFamily="34" charset="-120"/>
              </a:rPr>
              <a:t>هویت هنجاری</a:t>
            </a:r>
            <a:endParaRPr lang="fa-IR" sz="1300" dirty="0"/>
          </a:p>
        </p:txBody>
      </p:sp>
      <p:sp>
        <p:nvSpPr>
          <p:cNvPr id="21" name="A03_f_317"/>
          <p:cNvSpPr/>
          <p:nvPr/>
        </p:nvSpPr>
        <p:spPr>
          <a:xfrm flipH="1" flipV="1">
            <a:off x="8129016" y="3131820"/>
            <a:ext cx="1718532" cy="396117"/>
          </a:xfrm>
          <a:prstGeom prst="line">
            <a:avLst/>
          </a:prstGeom>
          <a:noFill/>
          <a:ln w="28575">
            <a:solidFill>
              <a:srgbClr val="D9674A"/>
            </a:solidFill>
            <a:prstDash val="solid"/>
            <a:tailEnd type="triangle"/>
          </a:ln>
        </p:spPr>
      </p:sp>
      <p:sp>
        <p:nvSpPr>
          <p:cNvPr id="22" name="A03_f_318t"/>
          <p:cNvSpPr/>
          <p:nvPr/>
        </p:nvSpPr>
        <p:spPr>
          <a:xfrm>
            <a:off x="8631666" y="3146998"/>
            <a:ext cx="694944" cy="365760"/>
          </a:xfrm>
          <a:prstGeom prst="roundRect">
            <a:avLst>
              <a:gd name="adj" fmla="val 30000"/>
            </a:avLst>
          </a:prstGeom>
          <a:solidFill>
            <a:srgbClr val="FFFFFF"/>
          </a:solidFill>
          <a:ln w="19050">
            <a:solidFill>
              <a:srgbClr val="D9674A"/>
            </a:solidFill>
            <a:prstDash val="solid"/>
          </a:ln>
        </p:spPr>
      </p:sp>
      <p:sp>
        <p:nvSpPr>
          <p:cNvPr id="23" name="A03_f_319"/>
          <p:cNvSpPr txBox="1"/>
          <p:nvPr/>
        </p:nvSpPr>
        <p:spPr>
          <a:xfrm>
            <a:off x="8631666" y="3146998"/>
            <a:ext cx="694944" cy="365760"/>
          </a:xfrm>
          <a:prstGeom prst="rect">
            <a:avLst/>
          </a:prstGeom>
          <a:noFill/>
          <a:ln/>
        </p:spPr>
        <p:txBody>
          <a:bodyPr wrap="square" lIns="0" tIns="0" rIns="0" bIns="0" rtlCol="0" anchor="ctr"/>
          <a:lstStyle/>
          <a:p>
            <a:pPr marL="0" indent="0" algn="ctr">
              <a:buNone/>
            </a:pPr>
            <a:r>
              <a:rPr lang="en-US" altLang="en-US" sz="1200" b="1" dirty="0">
                <a:solidFill>
                  <a:srgbClr val="D9674A"/>
                </a:solidFill>
                <a:latin typeface="Tahoma" pitchFamily="34" charset="0"/>
                <a:ea typeface="Tahoma" pitchFamily="34" charset="-122"/>
                <a:cs typeface="Tahoma" pitchFamily="34" charset="-120"/>
              </a:rPr>
              <a:t>-</a:t>
            </a:r>
            <a:r>
              <a:rPr lang="fa-IR" altLang="en-US" sz="1200" b="1" dirty="0">
                <a:solidFill>
                  <a:srgbClr val="D9674A"/>
                </a:solidFill>
                <a:latin typeface="Tahoma" pitchFamily="34" charset="0"/>
                <a:ea typeface="Tahoma" pitchFamily="34" charset="-122"/>
                <a:cs typeface="Tahoma" pitchFamily="34" charset="-120"/>
              </a:rPr>
              <a:t>‎۰/۲۲</a:t>
            </a:r>
            <a:endParaRPr lang="fa-IR" sz="1200" dirty="0"/>
          </a:p>
        </p:txBody>
      </p:sp>
      <p:sp>
        <p:nvSpPr>
          <p:cNvPr id="24" name="A04_z_320b"/>
          <p:cNvSpPr/>
          <p:nvPr/>
        </p:nvSpPr>
        <p:spPr>
          <a:xfrm>
            <a:off x="6263640" y="3886200"/>
            <a:ext cx="1828800" cy="685800"/>
          </a:xfrm>
          <a:prstGeom prst="roundRect">
            <a:avLst>
              <a:gd name="adj" fmla="val 16000"/>
            </a:avLst>
          </a:prstGeom>
          <a:solidFill>
            <a:srgbClr val="EFEAF3"/>
          </a:solidFill>
          <a:ln w="12700">
            <a:solidFill>
              <a:srgbClr val="EFEAF3"/>
            </a:solidFill>
            <a:prstDash val="solid"/>
          </a:ln>
        </p:spPr>
      </p:sp>
      <p:sp>
        <p:nvSpPr>
          <p:cNvPr id="25" name="A04_z_321"/>
          <p:cNvSpPr txBox="1"/>
          <p:nvPr/>
        </p:nvSpPr>
        <p:spPr>
          <a:xfrm>
            <a:off x="6309360" y="3886200"/>
            <a:ext cx="1737360" cy="685800"/>
          </a:xfrm>
          <a:prstGeom prst="rect">
            <a:avLst/>
          </a:prstGeom>
          <a:noFill/>
          <a:ln/>
        </p:spPr>
        <p:txBody>
          <a:bodyPr wrap="square" lIns="0" tIns="0" rIns="0" bIns="0" rtlCol="0" anchor="ctr"/>
          <a:lstStyle/>
          <a:p>
            <a:pPr marL="0" indent="0" algn="ctr" rtl="1">
              <a:buNone/>
            </a:pPr>
            <a:r>
              <a:rPr lang="fa-IR" altLang="en-US" sz="1300" b="1" dirty="0">
                <a:solidFill>
                  <a:srgbClr val="6D597A"/>
                </a:solidFill>
                <a:latin typeface="Tahoma" pitchFamily="34" charset="0"/>
                <a:ea typeface="Tahoma" pitchFamily="34" charset="-122"/>
                <a:cs typeface="Tahoma" pitchFamily="34" charset="-120"/>
              </a:rPr>
              <a:t>هویت سردرگمی/</a:t>
            </a:r>
            <a:r>
              <a:rPr lang="fa-IR" altLang="en-US" sz="1300" b="1" dirty="0" err="1">
                <a:solidFill>
                  <a:srgbClr val="6D597A"/>
                </a:solidFill>
                <a:latin typeface="Tahoma" pitchFamily="34" charset="0"/>
                <a:ea typeface="Tahoma" pitchFamily="34" charset="-122"/>
                <a:cs typeface="Tahoma" pitchFamily="34" charset="-120"/>
              </a:rPr>
              <a:t>اجتنابی</a:t>
            </a:r>
            <a:endParaRPr lang="fa-IR" sz="1300" dirty="0"/>
          </a:p>
        </p:txBody>
      </p:sp>
      <p:sp>
        <p:nvSpPr>
          <p:cNvPr id="26" name="A04_f_322"/>
          <p:cNvSpPr/>
          <p:nvPr/>
        </p:nvSpPr>
        <p:spPr>
          <a:xfrm flipH="1">
            <a:off x="8129016" y="3895115"/>
            <a:ext cx="1712364" cy="333985"/>
          </a:xfrm>
          <a:prstGeom prst="line">
            <a:avLst/>
          </a:prstGeom>
          <a:noFill/>
          <a:ln w="28575">
            <a:solidFill>
              <a:srgbClr val="2A9D8F"/>
            </a:solidFill>
            <a:prstDash val="solid"/>
            <a:tailEnd type="triangle"/>
          </a:ln>
        </p:spPr>
      </p:sp>
      <p:sp>
        <p:nvSpPr>
          <p:cNvPr id="27" name="A04_f_323t"/>
          <p:cNvSpPr/>
          <p:nvPr/>
        </p:nvSpPr>
        <p:spPr>
          <a:xfrm>
            <a:off x="8628582" y="3879227"/>
            <a:ext cx="694944" cy="365760"/>
          </a:xfrm>
          <a:prstGeom prst="roundRect">
            <a:avLst>
              <a:gd name="adj" fmla="val 30000"/>
            </a:avLst>
          </a:prstGeom>
          <a:solidFill>
            <a:srgbClr val="FFFFFF"/>
          </a:solidFill>
          <a:ln w="19050">
            <a:solidFill>
              <a:srgbClr val="2A9D8F"/>
            </a:solidFill>
            <a:prstDash val="solid"/>
          </a:ln>
        </p:spPr>
      </p:sp>
      <p:sp>
        <p:nvSpPr>
          <p:cNvPr id="28" name="A04_f_324"/>
          <p:cNvSpPr txBox="1"/>
          <p:nvPr/>
        </p:nvSpPr>
        <p:spPr>
          <a:xfrm>
            <a:off x="8628582" y="3879227"/>
            <a:ext cx="694944" cy="365760"/>
          </a:xfrm>
          <a:prstGeom prst="rect">
            <a:avLst/>
          </a:prstGeom>
          <a:noFill/>
          <a:ln/>
        </p:spPr>
        <p:txBody>
          <a:bodyPr wrap="square" lIns="0" tIns="0" rIns="0" bIns="0" rtlCol="0" anchor="ctr"/>
          <a:lstStyle/>
          <a:p>
            <a:pPr marL="0" indent="0" algn="ctr">
              <a:buNone/>
            </a:pPr>
            <a:r>
              <a:rPr lang="fa-IR" altLang="en-US" sz="1200" b="1" dirty="0">
                <a:solidFill>
                  <a:srgbClr val="2A9D8F"/>
                </a:solidFill>
                <a:latin typeface="Tahoma" pitchFamily="34" charset="0"/>
                <a:ea typeface="Tahoma" pitchFamily="34" charset="-122"/>
                <a:cs typeface="Tahoma" pitchFamily="34" charset="-120"/>
              </a:rPr>
              <a:t>۰/۱۱</a:t>
            </a:r>
            <a:endParaRPr lang="fa-IR" sz="1200" dirty="0"/>
          </a:p>
        </p:txBody>
      </p:sp>
      <p:sp>
        <p:nvSpPr>
          <p:cNvPr id="29" name="A05_z_325b"/>
          <p:cNvSpPr/>
          <p:nvPr/>
        </p:nvSpPr>
        <p:spPr>
          <a:xfrm>
            <a:off x="6263640" y="4983480"/>
            <a:ext cx="1828800" cy="685800"/>
          </a:xfrm>
          <a:prstGeom prst="roundRect">
            <a:avLst>
              <a:gd name="adj" fmla="val 16000"/>
            </a:avLst>
          </a:prstGeom>
          <a:solidFill>
            <a:srgbClr val="EFEAF3"/>
          </a:solidFill>
          <a:ln w="12700">
            <a:solidFill>
              <a:srgbClr val="EFEAF3"/>
            </a:solidFill>
            <a:prstDash val="solid"/>
          </a:ln>
        </p:spPr>
      </p:sp>
      <p:sp>
        <p:nvSpPr>
          <p:cNvPr id="30" name="A05_z_326"/>
          <p:cNvSpPr txBox="1"/>
          <p:nvPr/>
        </p:nvSpPr>
        <p:spPr>
          <a:xfrm>
            <a:off x="6309360" y="4983480"/>
            <a:ext cx="1737360" cy="685800"/>
          </a:xfrm>
          <a:prstGeom prst="rect">
            <a:avLst/>
          </a:prstGeom>
          <a:noFill/>
          <a:ln/>
        </p:spPr>
        <p:txBody>
          <a:bodyPr wrap="square" lIns="0" tIns="0" rIns="0" bIns="0" rtlCol="0" anchor="ctr"/>
          <a:lstStyle/>
          <a:p>
            <a:pPr marL="0" indent="0" algn="ctr" rtl="1">
              <a:buNone/>
            </a:pPr>
            <a:r>
              <a:rPr lang="fa-IR" altLang="en-US" sz="1300" b="1" dirty="0">
                <a:solidFill>
                  <a:srgbClr val="6D597A"/>
                </a:solidFill>
                <a:latin typeface="Tahoma" pitchFamily="34" charset="0"/>
                <a:ea typeface="Tahoma" pitchFamily="34" charset="-122"/>
                <a:cs typeface="Tahoma" pitchFamily="34" charset="-120"/>
              </a:rPr>
              <a:t>تعهد</a:t>
            </a:r>
            <a:endParaRPr lang="fa-IR" sz="1300" dirty="0"/>
          </a:p>
        </p:txBody>
      </p:sp>
      <p:sp>
        <p:nvSpPr>
          <p:cNvPr id="31" name="A05_f_327"/>
          <p:cNvSpPr/>
          <p:nvPr/>
        </p:nvSpPr>
        <p:spPr>
          <a:xfrm flipH="1">
            <a:off x="8129016" y="4192690"/>
            <a:ext cx="1828007" cy="1133690"/>
          </a:xfrm>
          <a:prstGeom prst="line">
            <a:avLst/>
          </a:prstGeom>
          <a:noFill/>
          <a:ln w="28575">
            <a:solidFill>
              <a:srgbClr val="D9674A"/>
            </a:solidFill>
            <a:prstDash val="solid"/>
            <a:tailEnd type="triangle"/>
          </a:ln>
        </p:spPr>
      </p:sp>
      <p:sp>
        <p:nvSpPr>
          <p:cNvPr id="32" name="A05_f_328t"/>
          <p:cNvSpPr/>
          <p:nvPr/>
        </p:nvSpPr>
        <p:spPr>
          <a:xfrm>
            <a:off x="8686404" y="4576655"/>
            <a:ext cx="694944" cy="365760"/>
          </a:xfrm>
          <a:prstGeom prst="roundRect">
            <a:avLst>
              <a:gd name="adj" fmla="val 30000"/>
            </a:avLst>
          </a:prstGeom>
          <a:solidFill>
            <a:srgbClr val="FFFFFF"/>
          </a:solidFill>
          <a:ln w="19050">
            <a:solidFill>
              <a:srgbClr val="D9674A"/>
            </a:solidFill>
            <a:prstDash val="solid"/>
          </a:ln>
        </p:spPr>
      </p:sp>
      <p:sp>
        <p:nvSpPr>
          <p:cNvPr id="33" name="A05_f_329"/>
          <p:cNvSpPr txBox="1"/>
          <p:nvPr/>
        </p:nvSpPr>
        <p:spPr>
          <a:xfrm>
            <a:off x="8686404" y="4576655"/>
            <a:ext cx="694944" cy="365760"/>
          </a:xfrm>
          <a:prstGeom prst="rect">
            <a:avLst/>
          </a:prstGeom>
          <a:noFill/>
          <a:ln/>
        </p:spPr>
        <p:txBody>
          <a:bodyPr wrap="square" lIns="0" tIns="0" rIns="0" bIns="0" rtlCol="0" anchor="ctr"/>
          <a:lstStyle/>
          <a:p>
            <a:pPr marL="0" indent="0" algn="ctr">
              <a:buNone/>
            </a:pPr>
            <a:r>
              <a:rPr lang="en-US" altLang="en-US" sz="1200" b="1" dirty="0">
                <a:solidFill>
                  <a:srgbClr val="D9674A"/>
                </a:solidFill>
                <a:latin typeface="Tahoma" pitchFamily="34" charset="0"/>
                <a:ea typeface="Tahoma" pitchFamily="34" charset="-122"/>
                <a:cs typeface="Tahoma" pitchFamily="34" charset="-120"/>
              </a:rPr>
              <a:t>-</a:t>
            </a:r>
            <a:r>
              <a:rPr lang="fa-IR" altLang="en-US" sz="1200" b="1" dirty="0">
                <a:solidFill>
                  <a:srgbClr val="D9674A"/>
                </a:solidFill>
                <a:latin typeface="Tahoma" pitchFamily="34" charset="0"/>
                <a:ea typeface="Tahoma" pitchFamily="34" charset="-122"/>
                <a:cs typeface="Tahoma" pitchFamily="34" charset="-120"/>
              </a:rPr>
              <a:t>‎۰/۱۵</a:t>
            </a:r>
            <a:endParaRPr lang="fa-IR" sz="1200" dirty="0"/>
          </a:p>
        </p:txBody>
      </p:sp>
      <p:sp>
        <p:nvSpPr>
          <p:cNvPr id="34" name="Text 30"/>
          <p:cNvSpPr txBox="1"/>
          <p:nvPr/>
        </p:nvSpPr>
        <p:spPr>
          <a:xfrm>
            <a:off x="457200" y="1691640"/>
            <a:ext cx="5486400" cy="320040"/>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جدول ۴-۱۴- نتایج بخش ساختاری مدل پژوهش برای مسیرهای مستقیم</a:t>
            </a:r>
            <a:endParaRPr lang="fa-IR" sz="1200" dirty="0"/>
          </a:p>
        </p:txBody>
      </p:sp>
      <p:graphicFrame>
        <p:nvGraphicFramePr>
          <p:cNvPr id="35" name="A06_f_330"/>
          <p:cNvGraphicFramePr>
            <a:graphicFrameLocks noGrp="1"/>
          </p:cNvGraphicFramePr>
          <p:nvPr>
            <p:extLst>
              <p:ext uri="{D42A27DB-BD31-4B8C-83A1-F6EECF244321}">
                <p14:modId xmlns:p14="http://schemas.microsoft.com/office/powerpoint/2010/main" val="1418908953"/>
              </p:ext>
            </p:extLst>
          </p:nvPr>
        </p:nvGraphicFramePr>
        <p:xfrm>
          <a:off x="457200" y="2057400"/>
          <a:ext cx="5486400" cy="2834640"/>
        </p:xfrm>
        <a:graphic>
          <a:graphicData uri="http://schemas.openxmlformats.org/drawingml/2006/table">
            <a:tbl>
              <a:tblPr/>
              <a:tblGrid>
                <a:gridCol w="858644">
                  <a:extLst>
                    <a:ext uri="{9D8B030D-6E8A-4147-A177-3AD203B41FA5}">
                      <a16:colId xmlns:a16="http://schemas.microsoft.com/office/drawing/2014/main" val="20000"/>
                    </a:ext>
                  </a:extLst>
                </a:gridCol>
                <a:gridCol w="924436">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566928">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مقدار معناداری</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قدرمطلق t</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انحراف معیار</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ضریب مسیر</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50" b="1" dirty="0">
                          <a:solidFill>
                            <a:srgbClr val="FFFFFF"/>
                          </a:solidFill>
                          <a:latin typeface="Tahoma" pitchFamily="34" charset="0"/>
                          <a:ea typeface="Tahoma" pitchFamily="34" charset="-122"/>
                          <a:cs typeface="Tahoma" pitchFamily="34" charset="-120"/>
                        </a:rPr>
                        <a:t>مسیر مستقیم</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extLst>
                  <a:ext uri="{0D108BD9-81ED-4DB2-BD59-A6C34878D82A}">
                    <a16:rowId xmlns:a16="http://schemas.microsoft.com/office/drawing/2014/main" val="10000"/>
                  </a:ext>
                </a:extLst>
              </a:tr>
              <a:tr h="566928">
                <a:tc>
                  <a:txBody>
                    <a:bodyPr/>
                    <a:lstStyle/>
                    <a:p>
                      <a:pPr marL="0" indent="0" algn="ctr">
                        <a:buNone/>
                      </a:pPr>
                      <a:r>
                        <a:rPr lang="fa-IR" altLang="en-US" sz="1250" dirty="0">
                          <a:solidFill>
                            <a:srgbClr val="263238"/>
                          </a:solidFill>
                          <a:latin typeface="Tahoma" pitchFamily="34" charset="0"/>
                          <a:ea typeface="Tahoma" pitchFamily="34" charset="-122"/>
                          <a:cs typeface="Tahoma" pitchFamily="34" charset="-120"/>
                        </a:rPr>
                        <a:t>۰/۰۰۶</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۲/۷۷</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۰/۰۸</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b="1" dirty="0">
                          <a:solidFill>
                            <a:srgbClr val="D9674A"/>
                          </a:solidFill>
                          <a:latin typeface="Tahoma" pitchFamily="34" charset="0"/>
                          <a:ea typeface="Tahoma" pitchFamily="34" charset="-122"/>
                          <a:cs typeface="Tahoma" pitchFamily="34" charset="-120"/>
                        </a:rPr>
                        <a:t>‎۰/۲۳</a:t>
                      </a:r>
                      <a:r>
                        <a:rPr lang="en-US" altLang="en-US" sz="1250" b="1" dirty="0">
                          <a:solidFill>
                            <a:srgbClr val="D9674A"/>
                          </a:solidFill>
                          <a:latin typeface="Tahoma" pitchFamily="34" charset="0"/>
                          <a:ea typeface="Tahoma" pitchFamily="34" charset="-122"/>
                          <a:cs typeface="Tahoma" pitchFamily="34" charset="-120"/>
                        </a:rPr>
                        <a:t>-</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200" dirty="0">
                          <a:solidFill>
                            <a:srgbClr val="263238"/>
                          </a:solidFill>
                          <a:latin typeface="Tahoma" pitchFamily="34" charset="0"/>
                          <a:ea typeface="Tahoma" pitchFamily="34" charset="-122"/>
                          <a:cs typeface="Tahoma" pitchFamily="34" charset="-120"/>
                        </a:rPr>
                        <a:t>آسیب کودکی ← هویت اطلاعاتی</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fa-IR" altLang="en-US" sz="1250" dirty="0">
                          <a:solidFill>
                            <a:srgbClr val="263238"/>
                          </a:solidFill>
                          <a:latin typeface="Tahoma" pitchFamily="34" charset="0"/>
                          <a:ea typeface="Tahoma" pitchFamily="34" charset="-122"/>
                          <a:cs typeface="Tahoma" pitchFamily="34" charset="-120"/>
                        </a:rPr>
                        <a:t>۰/۰۳۴</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۲/۱۲</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۰/۱۰</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b="1" dirty="0">
                          <a:solidFill>
                            <a:srgbClr val="D9674A"/>
                          </a:solidFill>
                          <a:latin typeface="Tahoma" pitchFamily="34" charset="0"/>
                          <a:ea typeface="Tahoma" pitchFamily="34" charset="-122"/>
                          <a:cs typeface="Tahoma" pitchFamily="34" charset="-120"/>
                        </a:rPr>
                        <a:t>۰/۲۲</a:t>
                      </a:r>
                      <a:r>
                        <a:rPr lang="en-US" altLang="en-US" sz="1250" b="1" dirty="0">
                          <a:solidFill>
                            <a:srgbClr val="D9674A"/>
                          </a:solidFill>
                          <a:latin typeface="Tahoma" pitchFamily="34" charset="0"/>
                          <a:ea typeface="Tahoma" pitchFamily="34" charset="-122"/>
                          <a:cs typeface="Tahoma" pitchFamily="34" charset="-120"/>
                        </a:rPr>
                        <a:t>-</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200" dirty="0">
                          <a:solidFill>
                            <a:srgbClr val="263238"/>
                          </a:solidFill>
                          <a:latin typeface="Tahoma" pitchFamily="34" charset="0"/>
                          <a:ea typeface="Tahoma" pitchFamily="34" charset="-122"/>
                          <a:cs typeface="Tahoma" pitchFamily="34" charset="-120"/>
                        </a:rPr>
                        <a:t>آسیب کودکی ← هویت هنجاری</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566928">
                <a:tc>
                  <a:txBody>
                    <a:bodyPr/>
                    <a:lstStyle/>
                    <a:p>
                      <a:pPr marL="0" indent="0" algn="ctr">
                        <a:buNone/>
                      </a:pPr>
                      <a:r>
                        <a:rPr lang="fa-IR" altLang="en-US" sz="1250" dirty="0">
                          <a:solidFill>
                            <a:srgbClr val="263238"/>
                          </a:solidFill>
                          <a:latin typeface="Tahoma" pitchFamily="34" charset="0"/>
                          <a:ea typeface="Tahoma" pitchFamily="34" charset="-122"/>
                          <a:cs typeface="Tahoma" pitchFamily="34" charset="-120"/>
                        </a:rPr>
                        <a:t>۰/۰۳۳</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۲/۱۴</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۰/۰۵</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50" b="1" dirty="0">
                          <a:solidFill>
                            <a:srgbClr val="2A9D8F"/>
                          </a:solidFill>
                          <a:latin typeface="Tahoma" pitchFamily="34" charset="0"/>
                          <a:ea typeface="Tahoma" pitchFamily="34" charset="-122"/>
                          <a:cs typeface="Tahoma" pitchFamily="34" charset="-120"/>
                        </a:rPr>
                        <a:t>۰/۱۱</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200" dirty="0">
                          <a:solidFill>
                            <a:srgbClr val="263238"/>
                          </a:solidFill>
                          <a:latin typeface="Tahoma" pitchFamily="34" charset="0"/>
                          <a:ea typeface="Tahoma" pitchFamily="34" charset="-122"/>
                          <a:cs typeface="Tahoma" pitchFamily="34" charset="-120"/>
                        </a:rPr>
                        <a:t>آسیب کودکی ← هویت سردرگمی/</a:t>
                      </a:r>
                      <a:r>
                        <a:rPr lang="fa-IR" altLang="en-US" sz="1200" dirty="0" err="1">
                          <a:solidFill>
                            <a:srgbClr val="263238"/>
                          </a:solidFill>
                          <a:latin typeface="Tahoma" pitchFamily="34" charset="0"/>
                          <a:ea typeface="Tahoma" pitchFamily="34" charset="-122"/>
                          <a:cs typeface="Tahoma" pitchFamily="34" charset="-120"/>
                        </a:rPr>
                        <a:t>اجتنابی</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fa-IR" altLang="en-US" sz="1250" dirty="0">
                          <a:solidFill>
                            <a:srgbClr val="263238"/>
                          </a:solidFill>
                          <a:latin typeface="Tahoma" pitchFamily="34" charset="0"/>
                          <a:ea typeface="Tahoma" pitchFamily="34" charset="-122"/>
                          <a:cs typeface="Tahoma" pitchFamily="34" charset="-120"/>
                        </a:rPr>
                        <a:t>۰/۰۲۹</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۲/۱۸</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dirty="0">
                          <a:solidFill>
                            <a:srgbClr val="263238"/>
                          </a:solidFill>
                          <a:latin typeface="Tahoma" pitchFamily="34" charset="0"/>
                          <a:ea typeface="Tahoma" pitchFamily="34" charset="-122"/>
                          <a:cs typeface="Tahoma" pitchFamily="34" charset="-120"/>
                        </a:rPr>
                        <a:t>۰/۰۷</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50" b="1" dirty="0">
                          <a:solidFill>
                            <a:srgbClr val="D9674A"/>
                          </a:solidFill>
                          <a:latin typeface="Tahoma" pitchFamily="34" charset="0"/>
                          <a:ea typeface="Tahoma" pitchFamily="34" charset="-122"/>
                          <a:cs typeface="Tahoma" pitchFamily="34" charset="-120"/>
                        </a:rPr>
                        <a:t>‎۰/۱۵</a:t>
                      </a:r>
                      <a:r>
                        <a:rPr lang="en-US" altLang="en-US" sz="1250" b="1" dirty="0">
                          <a:solidFill>
                            <a:srgbClr val="D9674A"/>
                          </a:solidFill>
                          <a:latin typeface="Tahoma" pitchFamily="34" charset="0"/>
                          <a:ea typeface="Tahoma" pitchFamily="34" charset="-122"/>
                          <a:cs typeface="Tahoma" pitchFamily="34" charset="-120"/>
                        </a:rPr>
                        <a:t>-</a:t>
                      </a:r>
                      <a:endParaRPr lang="fa-IR" sz="12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200" dirty="0">
                          <a:solidFill>
                            <a:srgbClr val="263238"/>
                          </a:solidFill>
                          <a:latin typeface="Tahoma" pitchFamily="34" charset="0"/>
                          <a:ea typeface="Tahoma" pitchFamily="34" charset="-122"/>
                          <a:cs typeface="Tahoma" pitchFamily="34" charset="-120"/>
                        </a:rPr>
                        <a:t>آسیب کودکی ← تعهد</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bl>
          </a:graphicData>
        </a:graphic>
      </p:graphicFrame>
      <p:sp>
        <p:nvSpPr>
          <p:cNvPr id="36" name="A07_z_331b"/>
          <p:cNvSpPr/>
          <p:nvPr/>
        </p:nvSpPr>
        <p:spPr>
          <a:xfrm>
            <a:off x="457200" y="5120640"/>
            <a:ext cx="5486400" cy="658368"/>
          </a:xfrm>
          <a:prstGeom prst="roundRect">
            <a:avLst>
              <a:gd name="adj" fmla="val 16667"/>
            </a:avLst>
          </a:prstGeom>
          <a:solidFill>
            <a:srgbClr val="E6F2F1"/>
          </a:solidFill>
          <a:ln w="12700">
            <a:solidFill>
              <a:srgbClr val="E6F2F1"/>
            </a:solidFill>
            <a:prstDash val="solid"/>
          </a:ln>
        </p:spPr>
      </p:sp>
      <p:pic>
        <p:nvPicPr>
          <p:cNvPr id="37" name="A07_z_332i" descr="preencoded.png"/>
          <p:cNvPicPr>
            <a:picLocks noChangeAspect="1"/>
          </p:cNvPicPr>
          <p:nvPr/>
        </p:nvPicPr>
        <p:blipFill>
          <a:blip r:embed="rId5"/>
          <a:stretch>
            <a:fillRect/>
          </a:stretch>
        </p:blipFill>
        <p:spPr>
          <a:xfrm>
            <a:off x="5394960" y="5257800"/>
            <a:ext cx="384048" cy="384048"/>
          </a:xfrm>
          <a:prstGeom prst="rect">
            <a:avLst/>
          </a:prstGeom>
        </p:spPr>
      </p:pic>
      <p:sp>
        <p:nvSpPr>
          <p:cNvPr id="38" name="A07_z_333"/>
          <p:cNvSpPr txBox="1"/>
          <p:nvPr/>
        </p:nvSpPr>
        <p:spPr>
          <a:xfrm>
            <a:off x="685800" y="5120640"/>
            <a:ext cx="4572000" cy="658368"/>
          </a:xfrm>
          <a:prstGeom prst="rect">
            <a:avLst/>
          </a:prstGeom>
          <a:noFill/>
          <a:ln/>
        </p:spPr>
        <p:txBody>
          <a:bodyPr wrap="square" lIns="0" tIns="0" rIns="0" bIns="0" rtlCol="0" anchor="ctr"/>
          <a:lstStyle/>
          <a:p>
            <a:pPr marL="0" indent="0" algn="r" rtl="1">
              <a:buNone/>
            </a:pPr>
            <a:r>
              <a:rPr lang="fa-IR" altLang="en-US" sz="1400" b="1" dirty="0">
                <a:solidFill>
                  <a:srgbClr val="0F5257"/>
                </a:solidFill>
                <a:latin typeface="Tahoma" pitchFamily="34" charset="0"/>
                <a:ea typeface="Tahoma" pitchFamily="34" charset="-122"/>
                <a:cs typeface="Tahoma" pitchFamily="34" charset="-120"/>
              </a:rPr>
              <a:t>تأیید فرضیه: </a:t>
            </a:r>
            <a:r>
              <a:rPr lang="fa-IR" altLang="en-US" sz="1400" dirty="0">
                <a:solidFill>
                  <a:srgbClr val="263238"/>
                </a:solidFill>
                <a:latin typeface="Tahoma" pitchFamily="34" charset="0"/>
                <a:ea typeface="Tahoma" pitchFamily="34" charset="-122"/>
                <a:cs typeface="Tahoma" pitchFamily="34" charset="-120"/>
              </a:rPr>
              <a:t>هر ۴ مسیر معنادار (</a:t>
            </a:r>
            <a:r>
              <a:rPr lang="en-US" altLang="en-US" sz="1400" dirty="0">
                <a:solidFill>
                  <a:srgbClr val="263238"/>
                </a:solidFill>
                <a:latin typeface="Tahoma" pitchFamily="34" charset="0"/>
                <a:ea typeface="Tahoma" pitchFamily="34" charset="-122"/>
                <a:cs typeface="Tahoma" pitchFamily="34" charset="-120"/>
              </a:rPr>
              <a:t>   </a:t>
            </a:r>
            <a:r>
              <a:rPr lang="fa-IR" altLang="en-US" sz="1400" dirty="0">
                <a:solidFill>
                  <a:srgbClr val="263238"/>
                </a:solidFill>
                <a:latin typeface="Tahoma" pitchFamily="34" charset="0"/>
                <a:ea typeface="Tahoma" pitchFamily="34" charset="-122"/>
                <a:cs typeface="Tahoma" pitchFamily="34" charset="-120"/>
              </a:rPr>
              <a:t>p ۰/۰۵)</a:t>
            </a:r>
            <a:endParaRPr lang="fa-IR" sz="1400" dirty="0"/>
          </a:p>
        </p:txBody>
      </p:sp>
      <p:sp>
        <p:nvSpPr>
          <p:cNvPr id="40" name="TextBox 39">
            <a:extLst>
              <a:ext uri="{FF2B5EF4-FFF2-40B4-BE49-F238E27FC236}">
                <a16:creationId xmlns:a16="http://schemas.microsoft.com/office/drawing/2014/main" id="{328EABE7-E4CC-B81D-CD93-43D9C800E134}"/>
              </a:ext>
            </a:extLst>
          </p:cNvPr>
          <p:cNvSpPr txBox="1"/>
          <p:nvPr/>
        </p:nvSpPr>
        <p:spPr>
          <a:xfrm rot="10800000">
            <a:off x="2223826" y="5318683"/>
            <a:ext cx="419283" cy="323165"/>
          </a:xfrm>
          <a:prstGeom prst="rect">
            <a:avLst/>
          </a:prstGeom>
          <a:noFill/>
        </p:spPr>
        <p:txBody>
          <a:bodyPr wrap="square">
            <a:spAutoFit/>
          </a:bodyPr>
          <a:lstStyle/>
          <a:p>
            <a:r>
              <a:rPr lang="fa-IR" altLang="en-US" sz="1500" dirty="0">
                <a:solidFill>
                  <a:srgbClr val="263238"/>
                </a:solidFill>
                <a:latin typeface="Tahoma" pitchFamily="34" charset="0"/>
                <a:ea typeface="Tahoma" pitchFamily="34" charset="-122"/>
                <a:cs typeface="Tahoma" pitchFamily="34" charset="-120"/>
              </a:rPr>
              <a:t>&gt;</a:t>
            </a:r>
            <a:endParaRPr lang="en-US"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450" fill="hold"/>
                                        <p:tgtEl>
                                          <p:spTgt spid="11"/>
                                        </p:tgtEl>
                                        <p:attrNameLst>
                                          <p:attrName>ppt_w</p:attrName>
                                        </p:attrNameLst>
                                      </p:cBhvr>
                                      <p:tavLst>
                                        <p:tav tm="0">
                                          <p:val>
                                            <p:fltVal val="0"/>
                                          </p:val>
                                        </p:tav>
                                        <p:tav tm="100000">
                                          <p:val>
                                            <p:strVal val="#ppt_w"/>
                                          </p:val>
                                        </p:tav>
                                      </p:tavLst>
                                    </p:anim>
                                    <p:anim calcmode="lin" valueType="num">
                                      <p:cBhvr>
                                        <p:cTn id="8" dur="450" fill="hold"/>
                                        <p:tgtEl>
                                          <p:spTgt spid="11"/>
                                        </p:tgtEl>
                                        <p:attrNameLst>
                                          <p:attrName>ppt_h</p:attrName>
                                        </p:attrNameLst>
                                      </p:cBhvr>
                                      <p:tavLst>
                                        <p:tav tm="0">
                                          <p:val>
                                            <p:fltVal val="0"/>
                                          </p:val>
                                        </p:tav>
                                        <p:tav tm="100000">
                                          <p:val>
                                            <p:strVal val="#ppt_h"/>
                                          </p:val>
                                        </p:tav>
                                      </p:tavLst>
                                    </p:anim>
                                    <p:animEffect transition="in" filter="fade">
                                      <p:cBhvr>
                                        <p:cTn id="9" dur="450"/>
                                        <p:tgtEl>
                                          <p:spTgt spid="11"/>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450" fill="hold"/>
                                        <p:tgtEl>
                                          <p:spTgt spid="12"/>
                                        </p:tgtEl>
                                        <p:attrNameLst>
                                          <p:attrName>ppt_w</p:attrName>
                                        </p:attrNameLst>
                                      </p:cBhvr>
                                      <p:tavLst>
                                        <p:tav tm="0">
                                          <p:val>
                                            <p:fltVal val="0"/>
                                          </p:val>
                                        </p:tav>
                                        <p:tav tm="100000">
                                          <p:val>
                                            <p:strVal val="#ppt_w"/>
                                          </p:val>
                                        </p:tav>
                                      </p:tavLst>
                                    </p:anim>
                                    <p:anim calcmode="lin" valueType="num">
                                      <p:cBhvr>
                                        <p:cTn id="13" dur="450" fill="hold"/>
                                        <p:tgtEl>
                                          <p:spTgt spid="12"/>
                                        </p:tgtEl>
                                        <p:attrNameLst>
                                          <p:attrName>ppt_h</p:attrName>
                                        </p:attrNameLst>
                                      </p:cBhvr>
                                      <p:tavLst>
                                        <p:tav tm="0">
                                          <p:val>
                                            <p:fltVal val="0"/>
                                          </p:val>
                                        </p:tav>
                                        <p:tav tm="100000">
                                          <p:val>
                                            <p:strVal val="#ppt_h"/>
                                          </p:val>
                                        </p:tav>
                                      </p:tavLst>
                                    </p:anim>
                                    <p:animEffect transition="in" filter="fade">
                                      <p:cBhvr>
                                        <p:cTn id="14" dur="450"/>
                                        <p:tgtEl>
                                          <p:spTgt spid="12"/>
                                        </p:tgtEl>
                                      </p:cBhvr>
                                    </p:animEffect>
                                  </p:childTnLst>
                                </p:cTn>
                              </p:par>
                              <p:par>
                                <p:cTn id="15" presetID="53" presetClass="entr" presetSubtype="16"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450" fill="hold"/>
                                        <p:tgtEl>
                                          <p:spTgt spid="13"/>
                                        </p:tgtEl>
                                        <p:attrNameLst>
                                          <p:attrName>ppt_w</p:attrName>
                                        </p:attrNameLst>
                                      </p:cBhvr>
                                      <p:tavLst>
                                        <p:tav tm="0">
                                          <p:val>
                                            <p:fltVal val="0"/>
                                          </p:val>
                                        </p:tav>
                                        <p:tav tm="100000">
                                          <p:val>
                                            <p:strVal val="#ppt_w"/>
                                          </p:val>
                                        </p:tav>
                                      </p:tavLst>
                                    </p:anim>
                                    <p:anim calcmode="lin" valueType="num">
                                      <p:cBhvr>
                                        <p:cTn id="18" dur="450" fill="hold"/>
                                        <p:tgtEl>
                                          <p:spTgt spid="13"/>
                                        </p:tgtEl>
                                        <p:attrNameLst>
                                          <p:attrName>ppt_h</p:attrName>
                                        </p:attrNameLst>
                                      </p:cBhvr>
                                      <p:tavLst>
                                        <p:tav tm="0">
                                          <p:val>
                                            <p:fltVal val="0"/>
                                          </p:val>
                                        </p:tav>
                                        <p:tav tm="100000">
                                          <p:val>
                                            <p:strVal val="#ppt_h"/>
                                          </p:val>
                                        </p:tav>
                                      </p:tavLst>
                                    </p:anim>
                                    <p:animEffect transition="in" filter="fade">
                                      <p:cBhvr>
                                        <p:cTn id="19" dur="450"/>
                                        <p:tgtEl>
                                          <p:spTgt spid="13"/>
                                        </p:tgtEl>
                                      </p:cBhvr>
                                    </p:animEffect>
                                  </p:childTnLst>
                                </p:cTn>
                              </p:par>
                            </p:childTnLst>
                          </p:cTn>
                        </p:par>
                        <p:par>
                          <p:cTn id="20" fill="hold">
                            <p:stCondLst>
                              <p:cond delay="300"/>
                            </p:stCondLst>
                            <p:childTnLst>
                              <p:par>
                                <p:cTn id="21" presetID="53" presetClass="entr" presetSubtype="16"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p:cTn id="23" dur="450" fill="hold"/>
                                        <p:tgtEl>
                                          <p:spTgt spid="14"/>
                                        </p:tgtEl>
                                        <p:attrNameLst>
                                          <p:attrName>ppt_w</p:attrName>
                                        </p:attrNameLst>
                                      </p:cBhvr>
                                      <p:tavLst>
                                        <p:tav tm="0">
                                          <p:val>
                                            <p:fltVal val="0"/>
                                          </p:val>
                                        </p:tav>
                                        <p:tav tm="100000">
                                          <p:val>
                                            <p:strVal val="#ppt_w"/>
                                          </p:val>
                                        </p:tav>
                                      </p:tavLst>
                                    </p:anim>
                                    <p:anim calcmode="lin" valueType="num">
                                      <p:cBhvr>
                                        <p:cTn id="24" dur="450" fill="hold"/>
                                        <p:tgtEl>
                                          <p:spTgt spid="14"/>
                                        </p:tgtEl>
                                        <p:attrNameLst>
                                          <p:attrName>ppt_h</p:attrName>
                                        </p:attrNameLst>
                                      </p:cBhvr>
                                      <p:tavLst>
                                        <p:tav tm="0">
                                          <p:val>
                                            <p:fltVal val="0"/>
                                          </p:val>
                                        </p:tav>
                                        <p:tav tm="100000">
                                          <p:val>
                                            <p:strVal val="#ppt_h"/>
                                          </p:val>
                                        </p:tav>
                                      </p:tavLst>
                                    </p:anim>
                                    <p:animEffect transition="in" filter="fade">
                                      <p:cBhvr>
                                        <p:cTn id="25" dur="450"/>
                                        <p:tgtEl>
                                          <p:spTgt spid="14"/>
                                        </p:tgtEl>
                                      </p:cBhvr>
                                    </p:animEffect>
                                  </p:childTnLst>
                                </p:cTn>
                              </p:par>
                              <p:par>
                                <p:cTn id="26" presetID="53" presetClass="entr" presetSubtype="16"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450" fill="hold"/>
                                        <p:tgtEl>
                                          <p:spTgt spid="15"/>
                                        </p:tgtEl>
                                        <p:attrNameLst>
                                          <p:attrName>ppt_w</p:attrName>
                                        </p:attrNameLst>
                                      </p:cBhvr>
                                      <p:tavLst>
                                        <p:tav tm="0">
                                          <p:val>
                                            <p:fltVal val="0"/>
                                          </p:val>
                                        </p:tav>
                                        <p:tav tm="100000">
                                          <p:val>
                                            <p:strVal val="#ppt_w"/>
                                          </p:val>
                                        </p:tav>
                                      </p:tavLst>
                                    </p:anim>
                                    <p:anim calcmode="lin" valueType="num">
                                      <p:cBhvr>
                                        <p:cTn id="29" dur="450" fill="hold"/>
                                        <p:tgtEl>
                                          <p:spTgt spid="15"/>
                                        </p:tgtEl>
                                        <p:attrNameLst>
                                          <p:attrName>ppt_h</p:attrName>
                                        </p:attrNameLst>
                                      </p:cBhvr>
                                      <p:tavLst>
                                        <p:tav tm="0">
                                          <p:val>
                                            <p:fltVal val="0"/>
                                          </p:val>
                                        </p:tav>
                                        <p:tav tm="100000">
                                          <p:val>
                                            <p:strVal val="#ppt_h"/>
                                          </p:val>
                                        </p:tav>
                                      </p:tavLst>
                                    </p:anim>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childTnLst>
                          </p:cTn>
                        </p:par>
                        <p:par>
                          <p:cTn id="40" fill="hold">
                            <p:stCondLst>
                              <p:cond delay="600"/>
                            </p:stCondLst>
                            <p:childTnLst>
                              <p:par>
                                <p:cTn id="41" presetID="53" presetClass="entr" presetSubtype="16" fill="hold" nodeType="after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p:cTn id="43" dur="450" fill="hold"/>
                                        <p:tgtEl>
                                          <p:spTgt spid="19"/>
                                        </p:tgtEl>
                                        <p:attrNameLst>
                                          <p:attrName>ppt_w</p:attrName>
                                        </p:attrNameLst>
                                      </p:cBhvr>
                                      <p:tavLst>
                                        <p:tav tm="0">
                                          <p:val>
                                            <p:fltVal val="0"/>
                                          </p:val>
                                        </p:tav>
                                        <p:tav tm="100000">
                                          <p:val>
                                            <p:strVal val="#ppt_w"/>
                                          </p:val>
                                        </p:tav>
                                      </p:tavLst>
                                    </p:anim>
                                    <p:anim calcmode="lin" valueType="num">
                                      <p:cBhvr>
                                        <p:cTn id="44" dur="450" fill="hold"/>
                                        <p:tgtEl>
                                          <p:spTgt spid="19"/>
                                        </p:tgtEl>
                                        <p:attrNameLst>
                                          <p:attrName>ppt_h</p:attrName>
                                        </p:attrNameLst>
                                      </p:cBhvr>
                                      <p:tavLst>
                                        <p:tav tm="0">
                                          <p:val>
                                            <p:fltVal val="0"/>
                                          </p:val>
                                        </p:tav>
                                        <p:tav tm="100000">
                                          <p:val>
                                            <p:strVal val="#ppt_h"/>
                                          </p:val>
                                        </p:tav>
                                      </p:tavLst>
                                    </p:anim>
                                    <p:animEffect transition="in" filter="fade">
                                      <p:cBhvr>
                                        <p:cTn id="45" dur="450"/>
                                        <p:tgtEl>
                                          <p:spTgt spid="19"/>
                                        </p:tgtEl>
                                      </p:cBhvr>
                                    </p:animEffect>
                                  </p:childTnLst>
                                </p:cTn>
                              </p:par>
                              <p:par>
                                <p:cTn id="46" presetID="53" presetClass="entr" presetSubtype="16"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 calcmode="lin" valueType="num">
                                      <p:cBhvr>
                                        <p:cTn id="48" dur="450" fill="hold"/>
                                        <p:tgtEl>
                                          <p:spTgt spid="20"/>
                                        </p:tgtEl>
                                        <p:attrNameLst>
                                          <p:attrName>ppt_w</p:attrName>
                                        </p:attrNameLst>
                                      </p:cBhvr>
                                      <p:tavLst>
                                        <p:tav tm="0">
                                          <p:val>
                                            <p:fltVal val="0"/>
                                          </p:val>
                                        </p:tav>
                                        <p:tav tm="100000">
                                          <p:val>
                                            <p:strVal val="#ppt_w"/>
                                          </p:val>
                                        </p:tav>
                                      </p:tavLst>
                                    </p:anim>
                                    <p:anim calcmode="lin" valueType="num">
                                      <p:cBhvr>
                                        <p:cTn id="49" dur="450" fill="hold"/>
                                        <p:tgtEl>
                                          <p:spTgt spid="20"/>
                                        </p:tgtEl>
                                        <p:attrNameLst>
                                          <p:attrName>ppt_h</p:attrName>
                                        </p:attrNameLst>
                                      </p:cBhvr>
                                      <p:tavLst>
                                        <p:tav tm="0">
                                          <p:val>
                                            <p:fltVal val="0"/>
                                          </p:val>
                                        </p:tav>
                                        <p:tav tm="100000">
                                          <p:val>
                                            <p:strVal val="#ppt_h"/>
                                          </p:val>
                                        </p:tav>
                                      </p:tavLst>
                                    </p:anim>
                                    <p:animEffect transition="in" filter="fade">
                                      <p:cBhvr>
                                        <p:cTn id="50" dur="450"/>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50"/>
                                        <p:tgtEl>
                                          <p:spTgt spid="23"/>
                                        </p:tgtEl>
                                      </p:cBhvr>
                                    </p:animEffect>
                                  </p:childTnLst>
                                </p:cTn>
                              </p:par>
                            </p:childTnLst>
                          </p:cTn>
                        </p:par>
                        <p:par>
                          <p:cTn id="60" fill="hold">
                            <p:stCondLst>
                              <p:cond delay="900"/>
                            </p:stCondLst>
                            <p:childTnLst>
                              <p:par>
                                <p:cTn id="61" presetID="53" presetClass="entr" presetSubtype="16" fill="hold" nodeType="afterEffect">
                                  <p:stCondLst>
                                    <p:cond delay="0"/>
                                  </p:stCondLst>
                                  <p:childTnLst>
                                    <p:set>
                                      <p:cBhvr>
                                        <p:cTn id="62" dur="1" fill="hold">
                                          <p:stCondLst>
                                            <p:cond delay="0"/>
                                          </p:stCondLst>
                                        </p:cTn>
                                        <p:tgtEl>
                                          <p:spTgt spid="24"/>
                                        </p:tgtEl>
                                        <p:attrNameLst>
                                          <p:attrName>style.visibility</p:attrName>
                                        </p:attrNameLst>
                                      </p:cBhvr>
                                      <p:to>
                                        <p:strVal val="visible"/>
                                      </p:to>
                                    </p:set>
                                    <p:anim calcmode="lin" valueType="num">
                                      <p:cBhvr>
                                        <p:cTn id="63" dur="450" fill="hold"/>
                                        <p:tgtEl>
                                          <p:spTgt spid="24"/>
                                        </p:tgtEl>
                                        <p:attrNameLst>
                                          <p:attrName>ppt_w</p:attrName>
                                        </p:attrNameLst>
                                      </p:cBhvr>
                                      <p:tavLst>
                                        <p:tav tm="0">
                                          <p:val>
                                            <p:fltVal val="0"/>
                                          </p:val>
                                        </p:tav>
                                        <p:tav tm="100000">
                                          <p:val>
                                            <p:strVal val="#ppt_w"/>
                                          </p:val>
                                        </p:tav>
                                      </p:tavLst>
                                    </p:anim>
                                    <p:anim calcmode="lin" valueType="num">
                                      <p:cBhvr>
                                        <p:cTn id="64" dur="450" fill="hold"/>
                                        <p:tgtEl>
                                          <p:spTgt spid="24"/>
                                        </p:tgtEl>
                                        <p:attrNameLst>
                                          <p:attrName>ppt_h</p:attrName>
                                        </p:attrNameLst>
                                      </p:cBhvr>
                                      <p:tavLst>
                                        <p:tav tm="0">
                                          <p:val>
                                            <p:fltVal val="0"/>
                                          </p:val>
                                        </p:tav>
                                        <p:tav tm="100000">
                                          <p:val>
                                            <p:strVal val="#ppt_h"/>
                                          </p:val>
                                        </p:tav>
                                      </p:tavLst>
                                    </p:anim>
                                    <p:animEffect transition="in" filter="fade">
                                      <p:cBhvr>
                                        <p:cTn id="65" dur="450"/>
                                        <p:tgtEl>
                                          <p:spTgt spid="24"/>
                                        </p:tgtEl>
                                      </p:cBhvr>
                                    </p:animEffect>
                                  </p:childTnLst>
                                </p:cTn>
                              </p:par>
                              <p:par>
                                <p:cTn id="66" presetID="53" presetClass="entr" presetSubtype="16" fill="hold" nodeType="withEffect">
                                  <p:stCondLst>
                                    <p:cond delay="0"/>
                                  </p:stCondLst>
                                  <p:childTnLst>
                                    <p:set>
                                      <p:cBhvr>
                                        <p:cTn id="67" dur="1" fill="hold">
                                          <p:stCondLst>
                                            <p:cond delay="0"/>
                                          </p:stCondLst>
                                        </p:cTn>
                                        <p:tgtEl>
                                          <p:spTgt spid="25"/>
                                        </p:tgtEl>
                                        <p:attrNameLst>
                                          <p:attrName>style.visibility</p:attrName>
                                        </p:attrNameLst>
                                      </p:cBhvr>
                                      <p:to>
                                        <p:strVal val="visible"/>
                                      </p:to>
                                    </p:set>
                                    <p:anim calcmode="lin" valueType="num">
                                      <p:cBhvr>
                                        <p:cTn id="68" dur="450" fill="hold"/>
                                        <p:tgtEl>
                                          <p:spTgt spid="25"/>
                                        </p:tgtEl>
                                        <p:attrNameLst>
                                          <p:attrName>ppt_w</p:attrName>
                                        </p:attrNameLst>
                                      </p:cBhvr>
                                      <p:tavLst>
                                        <p:tav tm="0">
                                          <p:val>
                                            <p:fltVal val="0"/>
                                          </p:val>
                                        </p:tav>
                                        <p:tav tm="100000">
                                          <p:val>
                                            <p:strVal val="#ppt_w"/>
                                          </p:val>
                                        </p:tav>
                                      </p:tavLst>
                                    </p:anim>
                                    <p:anim calcmode="lin" valueType="num">
                                      <p:cBhvr>
                                        <p:cTn id="69" dur="450" fill="hold"/>
                                        <p:tgtEl>
                                          <p:spTgt spid="25"/>
                                        </p:tgtEl>
                                        <p:attrNameLst>
                                          <p:attrName>ppt_h</p:attrName>
                                        </p:attrNameLst>
                                      </p:cBhvr>
                                      <p:tavLst>
                                        <p:tav tm="0">
                                          <p:val>
                                            <p:fltVal val="0"/>
                                          </p:val>
                                        </p:tav>
                                        <p:tav tm="100000">
                                          <p:val>
                                            <p:strVal val="#ppt_h"/>
                                          </p:val>
                                        </p:tav>
                                      </p:tavLst>
                                    </p:anim>
                                    <p:animEffect transition="in" filter="fade">
                                      <p:cBhvr>
                                        <p:cTn id="70" dur="45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childTnLst>
                          </p:cTn>
                        </p:par>
                        <p:par>
                          <p:cTn id="80" fill="hold">
                            <p:stCondLst>
                              <p:cond delay="1200"/>
                            </p:stCondLst>
                            <p:childTnLst>
                              <p:par>
                                <p:cTn id="81" presetID="53" presetClass="entr" presetSubtype="16" fill="hold" nodeType="afterEffect">
                                  <p:stCondLst>
                                    <p:cond delay="0"/>
                                  </p:stCondLst>
                                  <p:childTnLst>
                                    <p:set>
                                      <p:cBhvr>
                                        <p:cTn id="82" dur="1" fill="hold">
                                          <p:stCondLst>
                                            <p:cond delay="0"/>
                                          </p:stCondLst>
                                        </p:cTn>
                                        <p:tgtEl>
                                          <p:spTgt spid="29"/>
                                        </p:tgtEl>
                                        <p:attrNameLst>
                                          <p:attrName>style.visibility</p:attrName>
                                        </p:attrNameLst>
                                      </p:cBhvr>
                                      <p:to>
                                        <p:strVal val="visible"/>
                                      </p:to>
                                    </p:set>
                                    <p:anim calcmode="lin" valueType="num">
                                      <p:cBhvr>
                                        <p:cTn id="83" dur="450" fill="hold"/>
                                        <p:tgtEl>
                                          <p:spTgt spid="29"/>
                                        </p:tgtEl>
                                        <p:attrNameLst>
                                          <p:attrName>ppt_w</p:attrName>
                                        </p:attrNameLst>
                                      </p:cBhvr>
                                      <p:tavLst>
                                        <p:tav tm="0">
                                          <p:val>
                                            <p:fltVal val="0"/>
                                          </p:val>
                                        </p:tav>
                                        <p:tav tm="100000">
                                          <p:val>
                                            <p:strVal val="#ppt_w"/>
                                          </p:val>
                                        </p:tav>
                                      </p:tavLst>
                                    </p:anim>
                                    <p:anim calcmode="lin" valueType="num">
                                      <p:cBhvr>
                                        <p:cTn id="84" dur="450" fill="hold"/>
                                        <p:tgtEl>
                                          <p:spTgt spid="29"/>
                                        </p:tgtEl>
                                        <p:attrNameLst>
                                          <p:attrName>ppt_h</p:attrName>
                                        </p:attrNameLst>
                                      </p:cBhvr>
                                      <p:tavLst>
                                        <p:tav tm="0">
                                          <p:val>
                                            <p:fltVal val="0"/>
                                          </p:val>
                                        </p:tav>
                                        <p:tav tm="100000">
                                          <p:val>
                                            <p:strVal val="#ppt_h"/>
                                          </p:val>
                                        </p:tav>
                                      </p:tavLst>
                                    </p:anim>
                                    <p:animEffect transition="in" filter="fade">
                                      <p:cBhvr>
                                        <p:cTn id="85" dur="450"/>
                                        <p:tgtEl>
                                          <p:spTgt spid="29"/>
                                        </p:tgtEl>
                                      </p:cBhvr>
                                    </p:animEffect>
                                  </p:childTnLst>
                                </p:cTn>
                              </p:par>
                              <p:par>
                                <p:cTn id="86" presetID="53" presetClass="entr" presetSubtype="16" fill="hold" nodeType="withEffect">
                                  <p:stCondLst>
                                    <p:cond delay="0"/>
                                  </p:stCondLst>
                                  <p:childTnLst>
                                    <p:set>
                                      <p:cBhvr>
                                        <p:cTn id="87" dur="1" fill="hold">
                                          <p:stCondLst>
                                            <p:cond delay="0"/>
                                          </p:stCondLst>
                                        </p:cTn>
                                        <p:tgtEl>
                                          <p:spTgt spid="30"/>
                                        </p:tgtEl>
                                        <p:attrNameLst>
                                          <p:attrName>style.visibility</p:attrName>
                                        </p:attrNameLst>
                                      </p:cBhvr>
                                      <p:to>
                                        <p:strVal val="visible"/>
                                      </p:to>
                                    </p:set>
                                    <p:anim calcmode="lin" valueType="num">
                                      <p:cBhvr>
                                        <p:cTn id="88" dur="450" fill="hold"/>
                                        <p:tgtEl>
                                          <p:spTgt spid="30"/>
                                        </p:tgtEl>
                                        <p:attrNameLst>
                                          <p:attrName>ppt_w</p:attrName>
                                        </p:attrNameLst>
                                      </p:cBhvr>
                                      <p:tavLst>
                                        <p:tav tm="0">
                                          <p:val>
                                            <p:fltVal val="0"/>
                                          </p:val>
                                        </p:tav>
                                        <p:tav tm="100000">
                                          <p:val>
                                            <p:strVal val="#ppt_w"/>
                                          </p:val>
                                        </p:tav>
                                      </p:tavLst>
                                    </p:anim>
                                    <p:anim calcmode="lin" valueType="num">
                                      <p:cBhvr>
                                        <p:cTn id="89" dur="450" fill="hold"/>
                                        <p:tgtEl>
                                          <p:spTgt spid="30"/>
                                        </p:tgtEl>
                                        <p:attrNameLst>
                                          <p:attrName>ppt_h</p:attrName>
                                        </p:attrNameLst>
                                      </p:cBhvr>
                                      <p:tavLst>
                                        <p:tav tm="0">
                                          <p:val>
                                            <p:fltVal val="0"/>
                                          </p:val>
                                        </p:tav>
                                        <p:tav tm="100000">
                                          <p:val>
                                            <p:strVal val="#ppt_h"/>
                                          </p:val>
                                        </p:tav>
                                      </p:tavLst>
                                    </p:anim>
                                    <p:animEffect transition="in" filter="fade">
                                      <p:cBhvr>
                                        <p:cTn id="90" dur="450"/>
                                        <p:tgtEl>
                                          <p:spTgt spid="30"/>
                                        </p:tgtEl>
                                      </p:cBhvr>
                                    </p:animEffect>
                                  </p:childTnLst>
                                </p:cTn>
                              </p:par>
                              <p:par>
                                <p:cTn id="91" presetID="10" presetClass="entr" presetSubtype="0" fill="hold"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450"/>
                                        <p:tgtEl>
                                          <p:spTgt spid="31"/>
                                        </p:tgtEl>
                                      </p:cBhvr>
                                    </p:animEffect>
                                  </p:childTnLst>
                                </p:cTn>
                              </p:par>
                              <p:par>
                                <p:cTn id="94" presetID="10" presetClass="entr" presetSubtype="0" fill="hold"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50"/>
                                        <p:tgtEl>
                                          <p:spTgt spid="32"/>
                                        </p:tgtEl>
                                      </p:cBhvr>
                                    </p:animEffect>
                                  </p:childTnLst>
                                </p:cTn>
                              </p:par>
                              <p:par>
                                <p:cTn id="97" presetID="10" presetClass="entr" presetSubtype="0" fill="hold"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50"/>
                                        <p:tgtEl>
                                          <p:spTgt spid="33"/>
                                        </p:tgtEl>
                                      </p:cBhvr>
                                    </p:animEffect>
                                  </p:childTnLst>
                                </p:cTn>
                              </p:par>
                            </p:childTnLst>
                          </p:cTn>
                        </p:par>
                        <p:par>
                          <p:cTn id="100" fill="hold">
                            <p:stCondLst>
                              <p:cond delay="1500"/>
                            </p:stCondLst>
                            <p:childTnLst>
                              <p:par>
                                <p:cTn id="101" presetID="10" presetClass="entr" presetSubtype="0" fill="hold" nodeType="afterEffect">
                                  <p:stCondLst>
                                    <p:cond delay="0"/>
                                  </p:stCondLst>
                                  <p:childTnLst>
                                    <p:set>
                                      <p:cBhvr>
                                        <p:cTn id="102" dur="1" fill="hold">
                                          <p:stCondLst>
                                            <p:cond delay="0"/>
                                          </p:stCondLst>
                                        </p:cTn>
                                        <p:tgtEl>
                                          <p:spTgt spid="13"/>
                                        </p:tgtEl>
                                        <p:attrNameLst>
                                          <p:attrName>style.visibility</p:attrName>
                                        </p:attrNameLst>
                                      </p:cBhvr>
                                      <p:to>
                                        <p:strVal val="visible"/>
                                      </p:to>
                                    </p:set>
                                    <p:animEffect transition="in" filter="fade">
                                      <p:cBhvr>
                                        <p:cTn id="103" dur="450"/>
                                        <p:tgtEl>
                                          <p:spTgt spid="13"/>
                                        </p:tgtEl>
                                      </p:cBhvr>
                                    </p:animEffect>
                                  </p:childTnLst>
                                </p:cTn>
                              </p:par>
                            </p:childTnLst>
                          </p:cTn>
                        </p:par>
                        <p:par>
                          <p:cTn id="104" fill="hold">
                            <p:stCondLst>
                              <p:cond delay="1800"/>
                            </p:stCondLst>
                            <p:childTnLst>
                              <p:par>
                                <p:cTn id="105" presetID="53" presetClass="entr" presetSubtype="16" fill="hold" nodeType="afterEffect">
                                  <p:stCondLst>
                                    <p:cond delay="0"/>
                                  </p:stCondLst>
                                  <p:childTnLst>
                                    <p:set>
                                      <p:cBhvr>
                                        <p:cTn id="106" dur="1" fill="hold">
                                          <p:stCondLst>
                                            <p:cond delay="0"/>
                                          </p:stCondLst>
                                        </p:cTn>
                                        <p:tgtEl>
                                          <p:spTgt spid="36"/>
                                        </p:tgtEl>
                                        <p:attrNameLst>
                                          <p:attrName>style.visibility</p:attrName>
                                        </p:attrNameLst>
                                      </p:cBhvr>
                                      <p:to>
                                        <p:strVal val="visible"/>
                                      </p:to>
                                    </p:set>
                                    <p:anim calcmode="lin" valueType="num">
                                      <p:cBhvr>
                                        <p:cTn id="107" dur="450" fill="hold"/>
                                        <p:tgtEl>
                                          <p:spTgt spid="36"/>
                                        </p:tgtEl>
                                        <p:attrNameLst>
                                          <p:attrName>ppt_w</p:attrName>
                                        </p:attrNameLst>
                                      </p:cBhvr>
                                      <p:tavLst>
                                        <p:tav tm="0">
                                          <p:val>
                                            <p:fltVal val="0"/>
                                          </p:val>
                                        </p:tav>
                                        <p:tav tm="100000">
                                          <p:val>
                                            <p:strVal val="#ppt_w"/>
                                          </p:val>
                                        </p:tav>
                                      </p:tavLst>
                                    </p:anim>
                                    <p:anim calcmode="lin" valueType="num">
                                      <p:cBhvr>
                                        <p:cTn id="108" dur="450" fill="hold"/>
                                        <p:tgtEl>
                                          <p:spTgt spid="36"/>
                                        </p:tgtEl>
                                        <p:attrNameLst>
                                          <p:attrName>ppt_h</p:attrName>
                                        </p:attrNameLst>
                                      </p:cBhvr>
                                      <p:tavLst>
                                        <p:tav tm="0">
                                          <p:val>
                                            <p:fltVal val="0"/>
                                          </p:val>
                                        </p:tav>
                                        <p:tav tm="100000">
                                          <p:val>
                                            <p:strVal val="#ppt_h"/>
                                          </p:val>
                                        </p:tav>
                                      </p:tavLst>
                                    </p:anim>
                                    <p:animEffect transition="in" filter="fade">
                                      <p:cBhvr>
                                        <p:cTn id="109" dur="450"/>
                                        <p:tgtEl>
                                          <p:spTgt spid="36"/>
                                        </p:tgtEl>
                                      </p:cBhvr>
                                    </p:animEffect>
                                  </p:childTnLst>
                                </p:cTn>
                              </p:par>
                              <p:par>
                                <p:cTn id="110" presetID="53" presetClass="entr" presetSubtype="16" fill="hold" nodeType="withEffect">
                                  <p:stCondLst>
                                    <p:cond delay="0"/>
                                  </p:stCondLst>
                                  <p:childTnLst>
                                    <p:set>
                                      <p:cBhvr>
                                        <p:cTn id="111" dur="1" fill="hold">
                                          <p:stCondLst>
                                            <p:cond delay="0"/>
                                          </p:stCondLst>
                                        </p:cTn>
                                        <p:tgtEl>
                                          <p:spTgt spid="37"/>
                                        </p:tgtEl>
                                        <p:attrNameLst>
                                          <p:attrName>style.visibility</p:attrName>
                                        </p:attrNameLst>
                                      </p:cBhvr>
                                      <p:to>
                                        <p:strVal val="visible"/>
                                      </p:to>
                                    </p:set>
                                    <p:anim calcmode="lin" valueType="num">
                                      <p:cBhvr>
                                        <p:cTn id="112" dur="450" fill="hold"/>
                                        <p:tgtEl>
                                          <p:spTgt spid="37"/>
                                        </p:tgtEl>
                                        <p:attrNameLst>
                                          <p:attrName>ppt_w</p:attrName>
                                        </p:attrNameLst>
                                      </p:cBhvr>
                                      <p:tavLst>
                                        <p:tav tm="0">
                                          <p:val>
                                            <p:fltVal val="0"/>
                                          </p:val>
                                        </p:tav>
                                        <p:tav tm="100000">
                                          <p:val>
                                            <p:strVal val="#ppt_w"/>
                                          </p:val>
                                        </p:tav>
                                      </p:tavLst>
                                    </p:anim>
                                    <p:anim calcmode="lin" valueType="num">
                                      <p:cBhvr>
                                        <p:cTn id="113" dur="450" fill="hold"/>
                                        <p:tgtEl>
                                          <p:spTgt spid="37"/>
                                        </p:tgtEl>
                                        <p:attrNameLst>
                                          <p:attrName>ppt_h</p:attrName>
                                        </p:attrNameLst>
                                      </p:cBhvr>
                                      <p:tavLst>
                                        <p:tav tm="0">
                                          <p:val>
                                            <p:fltVal val="0"/>
                                          </p:val>
                                        </p:tav>
                                        <p:tav tm="100000">
                                          <p:val>
                                            <p:strVal val="#ppt_h"/>
                                          </p:val>
                                        </p:tav>
                                      </p:tavLst>
                                    </p:anim>
                                    <p:animEffect transition="in" filter="fade">
                                      <p:cBhvr>
                                        <p:cTn id="114" dur="450"/>
                                        <p:tgtEl>
                                          <p:spTgt spid="37"/>
                                        </p:tgtEl>
                                      </p:cBhvr>
                                    </p:animEffect>
                                  </p:childTnLst>
                                </p:cTn>
                              </p:par>
                              <p:par>
                                <p:cTn id="115" presetID="53" presetClass="entr" presetSubtype="16" fill="hold" nodeType="withEffect">
                                  <p:stCondLst>
                                    <p:cond delay="0"/>
                                  </p:stCondLst>
                                  <p:childTnLst>
                                    <p:set>
                                      <p:cBhvr>
                                        <p:cTn id="116" dur="1" fill="hold">
                                          <p:stCondLst>
                                            <p:cond delay="0"/>
                                          </p:stCondLst>
                                        </p:cTn>
                                        <p:tgtEl>
                                          <p:spTgt spid="38"/>
                                        </p:tgtEl>
                                        <p:attrNameLst>
                                          <p:attrName>style.visibility</p:attrName>
                                        </p:attrNameLst>
                                      </p:cBhvr>
                                      <p:to>
                                        <p:strVal val="visible"/>
                                      </p:to>
                                    </p:set>
                                    <p:anim calcmode="lin" valueType="num">
                                      <p:cBhvr>
                                        <p:cTn id="117" dur="450" fill="hold"/>
                                        <p:tgtEl>
                                          <p:spTgt spid="38"/>
                                        </p:tgtEl>
                                        <p:attrNameLst>
                                          <p:attrName>ppt_w</p:attrName>
                                        </p:attrNameLst>
                                      </p:cBhvr>
                                      <p:tavLst>
                                        <p:tav tm="0">
                                          <p:val>
                                            <p:fltVal val="0"/>
                                          </p:val>
                                        </p:tav>
                                        <p:tav tm="100000">
                                          <p:val>
                                            <p:strVal val="#ppt_w"/>
                                          </p:val>
                                        </p:tav>
                                      </p:tavLst>
                                    </p:anim>
                                    <p:anim calcmode="lin" valueType="num">
                                      <p:cBhvr>
                                        <p:cTn id="118" dur="450" fill="hold"/>
                                        <p:tgtEl>
                                          <p:spTgt spid="38"/>
                                        </p:tgtEl>
                                        <p:attrNameLst>
                                          <p:attrName>ppt_h</p:attrName>
                                        </p:attrNameLst>
                                      </p:cBhvr>
                                      <p:tavLst>
                                        <p:tav tm="0">
                                          <p:val>
                                            <p:fltVal val="0"/>
                                          </p:val>
                                        </p:tav>
                                        <p:tav tm="100000">
                                          <p:val>
                                            <p:strVal val="#ppt_h"/>
                                          </p:val>
                                        </p:tav>
                                      </p:tavLst>
                                    </p:anim>
                                    <p:animEffect transition="in" filter="fade">
                                      <p:cBhvr>
                                        <p:cTn id="119"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فرضیه جزئی دوم</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۱۳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Text 7"/>
          <p:cNvSpPr txBox="1"/>
          <p:nvPr/>
        </p:nvSpPr>
        <p:spPr>
          <a:xfrm>
            <a:off x="457200" y="1097280"/>
            <a:ext cx="11247120" cy="365760"/>
          </a:xfrm>
          <a:prstGeom prst="rect">
            <a:avLst/>
          </a:prstGeom>
          <a:noFill/>
          <a:ln/>
        </p:spPr>
        <p:txBody>
          <a:bodyPr wrap="square" lIns="0" tIns="0" rIns="0" bIns="0" rtlCol="0" anchor="t"/>
          <a:lstStyle/>
          <a:p>
            <a:pPr marL="0" indent="0" algn="r" rtl="1">
              <a:buNone/>
            </a:pPr>
            <a:r>
              <a:rPr lang="fa-IR" altLang="en-US" sz="1500" b="1" dirty="0">
                <a:solidFill>
                  <a:srgbClr val="D9674A"/>
                </a:solidFill>
                <a:latin typeface="Tahoma" pitchFamily="34" charset="0"/>
                <a:ea typeface="Tahoma" pitchFamily="34" charset="-122"/>
                <a:cs typeface="Tahoma" pitchFamily="34" charset="-120"/>
              </a:rPr>
              <a:t>آسیب‌های دوران کودکی و سبک‌های حل تعارض در دانشجویان رابطه معنادار دارند</a:t>
            </a:r>
            <a:endParaRPr lang="fa-IR" sz="1500" dirty="0"/>
          </a:p>
        </p:txBody>
      </p:sp>
      <p:sp>
        <p:nvSpPr>
          <p:cNvPr id="11" name="A01_z_334b"/>
          <p:cNvSpPr/>
          <p:nvPr/>
        </p:nvSpPr>
        <p:spPr>
          <a:xfrm>
            <a:off x="8138160" y="1965960"/>
            <a:ext cx="3291840" cy="1417320"/>
          </a:xfrm>
          <a:prstGeom prst="roundRect">
            <a:avLst>
              <a:gd name="adj" fmla="val 7742"/>
            </a:avLst>
          </a:prstGeom>
          <a:solidFill>
            <a:srgbClr val="D9674A"/>
          </a:solidFill>
          <a:ln w="12700">
            <a:solidFill>
              <a:srgbClr val="D9674A"/>
            </a:solidFill>
            <a:prstDash val="solid"/>
          </a:ln>
        </p:spPr>
      </p:sp>
      <p:pic>
        <p:nvPicPr>
          <p:cNvPr id="12" name="A01_z_335i" descr="preencoded.png"/>
          <p:cNvPicPr>
            <a:picLocks noChangeAspect="1"/>
          </p:cNvPicPr>
          <p:nvPr/>
        </p:nvPicPr>
        <p:blipFill>
          <a:blip r:embed="rId4"/>
          <a:stretch>
            <a:fillRect/>
          </a:stretch>
        </p:blipFill>
        <p:spPr>
          <a:xfrm>
            <a:off x="9555480" y="2103120"/>
            <a:ext cx="457200" cy="457200"/>
          </a:xfrm>
          <a:prstGeom prst="rect">
            <a:avLst/>
          </a:prstGeom>
        </p:spPr>
      </p:pic>
      <p:sp>
        <p:nvSpPr>
          <p:cNvPr id="13" name="A01_z_336"/>
          <p:cNvSpPr txBox="1"/>
          <p:nvPr/>
        </p:nvSpPr>
        <p:spPr>
          <a:xfrm>
            <a:off x="8229600" y="2606040"/>
            <a:ext cx="3108960" cy="640080"/>
          </a:xfrm>
          <a:prstGeom prst="rect">
            <a:avLst/>
          </a:prstGeom>
          <a:noFill/>
          <a:ln/>
        </p:spPr>
        <p:txBody>
          <a:bodyPr wrap="square" lIns="0" tIns="0" rIns="0" bIns="0" rtlCol="0" anchor="ctr"/>
          <a:lstStyle/>
          <a:p>
            <a:pPr marL="0" indent="0" algn="ctr" rtl="1">
              <a:buNone/>
            </a:pPr>
            <a:r>
              <a:rPr lang="fa-IR" altLang="en-US" sz="1700" b="1" dirty="0">
                <a:solidFill>
                  <a:srgbClr val="FFFFFF"/>
                </a:solidFill>
                <a:latin typeface="Tahoma" pitchFamily="34" charset="0"/>
                <a:ea typeface="Tahoma" pitchFamily="34" charset="-122"/>
                <a:cs typeface="Tahoma" pitchFamily="34" charset="-120"/>
              </a:rPr>
              <a:t>آسیب‌های دوران کودکی</a:t>
            </a:r>
            <a:endParaRPr lang="fa-IR" sz="1700" dirty="0"/>
          </a:p>
        </p:txBody>
      </p:sp>
      <p:sp>
        <p:nvSpPr>
          <p:cNvPr id="14" name="A03_z_337b"/>
          <p:cNvSpPr/>
          <p:nvPr/>
        </p:nvSpPr>
        <p:spPr>
          <a:xfrm>
            <a:off x="758952" y="1965960"/>
            <a:ext cx="3291840" cy="1417320"/>
          </a:xfrm>
          <a:prstGeom prst="roundRect">
            <a:avLst>
              <a:gd name="adj" fmla="val 7742"/>
            </a:avLst>
          </a:prstGeom>
          <a:solidFill>
            <a:srgbClr val="2A9D8F"/>
          </a:solidFill>
          <a:ln w="12700">
            <a:solidFill>
              <a:srgbClr val="2A9D8F"/>
            </a:solidFill>
            <a:prstDash val="solid"/>
          </a:ln>
        </p:spPr>
      </p:sp>
      <p:pic>
        <p:nvPicPr>
          <p:cNvPr id="15" name="A03_z_338i" descr="preencoded.png"/>
          <p:cNvPicPr>
            <a:picLocks noChangeAspect="1"/>
          </p:cNvPicPr>
          <p:nvPr/>
        </p:nvPicPr>
        <p:blipFill>
          <a:blip r:embed="rId3"/>
          <a:stretch>
            <a:fillRect/>
          </a:stretch>
        </p:blipFill>
        <p:spPr>
          <a:xfrm>
            <a:off x="2176272" y="2103120"/>
            <a:ext cx="457200" cy="457200"/>
          </a:xfrm>
          <a:prstGeom prst="rect">
            <a:avLst/>
          </a:prstGeom>
        </p:spPr>
      </p:pic>
      <p:sp>
        <p:nvSpPr>
          <p:cNvPr id="16" name="A03_z_339"/>
          <p:cNvSpPr txBox="1"/>
          <p:nvPr/>
        </p:nvSpPr>
        <p:spPr>
          <a:xfrm>
            <a:off x="850392" y="2606040"/>
            <a:ext cx="3108960" cy="640080"/>
          </a:xfrm>
          <a:prstGeom prst="rect">
            <a:avLst/>
          </a:prstGeom>
          <a:noFill/>
          <a:ln/>
        </p:spPr>
        <p:txBody>
          <a:bodyPr wrap="square" lIns="0" tIns="0" rIns="0" bIns="0" rtlCol="0" anchor="ctr"/>
          <a:lstStyle/>
          <a:p>
            <a:pPr marL="0" indent="0" algn="ctr" rtl="1">
              <a:buNone/>
            </a:pPr>
            <a:r>
              <a:rPr lang="fa-IR" altLang="en-US" sz="1700" b="1" dirty="0">
                <a:solidFill>
                  <a:srgbClr val="FFFFFF"/>
                </a:solidFill>
                <a:latin typeface="Tahoma" pitchFamily="34" charset="0"/>
                <a:ea typeface="Tahoma" pitchFamily="34" charset="-122"/>
                <a:cs typeface="Tahoma" pitchFamily="34" charset="-120"/>
              </a:rPr>
              <a:t>سبک‌های حل تعارض</a:t>
            </a:r>
            <a:endParaRPr lang="fa-IR" sz="1700" dirty="0"/>
          </a:p>
        </p:txBody>
      </p:sp>
      <p:sp>
        <p:nvSpPr>
          <p:cNvPr id="17" name="A02_wl_340"/>
          <p:cNvSpPr/>
          <p:nvPr/>
        </p:nvSpPr>
        <p:spPr>
          <a:xfrm flipH="1">
            <a:off x="4096512" y="2679192"/>
            <a:ext cx="3995928" cy="0"/>
          </a:xfrm>
          <a:prstGeom prst="line">
            <a:avLst/>
          </a:prstGeom>
          <a:noFill/>
          <a:ln w="28575">
            <a:solidFill>
              <a:srgbClr val="D9674A"/>
            </a:solidFill>
            <a:prstDash val="solid"/>
            <a:tailEnd type="triangle"/>
          </a:ln>
        </p:spPr>
      </p:sp>
      <p:sp>
        <p:nvSpPr>
          <p:cNvPr id="18" name="A02_z_341t"/>
          <p:cNvSpPr/>
          <p:nvPr/>
        </p:nvSpPr>
        <p:spPr>
          <a:xfrm>
            <a:off x="4956048" y="1783080"/>
            <a:ext cx="2286000" cy="713232"/>
          </a:xfrm>
          <a:prstGeom prst="roundRect">
            <a:avLst>
              <a:gd name="adj" fmla="val 15385"/>
            </a:avLst>
          </a:prstGeom>
          <a:solidFill>
            <a:srgbClr val="FFFFFF"/>
          </a:solidFill>
          <a:ln w="25400">
            <a:solidFill>
              <a:srgbClr val="D9674A"/>
            </a:solidFill>
            <a:prstDash val="solid"/>
          </a:ln>
        </p:spPr>
      </p:sp>
      <p:sp>
        <p:nvSpPr>
          <p:cNvPr id="19" name="A02_z_342"/>
          <p:cNvSpPr txBox="1"/>
          <p:nvPr/>
        </p:nvSpPr>
        <p:spPr>
          <a:xfrm>
            <a:off x="4956048" y="1783080"/>
            <a:ext cx="2286000" cy="713232"/>
          </a:xfrm>
          <a:prstGeom prst="rect">
            <a:avLst/>
          </a:prstGeom>
          <a:noFill/>
          <a:ln/>
        </p:spPr>
        <p:txBody>
          <a:bodyPr wrap="square" lIns="0" tIns="0" rIns="0" bIns="0" rtlCol="0" anchor="ctr"/>
          <a:lstStyle/>
          <a:p>
            <a:pPr marL="0" indent="0" algn="ctr" rtl="1">
              <a:buNone/>
            </a:pPr>
            <a:r>
              <a:rPr lang="fa-IR" altLang="en-US" sz="2400" dirty="0">
                <a:solidFill>
                  <a:srgbClr val="6B7B83"/>
                </a:solidFill>
                <a:latin typeface="Tahoma" pitchFamily="34" charset="0"/>
                <a:ea typeface="Tahoma" pitchFamily="34" charset="-122"/>
                <a:cs typeface="Tahoma" pitchFamily="34" charset="-120"/>
              </a:rPr>
              <a:t>β = </a:t>
            </a:r>
            <a:r>
              <a:rPr lang="fa-IR" altLang="en-US" sz="2400" b="1" dirty="0">
                <a:solidFill>
                  <a:srgbClr val="D9674A"/>
                </a:solidFill>
                <a:latin typeface="Tahoma" pitchFamily="34" charset="0"/>
                <a:ea typeface="Tahoma" pitchFamily="34" charset="-122"/>
                <a:cs typeface="Tahoma" pitchFamily="34" charset="-120"/>
              </a:rPr>
              <a:t>۰/۳۵-</a:t>
            </a:r>
            <a:endParaRPr lang="fa-IR" sz="2400" dirty="0"/>
          </a:p>
        </p:txBody>
      </p:sp>
      <p:sp>
        <p:nvSpPr>
          <p:cNvPr id="20" name="A02_z_343"/>
          <p:cNvSpPr txBox="1"/>
          <p:nvPr/>
        </p:nvSpPr>
        <p:spPr>
          <a:xfrm>
            <a:off x="4572000" y="2852928"/>
            <a:ext cx="3044952" cy="365760"/>
          </a:xfrm>
          <a:prstGeom prst="rect">
            <a:avLst/>
          </a:prstGeom>
          <a:noFill/>
          <a:ln/>
        </p:spPr>
        <p:txBody>
          <a:bodyPr wrap="square" lIns="0" tIns="0" rIns="0" bIns="0" rtlCol="0" anchor="t"/>
          <a:lstStyle/>
          <a:p>
            <a:pPr marL="0" indent="0" algn="ctr" rtl="1">
              <a:buNone/>
            </a:pPr>
            <a:r>
              <a:rPr lang="fa-IR" altLang="en-US" sz="1300" b="1" dirty="0">
                <a:solidFill>
                  <a:srgbClr val="D9674A"/>
                </a:solidFill>
                <a:latin typeface="Tahoma" pitchFamily="34" charset="0"/>
                <a:ea typeface="Tahoma" pitchFamily="34" charset="-122"/>
                <a:cs typeface="Tahoma" pitchFamily="34" charset="-120"/>
              </a:rPr>
              <a:t>رابطه منفی و معنادار</a:t>
            </a:r>
            <a:endParaRPr lang="fa-IR" sz="1300" dirty="0"/>
          </a:p>
        </p:txBody>
      </p:sp>
      <p:sp>
        <p:nvSpPr>
          <p:cNvPr id="21" name="A04_z_344b"/>
          <p:cNvSpPr/>
          <p:nvPr/>
        </p:nvSpPr>
        <p:spPr>
          <a:xfrm>
            <a:off x="8138160" y="3657600"/>
            <a:ext cx="3291840" cy="914400"/>
          </a:xfrm>
          <a:prstGeom prst="roundRect">
            <a:avLst>
              <a:gd name="adj" fmla="val 12000"/>
            </a:avLst>
          </a:prstGeom>
          <a:solidFill>
            <a:srgbClr val="F4F6F7"/>
          </a:solidFill>
          <a:ln w="12700">
            <a:solidFill>
              <a:srgbClr val="F4F6F7"/>
            </a:solidFill>
            <a:prstDash val="solid"/>
          </a:ln>
        </p:spPr>
      </p:sp>
      <p:sp>
        <p:nvSpPr>
          <p:cNvPr id="22" name="A04_z_345"/>
          <p:cNvSpPr txBox="1"/>
          <p:nvPr/>
        </p:nvSpPr>
        <p:spPr>
          <a:xfrm>
            <a:off x="9966960" y="3657600"/>
            <a:ext cx="1325880" cy="914400"/>
          </a:xfrm>
          <a:prstGeom prst="rect">
            <a:avLst/>
          </a:prstGeom>
          <a:noFill/>
          <a:ln/>
        </p:spPr>
        <p:txBody>
          <a:bodyPr wrap="square" lIns="0" tIns="0" rIns="0" bIns="0" rtlCol="0" anchor="ctr"/>
          <a:lstStyle/>
          <a:p>
            <a:pPr marL="0" indent="0" algn="r" rtl="1">
              <a:buNone/>
            </a:pPr>
            <a:r>
              <a:rPr lang="fa-IR" altLang="en-US" sz="1300" dirty="0">
                <a:solidFill>
                  <a:srgbClr val="6B7B83"/>
                </a:solidFill>
                <a:latin typeface="Tahoma" pitchFamily="34" charset="0"/>
                <a:ea typeface="Tahoma" pitchFamily="34" charset="-122"/>
                <a:cs typeface="Tahoma" pitchFamily="34" charset="-120"/>
              </a:rPr>
              <a:t>آماره t</a:t>
            </a:r>
            <a:endParaRPr lang="fa-IR" sz="1300" dirty="0"/>
          </a:p>
        </p:txBody>
      </p:sp>
      <p:sp>
        <p:nvSpPr>
          <p:cNvPr id="23" name="A04_z_346"/>
          <p:cNvSpPr txBox="1"/>
          <p:nvPr/>
        </p:nvSpPr>
        <p:spPr>
          <a:xfrm>
            <a:off x="8321040" y="3657600"/>
            <a:ext cx="1645920" cy="914400"/>
          </a:xfrm>
          <a:prstGeom prst="rect">
            <a:avLst/>
          </a:prstGeom>
          <a:noFill/>
          <a:ln/>
        </p:spPr>
        <p:txBody>
          <a:bodyPr wrap="square" lIns="0" tIns="0" rIns="0" bIns="0" rtlCol="0" anchor="ctr"/>
          <a:lstStyle/>
          <a:p>
            <a:pPr marL="0" indent="0" algn="ctr">
              <a:buNone/>
            </a:pPr>
            <a:r>
              <a:rPr lang="fa-IR" altLang="en-US" sz="2400" b="1" dirty="0">
                <a:solidFill>
                  <a:srgbClr val="0F5257"/>
                </a:solidFill>
                <a:latin typeface="Tahoma" pitchFamily="34" charset="0"/>
                <a:ea typeface="Tahoma" pitchFamily="34" charset="-122"/>
                <a:cs typeface="Tahoma" pitchFamily="34" charset="-120"/>
              </a:rPr>
              <a:t>۳/۸۷</a:t>
            </a:r>
            <a:endParaRPr lang="fa-IR" sz="2400" dirty="0"/>
          </a:p>
        </p:txBody>
      </p:sp>
      <p:sp>
        <p:nvSpPr>
          <p:cNvPr id="24" name="A05_z_347b"/>
          <p:cNvSpPr/>
          <p:nvPr/>
        </p:nvSpPr>
        <p:spPr>
          <a:xfrm>
            <a:off x="4443984" y="3657600"/>
            <a:ext cx="3291840" cy="914400"/>
          </a:xfrm>
          <a:prstGeom prst="roundRect">
            <a:avLst>
              <a:gd name="adj" fmla="val 12000"/>
            </a:avLst>
          </a:prstGeom>
          <a:solidFill>
            <a:srgbClr val="F4F6F7"/>
          </a:solidFill>
          <a:ln w="12700">
            <a:solidFill>
              <a:srgbClr val="F4F6F7"/>
            </a:solidFill>
            <a:prstDash val="solid"/>
          </a:ln>
        </p:spPr>
      </p:sp>
      <p:sp>
        <p:nvSpPr>
          <p:cNvPr id="25" name="A05_z_348"/>
          <p:cNvSpPr txBox="1"/>
          <p:nvPr/>
        </p:nvSpPr>
        <p:spPr>
          <a:xfrm>
            <a:off x="6272784" y="3657600"/>
            <a:ext cx="1325880" cy="914400"/>
          </a:xfrm>
          <a:prstGeom prst="rect">
            <a:avLst/>
          </a:prstGeom>
          <a:noFill/>
          <a:ln/>
        </p:spPr>
        <p:txBody>
          <a:bodyPr wrap="square" lIns="0" tIns="0" rIns="0" bIns="0" rtlCol="0" anchor="ctr"/>
          <a:lstStyle/>
          <a:p>
            <a:pPr marL="0" indent="0" algn="r" rtl="1">
              <a:buNone/>
            </a:pPr>
            <a:r>
              <a:rPr lang="fa-IR" altLang="en-US" sz="1300" dirty="0">
                <a:solidFill>
                  <a:srgbClr val="6B7B83"/>
                </a:solidFill>
                <a:latin typeface="Tahoma" pitchFamily="34" charset="0"/>
                <a:ea typeface="Tahoma" pitchFamily="34" charset="-122"/>
                <a:cs typeface="Tahoma" pitchFamily="34" charset="-120"/>
              </a:rPr>
              <a:t>انحراف معیار</a:t>
            </a:r>
            <a:endParaRPr lang="fa-IR" sz="1300" dirty="0"/>
          </a:p>
        </p:txBody>
      </p:sp>
      <p:sp>
        <p:nvSpPr>
          <p:cNvPr id="26" name="A05_z_349"/>
          <p:cNvSpPr txBox="1"/>
          <p:nvPr/>
        </p:nvSpPr>
        <p:spPr>
          <a:xfrm>
            <a:off x="4626864" y="3657600"/>
            <a:ext cx="1645920" cy="914400"/>
          </a:xfrm>
          <a:prstGeom prst="rect">
            <a:avLst/>
          </a:prstGeom>
          <a:noFill/>
          <a:ln/>
        </p:spPr>
        <p:txBody>
          <a:bodyPr wrap="square" lIns="0" tIns="0" rIns="0" bIns="0" rtlCol="0" anchor="ctr"/>
          <a:lstStyle/>
          <a:p>
            <a:pPr marL="0" indent="0" algn="ctr">
              <a:buNone/>
            </a:pPr>
            <a:r>
              <a:rPr lang="fa-IR" altLang="en-US" sz="2400" b="1" dirty="0">
                <a:solidFill>
                  <a:srgbClr val="0F5257"/>
                </a:solidFill>
                <a:latin typeface="Tahoma" pitchFamily="34" charset="0"/>
                <a:ea typeface="Tahoma" pitchFamily="34" charset="-122"/>
                <a:cs typeface="Tahoma" pitchFamily="34" charset="-120"/>
              </a:rPr>
              <a:t>۰/۰۹</a:t>
            </a:r>
            <a:endParaRPr lang="fa-IR" sz="2400" dirty="0"/>
          </a:p>
        </p:txBody>
      </p:sp>
      <p:sp>
        <p:nvSpPr>
          <p:cNvPr id="27" name="A06_z_350b"/>
          <p:cNvSpPr/>
          <p:nvPr/>
        </p:nvSpPr>
        <p:spPr>
          <a:xfrm>
            <a:off x="749808" y="3657600"/>
            <a:ext cx="3291840" cy="914400"/>
          </a:xfrm>
          <a:prstGeom prst="roundRect">
            <a:avLst>
              <a:gd name="adj" fmla="val 12000"/>
            </a:avLst>
          </a:prstGeom>
          <a:solidFill>
            <a:srgbClr val="F4F6F7"/>
          </a:solidFill>
          <a:ln w="12700">
            <a:solidFill>
              <a:srgbClr val="F4F6F7"/>
            </a:solidFill>
            <a:prstDash val="solid"/>
          </a:ln>
        </p:spPr>
      </p:sp>
      <p:sp>
        <p:nvSpPr>
          <p:cNvPr id="28" name="A06_z_351"/>
          <p:cNvSpPr txBox="1"/>
          <p:nvPr/>
        </p:nvSpPr>
        <p:spPr>
          <a:xfrm>
            <a:off x="2578608" y="3657600"/>
            <a:ext cx="1325880" cy="914400"/>
          </a:xfrm>
          <a:prstGeom prst="rect">
            <a:avLst/>
          </a:prstGeom>
          <a:noFill/>
          <a:ln/>
        </p:spPr>
        <p:txBody>
          <a:bodyPr wrap="square" lIns="0" tIns="0" rIns="0" bIns="0" rtlCol="0" anchor="ctr"/>
          <a:lstStyle/>
          <a:p>
            <a:pPr marL="0" indent="0" algn="r" rtl="1">
              <a:buNone/>
            </a:pPr>
            <a:r>
              <a:rPr lang="fa-IR" altLang="en-US" sz="1300" dirty="0">
                <a:solidFill>
                  <a:srgbClr val="6B7B83"/>
                </a:solidFill>
                <a:latin typeface="Tahoma" pitchFamily="34" charset="0"/>
                <a:ea typeface="Tahoma" pitchFamily="34" charset="-122"/>
                <a:cs typeface="Tahoma" pitchFamily="34" charset="-120"/>
              </a:rPr>
              <a:t>مقدار معناداری</a:t>
            </a:r>
            <a:endParaRPr lang="fa-IR" sz="1300" dirty="0"/>
          </a:p>
        </p:txBody>
      </p:sp>
      <p:sp>
        <p:nvSpPr>
          <p:cNvPr id="29" name="A06_z_352"/>
          <p:cNvSpPr txBox="1"/>
          <p:nvPr/>
        </p:nvSpPr>
        <p:spPr>
          <a:xfrm>
            <a:off x="932688" y="3657600"/>
            <a:ext cx="1645920" cy="914400"/>
          </a:xfrm>
          <a:prstGeom prst="rect">
            <a:avLst/>
          </a:prstGeom>
          <a:noFill/>
          <a:ln/>
        </p:spPr>
        <p:txBody>
          <a:bodyPr wrap="square" lIns="0" tIns="0" rIns="0" bIns="0" rtlCol="0" anchor="ctr"/>
          <a:lstStyle/>
          <a:p>
            <a:pPr marL="0" indent="0" algn="ctr">
              <a:buNone/>
            </a:pPr>
            <a:r>
              <a:rPr lang="fa-IR" altLang="en-US" sz="2400" b="1" dirty="0">
                <a:solidFill>
                  <a:srgbClr val="0F5257"/>
                </a:solidFill>
                <a:latin typeface="Tahoma" pitchFamily="34" charset="0"/>
                <a:ea typeface="Tahoma" pitchFamily="34" charset="-122"/>
                <a:cs typeface="Tahoma" pitchFamily="34" charset="-120"/>
              </a:rPr>
              <a:t>‎&lt;۰/۰۰۱</a:t>
            </a:r>
            <a:endParaRPr lang="fa-IR" sz="2400" dirty="0"/>
          </a:p>
        </p:txBody>
      </p:sp>
      <p:sp>
        <p:nvSpPr>
          <p:cNvPr id="30" name="Text 25"/>
          <p:cNvSpPr txBox="1"/>
          <p:nvPr/>
        </p:nvSpPr>
        <p:spPr>
          <a:xfrm>
            <a:off x="457200" y="4754880"/>
            <a:ext cx="11247120" cy="320040"/>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جدول ۴-۱۵- نتایج بخش ساختاری مدل پژوهش برای مسیرهای مستقیم</a:t>
            </a:r>
            <a:endParaRPr lang="fa-IR" sz="1200" dirty="0"/>
          </a:p>
        </p:txBody>
      </p:sp>
      <p:graphicFrame>
        <p:nvGraphicFramePr>
          <p:cNvPr id="31" name="A07_f_353"/>
          <p:cNvGraphicFramePr>
            <a:graphicFrameLocks noGrp="1"/>
          </p:cNvGraphicFramePr>
          <p:nvPr>
            <p:extLst>
              <p:ext uri="{D42A27DB-BD31-4B8C-83A1-F6EECF244321}">
                <p14:modId xmlns:p14="http://schemas.microsoft.com/office/powerpoint/2010/main" val="2681578413"/>
              </p:ext>
            </p:extLst>
          </p:nvPr>
        </p:nvGraphicFramePr>
        <p:xfrm>
          <a:off x="457200" y="5120640"/>
          <a:ext cx="1124712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931920">
                  <a:extLst>
                    <a:ext uri="{9D8B030D-6E8A-4147-A177-3AD203B41FA5}">
                      <a16:colId xmlns:a16="http://schemas.microsoft.com/office/drawing/2014/main" val="20004"/>
                    </a:ext>
                  </a:extLst>
                </a:gridCol>
              </a:tblGrid>
              <a:tr h="457200">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مقدار معناداری</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قدرمطلق t</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انحراف معیار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ضریب مسیر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مسیر مستقیم</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extLst>
                  <a:ext uri="{0D108BD9-81ED-4DB2-BD59-A6C34878D82A}">
                    <a16:rowId xmlns:a16="http://schemas.microsoft.com/office/drawing/2014/main" val="10000"/>
                  </a:ext>
                </a:extLst>
              </a:tr>
              <a:tr h="457200">
                <a:tc>
                  <a:txBody>
                    <a:bodyPr/>
                    <a:lstStyle/>
                    <a:p>
                      <a:pPr marL="0" indent="0" algn="ctr">
                        <a:buNone/>
                      </a:pPr>
                      <a:r>
                        <a:rPr lang="fa-IR" altLang="en-US" sz="1300" dirty="0">
                          <a:solidFill>
                            <a:srgbClr val="263238"/>
                          </a:solidFill>
                          <a:latin typeface="Tahoma" pitchFamily="34" charset="0"/>
                          <a:ea typeface="Tahoma" pitchFamily="34" charset="-122"/>
                          <a:cs typeface="Tahoma" pitchFamily="34" charset="-120"/>
                        </a:rPr>
                        <a:t>‎&lt;۰/۰۰۱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۳/۸۷</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۰/۰۹</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b="1" dirty="0">
                          <a:solidFill>
                            <a:srgbClr val="D9674A"/>
                          </a:solidFill>
                          <a:latin typeface="Tahoma" pitchFamily="34" charset="0"/>
                          <a:ea typeface="Tahoma" pitchFamily="34" charset="-122"/>
                          <a:cs typeface="Tahoma" pitchFamily="34" charset="-120"/>
                        </a:rPr>
                        <a:t>‎۰/۳۵-</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آسیب دوران کودکی ← سبک حل تعارض</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450" fill="hold"/>
                                        <p:tgtEl>
                                          <p:spTgt spid="11"/>
                                        </p:tgtEl>
                                        <p:attrNameLst>
                                          <p:attrName>ppt_w</p:attrName>
                                        </p:attrNameLst>
                                      </p:cBhvr>
                                      <p:tavLst>
                                        <p:tav tm="0">
                                          <p:val>
                                            <p:fltVal val="0"/>
                                          </p:val>
                                        </p:tav>
                                        <p:tav tm="100000">
                                          <p:val>
                                            <p:strVal val="#ppt_w"/>
                                          </p:val>
                                        </p:tav>
                                      </p:tavLst>
                                    </p:anim>
                                    <p:anim calcmode="lin" valueType="num">
                                      <p:cBhvr>
                                        <p:cTn id="8" dur="450" fill="hold"/>
                                        <p:tgtEl>
                                          <p:spTgt spid="11"/>
                                        </p:tgtEl>
                                        <p:attrNameLst>
                                          <p:attrName>ppt_h</p:attrName>
                                        </p:attrNameLst>
                                      </p:cBhvr>
                                      <p:tavLst>
                                        <p:tav tm="0">
                                          <p:val>
                                            <p:fltVal val="0"/>
                                          </p:val>
                                        </p:tav>
                                        <p:tav tm="100000">
                                          <p:val>
                                            <p:strVal val="#ppt_h"/>
                                          </p:val>
                                        </p:tav>
                                      </p:tavLst>
                                    </p:anim>
                                    <p:animEffect transition="in" filter="fade">
                                      <p:cBhvr>
                                        <p:cTn id="9" dur="450"/>
                                        <p:tgtEl>
                                          <p:spTgt spid="11"/>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450" fill="hold"/>
                                        <p:tgtEl>
                                          <p:spTgt spid="12"/>
                                        </p:tgtEl>
                                        <p:attrNameLst>
                                          <p:attrName>ppt_w</p:attrName>
                                        </p:attrNameLst>
                                      </p:cBhvr>
                                      <p:tavLst>
                                        <p:tav tm="0">
                                          <p:val>
                                            <p:fltVal val="0"/>
                                          </p:val>
                                        </p:tav>
                                        <p:tav tm="100000">
                                          <p:val>
                                            <p:strVal val="#ppt_w"/>
                                          </p:val>
                                        </p:tav>
                                      </p:tavLst>
                                    </p:anim>
                                    <p:anim calcmode="lin" valueType="num">
                                      <p:cBhvr>
                                        <p:cTn id="13" dur="450" fill="hold"/>
                                        <p:tgtEl>
                                          <p:spTgt spid="12"/>
                                        </p:tgtEl>
                                        <p:attrNameLst>
                                          <p:attrName>ppt_h</p:attrName>
                                        </p:attrNameLst>
                                      </p:cBhvr>
                                      <p:tavLst>
                                        <p:tav tm="0">
                                          <p:val>
                                            <p:fltVal val="0"/>
                                          </p:val>
                                        </p:tav>
                                        <p:tav tm="100000">
                                          <p:val>
                                            <p:strVal val="#ppt_h"/>
                                          </p:val>
                                        </p:tav>
                                      </p:tavLst>
                                    </p:anim>
                                    <p:animEffect transition="in" filter="fade">
                                      <p:cBhvr>
                                        <p:cTn id="14" dur="450"/>
                                        <p:tgtEl>
                                          <p:spTgt spid="12"/>
                                        </p:tgtEl>
                                      </p:cBhvr>
                                    </p:animEffect>
                                  </p:childTnLst>
                                </p:cTn>
                              </p:par>
                              <p:par>
                                <p:cTn id="15" presetID="53" presetClass="entr" presetSubtype="16"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450" fill="hold"/>
                                        <p:tgtEl>
                                          <p:spTgt spid="13"/>
                                        </p:tgtEl>
                                        <p:attrNameLst>
                                          <p:attrName>ppt_w</p:attrName>
                                        </p:attrNameLst>
                                      </p:cBhvr>
                                      <p:tavLst>
                                        <p:tav tm="0">
                                          <p:val>
                                            <p:fltVal val="0"/>
                                          </p:val>
                                        </p:tav>
                                        <p:tav tm="100000">
                                          <p:val>
                                            <p:strVal val="#ppt_w"/>
                                          </p:val>
                                        </p:tav>
                                      </p:tavLst>
                                    </p:anim>
                                    <p:anim calcmode="lin" valueType="num">
                                      <p:cBhvr>
                                        <p:cTn id="18" dur="450" fill="hold"/>
                                        <p:tgtEl>
                                          <p:spTgt spid="13"/>
                                        </p:tgtEl>
                                        <p:attrNameLst>
                                          <p:attrName>ppt_h</p:attrName>
                                        </p:attrNameLst>
                                      </p:cBhvr>
                                      <p:tavLst>
                                        <p:tav tm="0">
                                          <p:val>
                                            <p:fltVal val="0"/>
                                          </p:val>
                                        </p:tav>
                                        <p:tav tm="100000">
                                          <p:val>
                                            <p:strVal val="#ppt_h"/>
                                          </p:val>
                                        </p:tav>
                                      </p:tavLst>
                                    </p:anim>
                                    <p:animEffect transition="in" filter="fade">
                                      <p:cBhvr>
                                        <p:cTn id="19" dur="450"/>
                                        <p:tgtEl>
                                          <p:spTgt spid="13"/>
                                        </p:tgtEl>
                                      </p:cBhvr>
                                    </p:animEffect>
                                  </p:childTnLst>
                                </p:cTn>
                              </p:par>
                            </p:childTnLst>
                          </p:cTn>
                        </p:par>
                        <p:par>
                          <p:cTn id="20" fill="hold">
                            <p:stCondLst>
                              <p:cond delay="300"/>
                            </p:stCondLst>
                            <p:childTnLst>
                              <p:par>
                                <p:cTn id="21" presetID="22" presetClass="entr" presetSubtype="2" fill="hold"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right)">
                                      <p:cBhvr>
                                        <p:cTn id="23" dur="450"/>
                                        <p:tgtEl>
                                          <p:spTgt spid="17"/>
                                        </p:tgtEl>
                                      </p:cBhvr>
                                    </p:animEffect>
                                  </p:childTnLst>
                                </p:cTn>
                              </p:par>
                              <p:par>
                                <p:cTn id="24" presetID="53" presetClass="entr" presetSubtype="16"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p:cTn id="26" dur="450" fill="hold"/>
                                        <p:tgtEl>
                                          <p:spTgt spid="18"/>
                                        </p:tgtEl>
                                        <p:attrNameLst>
                                          <p:attrName>ppt_w</p:attrName>
                                        </p:attrNameLst>
                                      </p:cBhvr>
                                      <p:tavLst>
                                        <p:tav tm="0">
                                          <p:val>
                                            <p:fltVal val="0"/>
                                          </p:val>
                                        </p:tav>
                                        <p:tav tm="100000">
                                          <p:val>
                                            <p:strVal val="#ppt_w"/>
                                          </p:val>
                                        </p:tav>
                                      </p:tavLst>
                                    </p:anim>
                                    <p:anim calcmode="lin" valueType="num">
                                      <p:cBhvr>
                                        <p:cTn id="27" dur="450" fill="hold"/>
                                        <p:tgtEl>
                                          <p:spTgt spid="18"/>
                                        </p:tgtEl>
                                        <p:attrNameLst>
                                          <p:attrName>ppt_h</p:attrName>
                                        </p:attrNameLst>
                                      </p:cBhvr>
                                      <p:tavLst>
                                        <p:tav tm="0">
                                          <p:val>
                                            <p:fltVal val="0"/>
                                          </p:val>
                                        </p:tav>
                                        <p:tav tm="100000">
                                          <p:val>
                                            <p:strVal val="#ppt_h"/>
                                          </p:val>
                                        </p:tav>
                                      </p:tavLst>
                                    </p:anim>
                                    <p:animEffect transition="in" filter="fade">
                                      <p:cBhvr>
                                        <p:cTn id="28" dur="450"/>
                                        <p:tgtEl>
                                          <p:spTgt spid="18"/>
                                        </p:tgtEl>
                                      </p:cBhvr>
                                    </p:animEffect>
                                  </p:childTnLst>
                                </p:cTn>
                              </p:par>
                              <p:par>
                                <p:cTn id="29" presetID="53" presetClass="entr" presetSubtype="16"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p:cTn id="31" dur="450" fill="hold"/>
                                        <p:tgtEl>
                                          <p:spTgt spid="19"/>
                                        </p:tgtEl>
                                        <p:attrNameLst>
                                          <p:attrName>ppt_w</p:attrName>
                                        </p:attrNameLst>
                                      </p:cBhvr>
                                      <p:tavLst>
                                        <p:tav tm="0">
                                          <p:val>
                                            <p:fltVal val="0"/>
                                          </p:val>
                                        </p:tav>
                                        <p:tav tm="100000">
                                          <p:val>
                                            <p:strVal val="#ppt_w"/>
                                          </p:val>
                                        </p:tav>
                                      </p:tavLst>
                                    </p:anim>
                                    <p:anim calcmode="lin" valueType="num">
                                      <p:cBhvr>
                                        <p:cTn id="32" dur="450" fill="hold"/>
                                        <p:tgtEl>
                                          <p:spTgt spid="19"/>
                                        </p:tgtEl>
                                        <p:attrNameLst>
                                          <p:attrName>ppt_h</p:attrName>
                                        </p:attrNameLst>
                                      </p:cBhvr>
                                      <p:tavLst>
                                        <p:tav tm="0">
                                          <p:val>
                                            <p:fltVal val="0"/>
                                          </p:val>
                                        </p:tav>
                                        <p:tav tm="100000">
                                          <p:val>
                                            <p:strVal val="#ppt_h"/>
                                          </p:val>
                                        </p:tav>
                                      </p:tavLst>
                                    </p:anim>
                                    <p:animEffect transition="in" filter="fade">
                                      <p:cBhvr>
                                        <p:cTn id="33" dur="450"/>
                                        <p:tgtEl>
                                          <p:spTgt spid="19"/>
                                        </p:tgtEl>
                                      </p:cBhvr>
                                    </p:animEffect>
                                  </p:childTnLst>
                                </p:cTn>
                              </p:par>
                              <p:par>
                                <p:cTn id="34" presetID="53" presetClass="entr" presetSubtype="16"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p:cTn id="36" dur="450" fill="hold"/>
                                        <p:tgtEl>
                                          <p:spTgt spid="20"/>
                                        </p:tgtEl>
                                        <p:attrNameLst>
                                          <p:attrName>ppt_w</p:attrName>
                                        </p:attrNameLst>
                                      </p:cBhvr>
                                      <p:tavLst>
                                        <p:tav tm="0">
                                          <p:val>
                                            <p:fltVal val="0"/>
                                          </p:val>
                                        </p:tav>
                                        <p:tav tm="100000">
                                          <p:val>
                                            <p:strVal val="#ppt_w"/>
                                          </p:val>
                                        </p:tav>
                                      </p:tavLst>
                                    </p:anim>
                                    <p:anim calcmode="lin" valueType="num">
                                      <p:cBhvr>
                                        <p:cTn id="37" dur="450" fill="hold"/>
                                        <p:tgtEl>
                                          <p:spTgt spid="20"/>
                                        </p:tgtEl>
                                        <p:attrNameLst>
                                          <p:attrName>ppt_h</p:attrName>
                                        </p:attrNameLst>
                                      </p:cBhvr>
                                      <p:tavLst>
                                        <p:tav tm="0">
                                          <p:val>
                                            <p:fltVal val="0"/>
                                          </p:val>
                                        </p:tav>
                                        <p:tav tm="100000">
                                          <p:val>
                                            <p:strVal val="#ppt_h"/>
                                          </p:val>
                                        </p:tav>
                                      </p:tavLst>
                                    </p:anim>
                                    <p:animEffect transition="in" filter="fade">
                                      <p:cBhvr>
                                        <p:cTn id="38" dur="450"/>
                                        <p:tgtEl>
                                          <p:spTgt spid="20"/>
                                        </p:tgtEl>
                                      </p:cBhvr>
                                    </p:animEffect>
                                  </p:childTnLst>
                                </p:cTn>
                              </p:par>
                            </p:childTnLst>
                          </p:cTn>
                        </p:par>
                        <p:par>
                          <p:cTn id="39" fill="hold">
                            <p:stCondLst>
                              <p:cond delay="600"/>
                            </p:stCondLst>
                            <p:childTnLst>
                              <p:par>
                                <p:cTn id="40" presetID="53" presetClass="entr" presetSubtype="16" fill="hold"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p:cTn id="42" dur="450" fill="hold"/>
                                        <p:tgtEl>
                                          <p:spTgt spid="14"/>
                                        </p:tgtEl>
                                        <p:attrNameLst>
                                          <p:attrName>ppt_w</p:attrName>
                                        </p:attrNameLst>
                                      </p:cBhvr>
                                      <p:tavLst>
                                        <p:tav tm="0">
                                          <p:val>
                                            <p:fltVal val="0"/>
                                          </p:val>
                                        </p:tav>
                                        <p:tav tm="100000">
                                          <p:val>
                                            <p:strVal val="#ppt_w"/>
                                          </p:val>
                                        </p:tav>
                                      </p:tavLst>
                                    </p:anim>
                                    <p:anim calcmode="lin" valueType="num">
                                      <p:cBhvr>
                                        <p:cTn id="43" dur="450" fill="hold"/>
                                        <p:tgtEl>
                                          <p:spTgt spid="14"/>
                                        </p:tgtEl>
                                        <p:attrNameLst>
                                          <p:attrName>ppt_h</p:attrName>
                                        </p:attrNameLst>
                                      </p:cBhvr>
                                      <p:tavLst>
                                        <p:tav tm="0">
                                          <p:val>
                                            <p:fltVal val="0"/>
                                          </p:val>
                                        </p:tav>
                                        <p:tav tm="100000">
                                          <p:val>
                                            <p:strVal val="#ppt_h"/>
                                          </p:val>
                                        </p:tav>
                                      </p:tavLst>
                                    </p:anim>
                                    <p:animEffect transition="in" filter="fade">
                                      <p:cBhvr>
                                        <p:cTn id="44" dur="450"/>
                                        <p:tgtEl>
                                          <p:spTgt spid="14"/>
                                        </p:tgtEl>
                                      </p:cBhvr>
                                    </p:animEffect>
                                  </p:childTnLst>
                                </p:cTn>
                              </p:par>
                              <p:par>
                                <p:cTn id="45" presetID="53" presetClass="entr" presetSubtype="16"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p:cTn id="47" dur="450" fill="hold"/>
                                        <p:tgtEl>
                                          <p:spTgt spid="15"/>
                                        </p:tgtEl>
                                        <p:attrNameLst>
                                          <p:attrName>ppt_w</p:attrName>
                                        </p:attrNameLst>
                                      </p:cBhvr>
                                      <p:tavLst>
                                        <p:tav tm="0">
                                          <p:val>
                                            <p:fltVal val="0"/>
                                          </p:val>
                                        </p:tav>
                                        <p:tav tm="100000">
                                          <p:val>
                                            <p:strVal val="#ppt_w"/>
                                          </p:val>
                                        </p:tav>
                                      </p:tavLst>
                                    </p:anim>
                                    <p:anim calcmode="lin" valueType="num">
                                      <p:cBhvr>
                                        <p:cTn id="48" dur="450" fill="hold"/>
                                        <p:tgtEl>
                                          <p:spTgt spid="15"/>
                                        </p:tgtEl>
                                        <p:attrNameLst>
                                          <p:attrName>ppt_h</p:attrName>
                                        </p:attrNameLst>
                                      </p:cBhvr>
                                      <p:tavLst>
                                        <p:tav tm="0">
                                          <p:val>
                                            <p:fltVal val="0"/>
                                          </p:val>
                                        </p:tav>
                                        <p:tav tm="100000">
                                          <p:val>
                                            <p:strVal val="#ppt_h"/>
                                          </p:val>
                                        </p:tav>
                                      </p:tavLst>
                                    </p:anim>
                                    <p:animEffect transition="in" filter="fade">
                                      <p:cBhvr>
                                        <p:cTn id="49" dur="450"/>
                                        <p:tgtEl>
                                          <p:spTgt spid="15"/>
                                        </p:tgtEl>
                                      </p:cBhvr>
                                    </p:animEffect>
                                  </p:childTnLst>
                                </p:cTn>
                              </p:par>
                              <p:par>
                                <p:cTn id="50" presetID="53" presetClass="entr" presetSubtype="16"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450" fill="hold"/>
                                        <p:tgtEl>
                                          <p:spTgt spid="16"/>
                                        </p:tgtEl>
                                        <p:attrNameLst>
                                          <p:attrName>ppt_w</p:attrName>
                                        </p:attrNameLst>
                                      </p:cBhvr>
                                      <p:tavLst>
                                        <p:tav tm="0">
                                          <p:val>
                                            <p:fltVal val="0"/>
                                          </p:val>
                                        </p:tav>
                                        <p:tav tm="100000">
                                          <p:val>
                                            <p:strVal val="#ppt_w"/>
                                          </p:val>
                                        </p:tav>
                                      </p:tavLst>
                                    </p:anim>
                                    <p:anim calcmode="lin" valueType="num">
                                      <p:cBhvr>
                                        <p:cTn id="53" dur="450" fill="hold"/>
                                        <p:tgtEl>
                                          <p:spTgt spid="16"/>
                                        </p:tgtEl>
                                        <p:attrNameLst>
                                          <p:attrName>ppt_h</p:attrName>
                                        </p:attrNameLst>
                                      </p:cBhvr>
                                      <p:tavLst>
                                        <p:tav tm="0">
                                          <p:val>
                                            <p:fltVal val="0"/>
                                          </p:val>
                                        </p:tav>
                                        <p:tav tm="100000">
                                          <p:val>
                                            <p:strVal val="#ppt_h"/>
                                          </p:val>
                                        </p:tav>
                                      </p:tavLst>
                                    </p:anim>
                                    <p:animEffect transition="in" filter="fade">
                                      <p:cBhvr>
                                        <p:cTn id="54" dur="450"/>
                                        <p:tgtEl>
                                          <p:spTgt spid="16"/>
                                        </p:tgtEl>
                                      </p:cBhvr>
                                    </p:animEffect>
                                  </p:childTnLst>
                                </p:cTn>
                              </p:par>
                            </p:childTnLst>
                          </p:cTn>
                        </p:par>
                        <p:par>
                          <p:cTn id="55" fill="hold">
                            <p:stCondLst>
                              <p:cond delay="900"/>
                            </p:stCondLst>
                            <p:childTnLst>
                              <p:par>
                                <p:cTn id="56" presetID="53" presetClass="entr" presetSubtype="16" fill="hold" nodeType="after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p:cTn id="58" dur="450" fill="hold"/>
                                        <p:tgtEl>
                                          <p:spTgt spid="21"/>
                                        </p:tgtEl>
                                        <p:attrNameLst>
                                          <p:attrName>ppt_w</p:attrName>
                                        </p:attrNameLst>
                                      </p:cBhvr>
                                      <p:tavLst>
                                        <p:tav tm="0">
                                          <p:val>
                                            <p:fltVal val="0"/>
                                          </p:val>
                                        </p:tav>
                                        <p:tav tm="100000">
                                          <p:val>
                                            <p:strVal val="#ppt_w"/>
                                          </p:val>
                                        </p:tav>
                                      </p:tavLst>
                                    </p:anim>
                                    <p:anim calcmode="lin" valueType="num">
                                      <p:cBhvr>
                                        <p:cTn id="59" dur="450" fill="hold"/>
                                        <p:tgtEl>
                                          <p:spTgt spid="21"/>
                                        </p:tgtEl>
                                        <p:attrNameLst>
                                          <p:attrName>ppt_h</p:attrName>
                                        </p:attrNameLst>
                                      </p:cBhvr>
                                      <p:tavLst>
                                        <p:tav tm="0">
                                          <p:val>
                                            <p:fltVal val="0"/>
                                          </p:val>
                                        </p:tav>
                                        <p:tav tm="100000">
                                          <p:val>
                                            <p:strVal val="#ppt_h"/>
                                          </p:val>
                                        </p:tav>
                                      </p:tavLst>
                                    </p:anim>
                                    <p:animEffect transition="in" filter="fade">
                                      <p:cBhvr>
                                        <p:cTn id="60" dur="450"/>
                                        <p:tgtEl>
                                          <p:spTgt spid="21"/>
                                        </p:tgtEl>
                                      </p:cBhvr>
                                    </p:animEffect>
                                  </p:childTnLst>
                                </p:cTn>
                              </p:par>
                              <p:par>
                                <p:cTn id="61" presetID="53" presetClass="entr" presetSubtype="16"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p:cTn id="63" dur="450" fill="hold"/>
                                        <p:tgtEl>
                                          <p:spTgt spid="22"/>
                                        </p:tgtEl>
                                        <p:attrNameLst>
                                          <p:attrName>ppt_w</p:attrName>
                                        </p:attrNameLst>
                                      </p:cBhvr>
                                      <p:tavLst>
                                        <p:tav tm="0">
                                          <p:val>
                                            <p:fltVal val="0"/>
                                          </p:val>
                                        </p:tav>
                                        <p:tav tm="100000">
                                          <p:val>
                                            <p:strVal val="#ppt_w"/>
                                          </p:val>
                                        </p:tav>
                                      </p:tavLst>
                                    </p:anim>
                                    <p:anim calcmode="lin" valueType="num">
                                      <p:cBhvr>
                                        <p:cTn id="64" dur="450" fill="hold"/>
                                        <p:tgtEl>
                                          <p:spTgt spid="22"/>
                                        </p:tgtEl>
                                        <p:attrNameLst>
                                          <p:attrName>ppt_h</p:attrName>
                                        </p:attrNameLst>
                                      </p:cBhvr>
                                      <p:tavLst>
                                        <p:tav tm="0">
                                          <p:val>
                                            <p:fltVal val="0"/>
                                          </p:val>
                                        </p:tav>
                                        <p:tav tm="100000">
                                          <p:val>
                                            <p:strVal val="#ppt_h"/>
                                          </p:val>
                                        </p:tav>
                                      </p:tavLst>
                                    </p:anim>
                                    <p:animEffect transition="in" filter="fade">
                                      <p:cBhvr>
                                        <p:cTn id="65" dur="450"/>
                                        <p:tgtEl>
                                          <p:spTgt spid="22"/>
                                        </p:tgtEl>
                                      </p:cBhvr>
                                    </p:animEffect>
                                  </p:childTnLst>
                                </p:cTn>
                              </p:par>
                              <p:par>
                                <p:cTn id="66" presetID="53" presetClass="entr" presetSubtype="16"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p:cTn id="68" dur="450" fill="hold"/>
                                        <p:tgtEl>
                                          <p:spTgt spid="23"/>
                                        </p:tgtEl>
                                        <p:attrNameLst>
                                          <p:attrName>ppt_w</p:attrName>
                                        </p:attrNameLst>
                                      </p:cBhvr>
                                      <p:tavLst>
                                        <p:tav tm="0">
                                          <p:val>
                                            <p:fltVal val="0"/>
                                          </p:val>
                                        </p:tav>
                                        <p:tav tm="100000">
                                          <p:val>
                                            <p:strVal val="#ppt_w"/>
                                          </p:val>
                                        </p:tav>
                                      </p:tavLst>
                                    </p:anim>
                                    <p:anim calcmode="lin" valueType="num">
                                      <p:cBhvr>
                                        <p:cTn id="69" dur="450" fill="hold"/>
                                        <p:tgtEl>
                                          <p:spTgt spid="23"/>
                                        </p:tgtEl>
                                        <p:attrNameLst>
                                          <p:attrName>ppt_h</p:attrName>
                                        </p:attrNameLst>
                                      </p:cBhvr>
                                      <p:tavLst>
                                        <p:tav tm="0">
                                          <p:val>
                                            <p:fltVal val="0"/>
                                          </p:val>
                                        </p:tav>
                                        <p:tav tm="100000">
                                          <p:val>
                                            <p:strVal val="#ppt_h"/>
                                          </p:val>
                                        </p:tav>
                                      </p:tavLst>
                                    </p:anim>
                                    <p:animEffect transition="in" filter="fade">
                                      <p:cBhvr>
                                        <p:cTn id="70" dur="450"/>
                                        <p:tgtEl>
                                          <p:spTgt spid="23"/>
                                        </p:tgtEl>
                                      </p:cBhvr>
                                    </p:animEffect>
                                  </p:childTnLst>
                                </p:cTn>
                              </p:par>
                            </p:childTnLst>
                          </p:cTn>
                        </p:par>
                        <p:par>
                          <p:cTn id="71" fill="hold">
                            <p:stCondLst>
                              <p:cond delay="1200"/>
                            </p:stCondLst>
                            <p:childTnLst>
                              <p:par>
                                <p:cTn id="72" presetID="53" presetClass="entr" presetSubtype="16" fill="hold" nodeType="afterEffect">
                                  <p:stCondLst>
                                    <p:cond delay="0"/>
                                  </p:stCondLst>
                                  <p:childTnLst>
                                    <p:set>
                                      <p:cBhvr>
                                        <p:cTn id="73" dur="1" fill="hold">
                                          <p:stCondLst>
                                            <p:cond delay="0"/>
                                          </p:stCondLst>
                                        </p:cTn>
                                        <p:tgtEl>
                                          <p:spTgt spid="24"/>
                                        </p:tgtEl>
                                        <p:attrNameLst>
                                          <p:attrName>style.visibility</p:attrName>
                                        </p:attrNameLst>
                                      </p:cBhvr>
                                      <p:to>
                                        <p:strVal val="visible"/>
                                      </p:to>
                                    </p:set>
                                    <p:anim calcmode="lin" valueType="num">
                                      <p:cBhvr>
                                        <p:cTn id="74" dur="450" fill="hold"/>
                                        <p:tgtEl>
                                          <p:spTgt spid="24"/>
                                        </p:tgtEl>
                                        <p:attrNameLst>
                                          <p:attrName>ppt_w</p:attrName>
                                        </p:attrNameLst>
                                      </p:cBhvr>
                                      <p:tavLst>
                                        <p:tav tm="0">
                                          <p:val>
                                            <p:fltVal val="0"/>
                                          </p:val>
                                        </p:tav>
                                        <p:tav tm="100000">
                                          <p:val>
                                            <p:strVal val="#ppt_w"/>
                                          </p:val>
                                        </p:tav>
                                      </p:tavLst>
                                    </p:anim>
                                    <p:anim calcmode="lin" valueType="num">
                                      <p:cBhvr>
                                        <p:cTn id="75" dur="450" fill="hold"/>
                                        <p:tgtEl>
                                          <p:spTgt spid="24"/>
                                        </p:tgtEl>
                                        <p:attrNameLst>
                                          <p:attrName>ppt_h</p:attrName>
                                        </p:attrNameLst>
                                      </p:cBhvr>
                                      <p:tavLst>
                                        <p:tav tm="0">
                                          <p:val>
                                            <p:fltVal val="0"/>
                                          </p:val>
                                        </p:tav>
                                        <p:tav tm="100000">
                                          <p:val>
                                            <p:strVal val="#ppt_h"/>
                                          </p:val>
                                        </p:tav>
                                      </p:tavLst>
                                    </p:anim>
                                    <p:animEffect transition="in" filter="fade">
                                      <p:cBhvr>
                                        <p:cTn id="76" dur="450"/>
                                        <p:tgtEl>
                                          <p:spTgt spid="24"/>
                                        </p:tgtEl>
                                      </p:cBhvr>
                                    </p:animEffect>
                                  </p:childTnLst>
                                </p:cTn>
                              </p:par>
                              <p:par>
                                <p:cTn id="77" presetID="53" presetClass="entr" presetSubtype="16" fill="hold"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p:cTn id="79" dur="450" fill="hold"/>
                                        <p:tgtEl>
                                          <p:spTgt spid="25"/>
                                        </p:tgtEl>
                                        <p:attrNameLst>
                                          <p:attrName>ppt_w</p:attrName>
                                        </p:attrNameLst>
                                      </p:cBhvr>
                                      <p:tavLst>
                                        <p:tav tm="0">
                                          <p:val>
                                            <p:fltVal val="0"/>
                                          </p:val>
                                        </p:tav>
                                        <p:tav tm="100000">
                                          <p:val>
                                            <p:strVal val="#ppt_w"/>
                                          </p:val>
                                        </p:tav>
                                      </p:tavLst>
                                    </p:anim>
                                    <p:anim calcmode="lin" valueType="num">
                                      <p:cBhvr>
                                        <p:cTn id="80" dur="450" fill="hold"/>
                                        <p:tgtEl>
                                          <p:spTgt spid="25"/>
                                        </p:tgtEl>
                                        <p:attrNameLst>
                                          <p:attrName>ppt_h</p:attrName>
                                        </p:attrNameLst>
                                      </p:cBhvr>
                                      <p:tavLst>
                                        <p:tav tm="0">
                                          <p:val>
                                            <p:fltVal val="0"/>
                                          </p:val>
                                        </p:tav>
                                        <p:tav tm="100000">
                                          <p:val>
                                            <p:strVal val="#ppt_h"/>
                                          </p:val>
                                        </p:tav>
                                      </p:tavLst>
                                    </p:anim>
                                    <p:animEffect transition="in" filter="fade">
                                      <p:cBhvr>
                                        <p:cTn id="81" dur="450"/>
                                        <p:tgtEl>
                                          <p:spTgt spid="25"/>
                                        </p:tgtEl>
                                      </p:cBhvr>
                                    </p:animEffect>
                                  </p:childTnLst>
                                </p:cTn>
                              </p:par>
                              <p:par>
                                <p:cTn id="82" presetID="53" presetClass="entr" presetSubtype="16" fill="hold" nodeType="withEffect">
                                  <p:stCondLst>
                                    <p:cond delay="0"/>
                                  </p:stCondLst>
                                  <p:childTnLst>
                                    <p:set>
                                      <p:cBhvr>
                                        <p:cTn id="83" dur="1" fill="hold">
                                          <p:stCondLst>
                                            <p:cond delay="0"/>
                                          </p:stCondLst>
                                        </p:cTn>
                                        <p:tgtEl>
                                          <p:spTgt spid="26"/>
                                        </p:tgtEl>
                                        <p:attrNameLst>
                                          <p:attrName>style.visibility</p:attrName>
                                        </p:attrNameLst>
                                      </p:cBhvr>
                                      <p:to>
                                        <p:strVal val="visible"/>
                                      </p:to>
                                    </p:set>
                                    <p:anim calcmode="lin" valueType="num">
                                      <p:cBhvr>
                                        <p:cTn id="84" dur="450" fill="hold"/>
                                        <p:tgtEl>
                                          <p:spTgt spid="26"/>
                                        </p:tgtEl>
                                        <p:attrNameLst>
                                          <p:attrName>ppt_w</p:attrName>
                                        </p:attrNameLst>
                                      </p:cBhvr>
                                      <p:tavLst>
                                        <p:tav tm="0">
                                          <p:val>
                                            <p:fltVal val="0"/>
                                          </p:val>
                                        </p:tav>
                                        <p:tav tm="100000">
                                          <p:val>
                                            <p:strVal val="#ppt_w"/>
                                          </p:val>
                                        </p:tav>
                                      </p:tavLst>
                                    </p:anim>
                                    <p:anim calcmode="lin" valueType="num">
                                      <p:cBhvr>
                                        <p:cTn id="85" dur="450" fill="hold"/>
                                        <p:tgtEl>
                                          <p:spTgt spid="26"/>
                                        </p:tgtEl>
                                        <p:attrNameLst>
                                          <p:attrName>ppt_h</p:attrName>
                                        </p:attrNameLst>
                                      </p:cBhvr>
                                      <p:tavLst>
                                        <p:tav tm="0">
                                          <p:val>
                                            <p:fltVal val="0"/>
                                          </p:val>
                                        </p:tav>
                                        <p:tav tm="100000">
                                          <p:val>
                                            <p:strVal val="#ppt_h"/>
                                          </p:val>
                                        </p:tav>
                                      </p:tavLst>
                                    </p:anim>
                                    <p:animEffect transition="in" filter="fade">
                                      <p:cBhvr>
                                        <p:cTn id="86" dur="450"/>
                                        <p:tgtEl>
                                          <p:spTgt spid="26"/>
                                        </p:tgtEl>
                                      </p:cBhvr>
                                    </p:animEffect>
                                  </p:childTnLst>
                                </p:cTn>
                              </p:par>
                            </p:childTnLst>
                          </p:cTn>
                        </p:par>
                        <p:par>
                          <p:cTn id="87" fill="hold">
                            <p:stCondLst>
                              <p:cond delay="1500"/>
                            </p:stCondLst>
                            <p:childTnLst>
                              <p:par>
                                <p:cTn id="88" presetID="53" presetClass="entr" presetSubtype="16" fill="hold" nodeType="after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p:cTn id="90" dur="450" fill="hold"/>
                                        <p:tgtEl>
                                          <p:spTgt spid="27"/>
                                        </p:tgtEl>
                                        <p:attrNameLst>
                                          <p:attrName>ppt_w</p:attrName>
                                        </p:attrNameLst>
                                      </p:cBhvr>
                                      <p:tavLst>
                                        <p:tav tm="0">
                                          <p:val>
                                            <p:fltVal val="0"/>
                                          </p:val>
                                        </p:tav>
                                        <p:tav tm="100000">
                                          <p:val>
                                            <p:strVal val="#ppt_w"/>
                                          </p:val>
                                        </p:tav>
                                      </p:tavLst>
                                    </p:anim>
                                    <p:anim calcmode="lin" valueType="num">
                                      <p:cBhvr>
                                        <p:cTn id="91" dur="450" fill="hold"/>
                                        <p:tgtEl>
                                          <p:spTgt spid="27"/>
                                        </p:tgtEl>
                                        <p:attrNameLst>
                                          <p:attrName>ppt_h</p:attrName>
                                        </p:attrNameLst>
                                      </p:cBhvr>
                                      <p:tavLst>
                                        <p:tav tm="0">
                                          <p:val>
                                            <p:fltVal val="0"/>
                                          </p:val>
                                        </p:tav>
                                        <p:tav tm="100000">
                                          <p:val>
                                            <p:strVal val="#ppt_h"/>
                                          </p:val>
                                        </p:tav>
                                      </p:tavLst>
                                    </p:anim>
                                    <p:animEffect transition="in" filter="fade">
                                      <p:cBhvr>
                                        <p:cTn id="92" dur="450"/>
                                        <p:tgtEl>
                                          <p:spTgt spid="27"/>
                                        </p:tgtEl>
                                      </p:cBhvr>
                                    </p:animEffect>
                                  </p:childTnLst>
                                </p:cTn>
                              </p:par>
                              <p:par>
                                <p:cTn id="93" presetID="53" presetClass="entr" presetSubtype="16" fill="hold" nodeType="with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p:cTn id="95" dur="450" fill="hold"/>
                                        <p:tgtEl>
                                          <p:spTgt spid="28"/>
                                        </p:tgtEl>
                                        <p:attrNameLst>
                                          <p:attrName>ppt_w</p:attrName>
                                        </p:attrNameLst>
                                      </p:cBhvr>
                                      <p:tavLst>
                                        <p:tav tm="0">
                                          <p:val>
                                            <p:fltVal val="0"/>
                                          </p:val>
                                        </p:tav>
                                        <p:tav tm="100000">
                                          <p:val>
                                            <p:strVal val="#ppt_w"/>
                                          </p:val>
                                        </p:tav>
                                      </p:tavLst>
                                    </p:anim>
                                    <p:anim calcmode="lin" valueType="num">
                                      <p:cBhvr>
                                        <p:cTn id="96" dur="450" fill="hold"/>
                                        <p:tgtEl>
                                          <p:spTgt spid="28"/>
                                        </p:tgtEl>
                                        <p:attrNameLst>
                                          <p:attrName>ppt_h</p:attrName>
                                        </p:attrNameLst>
                                      </p:cBhvr>
                                      <p:tavLst>
                                        <p:tav tm="0">
                                          <p:val>
                                            <p:fltVal val="0"/>
                                          </p:val>
                                        </p:tav>
                                        <p:tav tm="100000">
                                          <p:val>
                                            <p:strVal val="#ppt_h"/>
                                          </p:val>
                                        </p:tav>
                                      </p:tavLst>
                                    </p:anim>
                                    <p:animEffect transition="in" filter="fade">
                                      <p:cBhvr>
                                        <p:cTn id="97" dur="450"/>
                                        <p:tgtEl>
                                          <p:spTgt spid="28"/>
                                        </p:tgtEl>
                                      </p:cBhvr>
                                    </p:animEffect>
                                  </p:childTnLst>
                                </p:cTn>
                              </p:par>
                              <p:par>
                                <p:cTn id="98" presetID="53" presetClass="entr" presetSubtype="16" fill="hold" nodeType="withEffect">
                                  <p:stCondLst>
                                    <p:cond delay="0"/>
                                  </p:stCondLst>
                                  <p:childTnLst>
                                    <p:set>
                                      <p:cBhvr>
                                        <p:cTn id="99" dur="1" fill="hold">
                                          <p:stCondLst>
                                            <p:cond delay="0"/>
                                          </p:stCondLst>
                                        </p:cTn>
                                        <p:tgtEl>
                                          <p:spTgt spid="29"/>
                                        </p:tgtEl>
                                        <p:attrNameLst>
                                          <p:attrName>style.visibility</p:attrName>
                                        </p:attrNameLst>
                                      </p:cBhvr>
                                      <p:to>
                                        <p:strVal val="visible"/>
                                      </p:to>
                                    </p:set>
                                    <p:anim calcmode="lin" valueType="num">
                                      <p:cBhvr>
                                        <p:cTn id="100" dur="450" fill="hold"/>
                                        <p:tgtEl>
                                          <p:spTgt spid="29"/>
                                        </p:tgtEl>
                                        <p:attrNameLst>
                                          <p:attrName>ppt_w</p:attrName>
                                        </p:attrNameLst>
                                      </p:cBhvr>
                                      <p:tavLst>
                                        <p:tav tm="0">
                                          <p:val>
                                            <p:fltVal val="0"/>
                                          </p:val>
                                        </p:tav>
                                        <p:tav tm="100000">
                                          <p:val>
                                            <p:strVal val="#ppt_w"/>
                                          </p:val>
                                        </p:tav>
                                      </p:tavLst>
                                    </p:anim>
                                    <p:anim calcmode="lin" valueType="num">
                                      <p:cBhvr>
                                        <p:cTn id="101" dur="450" fill="hold"/>
                                        <p:tgtEl>
                                          <p:spTgt spid="29"/>
                                        </p:tgtEl>
                                        <p:attrNameLst>
                                          <p:attrName>ppt_h</p:attrName>
                                        </p:attrNameLst>
                                      </p:cBhvr>
                                      <p:tavLst>
                                        <p:tav tm="0">
                                          <p:val>
                                            <p:fltVal val="0"/>
                                          </p:val>
                                        </p:tav>
                                        <p:tav tm="100000">
                                          <p:val>
                                            <p:strVal val="#ppt_h"/>
                                          </p:val>
                                        </p:tav>
                                      </p:tavLst>
                                    </p:anim>
                                    <p:animEffect transition="in" filter="fade">
                                      <p:cBhvr>
                                        <p:cTn id="102" dur="450"/>
                                        <p:tgtEl>
                                          <p:spTgt spid="29"/>
                                        </p:tgtEl>
                                      </p:cBhvr>
                                    </p:animEffect>
                                  </p:childTnLst>
                                </p:cTn>
                              </p:par>
                            </p:childTnLst>
                          </p:cTn>
                        </p:par>
                        <p:par>
                          <p:cTn id="103" fill="hold">
                            <p:stCondLst>
                              <p:cond delay="1800"/>
                            </p:stCondLst>
                            <p:childTnLst>
                              <p:par>
                                <p:cTn id="104" presetID="10" presetClass="entr" presetSubtype="0" fill="hold" nodeType="afterEffect">
                                  <p:stCondLst>
                                    <p:cond delay="0"/>
                                  </p:stCondLst>
                                  <p:childTnLst>
                                    <p:set>
                                      <p:cBhvr>
                                        <p:cTn id="105" dur="1" fill="hold">
                                          <p:stCondLst>
                                            <p:cond delay="0"/>
                                          </p:stCondLst>
                                        </p:cTn>
                                        <p:tgtEl>
                                          <p:spTgt spid="14"/>
                                        </p:tgtEl>
                                        <p:attrNameLst>
                                          <p:attrName>style.visibility</p:attrName>
                                        </p:attrNameLst>
                                      </p:cBhvr>
                                      <p:to>
                                        <p:strVal val="visible"/>
                                      </p:to>
                                    </p:set>
                                    <p:animEffect transition="in" filter="fade">
                                      <p:cBhvr>
                                        <p:cTn id="106"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فرضیه جزئی سوم</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۱۴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Text 7"/>
          <p:cNvSpPr txBox="1"/>
          <p:nvPr/>
        </p:nvSpPr>
        <p:spPr>
          <a:xfrm>
            <a:off x="457200" y="1097280"/>
            <a:ext cx="11247120" cy="365760"/>
          </a:xfrm>
          <a:prstGeom prst="rect">
            <a:avLst/>
          </a:prstGeom>
          <a:noFill/>
          <a:ln/>
        </p:spPr>
        <p:txBody>
          <a:bodyPr wrap="square" lIns="0" tIns="0" rIns="0" bIns="0" rtlCol="0" anchor="t"/>
          <a:lstStyle/>
          <a:p>
            <a:pPr marL="0" indent="0" algn="r" rtl="1">
              <a:buNone/>
            </a:pPr>
            <a:r>
              <a:rPr lang="fa-IR" altLang="en-US" sz="1500" b="1" dirty="0">
                <a:solidFill>
                  <a:srgbClr val="2A9D8F"/>
                </a:solidFill>
                <a:latin typeface="Tahoma" pitchFamily="34" charset="0"/>
                <a:ea typeface="Tahoma" pitchFamily="34" charset="-122"/>
                <a:cs typeface="Tahoma" pitchFamily="34" charset="-120"/>
              </a:rPr>
              <a:t>سبک‌های حل تعارض و سبک‌های هویتی در دانشجویان رابطه معنادار دارند</a:t>
            </a:r>
            <a:endParaRPr lang="fa-IR" sz="1500" dirty="0"/>
          </a:p>
        </p:txBody>
      </p:sp>
      <p:sp>
        <p:nvSpPr>
          <p:cNvPr id="11" name="Text 8"/>
          <p:cNvSpPr txBox="1"/>
          <p:nvPr/>
        </p:nvSpPr>
        <p:spPr>
          <a:xfrm>
            <a:off x="457200" y="1572768"/>
            <a:ext cx="11247120" cy="320040"/>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جدول ۴-۱۶- نتایج بخش ساختاری مدل پژوهش برای مسیرهای مستقیم</a:t>
            </a:r>
            <a:endParaRPr lang="fa-IR" sz="1200" dirty="0"/>
          </a:p>
        </p:txBody>
      </p:sp>
      <p:graphicFrame>
        <p:nvGraphicFramePr>
          <p:cNvPr id="15" name="A01_f_354"/>
          <p:cNvGraphicFramePr>
            <a:graphicFrameLocks noGrp="1"/>
          </p:cNvGraphicFramePr>
          <p:nvPr>
            <p:extLst>
              <p:ext uri="{D42A27DB-BD31-4B8C-83A1-F6EECF244321}">
                <p14:modId xmlns:p14="http://schemas.microsoft.com/office/powerpoint/2010/main" val="1513510596"/>
              </p:ext>
            </p:extLst>
          </p:nvPr>
        </p:nvGraphicFramePr>
        <p:xfrm>
          <a:off x="457200" y="1920240"/>
          <a:ext cx="11247120" cy="210312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931920">
                  <a:extLst>
                    <a:ext uri="{9D8B030D-6E8A-4147-A177-3AD203B41FA5}">
                      <a16:colId xmlns:a16="http://schemas.microsoft.com/office/drawing/2014/main" val="20004"/>
                    </a:ext>
                  </a:extLst>
                </a:gridCol>
              </a:tblGrid>
              <a:tr h="420624">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مقدار معناداری</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قدرمطلق t</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انحراف معیار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ضریب مسیر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300" b="1" dirty="0">
                          <a:solidFill>
                            <a:srgbClr val="FFFFFF"/>
                          </a:solidFill>
                          <a:latin typeface="Tahoma" pitchFamily="34" charset="0"/>
                          <a:ea typeface="Tahoma" pitchFamily="34" charset="-122"/>
                          <a:cs typeface="Tahoma" pitchFamily="34" charset="-120"/>
                        </a:rPr>
                        <a:t>مسیر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extLst>
                  <a:ext uri="{0D108BD9-81ED-4DB2-BD59-A6C34878D82A}">
                    <a16:rowId xmlns:a16="http://schemas.microsoft.com/office/drawing/2014/main" val="10000"/>
                  </a:ext>
                </a:extLst>
              </a:tr>
              <a:tr h="420624">
                <a:tc>
                  <a:txBody>
                    <a:bodyPr/>
                    <a:lstStyle/>
                    <a:p>
                      <a:pPr marL="0" indent="0" algn="ctr">
                        <a:buNone/>
                      </a:pPr>
                      <a:r>
                        <a:rPr lang="fa-IR" altLang="en-US" sz="1300" dirty="0">
                          <a:solidFill>
                            <a:srgbClr val="263238"/>
                          </a:solidFill>
                          <a:latin typeface="Tahoma" pitchFamily="34" charset="0"/>
                          <a:ea typeface="Tahoma" pitchFamily="34" charset="-122"/>
                          <a:cs typeface="Tahoma" pitchFamily="34" charset="-120"/>
                        </a:rPr>
                        <a:t>‎&lt;۰/۰۰۱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۸/۴۳</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۰/۰۶</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b="1" dirty="0">
                          <a:solidFill>
                            <a:srgbClr val="2A9D8F"/>
                          </a:solidFill>
                          <a:latin typeface="Tahoma" pitchFamily="34" charset="0"/>
                          <a:ea typeface="Tahoma" pitchFamily="34" charset="-122"/>
                          <a:cs typeface="Tahoma" pitchFamily="34" charset="-120"/>
                        </a:rPr>
                        <a:t>۰/۵۱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سبک حل تعارض ← هویت اطلاعاتی</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ctr">
                        <a:buNone/>
                      </a:pPr>
                      <a:r>
                        <a:rPr lang="fa-IR" altLang="en-US" sz="1300" dirty="0">
                          <a:solidFill>
                            <a:srgbClr val="263238"/>
                          </a:solidFill>
                          <a:latin typeface="Tahoma" pitchFamily="34" charset="0"/>
                          <a:ea typeface="Tahoma" pitchFamily="34" charset="-122"/>
                          <a:cs typeface="Tahoma" pitchFamily="34" charset="-120"/>
                        </a:rPr>
                        <a:t>‎&lt;۰/۰۰۱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۴/۹۳</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۰/۰۶</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b="1" dirty="0">
                          <a:solidFill>
                            <a:srgbClr val="2A9D8F"/>
                          </a:solidFill>
                          <a:latin typeface="Tahoma" pitchFamily="34" charset="0"/>
                          <a:ea typeface="Tahoma" pitchFamily="34" charset="-122"/>
                          <a:cs typeface="Tahoma" pitchFamily="34" charset="-120"/>
                        </a:rPr>
                        <a:t>۰/۲۸</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سبک حل تعارض ← هویت هنجاری</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420624">
                <a:tc>
                  <a:txBody>
                    <a:bodyPr/>
                    <a:lstStyle/>
                    <a:p>
                      <a:pPr marL="0" indent="0" algn="ctr">
                        <a:buNone/>
                      </a:pPr>
                      <a:r>
                        <a:rPr lang="fa-IR" altLang="en-US" sz="1300" dirty="0">
                          <a:solidFill>
                            <a:srgbClr val="263238"/>
                          </a:solidFill>
                          <a:latin typeface="Tahoma" pitchFamily="34" charset="0"/>
                          <a:ea typeface="Tahoma" pitchFamily="34" charset="-122"/>
                          <a:cs typeface="Tahoma" pitchFamily="34" charset="-120"/>
                        </a:rPr>
                        <a:t>‎&lt;۰/۰۰۱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۴/۸۹</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۰/۰۷</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300" b="1" dirty="0">
                          <a:solidFill>
                            <a:srgbClr val="D9674A"/>
                          </a:solidFill>
                          <a:latin typeface="Tahoma" pitchFamily="34" charset="0"/>
                          <a:ea typeface="Tahoma" pitchFamily="34" charset="-122"/>
                          <a:cs typeface="Tahoma" pitchFamily="34" charset="-120"/>
                        </a:rPr>
                        <a:t>‎۰/۳۷-</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سبک حل تعارض ← هویت سردرگمی/اجتنابی</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lang="fa-IR" altLang="en-US" sz="1300" dirty="0">
                          <a:solidFill>
                            <a:srgbClr val="263238"/>
                          </a:solidFill>
                          <a:latin typeface="Tahoma" pitchFamily="34" charset="0"/>
                          <a:ea typeface="Tahoma" pitchFamily="34" charset="-122"/>
                          <a:cs typeface="Tahoma" pitchFamily="34" charset="-120"/>
                        </a:rPr>
                        <a:t>‎&lt;۰/۰۰۱</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۴/۷۲</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۰/۰۸</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300" b="1" dirty="0">
                          <a:solidFill>
                            <a:srgbClr val="2A9D8F"/>
                          </a:solidFill>
                          <a:latin typeface="Tahoma" pitchFamily="34" charset="0"/>
                          <a:ea typeface="Tahoma" pitchFamily="34" charset="-122"/>
                          <a:cs typeface="Tahoma" pitchFamily="34" charset="-120"/>
                        </a:rPr>
                        <a:t>۰/۳۷</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300" dirty="0">
                          <a:solidFill>
                            <a:srgbClr val="263238"/>
                          </a:solidFill>
                          <a:latin typeface="Tahoma" pitchFamily="34" charset="0"/>
                          <a:ea typeface="Tahoma" pitchFamily="34" charset="-122"/>
                          <a:cs typeface="Tahoma" pitchFamily="34" charset="-120"/>
                        </a:rPr>
                        <a:t>سبک حل تعارض ← تعهد</a:t>
                      </a:r>
                      <a:endParaRPr lang="fa-IR" sz="13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bl>
          </a:graphicData>
        </a:graphic>
      </p:graphicFrame>
      <p:sp>
        <p:nvSpPr>
          <p:cNvPr id="13" name="A02_z_355b"/>
          <p:cNvSpPr/>
          <p:nvPr/>
        </p:nvSpPr>
        <p:spPr>
          <a:xfrm>
            <a:off x="9052560" y="4480560"/>
            <a:ext cx="2651760" cy="1783080"/>
          </a:xfrm>
          <a:prstGeom prst="roundRect">
            <a:avLst>
              <a:gd name="adj" fmla="val 6154"/>
            </a:avLst>
          </a:prstGeom>
          <a:solidFill>
            <a:srgbClr val="E6F2F1"/>
          </a:solidFill>
          <a:ln w="12700">
            <a:solidFill>
              <a:srgbClr val="E6F2F1"/>
            </a:solidFill>
            <a:prstDash val="solid"/>
          </a:ln>
        </p:spPr>
      </p:sp>
      <p:sp>
        <p:nvSpPr>
          <p:cNvPr id="14" name="A02_z_356"/>
          <p:cNvSpPr txBox="1"/>
          <p:nvPr/>
        </p:nvSpPr>
        <p:spPr>
          <a:xfrm>
            <a:off x="9189720" y="4544568"/>
            <a:ext cx="2377440" cy="384048"/>
          </a:xfrm>
          <a:prstGeom prst="rect">
            <a:avLst/>
          </a:prstGeom>
          <a:noFill/>
          <a:ln/>
        </p:spPr>
        <p:txBody>
          <a:bodyPr wrap="square" lIns="0" tIns="0" rIns="0" bIns="0" rtlCol="0" anchor="ctr"/>
          <a:lstStyle/>
          <a:p>
            <a:pPr marL="0" indent="0" algn="ctr" rtl="1">
              <a:buNone/>
            </a:pPr>
            <a:r>
              <a:rPr lang="fa-IR" altLang="en-US" sz="1300" b="1" dirty="0">
                <a:solidFill>
                  <a:srgbClr val="6D597A"/>
                </a:solidFill>
                <a:latin typeface="Tahoma" pitchFamily="34" charset="0"/>
                <a:ea typeface="Tahoma" pitchFamily="34" charset="-122"/>
                <a:cs typeface="Tahoma" pitchFamily="34" charset="-120"/>
              </a:rPr>
              <a:t>هویت اطلاعاتی</a:t>
            </a:r>
            <a:endParaRPr lang="fa-IR" sz="1300" dirty="0"/>
          </a:p>
        </p:txBody>
      </p:sp>
      <p:sp>
        <p:nvSpPr>
          <p:cNvPr id="12" name="A02_z_357"/>
          <p:cNvSpPr txBox="1"/>
          <p:nvPr/>
        </p:nvSpPr>
        <p:spPr>
          <a:xfrm>
            <a:off x="9189720" y="4919472"/>
            <a:ext cx="2377440" cy="685800"/>
          </a:xfrm>
          <a:prstGeom prst="rect">
            <a:avLst/>
          </a:prstGeom>
          <a:noFill/>
          <a:ln/>
        </p:spPr>
        <p:txBody>
          <a:bodyPr wrap="square" lIns="0" tIns="0" rIns="0" bIns="0" rtlCol="0" anchor="ctr"/>
          <a:lstStyle/>
          <a:p>
            <a:pPr marL="0" indent="0" algn="ctr">
              <a:buNone/>
            </a:pPr>
            <a:r>
              <a:rPr lang="fa-IR" altLang="en-US" sz="3400" b="1" dirty="0">
                <a:solidFill>
                  <a:srgbClr val="2A9D8F"/>
                </a:solidFill>
                <a:latin typeface="Tahoma" pitchFamily="34" charset="0"/>
                <a:ea typeface="Tahoma" pitchFamily="34" charset="-122"/>
                <a:cs typeface="Tahoma" pitchFamily="34" charset="-120"/>
              </a:rPr>
              <a:t>۰/۵۱</a:t>
            </a:r>
            <a:endParaRPr lang="fa-IR" sz="3400" dirty="0"/>
          </a:p>
        </p:txBody>
      </p:sp>
      <p:sp>
        <p:nvSpPr>
          <p:cNvPr id="16" name="A02_z_358t"/>
          <p:cNvSpPr/>
          <p:nvPr/>
        </p:nvSpPr>
        <p:spPr>
          <a:xfrm>
            <a:off x="9326880" y="5669280"/>
            <a:ext cx="2103120" cy="128016"/>
          </a:xfrm>
          <a:prstGeom prst="roundRect">
            <a:avLst>
              <a:gd name="adj" fmla="val 50000"/>
            </a:avLst>
          </a:prstGeom>
          <a:solidFill>
            <a:srgbClr val="FFFFFF"/>
          </a:solidFill>
          <a:ln w="12700">
            <a:solidFill>
              <a:srgbClr val="FFFFFF"/>
            </a:solidFill>
            <a:prstDash val="solid"/>
          </a:ln>
        </p:spPr>
      </p:sp>
      <p:sp>
        <p:nvSpPr>
          <p:cNvPr id="17" name="A02_wl_359v"/>
          <p:cNvSpPr/>
          <p:nvPr/>
        </p:nvSpPr>
        <p:spPr>
          <a:xfrm>
            <a:off x="9642348" y="5669280"/>
            <a:ext cx="1787652" cy="128016"/>
          </a:xfrm>
          <a:prstGeom prst="roundRect">
            <a:avLst>
              <a:gd name="adj" fmla="val 50000"/>
            </a:avLst>
          </a:prstGeom>
          <a:solidFill>
            <a:srgbClr val="2A9D8F"/>
          </a:solidFill>
          <a:ln w="12700">
            <a:solidFill>
              <a:srgbClr val="2A9D8F"/>
            </a:solidFill>
            <a:prstDash val="solid"/>
          </a:ln>
        </p:spPr>
      </p:sp>
      <p:sp>
        <p:nvSpPr>
          <p:cNvPr id="18" name="A02_z_360"/>
          <p:cNvSpPr txBox="1"/>
          <p:nvPr/>
        </p:nvSpPr>
        <p:spPr>
          <a:xfrm>
            <a:off x="9189720" y="5870448"/>
            <a:ext cx="2377440" cy="292608"/>
          </a:xfrm>
          <a:prstGeom prst="rect">
            <a:avLst/>
          </a:prstGeom>
          <a:noFill/>
          <a:ln/>
        </p:spPr>
        <p:txBody>
          <a:bodyPr wrap="square" lIns="0" tIns="0" rIns="0" bIns="0" rtlCol="0" anchor="t"/>
          <a:lstStyle/>
          <a:p>
            <a:pPr marL="0" indent="0" algn="ctr" rtl="1">
              <a:buNone/>
            </a:pPr>
            <a:r>
              <a:rPr lang="fa-IR" altLang="en-US" sz="1100" dirty="0">
                <a:solidFill>
                  <a:srgbClr val="2A9D8F"/>
                </a:solidFill>
                <a:latin typeface="Tahoma" pitchFamily="34" charset="0"/>
                <a:ea typeface="Tahoma" pitchFamily="34" charset="-122"/>
                <a:cs typeface="Tahoma" pitchFamily="34" charset="-120"/>
              </a:rPr>
              <a:t>مثبت و معنادار</a:t>
            </a:r>
            <a:endParaRPr lang="fa-IR" sz="1100" dirty="0"/>
          </a:p>
        </p:txBody>
      </p:sp>
      <p:sp>
        <p:nvSpPr>
          <p:cNvPr id="19" name="A03_z_361b"/>
          <p:cNvSpPr/>
          <p:nvPr/>
        </p:nvSpPr>
        <p:spPr>
          <a:xfrm>
            <a:off x="6187745" y="4480560"/>
            <a:ext cx="2651760" cy="1783080"/>
          </a:xfrm>
          <a:prstGeom prst="roundRect">
            <a:avLst>
              <a:gd name="adj" fmla="val 6154"/>
            </a:avLst>
          </a:prstGeom>
          <a:solidFill>
            <a:srgbClr val="E6F2F1"/>
          </a:solidFill>
          <a:ln w="12700">
            <a:solidFill>
              <a:srgbClr val="E6F2F1"/>
            </a:solidFill>
            <a:prstDash val="solid"/>
          </a:ln>
        </p:spPr>
      </p:sp>
      <p:sp>
        <p:nvSpPr>
          <p:cNvPr id="20" name="A03_z_362"/>
          <p:cNvSpPr txBox="1"/>
          <p:nvPr/>
        </p:nvSpPr>
        <p:spPr>
          <a:xfrm>
            <a:off x="6324905" y="4544568"/>
            <a:ext cx="2377440" cy="384048"/>
          </a:xfrm>
          <a:prstGeom prst="rect">
            <a:avLst/>
          </a:prstGeom>
          <a:noFill/>
          <a:ln/>
        </p:spPr>
        <p:txBody>
          <a:bodyPr wrap="square" lIns="0" tIns="0" rIns="0" bIns="0" rtlCol="0" anchor="ctr"/>
          <a:lstStyle/>
          <a:p>
            <a:pPr marL="0" indent="0" algn="ctr" rtl="1">
              <a:buNone/>
            </a:pPr>
            <a:r>
              <a:rPr lang="fa-IR" altLang="en-US" sz="1300" b="1" dirty="0">
                <a:solidFill>
                  <a:srgbClr val="6D597A"/>
                </a:solidFill>
                <a:latin typeface="Tahoma" pitchFamily="34" charset="0"/>
                <a:ea typeface="Tahoma" pitchFamily="34" charset="-122"/>
                <a:cs typeface="Tahoma" pitchFamily="34" charset="-120"/>
              </a:rPr>
              <a:t>هویت هنجاری</a:t>
            </a:r>
            <a:endParaRPr lang="fa-IR" sz="1300" dirty="0"/>
          </a:p>
        </p:txBody>
      </p:sp>
      <p:sp>
        <p:nvSpPr>
          <p:cNvPr id="21" name="A03_z_363"/>
          <p:cNvSpPr txBox="1"/>
          <p:nvPr/>
        </p:nvSpPr>
        <p:spPr>
          <a:xfrm>
            <a:off x="6324905" y="4919472"/>
            <a:ext cx="2377440" cy="685800"/>
          </a:xfrm>
          <a:prstGeom prst="rect">
            <a:avLst/>
          </a:prstGeom>
          <a:noFill/>
          <a:ln/>
        </p:spPr>
        <p:txBody>
          <a:bodyPr wrap="square" lIns="0" tIns="0" rIns="0" bIns="0" rtlCol="0" anchor="ctr"/>
          <a:lstStyle/>
          <a:p>
            <a:pPr marL="0" indent="0" algn="ctr">
              <a:buNone/>
            </a:pPr>
            <a:r>
              <a:rPr lang="fa-IR" altLang="en-US" sz="3400" b="1" dirty="0">
                <a:solidFill>
                  <a:srgbClr val="2A9D8F"/>
                </a:solidFill>
                <a:latin typeface="Tahoma" pitchFamily="34" charset="0"/>
                <a:ea typeface="Tahoma" pitchFamily="34" charset="-122"/>
                <a:cs typeface="Tahoma" pitchFamily="34" charset="-120"/>
              </a:rPr>
              <a:t>۰/۲۸</a:t>
            </a:r>
            <a:endParaRPr lang="fa-IR" sz="3400" dirty="0"/>
          </a:p>
        </p:txBody>
      </p:sp>
      <p:sp>
        <p:nvSpPr>
          <p:cNvPr id="22" name="A03_z_364t"/>
          <p:cNvSpPr/>
          <p:nvPr/>
        </p:nvSpPr>
        <p:spPr>
          <a:xfrm>
            <a:off x="6462065" y="5669280"/>
            <a:ext cx="2103120" cy="128016"/>
          </a:xfrm>
          <a:prstGeom prst="roundRect">
            <a:avLst>
              <a:gd name="adj" fmla="val 50000"/>
            </a:avLst>
          </a:prstGeom>
          <a:solidFill>
            <a:srgbClr val="FFFFFF"/>
          </a:solidFill>
          <a:ln w="12700">
            <a:solidFill>
              <a:srgbClr val="FFFFFF"/>
            </a:solidFill>
            <a:prstDash val="solid"/>
          </a:ln>
        </p:spPr>
      </p:sp>
      <p:sp>
        <p:nvSpPr>
          <p:cNvPr id="23" name="A03_wl_365v"/>
          <p:cNvSpPr/>
          <p:nvPr/>
        </p:nvSpPr>
        <p:spPr>
          <a:xfrm>
            <a:off x="7583729" y="5669280"/>
            <a:ext cx="981456" cy="128016"/>
          </a:xfrm>
          <a:prstGeom prst="roundRect">
            <a:avLst>
              <a:gd name="adj" fmla="val 50000"/>
            </a:avLst>
          </a:prstGeom>
          <a:solidFill>
            <a:srgbClr val="2A9D8F"/>
          </a:solidFill>
          <a:ln w="12700">
            <a:solidFill>
              <a:srgbClr val="2A9D8F"/>
            </a:solidFill>
            <a:prstDash val="solid"/>
          </a:ln>
        </p:spPr>
      </p:sp>
      <p:sp>
        <p:nvSpPr>
          <p:cNvPr id="24" name="A03_z_366"/>
          <p:cNvSpPr txBox="1"/>
          <p:nvPr/>
        </p:nvSpPr>
        <p:spPr>
          <a:xfrm>
            <a:off x="6324905" y="5870448"/>
            <a:ext cx="2377440" cy="292608"/>
          </a:xfrm>
          <a:prstGeom prst="rect">
            <a:avLst/>
          </a:prstGeom>
          <a:noFill/>
          <a:ln/>
        </p:spPr>
        <p:txBody>
          <a:bodyPr wrap="square" lIns="0" tIns="0" rIns="0" bIns="0" rtlCol="0" anchor="t"/>
          <a:lstStyle/>
          <a:p>
            <a:pPr marL="0" indent="0" algn="ctr" rtl="1">
              <a:buNone/>
            </a:pPr>
            <a:r>
              <a:rPr lang="fa-IR" altLang="en-US" sz="1100" dirty="0">
                <a:solidFill>
                  <a:srgbClr val="2A9D8F"/>
                </a:solidFill>
                <a:latin typeface="Tahoma" pitchFamily="34" charset="0"/>
                <a:ea typeface="Tahoma" pitchFamily="34" charset="-122"/>
                <a:cs typeface="Tahoma" pitchFamily="34" charset="-120"/>
              </a:rPr>
              <a:t>مثبت و معنادار</a:t>
            </a:r>
            <a:endParaRPr lang="fa-IR" sz="1100" dirty="0"/>
          </a:p>
        </p:txBody>
      </p:sp>
      <p:sp>
        <p:nvSpPr>
          <p:cNvPr id="25" name="A04_z_367b"/>
          <p:cNvSpPr/>
          <p:nvPr/>
        </p:nvSpPr>
        <p:spPr>
          <a:xfrm>
            <a:off x="3322930" y="4480560"/>
            <a:ext cx="2651760" cy="1783080"/>
          </a:xfrm>
          <a:prstGeom prst="roundRect">
            <a:avLst>
              <a:gd name="adj" fmla="val 6154"/>
            </a:avLst>
          </a:prstGeom>
          <a:solidFill>
            <a:srgbClr val="FBECE7"/>
          </a:solidFill>
          <a:ln w="12700">
            <a:solidFill>
              <a:srgbClr val="FBECE7"/>
            </a:solidFill>
            <a:prstDash val="solid"/>
          </a:ln>
        </p:spPr>
      </p:sp>
      <p:sp>
        <p:nvSpPr>
          <p:cNvPr id="26" name="A04_z_368"/>
          <p:cNvSpPr txBox="1"/>
          <p:nvPr/>
        </p:nvSpPr>
        <p:spPr>
          <a:xfrm>
            <a:off x="3460090" y="4544568"/>
            <a:ext cx="2377440" cy="384048"/>
          </a:xfrm>
          <a:prstGeom prst="rect">
            <a:avLst/>
          </a:prstGeom>
          <a:noFill/>
          <a:ln/>
        </p:spPr>
        <p:txBody>
          <a:bodyPr wrap="square" lIns="0" tIns="0" rIns="0" bIns="0" rtlCol="0" anchor="ctr"/>
          <a:lstStyle/>
          <a:p>
            <a:pPr marL="0" indent="0" algn="ctr" rtl="1">
              <a:buNone/>
            </a:pPr>
            <a:r>
              <a:rPr lang="fa-IR" altLang="en-US" sz="1300" b="1" dirty="0">
                <a:solidFill>
                  <a:srgbClr val="6D597A"/>
                </a:solidFill>
                <a:latin typeface="Tahoma" pitchFamily="34" charset="0"/>
                <a:ea typeface="Tahoma" pitchFamily="34" charset="-122"/>
                <a:cs typeface="Tahoma" pitchFamily="34" charset="-120"/>
              </a:rPr>
              <a:t>هویت سردرگمی/اجتنابی</a:t>
            </a:r>
            <a:endParaRPr lang="fa-IR" sz="1300" dirty="0"/>
          </a:p>
        </p:txBody>
      </p:sp>
      <p:sp>
        <p:nvSpPr>
          <p:cNvPr id="27" name="A04_z_369"/>
          <p:cNvSpPr txBox="1"/>
          <p:nvPr/>
        </p:nvSpPr>
        <p:spPr>
          <a:xfrm>
            <a:off x="3460090" y="4919472"/>
            <a:ext cx="2377440" cy="685800"/>
          </a:xfrm>
          <a:prstGeom prst="rect">
            <a:avLst/>
          </a:prstGeom>
          <a:noFill/>
          <a:ln/>
        </p:spPr>
        <p:txBody>
          <a:bodyPr wrap="square" lIns="0" tIns="0" rIns="0" bIns="0" rtlCol="0" anchor="ctr"/>
          <a:lstStyle/>
          <a:p>
            <a:pPr marL="0" indent="0" algn="ctr">
              <a:buNone/>
            </a:pPr>
            <a:r>
              <a:rPr lang="fa-IR" altLang="en-US" sz="3400" b="1" dirty="0">
                <a:solidFill>
                  <a:srgbClr val="D9674A"/>
                </a:solidFill>
                <a:latin typeface="Tahoma" pitchFamily="34" charset="0"/>
                <a:ea typeface="Tahoma" pitchFamily="34" charset="-122"/>
                <a:cs typeface="Tahoma" pitchFamily="34" charset="-120"/>
              </a:rPr>
              <a:t>‎۰/۳۷-</a:t>
            </a:r>
            <a:endParaRPr lang="fa-IR" sz="3400" dirty="0"/>
          </a:p>
        </p:txBody>
      </p:sp>
      <p:sp>
        <p:nvSpPr>
          <p:cNvPr id="28" name="A04_z_370t"/>
          <p:cNvSpPr/>
          <p:nvPr/>
        </p:nvSpPr>
        <p:spPr>
          <a:xfrm>
            <a:off x="3597250" y="5669280"/>
            <a:ext cx="2103120" cy="128016"/>
          </a:xfrm>
          <a:prstGeom prst="roundRect">
            <a:avLst>
              <a:gd name="adj" fmla="val 50000"/>
            </a:avLst>
          </a:prstGeom>
          <a:solidFill>
            <a:srgbClr val="FFFFFF"/>
          </a:solidFill>
          <a:ln w="12700">
            <a:solidFill>
              <a:srgbClr val="FFFFFF"/>
            </a:solidFill>
            <a:prstDash val="solid"/>
          </a:ln>
        </p:spPr>
      </p:sp>
      <p:sp>
        <p:nvSpPr>
          <p:cNvPr id="29" name="A04_wl_371v"/>
          <p:cNvSpPr/>
          <p:nvPr/>
        </p:nvSpPr>
        <p:spPr>
          <a:xfrm>
            <a:off x="4403446" y="5669280"/>
            <a:ext cx="1296924" cy="128016"/>
          </a:xfrm>
          <a:prstGeom prst="roundRect">
            <a:avLst>
              <a:gd name="adj" fmla="val 50000"/>
            </a:avLst>
          </a:prstGeom>
          <a:solidFill>
            <a:srgbClr val="D9674A"/>
          </a:solidFill>
          <a:ln w="12700">
            <a:solidFill>
              <a:srgbClr val="D9674A"/>
            </a:solidFill>
            <a:prstDash val="solid"/>
          </a:ln>
        </p:spPr>
      </p:sp>
      <p:sp>
        <p:nvSpPr>
          <p:cNvPr id="30" name="A04_z_372"/>
          <p:cNvSpPr txBox="1"/>
          <p:nvPr/>
        </p:nvSpPr>
        <p:spPr>
          <a:xfrm>
            <a:off x="3460090" y="5870448"/>
            <a:ext cx="2377440" cy="292608"/>
          </a:xfrm>
          <a:prstGeom prst="rect">
            <a:avLst/>
          </a:prstGeom>
          <a:noFill/>
          <a:ln/>
        </p:spPr>
        <p:txBody>
          <a:bodyPr wrap="square" lIns="0" tIns="0" rIns="0" bIns="0" rtlCol="0" anchor="t"/>
          <a:lstStyle/>
          <a:p>
            <a:pPr marL="0" indent="0" algn="ctr" rtl="1">
              <a:buNone/>
            </a:pPr>
            <a:r>
              <a:rPr lang="fa-IR" altLang="en-US" sz="1100" dirty="0">
                <a:solidFill>
                  <a:srgbClr val="D9674A"/>
                </a:solidFill>
                <a:latin typeface="Tahoma" pitchFamily="34" charset="0"/>
                <a:ea typeface="Tahoma" pitchFamily="34" charset="-122"/>
                <a:cs typeface="Tahoma" pitchFamily="34" charset="-120"/>
              </a:rPr>
              <a:t>منفی و معنادار</a:t>
            </a:r>
            <a:endParaRPr lang="fa-IR" sz="1100" dirty="0"/>
          </a:p>
        </p:txBody>
      </p:sp>
      <p:sp>
        <p:nvSpPr>
          <p:cNvPr id="31" name="A05_z_373b"/>
          <p:cNvSpPr/>
          <p:nvPr/>
        </p:nvSpPr>
        <p:spPr>
          <a:xfrm>
            <a:off x="458114" y="4480560"/>
            <a:ext cx="2651760" cy="1783080"/>
          </a:xfrm>
          <a:prstGeom prst="roundRect">
            <a:avLst>
              <a:gd name="adj" fmla="val 6154"/>
            </a:avLst>
          </a:prstGeom>
          <a:solidFill>
            <a:srgbClr val="E6F2F1"/>
          </a:solidFill>
          <a:ln w="12700">
            <a:solidFill>
              <a:srgbClr val="E6F2F1"/>
            </a:solidFill>
            <a:prstDash val="solid"/>
          </a:ln>
        </p:spPr>
      </p:sp>
      <p:sp>
        <p:nvSpPr>
          <p:cNvPr id="32" name="A05_z_374"/>
          <p:cNvSpPr txBox="1"/>
          <p:nvPr/>
        </p:nvSpPr>
        <p:spPr>
          <a:xfrm>
            <a:off x="595274" y="4544568"/>
            <a:ext cx="2377440" cy="384048"/>
          </a:xfrm>
          <a:prstGeom prst="rect">
            <a:avLst/>
          </a:prstGeom>
          <a:noFill/>
          <a:ln/>
        </p:spPr>
        <p:txBody>
          <a:bodyPr wrap="square" lIns="0" tIns="0" rIns="0" bIns="0" rtlCol="0" anchor="ctr"/>
          <a:lstStyle/>
          <a:p>
            <a:pPr marL="0" indent="0" algn="ctr" rtl="1">
              <a:buNone/>
            </a:pPr>
            <a:r>
              <a:rPr lang="fa-IR" altLang="en-US" sz="1300" b="1" dirty="0">
                <a:solidFill>
                  <a:srgbClr val="6D597A"/>
                </a:solidFill>
                <a:latin typeface="Tahoma" pitchFamily="34" charset="0"/>
                <a:ea typeface="Tahoma" pitchFamily="34" charset="-122"/>
                <a:cs typeface="Tahoma" pitchFamily="34" charset="-120"/>
              </a:rPr>
              <a:t>تعهد</a:t>
            </a:r>
            <a:endParaRPr lang="fa-IR" sz="1300" dirty="0"/>
          </a:p>
        </p:txBody>
      </p:sp>
      <p:sp>
        <p:nvSpPr>
          <p:cNvPr id="33" name="A05_z_375"/>
          <p:cNvSpPr txBox="1"/>
          <p:nvPr/>
        </p:nvSpPr>
        <p:spPr>
          <a:xfrm>
            <a:off x="595274" y="4919472"/>
            <a:ext cx="2377440" cy="685800"/>
          </a:xfrm>
          <a:prstGeom prst="rect">
            <a:avLst/>
          </a:prstGeom>
          <a:noFill/>
          <a:ln/>
        </p:spPr>
        <p:txBody>
          <a:bodyPr wrap="square" lIns="0" tIns="0" rIns="0" bIns="0" rtlCol="0" anchor="ctr"/>
          <a:lstStyle/>
          <a:p>
            <a:pPr marL="0" indent="0" algn="ctr">
              <a:buNone/>
            </a:pPr>
            <a:r>
              <a:rPr lang="fa-IR" altLang="en-US" sz="3400" b="1" dirty="0">
                <a:solidFill>
                  <a:srgbClr val="2A9D8F"/>
                </a:solidFill>
                <a:latin typeface="Tahoma" pitchFamily="34" charset="0"/>
                <a:ea typeface="Tahoma" pitchFamily="34" charset="-122"/>
                <a:cs typeface="Tahoma" pitchFamily="34" charset="-120"/>
              </a:rPr>
              <a:t>۰/۳۷</a:t>
            </a:r>
            <a:endParaRPr lang="fa-IR" sz="3400" dirty="0"/>
          </a:p>
        </p:txBody>
      </p:sp>
      <p:sp>
        <p:nvSpPr>
          <p:cNvPr id="34" name="A05_z_376t"/>
          <p:cNvSpPr/>
          <p:nvPr/>
        </p:nvSpPr>
        <p:spPr>
          <a:xfrm>
            <a:off x="732434" y="5669280"/>
            <a:ext cx="2103120" cy="128016"/>
          </a:xfrm>
          <a:prstGeom prst="roundRect">
            <a:avLst>
              <a:gd name="adj" fmla="val 50000"/>
            </a:avLst>
          </a:prstGeom>
          <a:solidFill>
            <a:srgbClr val="FFFFFF"/>
          </a:solidFill>
          <a:ln w="12700">
            <a:solidFill>
              <a:srgbClr val="FFFFFF"/>
            </a:solidFill>
            <a:prstDash val="solid"/>
          </a:ln>
        </p:spPr>
      </p:sp>
      <p:sp>
        <p:nvSpPr>
          <p:cNvPr id="35" name="A05_wl_377v"/>
          <p:cNvSpPr/>
          <p:nvPr/>
        </p:nvSpPr>
        <p:spPr>
          <a:xfrm>
            <a:off x="1538630" y="5669280"/>
            <a:ext cx="1296924" cy="128016"/>
          </a:xfrm>
          <a:prstGeom prst="roundRect">
            <a:avLst>
              <a:gd name="adj" fmla="val 50000"/>
            </a:avLst>
          </a:prstGeom>
          <a:solidFill>
            <a:srgbClr val="2A9D8F"/>
          </a:solidFill>
          <a:ln w="12700">
            <a:solidFill>
              <a:srgbClr val="2A9D8F"/>
            </a:solidFill>
            <a:prstDash val="solid"/>
          </a:ln>
        </p:spPr>
      </p:sp>
      <p:sp>
        <p:nvSpPr>
          <p:cNvPr id="36" name="A05_z_378"/>
          <p:cNvSpPr txBox="1"/>
          <p:nvPr/>
        </p:nvSpPr>
        <p:spPr>
          <a:xfrm>
            <a:off x="595274" y="5870448"/>
            <a:ext cx="2377440" cy="292608"/>
          </a:xfrm>
          <a:prstGeom prst="rect">
            <a:avLst/>
          </a:prstGeom>
          <a:noFill/>
          <a:ln/>
        </p:spPr>
        <p:txBody>
          <a:bodyPr wrap="square" lIns="0" tIns="0" rIns="0" bIns="0" rtlCol="0" anchor="t"/>
          <a:lstStyle/>
          <a:p>
            <a:pPr marL="0" indent="0" algn="ctr" rtl="1">
              <a:buNone/>
            </a:pPr>
            <a:r>
              <a:rPr lang="fa-IR" altLang="en-US" sz="1100" dirty="0">
                <a:solidFill>
                  <a:srgbClr val="2A9D8F"/>
                </a:solidFill>
                <a:latin typeface="Tahoma" pitchFamily="34" charset="0"/>
                <a:ea typeface="Tahoma" pitchFamily="34" charset="-122"/>
                <a:cs typeface="Tahoma" pitchFamily="34" charset="-120"/>
              </a:rPr>
              <a:t>مثبت و معنادار</a:t>
            </a:r>
            <a:endParaRPr lang="fa-IR" sz="1100" dirty="0"/>
          </a:p>
        </p:txBody>
      </p:sp>
      <p:sp>
        <p:nvSpPr>
          <p:cNvPr id="37" name="Text 33"/>
          <p:cNvSpPr txBox="1"/>
          <p:nvPr/>
        </p:nvSpPr>
        <p:spPr>
          <a:xfrm>
            <a:off x="457200" y="4114800"/>
            <a:ext cx="11247120" cy="320040"/>
          </a:xfrm>
          <a:prstGeom prst="rect">
            <a:avLst/>
          </a:prstGeom>
          <a:noFill/>
          <a:ln/>
        </p:spPr>
        <p:txBody>
          <a:bodyPr wrap="square" lIns="0" tIns="0" rIns="0" bIns="0" rtlCol="0" anchor="t"/>
          <a:lstStyle/>
          <a:p>
            <a:pPr marL="0" indent="0" algn="r" rtl="1">
              <a:buNone/>
            </a:pPr>
            <a:r>
              <a:rPr lang="fa-IR" altLang="en-US" sz="1300" b="1" dirty="0">
                <a:solidFill>
                  <a:srgbClr val="6B7B83"/>
                </a:solidFill>
                <a:latin typeface="Tahoma" pitchFamily="34" charset="0"/>
                <a:ea typeface="Tahoma" pitchFamily="34" charset="-122"/>
                <a:cs typeface="Tahoma" pitchFamily="34" charset="-120"/>
              </a:rPr>
              <a:t>ضریب مسیر (β) هر بعد هویت</a:t>
            </a:r>
            <a:endParaRPr lang="fa-IR" sz="13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childTnLst>
                          </p:cTn>
                        </p:par>
                        <p:par>
                          <p:cTn id="8" fill="hold">
                            <p:stCondLst>
                              <p:cond delay="300"/>
                            </p:stCondLst>
                            <p:childTnLst>
                              <p:par>
                                <p:cTn id="9" presetID="53" presetClass="entr" presetSubtype="16"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450" fill="hold"/>
                                        <p:tgtEl>
                                          <p:spTgt spid="13"/>
                                        </p:tgtEl>
                                        <p:attrNameLst>
                                          <p:attrName>ppt_w</p:attrName>
                                        </p:attrNameLst>
                                      </p:cBhvr>
                                      <p:tavLst>
                                        <p:tav tm="0">
                                          <p:val>
                                            <p:fltVal val="0"/>
                                          </p:val>
                                        </p:tav>
                                        <p:tav tm="100000">
                                          <p:val>
                                            <p:strVal val="#ppt_w"/>
                                          </p:val>
                                        </p:tav>
                                      </p:tavLst>
                                    </p:anim>
                                    <p:anim calcmode="lin" valueType="num">
                                      <p:cBhvr>
                                        <p:cTn id="12" dur="450" fill="hold"/>
                                        <p:tgtEl>
                                          <p:spTgt spid="13"/>
                                        </p:tgtEl>
                                        <p:attrNameLst>
                                          <p:attrName>ppt_h</p:attrName>
                                        </p:attrNameLst>
                                      </p:cBhvr>
                                      <p:tavLst>
                                        <p:tav tm="0">
                                          <p:val>
                                            <p:fltVal val="0"/>
                                          </p:val>
                                        </p:tav>
                                        <p:tav tm="100000">
                                          <p:val>
                                            <p:strVal val="#ppt_h"/>
                                          </p:val>
                                        </p:tav>
                                      </p:tavLst>
                                    </p:anim>
                                    <p:animEffect transition="in" filter="fade">
                                      <p:cBhvr>
                                        <p:cTn id="13" dur="450"/>
                                        <p:tgtEl>
                                          <p:spTgt spid="13"/>
                                        </p:tgtEl>
                                      </p:cBhvr>
                                    </p:animEffect>
                                  </p:childTnLst>
                                </p:cTn>
                              </p:par>
                              <p:par>
                                <p:cTn id="14" presetID="53" presetClass="entr" presetSubtype="16"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450" fill="hold"/>
                                        <p:tgtEl>
                                          <p:spTgt spid="14"/>
                                        </p:tgtEl>
                                        <p:attrNameLst>
                                          <p:attrName>ppt_w</p:attrName>
                                        </p:attrNameLst>
                                      </p:cBhvr>
                                      <p:tavLst>
                                        <p:tav tm="0">
                                          <p:val>
                                            <p:fltVal val="0"/>
                                          </p:val>
                                        </p:tav>
                                        <p:tav tm="100000">
                                          <p:val>
                                            <p:strVal val="#ppt_w"/>
                                          </p:val>
                                        </p:tav>
                                      </p:tavLst>
                                    </p:anim>
                                    <p:anim calcmode="lin" valueType="num">
                                      <p:cBhvr>
                                        <p:cTn id="17" dur="450" fill="hold"/>
                                        <p:tgtEl>
                                          <p:spTgt spid="14"/>
                                        </p:tgtEl>
                                        <p:attrNameLst>
                                          <p:attrName>ppt_h</p:attrName>
                                        </p:attrNameLst>
                                      </p:cBhvr>
                                      <p:tavLst>
                                        <p:tav tm="0">
                                          <p:val>
                                            <p:fltVal val="0"/>
                                          </p:val>
                                        </p:tav>
                                        <p:tav tm="100000">
                                          <p:val>
                                            <p:strVal val="#ppt_h"/>
                                          </p:val>
                                        </p:tav>
                                      </p:tavLst>
                                    </p:anim>
                                    <p:animEffect transition="in" filter="fade">
                                      <p:cBhvr>
                                        <p:cTn id="18" dur="450"/>
                                        <p:tgtEl>
                                          <p:spTgt spid="14"/>
                                        </p:tgtEl>
                                      </p:cBhvr>
                                    </p:animEffect>
                                  </p:childTnLst>
                                </p:cTn>
                              </p:par>
                              <p:par>
                                <p:cTn id="19" presetID="53" presetClass="entr" presetSubtype="16"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450" fill="hold"/>
                                        <p:tgtEl>
                                          <p:spTgt spid="15"/>
                                        </p:tgtEl>
                                        <p:attrNameLst>
                                          <p:attrName>ppt_w</p:attrName>
                                        </p:attrNameLst>
                                      </p:cBhvr>
                                      <p:tavLst>
                                        <p:tav tm="0">
                                          <p:val>
                                            <p:fltVal val="0"/>
                                          </p:val>
                                        </p:tav>
                                        <p:tav tm="100000">
                                          <p:val>
                                            <p:strVal val="#ppt_w"/>
                                          </p:val>
                                        </p:tav>
                                      </p:tavLst>
                                    </p:anim>
                                    <p:anim calcmode="lin" valueType="num">
                                      <p:cBhvr>
                                        <p:cTn id="22" dur="450" fill="hold"/>
                                        <p:tgtEl>
                                          <p:spTgt spid="15"/>
                                        </p:tgtEl>
                                        <p:attrNameLst>
                                          <p:attrName>ppt_h</p:attrName>
                                        </p:attrNameLst>
                                      </p:cBhvr>
                                      <p:tavLst>
                                        <p:tav tm="0">
                                          <p:val>
                                            <p:fltVal val="0"/>
                                          </p:val>
                                        </p:tav>
                                        <p:tav tm="100000">
                                          <p:val>
                                            <p:strVal val="#ppt_h"/>
                                          </p:val>
                                        </p:tav>
                                      </p:tavLst>
                                    </p:anim>
                                    <p:animEffect transition="in" filter="fade">
                                      <p:cBhvr>
                                        <p:cTn id="23" dur="450"/>
                                        <p:tgtEl>
                                          <p:spTgt spid="15"/>
                                        </p:tgtEl>
                                      </p:cBhvr>
                                    </p:animEffect>
                                  </p:childTnLst>
                                </p:cTn>
                              </p:par>
                              <p:par>
                                <p:cTn id="24" presetID="53" presetClass="entr" presetSubtype="16"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450" fill="hold"/>
                                        <p:tgtEl>
                                          <p:spTgt spid="16"/>
                                        </p:tgtEl>
                                        <p:attrNameLst>
                                          <p:attrName>ppt_w</p:attrName>
                                        </p:attrNameLst>
                                      </p:cBhvr>
                                      <p:tavLst>
                                        <p:tav tm="0">
                                          <p:val>
                                            <p:fltVal val="0"/>
                                          </p:val>
                                        </p:tav>
                                        <p:tav tm="100000">
                                          <p:val>
                                            <p:strVal val="#ppt_w"/>
                                          </p:val>
                                        </p:tav>
                                      </p:tavLst>
                                    </p:anim>
                                    <p:anim calcmode="lin" valueType="num">
                                      <p:cBhvr>
                                        <p:cTn id="27" dur="450" fill="hold"/>
                                        <p:tgtEl>
                                          <p:spTgt spid="16"/>
                                        </p:tgtEl>
                                        <p:attrNameLst>
                                          <p:attrName>ppt_h</p:attrName>
                                        </p:attrNameLst>
                                      </p:cBhvr>
                                      <p:tavLst>
                                        <p:tav tm="0">
                                          <p:val>
                                            <p:fltVal val="0"/>
                                          </p:val>
                                        </p:tav>
                                        <p:tav tm="100000">
                                          <p:val>
                                            <p:strVal val="#ppt_h"/>
                                          </p:val>
                                        </p:tav>
                                      </p:tavLst>
                                    </p:anim>
                                    <p:animEffect transition="in" filter="fade">
                                      <p:cBhvr>
                                        <p:cTn id="28" dur="450"/>
                                        <p:tgtEl>
                                          <p:spTgt spid="16"/>
                                        </p:tgtEl>
                                      </p:cBhvr>
                                    </p:animEffect>
                                  </p:childTnLst>
                                </p:cTn>
                              </p:par>
                              <p:par>
                                <p:cTn id="29" presetID="22" presetClass="entr" presetSubtype="2"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right)">
                                      <p:cBhvr>
                                        <p:cTn id="31" dur="450"/>
                                        <p:tgtEl>
                                          <p:spTgt spid="17"/>
                                        </p:tgtEl>
                                      </p:cBhvr>
                                    </p:animEffect>
                                  </p:childTnLst>
                                </p:cTn>
                              </p:par>
                              <p:par>
                                <p:cTn id="32" presetID="53" presetClass="entr" presetSubtype="16"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p:cTn id="34" dur="450" fill="hold"/>
                                        <p:tgtEl>
                                          <p:spTgt spid="18"/>
                                        </p:tgtEl>
                                        <p:attrNameLst>
                                          <p:attrName>ppt_w</p:attrName>
                                        </p:attrNameLst>
                                      </p:cBhvr>
                                      <p:tavLst>
                                        <p:tav tm="0">
                                          <p:val>
                                            <p:fltVal val="0"/>
                                          </p:val>
                                        </p:tav>
                                        <p:tav tm="100000">
                                          <p:val>
                                            <p:strVal val="#ppt_w"/>
                                          </p:val>
                                        </p:tav>
                                      </p:tavLst>
                                    </p:anim>
                                    <p:anim calcmode="lin" valueType="num">
                                      <p:cBhvr>
                                        <p:cTn id="35" dur="450" fill="hold"/>
                                        <p:tgtEl>
                                          <p:spTgt spid="18"/>
                                        </p:tgtEl>
                                        <p:attrNameLst>
                                          <p:attrName>ppt_h</p:attrName>
                                        </p:attrNameLst>
                                      </p:cBhvr>
                                      <p:tavLst>
                                        <p:tav tm="0">
                                          <p:val>
                                            <p:fltVal val="0"/>
                                          </p:val>
                                        </p:tav>
                                        <p:tav tm="100000">
                                          <p:val>
                                            <p:strVal val="#ppt_h"/>
                                          </p:val>
                                        </p:tav>
                                      </p:tavLst>
                                    </p:anim>
                                    <p:animEffect transition="in" filter="fade">
                                      <p:cBhvr>
                                        <p:cTn id="36" dur="450"/>
                                        <p:tgtEl>
                                          <p:spTgt spid="18"/>
                                        </p:tgtEl>
                                      </p:cBhvr>
                                    </p:animEffect>
                                  </p:childTnLst>
                                </p:cTn>
                              </p:par>
                            </p:childTnLst>
                          </p:cTn>
                        </p:par>
                        <p:par>
                          <p:cTn id="37" fill="hold">
                            <p:stCondLst>
                              <p:cond delay="600"/>
                            </p:stCondLst>
                            <p:childTnLst>
                              <p:par>
                                <p:cTn id="38" presetID="53" presetClass="entr" presetSubtype="16" fill="hold" nodeType="after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450" fill="hold"/>
                                        <p:tgtEl>
                                          <p:spTgt spid="19"/>
                                        </p:tgtEl>
                                        <p:attrNameLst>
                                          <p:attrName>ppt_w</p:attrName>
                                        </p:attrNameLst>
                                      </p:cBhvr>
                                      <p:tavLst>
                                        <p:tav tm="0">
                                          <p:val>
                                            <p:fltVal val="0"/>
                                          </p:val>
                                        </p:tav>
                                        <p:tav tm="100000">
                                          <p:val>
                                            <p:strVal val="#ppt_w"/>
                                          </p:val>
                                        </p:tav>
                                      </p:tavLst>
                                    </p:anim>
                                    <p:anim calcmode="lin" valueType="num">
                                      <p:cBhvr>
                                        <p:cTn id="41" dur="450" fill="hold"/>
                                        <p:tgtEl>
                                          <p:spTgt spid="19"/>
                                        </p:tgtEl>
                                        <p:attrNameLst>
                                          <p:attrName>ppt_h</p:attrName>
                                        </p:attrNameLst>
                                      </p:cBhvr>
                                      <p:tavLst>
                                        <p:tav tm="0">
                                          <p:val>
                                            <p:fltVal val="0"/>
                                          </p:val>
                                        </p:tav>
                                        <p:tav tm="100000">
                                          <p:val>
                                            <p:strVal val="#ppt_h"/>
                                          </p:val>
                                        </p:tav>
                                      </p:tavLst>
                                    </p:anim>
                                    <p:animEffect transition="in" filter="fade">
                                      <p:cBhvr>
                                        <p:cTn id="42" dur="450"/>
                                        <p:tgtEl>
                                          <p:spTgt spid="19"/>
                                        </p:tgtEl>
                                      </p:cBhvr>
                                    </p:animEffect>
                                  </p:childTnLst>
                                </p:cTn>
                              </p:par>
                              <p:par>
                                <p:cTn id="43" presetID="53" presetClass="entr" presetSubtype="16"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p:cTn id="45" dur="450" fill="hold"/>
                                        <p:tgtEl>
                                          <p:spTgt spid="20"/>
                                        </p:tgtEl>
                                        <p:attrNameLst>
                                          <p:attrName>ppt_w</p:attrName>
                                        </p:attrNameLst>
                                      </p:cBhvr>
                                      <p:tavLst>
                                        <p:tav tm="0">
                                          <p:val>
                                            <p:fltVal val="0"/>
                                          </p:val>
                                        </p:tav>
                                        <p:tav tm="100000">
                                          <p:val>
                                            <p:strVal val="#ppt_w"/>
                                          </p:val>
                                        </p:tav>
                                      </p:tavLst>
                                    </p:anim>
                                    <p:anim calcmode="lin" valueType="num">
                                      <p:cBhvr>
                                        <p:cTn id="46" dur="450" fill="hold"/>
                                        <p:tgtEl>
                                          <p:spTgt spid="20"/>
                                        </p:tgtEl>
                                        <p:attrNameLst>
                                          <p:attrName>ppt_h</p:attrName>
                                        </p:attrNameLst>
                                      </p:cBhvr>
                                      <p:tavLst>
                                        <p:tav tm="0">
                                          <p:val>
                                            <p:fltVal val="0"/>
                                          </p:val>
                                        </p:tav>
                                        <p:tav tm="100000">
                                          <p:val>
                                            <p:strVal val="#ppt_h"/>
                                          </p:val>
                                        </p:tav>
                                      </p:tavLst>
                                    </p:anim>
                                    <p:animEffect transition="in" filter="fade">
                                      <p:cBhvr>
                                        <p:cTn id="47" dur="450"/>
                                        <p:tgtEl>
                                          <p:spTgt spid="20"/>
                                        </p:tgtEl>
                                      </p:cBhvr>
                                    </p:animEffect>
                                  </p:childTnLst>
                                </p:cTn>
                              </p:par>
                              <p:par>
                                <p:cTn id="48" presetID="53" presetClass="entr" presetSubtype="16"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cBhvr>
                                        <p:cTn id="50" dur="450" fill="hold"/>
                                        <p:tgtEl>
                                          <p:spTgt spid="21"/>
                                        </p:tgtEl>
                                        <p:attrNameLst>
                                          <p:attrName>ppt_w</p:attrName>
                                        </p:attrNameLst>
                                      </p:cBhvr>
                                      <p:tavLst>
                                        <p:tav tm="0">
                                          <p:val>
                                            <p:fltVal val="0"/>
                                          </p:val>
                                        </p:tav>
                                        <p:tav tm="100000">
                                          <p:val>
                                            <p:strVal val="#ppt_w"/>
                                          </p:val>
                                        </p:tav>
                                      </p:tavLst>
                                    </p:anim>
                                    <p:anim calcmode="lin" valueType="num">
                                      <p:cBhvr>
                                        <p:cTn id="51" dur="450" fill="hold"/>
                                        <p:tgtEl>
                                          <p:spTgt spid="21"/>
                                        </p:tgtEl>
                                        <p:attrNameLst>
                                          <p:attrName>ppt_h</p:attrName>
                                        </p:attrNameLst>
                                      </p:cBhvr>
                                      <p:tavLst>
                                        <p:tav tm="0">
                                          <p:val>
                                            <p:fltVal val="0"/>
                                          </p:val>
                                        </p:tav>
                                        <p:tav tm="100000">
                                          <p:val>
                                            <p:strVal val="#ppt_h"/>
                                          </p:val>
                                        </p:tav>
                                      </p:tavLst>
                                    </p:anim>
                                    <p:animEffect transition="in" filter="fade">
                                      <p:cBhvr>
                                        <p:cTn id="52" dur="450"/>
                                        <p:tgtEl>
                                          <p:spTgt spid="21"/>
                                        </p:tgtEl>
                                      </p:cBhvr>
                                    </p:animEffect>
                                  </p:childTnLst>
                                </p:cTn>
                              </p:par>
                              <p:par>
                                <p:cTn id="53" presetID="53" presetClass="entr" presetSubtype="16"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p:cTn id="55" dur="450" fill="hold"/>
                                        <p:tgtEl>
                                          <p:spTgt spid="22"/>
                                        </p:tgtEl>
                                        <p:attrNameLst>
                                          <p:attrName>ppt_w</p:attrName>
                                        </p:attrNameLst>
                                      </p:cBhvr>
                                      <p:tavLst>
                                        <p:tav tm="0">
                                          <p:val>
                                            <p:fltVal val="0"/>
                                          </p:val>
                                        </p:tav>
                                        <p:tav tm="100000">
                                          <p:val>
                                            <p:strVal val="#ppt_w"/>
                                          </p:val>
                                        </p:tav>
                                      </p:tavLst>
                                    </p:anim>
                                    <p:anim calcmode="lin" valueType="num">
                                      <p:cBhvr>
                                        <p:cTn id="56" dur="450" fill="hold"/>
                                        <p:tgtEl>
                                          <p:spTgt spid="22"/>
                                        </p:tgtEl>
                                        <p:attrNameLst>
                                          <p:attrName>ppt_h</p:attrName>
                                        </p:attrNameLst>
                                      </p:cBhvr>
                                      <p:tavLst>
                                        <p:tav tm="0">
                                          <p:val>
                                            <p:fltVal val="0"/>
                                          </p:val>
                                        </p:tav>
                                        <p:tav tm="100000">
                                          <p:val>
                                            <p:strVal val="#ppt_h"/>
                                          </p:val>
                                        </p:tav>
                                      </p:tavLst>
                                    </p:anim>
                                    <p:animEffect transition="in" filter="fade">
                                      <p:cBhvr>
                                        <p:cTn id="57" dur="450"/>
                                        <p:tgtEl>
                                          <p:spTgt spid="22"/>
                                        </p:tgtEl>
                                      </p:cBhvr>
                                    </p:animEffect>
                                  </p:childTnLst>
                                </p:cTn>
                              </p:par>
                              <p:par>
                                <p:cTn id="58" presetID="22" presetClass="entr" presetSubtype="2"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right)">
                                      <p:cBhvr>
                                        <p:cTn id="60" dur="450"/>
                                        <p:tgtEl>
                                          <p:spTgt spid="23"/>
                                        </p:tgtEl>
                                      </p:cBhvr>
                                    </p:animEffect>
                                  </p:childTnLst>
                                </p:cTn>
                              </p:par>
                              <p:par>
                                <p:cTn id="61" presetID="53" presetClass="entr" presetSubtype="16"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 calcmode="lin" valueType="num">
                                      <p:cBhvr>
                                        <p:cTn id="63" dur="450" fill="hold"/>
                                        <p:tgtEl>
                                          <p:spTgt spid="24"/>
                                        </p:tgtEl>
                                        <p:attrNameLst>
                                          <p:attrName>ppt_w</p:attrName>
                                        </p:attrNameLst>
                                      </p:cBhvr>
                                      <p:tavLst>
                                        <p:tav tm="0">
                                          <p:val>
                                            <p:fltVal val="0"/>
                                          </p:val>
                                        </p:tav>
                                        <p:tav tm="100000">
                                          <p:val>
                                            <p:strVal val="#ppt_w"/>
                                          </p:val>
                                        </p:tav>
                                      </p:tavLst>
                                    </p:anim>
                                    <p:anim calcmode="lin" valueType="num">
                                      <p:cBhvr>
                                        <p:cTn id="64" dur="450" fill="hold"/>
                                        <p:tgtEl>
                                          <p:spTgt spid="24"/>
                                        </p:tgtEl>
                                        <p:attrNameLst>
                                          <p:attrName>ppt_h</p:attrName>
                                        </p:attrNameLst>
                                      </p:cBhvr>
                                      <p:tavLst>
                                        <p:tav tm="0">
                                          <p:val>
                                            <p:fltVal val="0"/>
                                          </p:val>
                                        </p:tav>
                                        <p:tav tm="100000">
                                          <p:val>
                                            <p:strVal val="#ppt_h"/>
                                          </p:val>
                                        </p:tav>
                                      </p:tavLst>
                                    </p:anim>
                                    <p:animEffect transition="in" filter="fade">
                                      <p:cBhvr>
                                        <p:cTn id="65" dur="450"/>
                                        <p:tgtEl>
                                          <p:spTgt spid="24"/>
                                        </p:tgtEl>
                                      </p:cBhvr>
                                    </p:animEffect>
                                  </p:childTnLst>
                                </p:cTn>
                              </p:par>
                            </p:childTnLst>
                          </p:cTn>
                        </p:par>
                        <p:par>
                          <p:cTn id="66" fill="hold">
                            <p:stCondLst>
                              <p:cond delay="900"/>
                            </p:stCondLst>
                            <p:childTnLst>
                              <p:par>
                                <p:cTn id="67" presetID="53" presetClass="entr" presetSubtype="16" fill="hold" nodeType="after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p:cTn id="69" dur="450" fill="hold"/>
                                        <p:tgtEl>
                                          <p:spTgt spid="25"/>
                                        </p:tgtEl>
                                        <p:attrNameLst>
                                          <p:attrName>ppt_w</p:attrName>
                                        </p:attrNameLst>
                                      </p:cBhvr>
                                      <p:tavLst>
                                        <p:tav tm="0">
                                          <p:val>
                                            <p:fltVal val="0"/>
                                          </p:val>
                                        </p:tav>
                                        <p:tav tm="100000">
                                          <p:val>
                                            <p:strVal val="#ppt_w"/>
                                          </p:val>
                                        </p:tav>
                                      </p:tavLst>
                                    </p:anim>
                                    <p:anim calcmode="lin" valueType="num">
                                      <p:cBhvr>
                                        <p:cTn id="70" dur="450" fill="hold"/>
                                        <p:tgtEl>
                                          <p:spTgt spid="25"/>
                                        </p:tgtEl>
                                        <p:attrNameLst>
                                          <p:attrName>ppt_h</p:attrName>
                                        </p:attrNameLst>
                                      </p:cBhvr>
                                      <p:tavLst>
                                        <p:tav tm="0">
                                          <p:val>
                                            <p:fltVal val="0"/>
                                          </p:val>
                                        </p:tav>
                                        <p:tav tm="100000">
                                          <p:val>
                                            <p:strVal val="#ppt_h"/>
                                          </p:val>
                                        </p:tav>
                                      </p:tavLst>
                                    </p:anim>
                                    <p:animEffect transition="in" filter="fade">
                                      <p:cBhvr>
                                        <p:cTn id="71" dur="450"/>
                                        <p:tgtEl>
                                          <p:spTgt spid="25"/>
                                        </p:tgtEl>
                                      </p:cBhvr>
                                    </p:animEffect>
                                  </p:childTnLst>
                                </p:cTn>
                              </p:par>
                              <p:par>
                                <p:cTn id="72" presetID="53" presetClass="entr" presetSubtype="16"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p:cTn id="74" dur="450" fill="hold"/>
                                        <p:tgtEl>
                                          <p:spTgt spid="26"/>
                                        </p:tgtEl>
                                        <p:attrNameLst>
                                          <p:attrName>ppt_w</p:attrName>
                                        </p:attrNameLst>
                                      </p:cBhvr>
                                      <p:tavLst>
                                        <p:tav tm="0">
                                          <p:val>
                                            <p:fltVal val="0"/>
                                          </p:val>
                                        </p:tav>
                                        <p:tav tm="100000">
                                          <p:val>
                                            <p:strVal val="#ppt_w"/>
                                          </p:val>
                                        </p:tav>
                                      </p:tavLst>
                                    </p:anim>
                                    <p:anim calcmode="lin" valueType="num">
                                      <p:cBhvr>
                                        <p:cTn id="75" dur="450" fill="hold"/>
                                        <p:tgtEl>
                                          <p:spTgt spid="26"/>
                                        </p:tgtEl>
                                        <p:attrNameLst>
                                          <p:attrName>ppt_h</p:attrName>
                                        </p:attrNameLst>
                                      </p:cBhvr>
                                      <p:tavLst>
                                        <p:tav tm="0">
                                          <p:val>
                                            <p:fltVal val="0"/>
                                          </p:val>
                                        </p:tav>
                                        <p:tav tm="100000">
                                          <p:val>
                                            <p:strVal val="#ppt_h"/>
                                          </p:val>
                                        </p:tav>
                                      </p:tavLst>
                                    </p:anim>
                                    <p:animEffect transition="in" filter="fade">
                                      <p:cBhvr>
                                        <p:cTn id="76" dur="450"/>
                                        <p:tgtEl>
                                          <p:spTgt spid="26"/>
                                        </p:tgtEl>
                                      </p:cBhvr>
                                    </p:animEffect>
                                  </p:childTnLst>
                                </p:cTn>
                              </p:par>
                              <p:par>
                                <p:cTn id="77" presetID="53" presetClass="entr" presetSubtype="16"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 calcmode="lin" valueType="num">
                                      <p:cBhvr>
                                        <p:cTn id="79" dur="450" fill="hold"/>
                                        <p:tgtEl>
                                          <p:spTgt spid="27"/>
                                        </p:tgtEl>
                                        <p:attrNameLst>
                                          <p:attrName>ppt_w</p:attrName>
                                        </p:attrNameLst>
                                      </p:cBhvr>
                                      <p:tavLst>
                                        <p:tav tm="0">
                                          <p:val>
                                            <p:fltVal val="0"/>
                                          </p:val>
                                        </p:tav>
                                        <p:tav tm="100000">
                                          <p:val>
                                            <p:strVal val="#ppt_w"/>
                                          </p:val>
                                        </p:tav>
                                      </p:tavLst>
                                    </p:anim>
                                    <p:anim calcmode="lin" valueType="num">
                                      <p:cBhvr>
                                        <p:cTn id="80" dur="450" fill="hold"/>
                                        <p:tgtEl>
                                          <p:spTgt spid="27"/>
                                        </p:tgtEl>
                                        <p:attrNameLst>
                                          <p:attrName>ppt_h</p:attrName>
                                        </p:attrNameLst>
                                      </p:cBhvr>
                                      <p:tavLst>
                                        <p:tav tm="0">
                                          <p:val>
                                            <p:fltVal val="0"/>
                                          </p:val>
                                        </p:tav>
                                        <p:tav tm="100000">
                                          <p:val>
                                            <p:strVal val="#ppt_h"/>
                                          </p:val>
                                        </p:tav>
                                      </p:tavLst>
                                    </p:anim>
                                    <p:animEffect transition="in" filter="fade">
                                      <p:cBhvr>
                                        <p:cTn id="81" dur="450"/>
                                        <p:tgtEl>
                                          <p:spTgt spid="27"/>
                                        </p:tgtEl>
                                      </p:cBhvr>
                                    </p:animEffect>
                                  </p:childTnLst>
                                </p:cTn>
                              </p:par>
                              <p:par>
                                <p:cTn id="82" presetID="53" presetClass="entr" presetSubtype="16" fill="hold" nodeType="withEffect">
                                  <p:stCondLst>
                                    <p:cond delay="0"/>
                                  </p:stCondLst>
                                  <p:childTnLst>
                                    <p:set>
                                      <p:cBhvr>
                                        <p:cTn id="83" dur="1" fill="hold">
                                          <p:stCondLst>
                                            <p:cond delay="0"/>
                                          </p:stCondLst>
                                        </p:cTn>
                                        <p:tgtEl>
                                          <p:spTgt spid="28"/>
                                        </p:tgtEl>
                                        <p:attrNameLst>
                                          <p:attrName>style.visibility</p:attrName>
                                        </p:attrNameLst>
                                      </p:cBhvr>
                                      <p:to>
                                        <p:strVal val="visible"/>
                                      </p:to>
                                    </p:set>
                                    <p:anim calcmode="lin" valueType="num">
                                      <p:cBhvr>
                                        <p:cTn id="84" dur="450" fill="hold"/>
                                        <p:tgtEl>
                                          <p:spTgt spid="28"/>
                                        </p:tgtEl>
                                        <p:attrNameLst>
                                          <p:attrName>ppt_w</p:attrName>
                                        </p:attrNameLst>
                                      </p:cBhvr>
                                      <p:tavLst>
                                        <p:tav tm="0">
                                          <p:val>
                                            <p:fltVal val="0"/>
                                          </p:val>
                                        </p:tav>
                                        <p:tav tm="100000">
                                          <p:val>
                                            <p:strVal val="#ppt_w"/>
                                          </p:val>
                                        </p:tav>
                                      </p:tavLst>
                                    </p:anim>
                                    <p:anim calcmode="lin" valueType="num">
                                      <p:cBhvr>
                                        <p:cTn id="85" dur="450" fill="hold"/>
                                        <p:tgtEl>
                                          <p:spTgt spid="28"/>
                                        </p:tgtEl>
                                        <p:attrNameLst>
                                          <p:attrName>ppt_h</p:attrName>
                                        </p:attrNameLst>
                                      </p:cBhvr>
                                      <p:tavLst>
                                        <p:tav tm="0">
                                          <p:val>
                                            <p:fltVal val="0"/>
                                          </p:val>
                                        </p:tav>
                                        <p:tav tm="100000">
                                          <p:val>
                                            <p:strVal val="#ppt_h"/>
                                          </p:val>
                                        </p:tav>
                                      </p:tavLst>
                                    </p:anim>
                                    <p:animEffect transition="in" filter="fade">
                                      <p:cBhvr>
                                        <p:cTn id="86" dur="450"/>
                                        <p:tgtEl>
                                          <p:spTgt spid="28"/>
                                        </p:tgtEl>
                                      </p:cBhvr>
                                    </p:animEffect>
                                  </p:childTnLst>
                                </p:cTn>
                              </p:par>
                              <p:par>
                                <p:cTn id="87" presetID="22" presetClass="entr" presetSubtype="2" fill="hold"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wipe(right)">
                                      <p:cBhvr>
                                        <p:cTn id="89" dur="450"/>
                                        <p:tgtEl>
                                          <p:spTgt spid="29"/>
                                        </p:tgtEl>
                                      </p:cBhvr>
                                    </p:animEffect>
                                  </p:childTnLst>
                                </p:cTn>
                              </p:par>
                              <p:par>
                                <p:cTn id="90" presetID="53" presetClass="entr" presetSubtype="16" fill="hold" nodeType="withEffect">
                                  <p:stCondLst>
                                    <p:cond delay="0"/>
                                  </p:stCondLst>
                                  <p:childTnLst>
                                    <p:set>
                                      <p:cBhvr>
                                        <p:cTn id="91" dur="1" fill="hold">
                                          <p:stCondLst>
                                            <p:cond delay="0"/>
                                          </p:stCondLst>
                                        </p:cTn>
                                        <p:tgtEl>
                                          <p:spTgt spid="30"/>
                                        </p:tgtEl>
                                        <p:attrNameLst>
                                          <p:attrName>style.visibility</p:attrName>
                                        </p:attrNameLst>
                                      </p:cBhvr>
                                      <p:to>
                                        <p:strVal val="visible"/>
                                      </p:to>
                                    </p:set>
                                    <p:anim calcmode="lin" valueType="num">
                                      <p:cBhvr>
                                        <p:cTn id="92" dur="450" fill="hold"/>
                                        <p:tgtEl>
                                          <p:spTgt spid="30"/>
                                        </p:tgtEl>
                                        <p:attrNameLst>
                                          <p:attrName>ppt_w</p:attrName>
                                        </p:attrNameLst>
                                      </p:cBhvr>
                                      <p:tavLst>
                                        <p:tav tm="0">
                                          <p:val>
                                            <p:fltVal val="0"/>
                                          </p:val>
                                        </p:tav>
                                        <p:tav tm="100000">
                                          <p:val>
                                            <p:strVal val="#ppt_w"/>
                                          </p:val>
                                        </p:tav>
                                      </p:tavLst>
                                    </p:anim>
                                    <p:anim calcmode="lin" valueType="num">
                                      <p:cBhvr>
                                        <p:cTn id="93" dur="450" fill="hold"/>
                                        <p:tgtEl>
                                          <p:spTgt spid="30"/>
                                        </p:tgtEl>
                                        <p:attrNameLst>
                                          <p:attrName>ppt_h</p:attrName>
                                        </p:attrNameLst>
                                      </p:cBhvr>
                                      <p:tavLst>
                                        <p:tav tm="0">
                                          <p:val>
                                            <p:fltVal val="0"/>
                                          </p:val>
                                        </p:tav>
                                        <p:tav tm="100000">
                                          <p:val>
                                            <p:strVal val="#ppt_h"/>
                                          </p:val>
                                        </p:tav>
                                      </p:tavLst>
                                    </p:anim>
                                    <p:animEffect transition="in" filter="fade">
                                      <p:cBhvr>
                                        <p:cTn id="94" dur="450"/>
                                        <p:tgtEl>
                                          <p:spTgt spid="30"/>
                                        </p:tgtEl>
                                      </p:cBhvr>
                                    </p:animEffect>
                                  </p:childTnLst>
                                </p:cTn>
                              </p:par>
                            </p:childTnLst>
                          </p:cTn>
                        </p:par>
                        <p:par>
                          <p:cTn id="95" fill="hold">
                            <p:stCondLst>
                              <p:cond delay="1200"/>
                            </p:stCondLst>
                            <p:childTnLst>
                              <p:par>
                                <p:cTn id="96" presetID="53" presetClass="entr" presetSubtype="16" fill="hold" nodeType="afterEffect">
                                  <p:stCondLst>
                                    <p:cond delay="0"/>
                                  </p:stCondLst>
                                  <p:childTnLst>
                                    <p:set>
                                      <p:cBhvr>
                                        <p:cTn id="97" dur="1" fill="hold">
                                          <p:stCondLst>
                                            <p:cond delay="0"/>
                                          </p:stCondLst>
                                        </p:cTn>
                                        <p:tgtEl>
                                          <p:spTgt spid="31"/>
                                        </p:tgtEl>
                                        <p:attrNameLst>
                                          <p:attrName>style.visibility</p:attrName>
                                        </p:attrNameLst>
                                      </p:cBhvr>
                                      <p:to>
                                        <p:strVal val="visible"/>
                                      </p:to>
                                    </p:set>
                                    <p:anim calcmode="lin" valueType="num">
                                      <p:cBhvr>
                                        <p:cTn id="98" dur="450" fill="hold"/>
                                        <p:tgtEl>
                                          <p:spTgt spid="31"/>
                                        </p:tgtEl>
                                        <p:attrNameLst>
                                          <p:attrName>ppt_w</p:attrName>
                                        </p:attrNameLst>
                                      </p:cBhvr>
                                      <p:tavLst>
                                        <p:tav tm="0">
                                          <p:val>
                                            <p:fltVal val="0"/>
                                          </p:val>
                                        </p:tav>
                                        <p:tav tm="100000">
                                          <p:val>
                                            <p:strVal val="#ppt_w"/>
                                          </p:val>
                                        </p:tav>
                                      </p:tavLst>
                                    </p:anim>
                                    <p:anim calcmode="lin" valueType="num">
                                      <p:cBhvr>
                                        <p:cTn id="99" dur="450" fill="hold"/>
                                        <p:tgtEl>
                                          <p:spTgt spid="31"/>
                                        </p:tgtEl>
                                        <p:attrNameLst>
                                          <p:attrName>ppt_h</p:attrName>
                                        </p:attrNameLst>
                                      </p:cBhvr>
                                      <p:tavLst>
                                        <p:tav tm="0">
                                          <p:val>
                                            <p:fltVal val="0"/>
                                          </p:val>
                                        </p:tav>
                                        <p:tav tm="100000">
                                          <p:val>
                                            <p:strVal val="#ppt_h"/>
                                          </p:val>
                                        </p:tav>
                                      </p:tavLst>
                                    </p:anim>
                                    <p:animEffect transition="in" filter="fade">
                                      <p:cBhvr>
                                        <p:cTn id="100" dur="450"/>
                                        <p:tgtEl>
                                          <p:spTgt spid="31"/>
                                        </p:tgtEl>
                                      </p:cBhvr>
                                    </p:animEffect>
                                  </p:childTnLst>
                                </p:cTn>
                              </p:par>
                              <p:par>
                                <p:cTn id="101" presetID="53" presetClass="entr" presetSubtype="16" fill="hold" nodeType="withEffect">
                                  <p:stCondLst>
                                    <p:cond delay="0"/>
                                  </p:stCondLst>
                                  <p:childTnLst>
                                    <p:set>
                                      <p:cBhvr>
                                        <p:cTn id="102" dur="1" fill="hold">
                                          <p:stCondLst>
                                            <p:cond delay="0"/>
                                          </p:stCondLst>
                                        </p:cTn>
                                        <p:tgtEl>
                                          <p:spTgt spid="32"/>
                                        </p:tgtEl>
                                        <p:attrNameLst>
                                          <p:attrName>style.visibility</p:attrName>
                                        </p:attrNameLst>
                                      </p:cBhvr>
                                      <p:to>
                                        <p:strVal val="visible"/>
                                      </p:to>
                                    </p:set>
                                    <p:anim calcmode="lin" valueType="num">
                                      <p:cBhvr>
                                        <p:cTn id="103" dur="450" fill="hold"/>
                                        <p:tgtEl>
                                          <p:spTgt spid="32"/>
                                        </p:tgtEl>
                                        <p:attrNameLst>
                                          <p:attrName>ppt_w</p:attrName>
                                        </p:attrNameLst>
                                      </p:cBhvr>
                                      <p:tavLst>
                                        <p:tav tm="0">
                                          <p:val>
                                            <p:fltVal val="0"/>
                                          </p:val>
                                        </p:tav>
                                        <p:tav tm="100000">
                                          <p:val>
                                            <p:strVal val="#ppt_w"/>
                                          </p:val>
                                        </p:tav>
                                      </p:tavLst>
                                    </p:anim>
                                    <p:anim calcmode="lin" valueType="num">
                                      <p:cBhvr>
                                        <p:cTn id="104" dur="450" fill="hold"/>
                                        <p:tgtEl>
                                          <p:spTgt spid="32"/>
                                        </p:tgtEl>
                                        <p:attrNameLst>
                                          <p:attrName>ppt_h</p:attrName>
                                        </p:attrNameLst>
                                      </p:cBhvr>
                                      <p:tavLst>
                                        <p:tav tm="0">
                                          <p:val>
                                            <p:fltVal val="0"/>
                                          </p:val>
                                        </p:tav>
                                        <p:tav tm="100000">
                                          <p:val>
                                            <p:strVal val="#ppt_h"/>
                                          </p:val>
                                        </p:tav>
                                      </p:tavLst>
                                    </p:anim>
                                    <p:animEffect transition="in" filter="fade">
                                      <p:cBhvr>
                                        <p:cTn id="105" dur="450"/>
                                        <p:tgtEl>
                                          <p:spTgt spid="32"/>
                                        </p:tgtEl>
                                      </p:cBhvr>
                                    </p:animEffect>
                                  </p:childTnLst>
                                </p:cTn>
                              </p:par>
                              <p:par>
                                <p:cTn id="106" presetID="53" presetClass="entr" presetSubtype="16" fill="hold" nodeType="withEffect">
                                  <p:stCondLst>
                                    <p:cond delay="0"/>
                                  </p:stCondLst>
                                  <p:childTnLst>
                                    <p:set>
                                      <p:cBhvr>
                                        <p:cTn id="107" dur="1" fill="hold">
                                          <p:stCondLst>
                                            <p:cond delay="0"/>
                                          </p:stCondLst>
                                        </p:cTn>
                                        <p:tgtEl>
                                          <p:spTgt spid="33"/>
                                        </p:tgtEl>
                                        <p:attrNameLst>
                                          <p:attrName>style.visibility</p:attrName>
                                        </p:attrNameLst>
                                      </p:cBhvr>
                                      <p:to>
                                        <p:strVal val="visible"/>
                                      </p:to>
                                    </p:set>
                                    <p:anim calcmode="lin" valueType="num">
                                      <p:cBhvr>
                                        <p:cTn id="108" dur="450" fill="hold"/>
                                        <p:tgtEl>
                                          <p:spTgt spid="33"/>
                                        </p:tgtEl>
                                        <p:attrNameLst>
                                          <p:attrName>ppt_w</p:attrName>
                                        </p:attrNameLst>
                                      </p:cBhvr>
                                      <p:tavLst>
                                        <p:tav tm="0">
                                          <p:val>
                                            <p:fltVal val="0"/>
                                          </p:val>
                                        </p:tav>
                                        <p:tav tm="100000">
                                          <p:val>
                                            <p:strVal val="#ppt_w"/>
                                          </p:val>
                                        </p:tav>
                                      </p:tavLst>
                                    </p:anim>
                                    <p:anim calcmode="lin" valueType="num">
                                      <p:cBhvr>
                                        <p:cTn id="109" dur="450" fill="hold"/>
                                        <p:tgtEl>
                                          <p:spTgt spid="33"/>
                                        </p:tgtEl>
                                        <p:attrNameLst>
                                          <p:attrName>ppt_h</p:attrName>
                                        </p:attrNameLst>
                                      </p:cBhvr>
                                      <p:tavLst>
                                        <p:tav tm="0">
                                          <p:val>
                                            <p:fltVal val="0"/>
                                          </p:val>
                                        </p:tav>
                                        <p:tav tm="100000">
                                          <p:val>
                                            <p:strVal val="#ppt_h"/>
                                          </p:val>
                                        </p:tav>
                                      </p:tavLst>
                                    </p:anim>
                                    <p:animEffect transition="in" filter="fade">
                                      <p:cBhvr>
                                        <p:cTn id="110" dur="450"/>
                                        <p:tgtEl>
                                          <p:spTgt spid="33"/>
                                        </p:tgtEl>
                                      </p:cBhvr>
                                    </p:animEffect>
                                  </p:childTnLst>
                                </p:cTn>
                              </p:par>
                              <p:par>
                                <p:cTn id="111" presetID="53" presetClass="entr" presetSubtype="16" fill="hold" nodeType="withEffect">
                                  <p:stCondLst>
                                    <p:cond delay="0"/>
                                  </p:stCondLst>
                                  <p:childTnLst>
                                    <p:set>
                                      <p:cBhvr>
                                        <p:cTn id="112" dur="1" fill="hold">
                                          <p:stCondLst>
                                            <p:cond delay="0"/>
                                          </p:stCondLst>
                                        </p:cTn>
                                        <p:tgtEl>
                                          <p:spTgt spid="34"/>
                                        </p:tgtEl>
                                        <p:attrNameLst>
                                          <p:attrName>style.visibility</p:attrName>
                                        </p:attrNameLst>
                                      </p:cBhvr>
                                      <p:to>
                                        <p:strVal val="visible"/>
                                      </p:to>
                                    </p:set>
                                    <p:anim calcmode="lin" valueType="num">
                                      <p:cBhvr>
                                        <p:cTn id="113" dur="450" fill="hold"/>
                                        <p:tgtEl>
                                          <p:spTgt spid="34"/>
                                        </p:tgtEl>
                                        <p:attrNameLst>
                                          <p:attrName>ppt_w</p:attrName>
                                        </p:attrNameLst>
                                      </p:cBhvr>
                                      <p:tavLst>
                                        <p:tav tm="0">
                                          <p:val>
                                            <p:fltVal val="0"/>
                                          </p:val>
                                        </p:tav>
                                        <p:tav tm="100000">
                                          <p:val>
                                            <p:strVal val="#ppt_w"/>
                                          </p:val>
                                        </p:tav>
                                      </p:tavLst>
                                    </p:anim>
                                    <p:anim calcmode="lin" valueType="num">
                                      <p:cBhvr>
                                        <p:cTn id="114" dur="450" fill="hold"/>
                                        <p:tgtEl>
                                          <p:spTgt spid="34"/>
                                        </p:tgtEl>
                                        <p:attrNameLst>
                                          <p:attrName>ppt_h</p:attrName>
                                        </p:attrNameLst>
                                      </p:cBhvr>
                                      <p:tavLst>
                                        <p:tav tm="0">
                                          <p:val>
                                            <p:fltVal val="0"/>
                                          </p:val>
                                        </p:tav>
                                        <p:tav tm="100000">
                                          <p:val>
                                            <p:strVal val="#ppt_h"/>
                                          </p:val>
                                        </p:tav>
                                      </p:tavLst>
                                    </p:anim>
                                    <p:animEffect transition="in" filter="fade">
                                      <p:cBhvr>
                                        <p:cTn id="115" dur="450"/>
                                        <p:tgtEl>
                                          <p:spTgt spid="34"/>
                                        </p:tgtEl>
                                      </p:cBhvr>
                                    </p:animEffect>
                                  </p:childTnLst>
                                </p:cTn>
                              </p:par>
                              <p:par>
                                <p:cTn id="116" presetID="22" presetClass="entr" presetSubtype="2" fill="hold" nodeType="with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wipe(right)">
                                      <p:cBhvr>
                                        <p:cTn id="118" dur="450"/>
                                        <p:tgtEl>
                                          <p:spTgt spid="35"/>
                                        </p:tgtEl>
                                      </p:cBhvr>
                                    </p:animEffect>
                                  </p:childTnLst>
                                </p:cTn>
                              </p:par>
                              <p:par>
                                <p:cTn id="119" presetID="53" presetClass="entr" presetSubtype="16" fill="hold" nodeType="withEffect">
                                  <p:stCondLst>
                                    <p:cond delay="0"/>
                                  </p:stCondLst>
                                  <p:childTnLst>
                                    <p:set>
                                      <p:cBhvr>
                                        <p:cTn id="120" dur="1" fill="hold">
                                          <p:stCondLst>
                                            <p:cond delay="0"/>
                                          </p:stCondLst>
                                        </p:cTn>
                                        <p:tgtEl>
                                          <p:spTgt spid="36"/>
                                        </p:tgtEl>
                                        <p:attrNameLst>
                                          <p:attrName>style.visibility</p:attrName>
                                        </p:attrNameLst>
                                      </p:cBhvr>
                                      <p:to>
                                        <p:strVal val="visible"/>
                                      </p:to>
                                    </p:set>
                                    <p:anim calcmode="lin" valueType="num">
                                      <p:cBhvr>
                                        <p:cTn id="121" dur="450" fill="hold"/>
                                        <p:tgtEl>
                                          <p:spTgt spid="36"/>
                                        </p:tgtEl>
                                        <p:attrNameLst>
                                          <p:attrName>ppt_w</p:attrName>
                                        </p:attrNameLst>
                                      </p:cBhvr>
                                      <p:tavLst>
                                        <p:tav tm="0">
                                          <p:val>
                                            <p:fltVal val="0"/>
                                          </p:val>
                                        </p:tav>
                                        <p:tav tm="100000">
                                          <p:val>
                                            <p:strVal val="#ppt_w"/>
                                          </p:val>
                                        </p:tav>
                                      </p:tavLst>
                                    </p:anim>
                                    <p:anim calcmode="lin" valueType="num">
                                      <p:cBhvr>
                                        <p:cTn id="122" dur="450" fill="hold"/>
                                        <p:tgtEl>
                                          <p:spTgt spid="36"/>
                                        </p:tgtEl>
                                        <p:attrNameLst>
                                          <p:attrName>ppt_h</p:attrName>
                                        </p:attrNameLst>
                                      </p:cBhvr>
                                      <p:tavLst>
                                        <p:tav tm="0">
                                          <p:val>
                                            <p:fltVal val="0"/>
                                          </p:val>
                                        </p:tav>
                                        <p:tav tm="100000">
                                          <p:val>
                                            <p:strVal val="#ppt_h"/>
                                          </p:val>
                                        </p:tav>
                                      </p:tavLst>
                                    </p:anim>
                                    <p:animEffect transition="in" filter="fade">
                                      <p:cBhvr>
                                        <p:cTn id="123"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خلاصه نتایج آزمون فرضیه‌های پژوهش</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۱۵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Text 7"/>
          <p:cNvSpPr txBox="1"/>
          <p:nvPr/>
        </p:nvSpPr>
        <p:spPr>
          <a:xfrm>
            <a:off x="457200" y="1097280"/>
            <a:ext cx="11247120" cy="292608"/>
          </a:xfrm>
          <a:prstGeom prst="rect">
            <a:avLst/>
          </a:prstGeom>
          <a:noFill/>
          <a:ln/>
        </p:spPr>
        <p:txBody>
          <a:bodyPr wrap="square" lIns="0" tIns="0" rIns="0" bIns="0" rtlCol="0" anchor="t"/>
          <a:lstStyle/>
          <a:p>
            <a:pPr marL="0" indent="0" algn="ctr" rtl="1">
              <a:buNone/>
            </a:pPr>
            <a:r>
              <a:rPr lang="fa-IR" altLang="en-US" sz="1200" dirty="0">
                <a:solidFill>
                  <a:srgbClr val="6B7B83"/>
                </a:solidFill>
                <a:latin typeface="Tahoma" pitchFamily="34" charset="0"/>
                <a:ea typeface="Tahoma" pitchFamily="34" charset="-122"/>
                <a:cs typeface="Tahoma" pitchFamily="34" charset="-120"/>
              </a:rPr>
              <a:t>جدول ۴-۱۷- خلاصه نتایج آزمون فرضیات پژوهش</a:t>
            </a:r>
            <a:endParaRPr lang="fa-IR" sz="1200" dirty="0"/>
          </a:p>
        </p:txBody>
      </p:sp>
      <p:graphicFrame>
        <p:nvGraphicFramePr>
          <p:cNvPr id="16" name="A01_f_379"/>
          <p:cNvGraphicFramePr>
            <a:graphicFrameLocks noGrp="1"/>
          </p:cNvGraphicFramePr>
          <p:nvPr>
            <p:extLst>
              <p:ext uri="{D42A27DB-BD31-4B8C-83A1-F6EECF244321}">
                <p14:modId xmlns:p14="http://schemas.microsoft.com/office/powerpoint/2010/main" val="427959012"/>
              </p:ext>
            </p:extLst>
          </p:nvPr>
        </p:nvGraphicFramePr>
        <p:xfrm>
          <a:off x="6172200" y="1463040"/>
          <a:ext cx="5532120" cy="4425696"/>
        </p:xfrm>
        <a:graphic>
          <a:graphicData uri="http://schemas.openxmlformats.org/drawingml/2006/table">
            <a:tbl>
              <a:tblPr/>
              <a:tblGrid>
                <a:gridCol w="8229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tblGrid>
              <a:tr h="402336">
                <a:tc>
                  <a:txBody>
                    <a:bodyPr/>
                    <a:lstStyle/>
                    <a:p>
                      <a:pPr marL="0" indent="0" algn="ctr" rtl="1">
                        <a:buNone/>
                      </a:pPr>
                      <a:r>
                        <a:rPr lang="fa-IR" altLang="en-US" sz="1200" b="1" dirty="0">
                          <a:solidFill>
                            <a:srgbClr val="FFFFFF"/>
                          </a:solidFill>
                          <a:latin typeface="Tahoma" pitchFamily="34" charset="0"/>
                          <a:ea typeface="Tahoma" pitchFamily="34" charset="-122"/>
                          <a:cs typeface="Tahoma" pitchFamily="34" charset="-120"/>
                        </a:rPr>
                        <a:t>نتیجه</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00" b="1" dirty="0">
                          <a:solidFill>
                            <a:srgbClr val="FFFFFF"/>
                          </a:solidFill>
                          <a:latin typeface="Tahoma" pitchFamily="34" charset="0"/>
                          <a:ea typeface="Tahoma" pitchFamily="34" charset="-122"/>
                          <a:cs typeface="Tahoma" pitchFamily="34" charset="-120"/>
                        </a:rPr>
                        <a:t>آماره t</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00" b="1" dirty="0">
                          <a:solidFill>
                            <a:srgbClr val="FFFFFF"/>
                          </a:solidFill>
                          <a:latin typeface="Tahoma" pitchFamily="34" charset="0"/>
                          <a:ea typeface="Tahoma" pitchFamily="34" charset="-122"/>
                          <a:cs typeface="Tahoma" pitchFamily="34" charset="-120"/>
                        </a:rPr>
                        <a:t>β</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00" b="1" dirty="0">
                          <a:solidFill>
                            <a:srgbClr val="FFFFFF"/>
                          </a:solidFill>
                          <a:latin typeface="Tahoma" pitchFamily="34" charset="0"/>
                          <a:ea typeface="Tahoma" pitchFamily="34" charset="-122"/>
                          <a:cs typeface="Tahoma" pitchFamily="34" charset="-120"/>
                        </a:rPr>
                        <a:t>شرح فرضیه / مسیر</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extLst>
                  <a:ext uri="{0D108BD9-81ED-4DB2-BD59-A6C34878D82A}">
                    <a16:rowId xmlns:a16="http://schemas.microsoft.com/office/drawing/2014/main" val="10000"/>
                  </a:ext>
                </a:extLst>
              </a:tr>
              <a:tr h="402336">
                <a:tc>
                  <a:txBody>
                    <a:bodyPr/>
                    <a:lstStyle/>
                    <a:p>
                      <a:pPr marL="0" indent="0" algn="ctr" rtl="1">
                        <a:buNone/>
                      </a:pPr>
                      <a:r>
                        <a:rPr lang="fa-IR" altLang="en-US" sz="1150" b="1" dirty="0">
                          <a:solidFill>
                            <a:srgbClr val="FFFFFF"/>
                          </a:solidFill>
                          <a:latin typeface="Tahoma" pitchFamily="34" charset="0"/>
                          <a:ea typeface="Tahoma" pitchFamily="34" charset="-122"/>
                          <a:cs typeface="Tahoma" pitchFamily="34" charset="-120"/>
                        </a:rPr>
                        <a:t>تأیید</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2A9D8F"/>
                    </a:solidFill>
                  </a:tcPr>
                </a:tc>
                <a:tc gridSpan="3">
                  <a:txBody>
                    <a:bodyPr/>
                    <a:lstStyle/>
                    <a:p>
                      <a:pPr marL="0" indent="0" algn="r">
                        <a:buNone/>
                      </a:pPr>
                      <a:r>
                        <a:rPr lang="fa-IR" altLang="en-US" sz="1150" b="1" dirty="0">
                          <a:solidFill>
                            <a:srgbClr val="0F5257"/>
                          </a:solidFill>
                          <a:latin typeface="Tahoma" pitchFamily="34" charset="0"/>
                          <a:ea typeface="Tahoma" pitchFamily="34" charset="-122"/>
                          <a:cs typeface="Tahoma" pitchFamily="34" charset="-120"/>
                        </a:rPr>
                        <a:t>اصلی: </a:t>
                      </a:r>
                      <a:r>
                        <a:rPr lang="fa-IR" altLang="en-US" sz="1150" dirty="0">
                          <a:solidFill>
                            <a:srgbClr val="263238"/>
                          </a:solidFill>
                          <a:latin typeface="Tahoma" pitchFamily="34" charset="0"/>
                          <a:ea typeface="Tahoma" pitchFamily="34" charset="-122"/>
                          <a:cs typeface="Tahoma" pitchFamily="34" charset="-120"/>
                        </a:rPr>
                        <a:t>نقش میانجی حل تعارض بین آسیب کودکی و سبک هویت</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E6F2F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۳/۲۶</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b="1" dirty="0">
                          <a:solidFill>
                            <a:srgbClr val="D9674A"/>
                          </a:solidFill>
                          <a:latin typeface="Tahoma" pitchFamily="34" charset="0"/>
                          <a:ea typeface="Tahoma" pitchFamily="34" charset="-122"/>
                          <a:cs typeface="Tahoma" pitchFamily="34" charset="-120"/>
                        </a:rPr>
                        <a:t>‎۰/۱۸-</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آسیب ← حل تعارض ← هویت اطلاعاتی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۳/۱۷</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b="1" dirty="0">
                          <a:solidFill>
                            <a:srgbClr val="D9674A"/>
                          </a:solidFill>
                          <a:latin typeface="Tahoma" pitchFamily="34" charset="0"/>
                          <a:ea typeface="Tahoma" pitchFamily="34" charset="-122"/>
                          <a:cs typeface="Tahoma" pitchFamily="34" charset="-120"/>
                        </a:rPr>
                        <a:t>‎۰/۱۰-</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آسیب ← حل تعارض ← هویت هنجاری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۳/۱۸</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b="1" dirty="0">
                          <a:solidFill>
                            <a:srgbClr val="2A9D8F"/>
                          </a:solidFill>
                          <a:latin typeface="Tahoma" pitchFamily="34" charset="0"/>
                          <a:ea typeface="Tahoma" pitchFamily="34" charset="-122"/>
                          <a:cs typeface="Tahoma" pitchFamily="34" charset="-120"/>
                        </a:rPr>
                        <a:t>۰/۱۳</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آسیب ← حل تعارض ← سردرگمی/اجتنابی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۳/۲۳</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b="1" dirty="0">
                          <a:solidFill>
                            <a:srgbClr val="D9674A"/>
                          </a:solidFill>
                          <a:latin typeface="Tahoma" pitchFamily="34" charset="0"/>
                          <a:ea typeface="Tahoma" pitchFamily="34" charset="-122"/>
                          <a:cs typeface="Tahoma" pitchFamily="34" charset="-120"/>
                        </a:rPr>
                        <a:t>۰/۱۳-</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آسیب ← حل تعارض ← تعهد</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ctr" rtl="1">
                        <a:buNone/>
                      </a:pPr>
                      <a:r>
                        <a:rPr lang="fa-IR" altLang="en-US" sz="1150" b="1" dirty="0">
                          <a:solidFill>
                            <a:srgbClr val="FFFFFF"/>
                          </a:solidFill>
                          <a:latin typeface="Tahoma" pitchFamily="34" charset="0"/>
                          <a:ea typeface="Tahoma" pitchFamily="34" charset="-122"/>
                          <a:cs typeface="Tahoma" pitchFamily="34" charset="-120"/>
                        </a:rPr>
                        <a:t>تأیید</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2A9D8F"/>
                    </a:solidFill>
                  </a:tcPr>
                </a:tc>
                <a:tc gridSpan="3">
                  <a:txBody>
                    <a:bodyPr/>
                    <a:lstStyle/>
                    <a:p>
                      <a:pPr marL="0" indent="0" algn="r">
                        <a:buNone/>
                      </a:pPr>
                      <a:r>
                        <a:rPr lang="fa-IR" altLang="en-US" sz="1150" b="1" dirty="0">
                          <a:solidFill>
                            <a:srgbClr val="6D597A"/>
                          </a:solidFill>
                          <a:latin typeface="Tahoma" pitchFamily="34" charset="0"/>
                          <a:ea typeface="Tahoma" pitchFamily="34" charset="-122"/>
                          <a:cs typeface="Tahoma" pitchFamily="34" charset="-120"/>
                        </a:rPr>
                        <a:t>جزئی اول: </a:t>
                      </a:r>
                      <a:r>
                        <a:rPr lang="fa-IR" altLang="en-US" sz="1150" dirty="0">
                          <a:solidFill>
                            <a:srgbClr val="263238"/>
                          </a:solidFill>
                          <a:latin typeface="Tahoma" pitchFamily="34" charset="0"/>
                          <a:ea typeface="Tahoma" pitchFamily="34" charset="-122"/>
                          <a:cs typeface="Tahoma" pitchFamily="34" charset="-120"/>
                        </a:rPr>
                        <a:t>رابطه آسیب کودکی و سبک‌های هویتی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EFEAF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۲/۷۷</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b="1" dirty="0">
                          <a:solidFill>
                            <a:srgbClr val="D9674A"/>
                          </a:solidFill>
                          <a:latin typeface="Tahoma" pitchFamily="34" charset="0"/>
                          <a:ea typeface="Tahoma" pitchFamily="34" charset="-122"/>
                          <a:cs typeface="Tahoma" pitchFamily="34" charset="-120"/>
                        </a:rPr>
                        <a:t>‎۰/۲۳-</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آسیب ← هویت اطلاعاتی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۲/۱۲</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b="1" dirty="0">
                          <a:solidFill>
                            <a:srgbClr val="D9674A"/>
                          </a:solidFill>
                          <a:latin typeface="Tahoma" pitchFamily="34" charset="0"/>
                          <a:ea typeface="Tahoma" pitchFamily="34" charset="-122"/>
                          <a:cs typeface="Tahoma" pitchFamily="34" charset="-120"/>
                        </a:rPr>
                        <a:t>‎۰/۲۲-</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آسیب ← هویت هنجاری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8"/>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۲/۱۴</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b="1" dirty="0">
                          <a:solidFill>
                            <a:srgbClr val="2A9D8F"/>
                          </a:solidFill>
                          <a:latin typeface="Tahoma" pitchFamily="34" charset="0"/>
                          <a:ea typeface="Tahoma" pitchFamily="34" charset="-122"/>
                          <a:cs typeface="Tahoma" pitchFamily="34" charset="-120"/>
                        </a:rPr>
                        <a:t>۰/۱۱</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آسیب ← هویت سردرگمی/اجتنابی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۲/۱۸</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b="1" dirty="0">
                          <a:solidFill>
                            <a:srgbClr val="D9674A"/>
                          </a:solidFill>
                          <a:latin typeface="Tahoma" pitchFamily="34" charset="0"/>
                          <a:ea typeface="Tahoma" pitchFamily="34" charset="-122"/>
                          <a:cs typeface="Tahoma" pitchFamily="34" charset="-120"/>
                        </a:rPr>
                        <a:t>‎۰/۱۵-</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آسیب ← تعهد</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10"/>
                  </a:ext>
                </a:extLst>
              </a:tr>
            </a:tbl>
          </a:graphicData>
        </a:graphic>
      </p:graphicFrame>
      <p:graphicFrame>
        <p:nvGraphicFramePr>
          <p:cNvPr id="31" name="A02_f_380"/>
          <p:cNvGraphicFramePr>
            <a:graphicFrameLocks noGrp="1"/>
          </p:cNvGraphicFramePr>
          <p:nvPr>
            <p:extLst>
              <p:ext uri="{D42A27DB-BD31-4B8C-83A1-F6EECF244321}">
                <p14:modId xmlns:p14="http://schemas.microsoft.com/office/powerpoint/2010/main" val="3410626869"/>
              </p:ext>
            </p:extLst>
          </p:nvPr>
        </p:nvGraphicFramePr>
        <p:xfrm>
          <a:off x="457200" y="1463040"/>
          <a:ext cx="5440680" cy="3218688"/>
        </p:xfrm>
        <a:graphic>
          <a:graphicData uri="http://schemas.openxmlformats.org/drawingml/2006/table">
            <a:tbl>
              <a:tblPr/>
              <a:tblGrid>
                <a:gridCol w="8229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3154680">
                  <a:extLst>
                    <a:ext uri="{9D8B030D-6E8A-4147-A177-3AD203B41FA5}">
                      <a16:colId xmlns:a16="http://schemas.microsoft.com/office/drawing/2014/main" val="20003"/>
                    </a:ext>
                  </a:extLst>
                </a:gridCol>
              </a:tblGrid>
              <a:tr h="402336">
                <a:tc>
                  <a:txBody>
                    <a:bodyPr/>
                    <a:lstStyle/>
                    <a:p>
                      <a:pPr marL="0" indent="0" algn="ctr" rtl="1">
                        <a:buNone/>
                      </a:pPr>
                      <a:r>
                        <a:rPr lang="fa-IR" altLang="en-US" sz="1200" b="1" dirty="0">
                          <a:solidFill>
                            <a:srgbClr val="FFFFFF"/>
                          </a:solidFill>
                          <a:latin typeface="Tahoma" pitchFamily="34" charset="0"/>
                          <a:ea typeface="Tahoma" pitchFamily="34" charset="-122"/>
                          <a:cs typeface="Tahoma" pitchFamily="34" charset="-120"/>
                        </a:rPr>
                        <a:t>نتیجه</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00" b="1" dirty="0">
                          <a:solidFill>
                            <a:srgbClr val="FFFFFF"/>
                          </a:solidFill>
                          <a:latin typeface="Tahoma" pitchFamily="34" charset="0"/>
                          <a:ea typeface="Tahoma" pitchFamily="34" charset="-122"/>
                          <a:cs typeface="Tahoma" pitchFamily="34" charset="-120"/>
                        </a:rPr>
                        <a:t>آماره t</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00" b="1" dirty="0">
                          <a:solidFill>
                            <a:srgbClr val="FFFFFF"/>
                          </a:solidFill>
                          <a:latin typeface="Tahoma" pitchFamily="34" charset="0"/>
                          <a:ea typeface="Tahoma" pitchFamily="34" charset="-122"/>
                          <a:cs typeface="Tahoma" pitchFamily="34" charset="-120"/>
                        </a:rPr>
                        <a:t>β</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tc>
                  <a:txBody>
                    <a:bodyPr/>
                    <a:lstStyle/>
                    <a:p>
                      <a:pPr marL="0" indent="0" algn="ctr" rtl="1">
                        <a:buNone/>
                      </a:pPr>
                      <a:r>
                        <a:rPr lang="fa-IR" altLang="en-US" sz="1200" b="1" dirty="0">
                          <a:solidFill>
                            <a:srgbClr val="FFFFFF"/>
                          </a:solidFill>
                          <a:latin typeface="Tahoma" pitchFamily="34" charset="0"/>
                          <a:ea typeface="Tahoma" pitchFamily="34" charset="-122"/>
                          <a:cs typeface="Tahoma" pitchFamily="34" charset="-120"/>
                        </a:rPr>
                        <a:t>شرح فرضیه / مسیر</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0F5257"/>
                    </a:solidFill>
                  </a:tcPr>
                </a:tc>
                <a:extLst>
                  <a:ext uri="{0D108BD9-81ED-4DB2-BD59-A6C34878D82A}">
                    <a16:rowId xmlns:a16="http://schemas.microsoft.com/office/drawing/2014/main" val="10000"/>
                  </a:ext>
                </a:extLst>
              </a:tr>
              <a:tr h="402336">
                <a:tc>
                  <a:txBody>
                    <a:bodyPr/>
                    <a:lstStyle/>
                    <a:p>
                      <a:pPr marL="0" indent="0" algn="ctr" rtl="1">
                        <a:buNone/>
                      </a:pPr>
                      <a:r>
                        <a:rPr lang="fa-IR" altLang="en-US" sz="1150" b="1" dirty="0">
                          <a:solidFill>
                            <a:srgbClr val="FFFFFF"/>
                          </a:solidFill>
                          <a:latin typeface="Tahoma" pitchFamily="34" charset="0"/>
                          <a:ea typeface="Tahoma" pitchFamily="34" charset="-122"/>
                          <a:cs typeface="Tahoma" pitchFamily="34" charset="-120"/>
                        </a:rPr>
                        <a:t>تأیید</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2A9D8F"/>
                    </a:solidFill>
                  </a:tcPr>
                </a:tc>
                <a:tc gridSpan="3">
                  <a:txBody>
                    <a:bodyPr/>
                    <a:lstStyle/>
                    <a:p>
                      <a:pPr marL="0" indent="0" algn="r">
                        <a:buNone/>
                      </a:pPr>
                      <a:r>
                        <a:rPr lang="fa-IR" altLang="en-US" sz="1150" b="1" dirty="0">
                          <a:solidFill>
                            <a:srgbClr val="D9674A"/>
                          </a:solidFill>
                          <a:latin typeface="Tahoma" pitchFamily="34" charset="0"/>
                          <a:ea typeface="Tahoma" pitchFamily="34" charset="-122"/>
                          <a:cs typeface="Tahoma" pitchFamily="34" charset="-120"/>
                        </a:rPr>
                        <a:t>جزئی دوم: </a:t>
                      </a:r>
                      <a:r>
                        <a:rPr lang="fa-IR" altLang="en-US" sz="1150" dirty="0">
                          <a:solidFill>
                            <a:srgbClr val="263238"/>
                          </a:solidFill>
                          <a:latin typeface="Tahoma" pitchFamily="34" charset="0"/>
                          <a:ea typeface="Tahoma" pitchFamily="34" charset="-122"/>
                          <a:cs typeface="Tahoma" pitchFamily="34" charset="-120"/>
                        </a:rPr>
                        <a:t>رابطه آسیب کودکی و سبک‌های حل تعارض</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BECE7"/>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۳/۸۷</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b="1" dirty="0">
                          <a:solidFill>
                            <a:srgbClr val="D9674A"/>
                          </a:solidFill>
                          <a:latin typeface="Tahoma" pitchFamily="34" charset="0"/>
                          <a:ea typeface="Tahoma" pitchFamily="34" charset="-122"/>
                          <a:cs typeface="Tahoma" pitchFamily="34" charset="-120"/>
                        </a:rPr>
                        <a:t>۰/۳۵-</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آسیب ← سبک حل تعارض</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402336">
                <a:tc>
                  <a:txBody>
                    <a:bodyPr/>
                    <a:lstStyle/>
                    <a:p>
                      <a:pPr marL="0" indent="0" algn="ctr" rtl="1">
                        <a:buNone/>
                      </a:pPr>
                      <a:r>
                        <a:rPr lang="fa-IR" altLang="en-US" sz="1150" b="1" dirty="0">
                          <a:solidFill>
                            <a:srgbClr val="FFFFFF"/>
                          </a:solidFill>
                          <a:latin typeface="Tahoma" pitchFamily="34" charset="0"/>
                          <a:ea typeface="Tahoma" pitchFamily="34" charset="-122"/>
                          <a:cs typeface="Tahoma" pitchFamily="34" charset="-120"/>
                        </a:rPr>
                        <a:t>تأیید</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2A9D8F"/>
                    </a:solidFill>
                  </a:tcPr>
                </a:tc>
                <a:tc gridSpan="3">
                  <a:txBody>
                    <a:bodyPr/>
                    <a:lstStyle/>
                    <a:p>
                      <a:pPr marL="0" indent="0" algn="r">
                        <a:buNone/>
                      </a:pPr>
                      <a:r>
                        <a:rPr lang="fa-IR" altLang="en-US" sz="1150" b="1" dirty="0">
                          <a:solidFill>
                            <a:srgbClr val="2A9D8F"/>
                          </a:solidFill>
                          <a:latin typeface="Tahoma" pitchFamily="34" charset="0"/>
                          <a:ea typeface="Tahoma" pitchFamily="34" charset="-122"/>
                          <a:cs typeface="Tahoma" pitchFamily="34" charset="-120"/>
                        </a:rPr>
                        <a:t>جزئی سوم: </a:t>
                      </a:r>
                      <a:r>
                        <a:rPr lang="fa-IR" altLang="en-US" sz="1150" dirty="0">
                          <a:solidFill>
                            <a:srgbClr val="263238"/>
                          </a:solidFill>
                          <a:latin typeface="Tahoma" pitchFamily="34" charset="0"/>
                          <a:ea typeface="Tahoma" pitchFamily="34" charset="-122"/>
                          <a:cs typeface="Tahoma" pitchFamily="34" charset="-120"/>
                        </a:rPr>
                        <a:t>رابطه سبک‌های حل تعارض و هویتی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E6F2F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۸/۴۳</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b="1" dirty="0">
                          <a:solidFill>
                            <a:srgbClr val="2A9D8F"/>
                          </a:solidFill>
                          <a:latin typeface="Tahoma" pitchFamily="34" charset="0"/>
                          <a:ea typeface="Tahoma" pitchFamily="34" charset="-122"/>
                          <a:cs typeface="Tahoma" pitchFamily="34" charset="-120"/>
                        </a:rPr>
                        <a:t>۰/۵۱</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حل تعارض ← هویت اطلاعاتی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۴/۹۳</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b="1" dirty="0">
                          <a:solidFill>
                            <a:srgbClr val="2A9D8F"/>
                          </a:solidFill>
                          <a:latin typeface="Tahoma" pitchFamily="34" charset="0"/>
                          <a:ea typeface="Tahoma" pitchFamily="34" charset="-122"/>
                          <a:cs typeface="Tahoma" pitchFamily="34" charset="-120"/>
                        </a:rPr>
                        <a:t>۰/۲۸</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حل تعارض ← هویت هنجاری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۴/۸۹</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ctr" rtl="1">
                        <a:buNone/>
                      </a:pPr>
                      <a:r>
                        <a:rPr lang="fa-IR" altLang="en-US" sz="1200" b="1" dirty="0">
                          <a:solidFill>
                            <a:srgbClr val="D9674A"/>
                          </a:solidFill>
                          <a:latin typeface="Tahoma" pitchFamily="34" charset="0"/>
                          <a:ea typeface="Tahoma" pitchFamily="34" charset="-122"/>
                          <a:cs typeface="Tahoma" pitchFamily="34" charset="-120"/>
                        </a:rPr>
                        <a:t>۰/۳۷-</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حل تعارض ← سردرگمی/اجتنابی</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4F6F7"/>
                    </a:solidFill>
                  </a:tcPr>
                </a:tc>
                <a:extLst>
                  <a:ext uri="{0D108BD9-81ED-4DB2-BD59-A6C34878D82A}">
                    <a16:rowId xmlns:a16="http://schemas.microsoft.com/office/drawing/2014/main" val="10006"/>
                  </a:ext>
                </a:extLst>
              </a:tr>
              <a:tr h="402336">
                <a:tc>
                  <a:txBody>
                    <a:bodyPr/>
                    <a:lstStyle/>
                    <a:p>
                      <a:pPr marL="0" indent="0" algn="ctr" rtl="1">
                        <a:buNone/>
                      </a:pPr>
                      <a:r>
                        <a:rPr lang="fa-IR" altLang="en-US" sz="1150" b="1" dirty="0">
                          <a:solidFill>
                            <a:srgbClr val="2A9D8F"/>
                          </a:solidFill>
                          <a:latin typeface="Tahoma" pitchFamily="34" charset="0"/>
                          <a:ea typeface="Tahoma" pitchFamily="34" charset="-122"/>
                          <a:cs typeface="Tahoma" pitchFamily="34" charset="-120"/>
                        </a:rPr>
                        <a:t>پذیرش</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dirty="0">
                          <a:solidFill>
                            <a:srgbClr val="263238"/>
                          </a:solidFill>
                          <a:latin typeface="Tahoma" pitchFamily="34" charset="0"/>
                          <a:ea typeface="Tahoma" pitchFamily="34" charset="-122"/>
                          <a:cs typeface="Tahoma" pitchFamily="34" charset="-120"/>
                        </a:rPr>
                        <a:t>۴/۷۲</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ctr" rtl="1">
                        <a:buNone/>
                      </a:pPr>
                      <a:r>
                        <a:rPr lang="fa-IR" altLang="en-US" sz="1200" b="1" dirty="0">
                          <a:solidFill>
                            <a:srgbClr val="2A9D8F"/>
                          </a:solidFill>
                          <a:latin typeface="Tahoma" pitchFamily="34" charset="0"/>
                          <a:ea typeface="Tahoma" pitchFamily="34" charset="-122"/>
                          <a:cs typeface="Tahoma" pitchFamily="34" charset="-120"/>
                        </a:rPr>
                        <a:t>۰/۳۷</a:t>
                      </a:r>
                      <a:endParaRPr lang="fa-IR" sz="120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tc>
                  <a:txBody>
                    <a:bodyPr/>
                    <a:lstStyle/>
                    <a:p>
                      <a:pPr marL="0" indent="0" algn="r" rtl="1">
                        <a:buNone/>
                      </a:pPr>
                      <a:r>
                        <a:rPr lang="fa-IR" altLang="en-US" sz="1150" dirty="0">
                          <a:solidFill>
                            <a:srgbClr val="263238"/>
                          </a:solidFill>
                          <a:latin typeface="Tahoma" pitchFamily="34" charset="0"/>
                          <a:ea typeface="Tahoma" pitchFamily="34" charset="-122"/>
                          <a:cs typeface="Tahoma" pitchFamily="34" charset="-120"/>
                        </a:rPr>
                        <a:t>حل تعارض ← تعهد</a:t>
                      </a:r>
                      <a:endParaRPr lang="fa-IR" sz="1150" dirty="0">
                        <a:latin typeface="Tahoma" charset="0"/>
                        <a:ea typeface="Tahoma" charset="0"/>
                        <a:cs typeface="Tahoma" charset="0"/>
                      </a:endParaRPr>
                    </a:p>
                  </a:txBody>
                  <a:tcPr marL="73152" marR="73152" marT="36576" marB="36576" anchor="ctr">
                    <a:lnL w="0" cap="flat" cmpd="sng" algn="ctr">
                      <a:noFill/>
                    </a:lnL>
                    <a:lnR w="0" cap="flat" cmpd="sng" algn="ctr">
                      <a:noFill/>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3" name="A03_z_381b"/>
          <p:cNvSpPr/>
          <p:nvPr/>
        </p:nvSpPr>
        <p:spPr>
          <a:xfrm>
            <a:off x="3246120" y="4846320"/>
            <a:ext cx="2651760" cy="1234440"/>
          </a:xfrm>
          <a:prstGeom prst="roundRect">
            <a:avLst>
              <a:gd name="adj" fmla="val 8889"/>
            </a:avLst>
          </a:prstGeom>
          <a:solidFill>
            <a:srgbClr val="F4F6F7"/>
          </a:solidFill>
          <a:ln w="12700">
            <a:solidFill>
              <a:srgbClr val="F4F6F7"/>
            </a:solidFill>
            <a:prstDash val="solid"/>
          </a:ln>
        </p:spPr>
      </p:sp>
      <p:sp>
        <p:nvSpPr>
          <p:cNvPr id="14" name="A03_z_382"/>
          <p:cNvSpPr txBox="1"/>
          <p:nvPr/>
        </p:nvSpPr>
        <p:spPr>
          <a:xfrm>
            <a:off x="3337560" y="4919472"/>
            <a:ext cx="2468880" cy="640080"/>
          </a:xfrm>
          <a:prstGeom prst="rect">
            <a:avLst/>
          </a:prstGeom>
          <a:noFill/>
          <a:ln/>
        </p:spPr>
        <p:txBody>
          <a:bodyPr wrap="square" lIns="0" tIns="0" rIns="0" bIns="0" rtlCol="0" anchor="ctr"/>
          <a:lstStyle/>
          <a:p>
            <a:pPr marL="0" indent="0" algn="ctr" rtl="1">
              <a:buNone/>
            </a:pPr>
            <a:r>
              <a:rPr lang="fa-IR" altLang="en-US" sz="2800" b="1" dirty="0">
                <a:solidFill>
                  <a:srgbClr val="0F5257"/>
                </a:solidFill>
                <a:latin typeface="Tahoma" pitchFamily="34" charset="0"/>
                <a:ea typeface="Tahoma" pitchFamily="34" charset="-122"/>
                <a:cs typeface="Tahoma" pitchFamily="34" charset="-120"/>
              </a:rPr>
              <a:t>۴ از ۴</a:t>
            </a:r>
            <a:endParaRPr lang="fa-IR" sz="2800" dirty="0"/>
          </a:p>
        </p:txBody>
      </p:sp>
      <p:sp>
        <p:nvSpPr>
          <p:cNvPr id="15" name="A03_z_383"/>
          <p:cNvSpPr txBox="1"/>
          <p:nvPr/>
        </p:nvSpPr>
        <p:spPr>
          <a:xfrm>
            <a:off x="3337560" y="5541264"/>
            <a:ext cx="2468880" cy="36576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فرضیه تأیید شد</a:t>
            </a:r>
            <a:endParaRPr lang="fa-IR" sz="1300" dirty="0"/>
          </a:p>
        </p:txBody>
      </p:sp>
      <p:sp>
        <p:nvSpPr>
          <p:cNvPr id="11" name="A04_z_384b"/>
          <p:cNvSpPr/>
          <p:nvPr/>
        </p:nvSpPr>
        <p:spPr>
          <a:xfrm>
            <a:off x="457200" y="4846320"/>
            <a:ext cx="2651760" cy="1234440"/>
          </a:xfrm>
          <a:prstGeom prst="roundRect">
            <a:avLst>
              <a:gd name="adj" fmla="val 8889"/>
            </a:avLst>
          </a:prstGeom>
          <a:solidFill>
            <a:srgbClr val="F4F6F7"/>
          </a:solidFill>
          <a:ln w="12700">
            <a:solidFill>
              <a:srgbClr val="F4F6F7"/>
            </a:solidFill>
            <a:prstDash val="solid"/>
          </a:ln>
        </p:spPr>
      </p:sp>
      <p:sp>
        <p:nvSpPr>
          <p:cNvPr id="17" name="A04_z_385"/>
          <p:cNvSpPr txBox="1"/>
          <p:nvPr/>
        </p:nvSpPr>
        <p:spPr>
          <a:xfrm>
            <a:off x="548640" y="4919472"/>
            <a:ext cx="2468880" cy="640080"/>
          </a:xfrm>
          <a:prstGeom prst="rect">
            <a:avLst/>
          </a:prstGeom>
          <a:noFill/>
          <a:ln/>
        </p:spPr>
        <p:txBody>
          <a:bodyPr wrap="square" lIns="0" tIns="0" rIns="0" bIns="0" rtlCol="0" anchor="ctr"/>
          <a:lstStyle/>
          <a:p>
            <a:pPr marL="0" indent="0" algn="ctr" rtl="1">
              <a:buNone/>
            </a:pPr>
            <a:r>
              <a:rPr lang="fa-IR" altLang="en-US" sz="2800" b="1" dirty="0">
                <a:solidFill>
                  <a:srgbClr val="2A9D8F"/>
                </a:solidFill>
                <a:latin typeface="Tahoma" pitchFamily="34" charset="0"/>
                <a:ea typeface="Tahoma" pitchFamily="34" charset="-122"/>
                <a:cs typeface="Tahoma" pitchFamily="34" charset="-120"/>
              </a:rPr>
              <a:t>۱۳ از ۱۳</a:t>
            </a:r>
            <a:endParaRPr lang="fa-IR" sz="2800" dirty="0"/>
          </a:p>
        </p:txBody>
      </p:sp>
      <p:sp>
        <p:nvSpPr>
          <p:cNvPr id="18" name="A04_z_386"/>
          <p:cNvSpPr txBox="1"/>
          <p:nvPr/>
        </p:nvSpPr>
        <p:spPr>
          <a:xfrm>
            <a:off x="548640" y="5541264"/>
            <a:ext cx="2468880" cy="36576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مسیر معنادار</a:t>
            </a:r>
            <a:endParaRPr lang="fa-IR" sz="13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50"/>
                                        <p:tgtEl>
                                          <p:spTgt spid="16"/>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450"/>
                                        <p:tgtEl>
                                          <p:spTgt spid="31"/>
                                        </p:tgtEl>
                                      </p:cBhvr>
                                    </p:animEffect>
                                  </p:childTnLst>
                                </p:cTn>
                              </p:par>
                            </p:childTnLst>
                          </p:cTn>
                        </p:par>
                        <p:par>
                          <p:cTn id="12" fill="hold">
                            <p:stCondLst>
                              <p:cond delay="600"/>
                            </p:stCondLst>
                            <p:childTnLst>
                              <p:par>
                                <p:cTn id="13" presetID="53" presetClass="entr" presetSubtype="16"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450" fill="hold"/>
                                        <p:tgtEl>
                                          <p:spTgt spid="13"/>
                                        </p:tgtEl>
                                        <p:attrNameLst>
                                          <p:attrName>ppt_w</p:attrName>
                                        </p:attrNameLst>
                                      </p:cBhvr>
                                      <p:tavLst>
                                        <p:tav tm="0">
                                          <p:val>
                                            <p:fltVal val="0"/>
                                          </p:val>
                                        </p:tav>
                                        <p:tav tm="100000">
                                          <p:val>
                                            <p:strVal val="#ppt_w"/>
                                          </p:val>
                                        </p:tav>
                                      </p:tavLst>
                                    </p:anim>
                                    <p:anim calcmode="lin" valueType="num">
                                      <p:cBhvr>
                                        <p:cTn id="16" dur="450" fill="hold"/>
                                        <p:tgtEl>
                                          <p:spTgt spid="13"/>
                                        </p:tgtEl>
                                        <p:attrNameLst>
                                          <p:attrName>ppt_h</p:attrName>
                                        </p:attrNameLst>
                                      </p:cBhvr>
                                      <p:tavLst>
                                        <p:tav tm="0">
                                          <p:val>
                                            <p:fltVal val="0"/>
                                          </p:val>
                                        </p:tav>
                                        <p:tav tm="100000">
                                          <p:val>
                                            <p:strVal val="#ppt_h"/>
                                          </p:val>
                                        </p:tav>
                                      </p:tavLst>
                                    </p:anim>
                                    <p:animEffect transition="in" filter="fade">
                                      <p:cBhvr>
                                        <p:cTn id="17" dur="450"/>
                                        <p:tgtEl>
                                          <p:spTgt spid="13"/>
                                        </p:tgtEl>
                                      </p:cBhvr>
                                    </p:animEffect>
                                  </p:childTnLst>
                                </p:cTn>
                              </p:par>
                              <p:par>
                                <p:cTn id="18" presetID="53" presetClass="entr" presetSubtype="16"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450" fill="hold"/>
                                        <p:tgtEl>
                                          <p:spTgt spid="14"/>
                                        </p:tgtEl>
                                        <p:attrNameLst>
                                          <p:attrName>ppt_w</p:attrName>
                                        </p:attrNameLst>
                                      </p:cBhvr>
                                      <p:tavLst>
                                        <p:tav tm="0">
                                          <p:val>
                                            <p:fltVal val="0"/>
                                          </p:val>
                                        </p:tav>
                                        <p:tav tm="100000">
                                          <p:val>
                                            <p:strVal val="#ppt_w"/>
                                          </p:val>
                                        </p:tav>
                                      </p:tavLst>
                                    </p:anim>
                                    <p:anim calcmode="lin" valueType="num">
                                      <p:cBhvr>
                                        <p:cTn id="21" dur="450" fill="hold"/>
                                        <p:tgtEl>
                                          <p:spTgt spid="14"/>
                                        </p:tgtEl>
                                        <p:attrNameLst>
                                          <p:attrName>ppt_h</p:attrName>
                                        </p:attrNameLst>
                                      </p:cBhvr>
                                      <p:tavLst>
                                        <p:tav tm="0">
                                          <p:val>
                                            <p:fltVal val="0"/>
                                          </p:val>
                                        </p:tav>
                                        <p:tav tm="100000">
                                          <p:val>
                                            <p:strVal val="#ppt_h"/>
                                          </p:val>
                                        </p:tav>
                                      </p:tavLst>
                                    </p:anim>
                                    <p:animEffect transition="in" filter="fade">
                                      <p:cBhvr>
                                        <p:cTn id="22" dur="450"/>
                                        <p:tgtEl>
                                          <p:spTgt spid="14"/>
                                        </p:tgtEl>
                                      </p:cBhvr>
                                    </p:animEffect>
                                  </p:childTnLst>
                                </p:cTn>
                              </p:par>
                              <p:par>
                                <p:cTn id="23" presetID="53" presetClass="entr" presetSubtype="16"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450" fill="hold"/>
                                        <p:tgtEl>
                                          <p:spTgt spid="15"/>
                                        </p:tgtEl>
                                        <p:attrNameLst>
                                          <p:attrName>ppt_w</p:attrName>
                                        </p:attrNameLst>
                                      </p:cBhvr>
                                      <p:tavLst>
                                        <p:tav tm="0">
                                          <p:val>
                                            <p:fltVal val="0"/>
                                          </p:val>
                                        </p:tav>
                                        <p:tav tm="100000">
                                          <p:val>
                                            <p:strVal val="#ppt_w"/>
                                          </p:val>
                                        </p:tav>
                                      </p:tavLst>
                                    </p:anim>
                                    <p:anim calcmode="lin" valueType="num">
                                      <p:cBhvr>
                                        <p:cTn id="26" dur="450" fill="hold"/>
                                        <p:tgtEl>
                                          <p:spTgt spid="15"/>
                                        </p:tgtEl>
                                        <p:attrNameLst>
                                          <p:attrName>ppt_h</p:attrName>
                                        </p:attrNameLst>
                                      </p:cBhvr>
                                      <p:tavLst>
                                        <p:tav tm="0">
                                          <p:val>
                                            <p:fltVal val="0"/>
                                          </p:val>
                                        </p:tav>
                                        <p:tav tm="100000">
                                          <p:val>
                                            <p:strVal val="#ppt_h"/>
                                          </p:val>
                                        </p:tav>
                                      </p:tavLst>
                                    </p:anim>
                                    <p:animEffect transition="in" filter="fade">
                                      <p:cBhvr>
                                        <p:cTn id="27" dur="450"/>
                                        <p:tgtEl>
                                          <p:spTgt spid="15"/>
                                        </p:tgtEl>
                                      </p:cBhvr>
                                    </p:animEffect>
                                  </p:childTnLst>
                                </p:cTn>
                              </p:par>
                            </p:childTnLst>
                          </p:cTn>
                        </p:par>
                        <p:par>
                          <p:cTn id="28" fill="hold">
                            <p:stCondLst>
                              <p:cond delay="9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450" fill="hold"/>
                                        <p:tgtEl>
                                          <p:spTgt spid="16"/>
                                        </p:tgtEl>
                                        <p:attrNameLst>
                                          <p:attrName>ppt_w</p:attrName>
                                        </p:attrNameLst>
                                      </p:cBhvr>
                                      <p:tavLst>
                                        <p:tav tm="0">
                                          <p:val>
                                            <p:fltVal val="0"/>
                                          </p:val>
                                        </p:tav>
                                        <p:tav tm="100000">
                                          <p:val>
                                            <p:strVal val="#ppt_w"/>
                                          </p:val>
                                        </p:tav>
                                      </p:tavLst>
                                    </p:anim>
                                    <p:anim calcmode="lin" valueType="num">
                                      <p:cBhvr>
                                        <p:cTn id="32" dur="450" fill="hold"/>
                                        <p:tgtEl>
                                          <p:spTgt spid="16"/>
                                        </p:tgtEl>
                                        <p:attrNameLst>
                                          <p:attrName>ppt_h</p:attrName>
                                        </p:attrNameLst>
                                      </p:cBhvr>
                                      <p:tavLst>
                                        <p:tav tm="0">
                                          <p:val>
                                            <p:fltVal val="0"/>
                                          </p:val>
                                        </p:tav>
                                        <p:tav tm="100000">
                                          <p:val>
                                            <p:strVal val="#ppt_h"/>
                                          </p:val>
                                        </p:tav>
                                      </p:tavLst>
                                    </p:anim>
                                    <p:animEffect transition="in" filter="fade">
                                      <p:cBhvr>
                                        <p:cTn id="33" dur="450"/>
                                        <p:tgtEl>
                                          <p:spTgt spid="16"/>
                                        </p:tgtEl>
                                      </p:cBhvr>
                                    </p:animEffect>
                                  </p:childTnLst>
                                </p:cTn>
                              </p:par>
                              <p:par>
                                <p:cTn id="34" presetID="53" presetClass="entr" presetSubtype="16"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450" fill="hold"/>
                                        <p:tgtEl>
                                          <p:spTgt spid="17"/>
                                        </p:tgtEl>
                                        <p:attrNameLst>
                                          <p:attrName>ppt_w</p:attrName>
                                        </p:attrNameLst>
                                      </p:cBhvr>
                                      <p:tavLst>
                                        <p:tav tm="0">
                                          <p:val>
                                            <p:fltVal val="0"/>
                                          </p:val>
                                        </p:tav>
                                        <p:tav tm="100000">
                                          <p:val>
                                            <p:strVal val="#ppt_w"/>
                                          </p:val>
                                        </p:tav>
                                      </p:tavLst>
                                    </p:anim>
                                    <p:anim calcmode="lin" valueType="num">
                                      <p:cBhvr>
                                        <p:cTn id="37" dur="450" fill="hold"/>
                                        <p:tgtEl>
                                          <p:spTgt spid="17"/>
                                        </p:tgtEl>
                                        <p:attrNameLst>
                                          <p:attrName>ppt_h</p:attrName>
                                        </p:attrNameLst>
                                      </p:cBhvr>
                                      <p:tavLst>
                                        <p:tav tm="0">
                                          <p:val>
                                            <p:fltVal val="0"/>
                                          </p:val>
                                        </p:tav>
                                        <p:tav tm="100000">
                                          <p:val>
                                            <p:strVal val="#ppt_h"/>
                                          </p:val>
                                        </p:tav>
                                      </p:tavLst>
                                    </p:anim>
                                    <p:animEffect transition="in" filter="fade">
                                      <p:cBhvr>
                                        <p:cTn id="38" dur="450"/>
                                        <p:tgtEl>
                                          <p:spTgt spid="17"/>
                                        </p:tgtEl>
                                      </p:cBhvr>
                                    </p:animEffect>
                                  </p:childTnLst>
                                </p:cTn>
                              </p:par>
                              <p:par>
                                <p:cTn id="39" presetID="53" presetClass="entr" presetSubtype="16"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450" fill="hold"/>
                                        <p:tgtEl>
                                          <p:spTgt spid="18"/>
                                        </p:tgtEl>
                                        <p:attrNameLst>
                                          <p:attrName>ppt_w</p:attrName>
                                        </p:attrNameLst>
                                      </p:cBhvr>
                                      <p:tavLst>
                                        <p:tav tm="0">
                                          <p:val>
                                            <p:fltVal val="0"/>
                                          </p:val>
                                        </p:tav>
                                        <p:tav tm="100000">
                                          <p:val>
                                            <p:strVal val="#ppt_w"/>
                                          </p:val>
                                        </p:tav>
                                      </p:tavLst>
                                    </p:anim>
                                    <p:anim calcmode="lin" valueType="num">
                                      <p:cBhvr>
                                        <p:cTn id="42" dur="450" fill="hold"/>
                                        <p:tgtEl>
                                          <p:spTgt spid="18"/>
                                        </p:tgtEl>
                                        <p:attrNameLst>
                                          <p:attrName>ppt_h</p:attrName>
                                        </p:attrNameLst>
                                      </p:cBhvr>
                                      <p:tavLst>
                                        <p:tav tm="0">
                                          <p:val>
                                            <p:fltVal val="0"/>
                                          </p:val>
                                        </p:tav>
                                        <p:tav tm="100000">
                                          <p:val>
                                            <p:strVal val="#ppt_h"/>
                                          </p:val>
                                        </p:tav>
                                      </p:tavLst>
                                    </p:anim>
                                    <p:animEffect transition="in" filter="fade">
                                      <p:cBhvr>
                                        <p:cTn id="43"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محدودیت‌های پژوهش</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۱۶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A01_wl_387b"/>
          <p:cNvSpPr/>
          <p:nvPr/>
        </p:nvSpPr>
        <p:spPr>
          <a:xfrm>
            <a:off x="6217920" y="1280160"/>
            <a:ext cx="5486400" cy="1463040"/>
          </a:xfrm>
          <a:prstGeom prst="roundRect">
            <a:avLst>
              <a:gd name="adj" fmla="val 7500"/>
            </a:avLst>
          </a:prstGeom>
          <a:solidFill>
            <a:srgbClr val="F4F6F7"/>
          </a:solidFill>
          <a:ln w="12700">
            <a:solidFill>
              <a:srgbClr val="F4F6F7"/>
            </a:solidFill>
            <a:prstDash val="solid"/>
          </a:ln>
        </p:spPr>
      </p:sp>
      <p:sp>
        <p:nvSpPr>
          <p:cNvPr id="11" name="A01_wl_388c"/>
          <p:cNvSpPr/>
          <p:nvPr/>
        </p:nvSpPr>
        <p:spPr>
          <a:xfrm>
            <a:off x="10744200" y="1600200"/>
            <a:ext cx="777240" cy="777240"/>
          </a:xfrm>
          <a:prstGeom prst="ellipse">
            <a:avLst/>
          </a:prstGeom>
          <a:solidFill>
            <a:srgbClr val="D9674A"/>
          </a:solidFill>
          <a:ln w="12700">
            <a:solidFill>
              <a:srgbClr val="D9674A"/>
            </a:solidFill>
            <a:prstDash val="solid"/>
          </a:ln>
        </p:spPr>
      </p:sp>
      <p:pic>
        <p:nvPicPr>
          <p:cNvPr id="12" name="A01_wl_389i" descr="preencoded.png"/>
          <p:cNvPicPr>
            <a:picLocks noChangeAspect="1"/>
          </p:cNvPicPr>
          <p:nvPr/>
        </p:nvPicPr>
        <p:blipFill>
          <a:blip r:embed="rId4"/>
          <a:stretch>
            <a:fillRect/>
          </a:stretch>
        </p:blipFill>
        <p:spPr>
          <a:xfrm>
            <a:off x="10945368" y="1801368"/>
            <a:ext cx="384048" cy="384048"/>
          </a:xfrm>
          <a:prstGeom prst="rect">
            <a:avLst/>
          </a:prstGeom>
        </p:spPr>
      </p:pic>
      <p:sp>
        <p:nvSpPr>
          <p:cNvPr id="13" name="A01_wl_390"/>
          <p:cNvSpPr txBox="1"/>
          <p:nvPr/>
        </p:nvSpPr>
        <p:spPr>
          <a:xfrm>
            <a:off x="6446520" y="1463040"/>
            <a:ext cx="4114800" cy="411480"/>
          </a:xfrm>
          <a:prstGeom prst="rect">
            <a:avLst/>
          </a:prstGeom>
          <a:noFill/>
          <a:ln/>
        </p:spPr>
        <p:txBody>
          <a:bodyPr wrap="square" lIns="0" tIns="0" rIns="0" bIns="0" rtlCol="0" anchor="t"/>
          <a:lstStyle/>
          <a:p>
            <a:pPr marL="0" indent="0" algn="r" rtl="1">
              <a:buNone/>
            </a:pPr>
            <a:r>
              <a:rPr lang="fa-IR" altLang="en-US" sz="1600" b="1" dirty="0">
                <a:solidFill>
                  <a:srgbClr val="D9674A"/>
                </a:solidFill>
                <a:latin typeface="Tahoma" pitchFamily="34" charset="0"/>
                <a:ea typeface="Tahoma" pitchFamily="34" charset="-122"/>
                <a:cs typeface="Tahoma" pitchFamily="34" charset="-120"/>
              </a:rPr>
              <a:t>۱. سنجش گذشته‌نگر</a:t>
            </a:r>
            <a:endParaRPr lang="fa-IR" sz="1600" dirty="0"/>
          </a:p>
        </p:txBody>
      </p:sp>
      <p:sp>
        <p:nvSpPr>
          <p:cNvPr id="14" name="A01_wl_391"/>
          <p:cNvSpPr txBox="1"/>
          <p:nvPr/>
        </p:nvSpPr>
        <p:spPr>
          <a:xfrm>
            <a:off x="6446520" y="1920240"/>
            <a:ext cx="4114800" cy="73152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سنجش آسیب‌ها بر اساس یادآوری؛ احتمال خطا، فراموشی یا بازسازی ذهنی تجربه‌ها</a:t>
            </a:r>
            <a:endParaRPr lang="fa-IR" sz="1400" dirty="0"/>
          </a:p>
        </p:txBody>
      </p:sp>
      <p:sp>
        <p:nvSpPr>
          <p:cNvPr id="15" name="A02_wl_392b"/>
          <p:cNvSpPr/>
          <p:nvPr/>
        </p:nvSpPr>
        <p:spPr>
          <a:xfrm>
            <a:off x="457200" y="1280160"/>
            <a:ext cx="5486400" cy="1463040"/>
          </a:xfrm>
          <a:prstGeom prst="roundRect">
            <a:avLst>
              <a:gd name="adj" fmla="val 7500"/>
            </a:avLst>
          </a:prstGeom>
          <a:solidFill>
            <a:srgbClr val="F4F6F7"/>
          </a:solidFill>
          <a:ln w="12700">
            <a:solidFill>
              <a:srgbClr val="F4F6F7"/>
            </a:solidFill>
            <a:prstDash val="solid"/>
          </a:ln>
        </p:spPr>
      </p:sp>
      <p:sp>
        <p:nvSpPr>
          <p:cNvPr id="16" name="A02_wl_393c"/>
          <p:cNvSpPr/>
          <p:nvPr/>
        </p:nvSpPr>
        <p:spPr>
          <a:xfrm>
            <a:off x="4983480" y="1600200"/>
            <a:ext cx="777240" cy="777240"/>
          </a:xfrm>
          <a:prstGeom prst="ellipse">
            <a:avLst/>
          </a:prstGeom>
          <a:solidFill>
            <a:srgbClr val="6D597A"/>
          </a:solidFill>
          <a:ln w="12700">
            <a:solidFill>
              <a:srgbClr val="6D597A"/>
            </a:solidFill>
            <a:prstDash val="solid"/>
          </a:ln>
        </p:spPr>
      </p:sp>
      <p:pic>
        <p:nvPicPr>
          <p:cNvPr id="17" name="A02_wl_394i" descr="preencoded.png"/>
          <p:cNvPicPr>
            <a:picLocks noChangeAspect="1"/>
          </p:cNvPicPr>
          <p:nvPr/>
        </p:nvPicPr>
        <p:blipFill>
          <a:blip r:embed="rId5"/>
          <a:stretch>
            <a:fillRect/>
          </a:stretch>
        </p:blipFill>
        <p:spPr>
          <a:xfrm>
            <a:off x="5184648" y="1801368"/>
            <a:ext cx="384048" cy="384048"/>
          </a:xfrm>
          <a:prstGeom prst="rect">
            <a:avLst/>
          </a:prstGeom>
        </p:spPr>
      </p:pic>
      <p:sp>
        <p:nvSpPr>
          <p:cNvPr id="18" name="A02_wl_395"/>
          <p:cNvSpPr txBox="1"/>
          <p:nvPr/>
        </p:nvSpPr>
        <p:spPr>
          <a:xfrm>
            <a:off x="685800" y="1463040"/>
            <a:ext cx="4114800" cy="411480"/>
          </a:xfrm>
          <a:prstGeom prst="rect">
            <a:avLst/>
          </a:prstGeom>
          <a:noFill/>
          <a:ln/>
        </p:spPr>
        <p:txBody>
          <a:bodyPr wrap="square" lIns="0" tIns="0" rIns="0" bIns="0" rtlCol="0" anchor="t"/>
          <a:lstStyle/>
          <a:p>
            <a:pPr marL="0" indent="0" algn="r" rtl="1">
              <a:buNone/>
            </a:pPr>
            <a:r>
              <a:rPr lang="fa-IR" altLang="en-US" sz="1600" b="1" dirty="0">
                <a:solidFill>
                  <a:srgbClr val="6D597A"/>
                </a:solidFill>
                <a:latin typeface="Tahoma" pitchFamily="34" charset="0"/>
                <a:ea typeface="Tahoma" pitchFamily="34" charset="-122"/>
                <a:cs typeface="Tahoma" pitchFamily="34" charset="-120"/>
              </a:rPr>
              <a:t>۲. نامتوازن بودن ترکیب جنسیتی</a:t>
            </a:r>
            <a:endParaRPr lang="fa-IR" sz="1600" dirty="0"/>
          </a:p>
        </p:txBody>
      </p:sp>
      <p:sp>
        <p:nvSpPr>
          <p:cNvPr id="19" name="A02_wl_396"/>
          <p:cNvSpPr txBox="1"/>
          <p:nvPr/>
        </p:nvSpPr>
        <p:spPr>
          <a:xfrm>
            <a:off x="685800" y="1920240"/>
            <a:ext cx="4114800" cy="73152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۹۴٪ نمونه زن؛ عدم امکان مقایسه جنسیتی و احتیاط در تعمیم به مردان</a:t>
            </a:r>
            <a:endParaRPr lang="fa-IR" sz="1400" dirty="0"/>
          </a:p>
        </p:txBody>
      </p:sp>
      <p:sp>
        <p:nvSpPr>
          <p:cNvPr id="20" name="A03_wl_397b"/>
          <p:cNvSpPr/>
          <p:nvPr/>
        </p:nvSpPr>
        <p:spPr>
          <a:xfrm>
            <a:off x="6217920" y="2926080"/>
            <a:ext cx="5486400" cy="1463040"/>
          </a:xfrm>
          <a:prstGeom prst="roundRect">
            <a:avLst>
              <a:gd name="adj" fmla="val 7500"/>
            </a:avLst>
          </a:prstGeom>
          <a:solidFill>
            <a:srgbClr val="F4F6F7"/>
          </a:solidFill>
          <a:ln w="12700">
            <a:solidFill>
              <a:srgbClr val="F4F6F7"/>
            </a:solidFill>
            <a:prstDash val="solid"/>
          </a:ln>
        </p:spPr>
      </p:sp>
      <p:sp>
        <p:nvSpPr>
          <p:cNvPr id="21" name="A03_wl_398c"/>
          <p:cNvSpPr/>
          <p:nvPr/>
        </p:nvSpPr>
        <p:spPr>
          <a:xfrm>
            <a:off x="10744200" y="3246120"/>
            <a:ext cx="777240" cy="777240"/>
          </a:xfrm>
          <a:prstGeom prst="ellipse">
            <a:avLst/>
          </a:prstGeom>
          <a:solidFill>
            <a:srgbClr val="2A9D8F"/>
          </a:solidFill>
          <a:ln w="12700">
            <a:solidFill>
              <a:srgbClr val="2A9D8F"/>
            </a:solidFill>
            <a:prstDash val="solid"/>
          </a:ln>
        </p:spPr>
      </p:sp>
      <p:pic>
        <p:nvPicPr>
          <p:cNvPr id="22" name="A03_wl_399i" descr="preencoded.png"/>
          <p:cNvPicPr>
            <a:picLocks noChangeAspect="1"/>
          </p:cNvPicPr>
          <p:nvPr/>
        </p:nvPicPr>
        <p:blipFill>
          <a:blip r:embed="rId6"/>
          <a:stretch>
            <a:fillRect/>
          </a:stretch>
        </p:blipFill>
        <p:spPr>
          <a:xfrm>
            <a:off x="10945368" y="3447288"/>
            <a:ext cx="384048" cy="384048"/>
          </a:xfrm>
          <a:prstGeom prst="rect">
            <a:avLst/>
          </a:prstGeom>
        </p:spPr>
      </p:pic>
      <p:sp>
        <p:nvSpPr>
          <p:cNvPr id="23" name="A03_wl_400"/>
          <p:cNvSpPr txBox="1"/>
          <p:nvPr/>
        </p:nvSpPr>
        <p:spPr>
          <a:xfrm>
            <a:off x="6446520" y="3108960"/>
            <a:ext cx="4114800" cy="411480"/>
          </a:xfrm>
          <a:prstGeom prst="rect">
            <a:avLst/>
          </a:prstGeom>
          <a:noFill/>
          <a:ln/>
        </p:spPr>
        <p:txBody>
          <a:bodyPr wrap="square" lIns="0" tIns="0" rIns="0" bIns="0" rtlCol="0" anchor="t"/>
          <a:lstStyle/>
          <a:p>
            <a:pPr marL="0" indent="0" algn="r" rtl="1">
              <a:buNone/>
            </a:pPr>
            <a:r>
              <a:rPr lang="fa-IR" altLang="en-US" sz="1600" b="1" dirty="0">
                <a:solidFill>
                  <a:srgbClr val="2A9D8F"/>
                </a:solidFill>
                <a:latin typeface="Tahoma" pitchFamily="34" charset="0"/>
                <a:ea typeface="Tahoma" pitchFamily="34" charset="-122"/>
                <a:cs typeface="Tahoma" pitchFamily="34" charset="-120"/>
              </a:rPr>
              <a:t>۳. بررسی نشدن برخی متغیرهای مؤثر</a:t>
            </a:r>
            <a:endParaRPr lang="fa-IR" sz="1600" dirty="0"/>
          </a:p>
        </p:txBody>
      </p:sp>
      <p:sp>
        <p:nvSpPr>
          <p:cNvPr id="24" name="A03_wl_401"/>
          <p:cNvSpPr txBox="1"/>
          <p:nvPr/>
        </p:nvSpPr>
        <p:spPr>
          <a:xfrm>
            <a:off x="6446520" y="3566160"/>
            <a:ext cx="4114800" cy="73152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ویژگی‌های شخصیتی، سبک دلبستگی، حمایت اجتماعی، وضعیت اقتصادی‌ـ‌اجتماعی</a:t>
            </a:r>
            <a:endParaRPr lang="fa-IR" sz="1400" dirty="0"/>
          </a:p>
        </p:txBody>
      </p:sp>
      <p:sp>
        <p:nvSpPr>
          <p:cNvPr id="25" name="A04_wl_402b"/>
          <p:cNvSpPr/>
          <p:nvPr/>
        </p:nvSpPr>
        <p:spPr>
          <a:xfrm>
            <a:off x="457200" y="2926080"/>
            <a:ext cx="5486400" cy="1463040"/>
          </a:xfrm>
          <a:prstGeom prst="roundRect">
            <a:avLst>
              <a:gd name="adj" fmla="val 7500"/>
            </a:avLst>
          </a:prstGeom>
          <a:solidFill>
            <a:srgbClr val="F4F6F7"/>
          </a:solidFill>
          <a:ln w="12700">
            <a:solidFill>
              <a:srgbClr val="F4F6F7"/>
            </a:solidFill>
            <a:prstDash val="solid"/>
          </a:ln>
        </p:spPr>
      </p:sp>
      <p:sp>
        <p:nvSpPr>
          <p:cNvPr id="26" name="A04_wl_403c"/>
          <p:cNvSpPr/>
          <p:nvPr/>
        </p:nvSpPr>
        <p:spPr>
          <a:xfrm>
            <a:off x="4983480" y="3246120"/>
            <a:ext cx="777240" cy="777240"/>
          </a:xfrm>
          <a:prstGeom prst="ellipse">
            <a:avLst/>
          </a:prstGeom>
          <a:solidFill>
            <a:srgbClr val="D9674A"/>
          </a:solidFill>
          <a:ln w="12700">
            <a:solidFill>
              <a:srgbClr val="D9674A"/>
            </a:solidFill>
            <a:prstDash val="solid"/>
          </a:ln>
        </p:spPr>
      </p:sp>
      <p:pic>
        <p:nvPicPr>
          <p:cNvPr id="27" name="A04_wl_404i" descr="preencoded.png"/>
          <p:cNvPicPr>
            <a:picLocks noChangeAspect="1"/>
          </p:cNvPicPr>
          <p:nvPr/>
        </p:nvPicPr>
        <p:blipFill>
          <a:blip r:embed="rId7"/>
          <a:stretch>
            <a:fillRect/>
          </a:stretch>
        </p:blipFill>
        <p:spPr>
          <a:xfrm>
            <a:off x="5184648" y="3447288"/>
            <a:ext cx="384048" cy="384048"/>
          </a:xfrm>
          <a:prstGeom prst="rect">
            <a:avLst/>
          </a:prstGeom>
        </p:spPr>
      </p:pic>
      <p:sp>
        <p:nvSpPr>
          <p:cNvPr id="28" name="A04_wl_405"/>
          <p:cNvSpPr txBox="1"/>
          <p:nvPr/>
        </p:nvSpPr>
        <p:spPr>
          <a:xfrm>
            <a:off x="685800" y="3108960"/>
            <a:ext cx="4114800" cy="411480"/>
          </a:xfrm>
          <a:prstGeom prst="rect">
            <a:avLst/>
          </a:prstGeom>
          <a:noFill/>
          <a:ln/>
        </p:spPr>
        <p:txBody>
          <a:bodyPr wrap="square" lIns="0" tIns="0" rIns="0" bIns="0" rtlCol="0" anchor="t"/>
          <a:lstStyle/>
          <a:p>
            <a:pPr marL="0" indent="0" algn="r" rtl="1">
              <a:buNone/>
            </a:pPr>
            <a:r>
              <a:rPr lang="fa-IR" altLang="en-US" sz="1600" b="1" dirty="0">
                <a:solidFill>
                  <a:srgbClr val="D9674A"/>
                </a:solidFill>
                <a:latin typeface="Tahoma" pitchFamily="34" charset="0"/>
                <a:ea typeface="Tahoma" pitchFamily="34" charset="-122"/>
                <a:cs typeface="Tahoma" pitchFamily="34" charset="-120"/>
              </a:rPr>
              <a:t>۴. مقطعی بودن پژوهش</a:t>
            </a:r>
            <a:endParaRPr lang="fa-IR" sz="1600" dirty="0"/>
          </a:p>
        </p:txBody>
      </p:sp>
      <p:sp>
        <p:nvSpPr>
          <p:cNvPr id="29" name="A04_wl_406"/>
          <p:cNvSpPr txBox="1"/>
          <p:nvPr/>
        </p:nvSpPr>
        <p:spPr>
          <a:xfrm>
            <a:off x="685800" y="3566160"/>
            <a:ext cx="4114800" cy="73152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گردآوری داده در یک مقطع زمانی؛ عدم امکان بررسی تغییرات در طول زمان</a:t>
            </a:r>
            <a:endParaRPr lang="fa-IR" sz="1400" dirty="0"/>
          </a:p>
        </p:txBody>
      </p:sp>
      <p:sp>
        <p:nvSpPr>
          <p:cNvPr id="30" name="A05_wl_407b"/>
          <p:cNvSpPr/>
          <p:nvPr/>
        </p:nvSpPr>
        <p:spPr>
          <a:xfrm>
            <a:off x="6217920" y="4572000"/>
            <a:ext cx="5486400" cy="1463040"/>
          </a:xfrm>
          <a:prstGeom prst="roundRect">
            <a:avLst>
              <a:gd name="adj" fmla="val 7500"/>
            </a:avLst>
          </a:prstGeom>
          <a:solidFill>
            <a:srgbClr val="F4F6F7"/>
          </a:solidFill>
          <a:ln w="12700">
            <a:solidFill>
              <a:srgbClr val="F4F6F7"/>
            </a:solidFill>
            <a:prstDash val="solid"/>
          </a:ln>
        </p:spPr>
      </p:sp>
      <p:sp>
        <p:nvSpPr>
          <p:cNvPr id="31" name="A05_wl_408c"/>
          <p:cNvSpPr/>
          <p:nvPr/>
        </p:nvSpPr>
        <p:spPr>
          <a:xfrm>
            <a:off x="10744200" y="4892040"/>
            <a:ext cx="777240" cy="777240"/>
          </a:xfrm>
          <a:prstGeom prst="ellipse">
            <a:avLst/>
          </a:prstGeom>
          <a:solidFill>
            <a:srgbClr val="6D597A"/>
          </a:solidFill>
          <a:ln w="12700">
            <a:solidFill>
              <a:srgbClr val="6D597A"/>
            </a:solidFill>
            <a:prstDash val="solid"/>
          </a:ln>
        </p:spPr>
      </p:sp>
      <p:pic>
        <p:nvPicPr>
          <p:cNvPr id="32" name="A05_wl_409i" descr="preencoded.png"/>
          <p:cNvPicPr>
            <a:picLocks noChangeAspect="1"/>
          </p:cNvPicPr>
          <p:nvPr/>
        </p:nvPicPr>
        <p:blipFill>
          <a:blip r:embed="rId8"/>
          <a:stretch>
            <a:fillRect/>
          </a:stretch>
        </p:blipFill>
        <p:spPr>
          <a:xfrm>
            <a:off x="10945368" y="5093208"/>
            <a:ext cx="384048" cy="384048"/>
          </a:xfrm>
          <a:prstGeom prst="rect">
            <a:avLst/>
          </a:prstGeom>
        </p:spPr>
      </p:pic>
      <p:sp>
        <p:nvSpPr>
          <p:cNvPr id="33" name="A05_wl_410"/>
          <p:cNvSpPr txBox="1"/>
          <p:nvPr/>
        </p:nvSpPr>
        <p:spPr>
          <a:xfrm>
            <a:off x="6446520" y="4754880"/>
            <a:ext cx="4114800" cy="411480"/>
          </a:xfrm>
          <a:prstGeom prst="rect">
            <a:avLst/>
          </a:prstGeom>
          <a:noFill/>
          <a:ln/>
        </p:spPr>
        <p:txBody>
          <a:bodyPr wrap="square" lIns="0" tIns="0" rIns="0" bIns="0" rtlCol="0" anchor="t"/>
          <a:lstStyle/>
          <a:p>
            <a:pPr marL="0" indent="0" algn="r" rtl="1">
              <a:buNone/>
            </a:pPr>
            <a:r>
              <a:rPr lang="fa-IR" altLang="en-US" sz="1600" b="1" dirty="0">
                <a:solidFill>
                  <a:srgbClr val="6D597A"/>
                </a:solidFill>
                <a:latin typeface="Tahoma" pitchFamily="34" charset="0"/>
                <a:ea typeface="Tahoma" pitchFamily="34" charset="-122"/>
                <a:cs typeface="Tahoma" pitchFamily="34" charset="-120"/>
              </a:rPr>
              <a:t>۵. محدودیت در تعمیم یافته‌ها</a:t>
            </a:r>
            <a:endParaRPr lang="fa-IR" sz="1600" dirty="0"/>
          </a:p>
        </p:txBody>
      </p:sp>
      <p:sp>
        <p:nvSpPr>
          <p:cNvPr id="34" name="A05_wl_411"/>
          <p:cNvSpPr txBox="1"/>
          <p:nvPr/>
        </p:nvSpPr>
        <p:spPr>
          <a:xfrm>
            <a:off x="6446520" y="5212080"/>
            <a:ext cx="4114800" cy="73152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احتیاط در تعمیم به غیردانشجویان و جمعیت‌هایی با ویژگی‌های متفاوت</a:t>
            </a:r>
            <a:endParaRPr lang="fa-IR" sz="1400" dirty="0"/>
          </a:p>
        </p:txBody>
      </p:sp>
      <p:sp>
        <p:nvSpPr>
          <p:cNvPr id="35" name="A06_wl_412b"/>
          <p:cNvSpPr/>
          <p:nvPr/>
        </p:nvSpPr>
        <p:spPr>
          <a:xfrm>
            <a:off x="457200" y="4572000"/>
            <a:ext cx="5486400" cy="1463040"/>
          </a:xfrm>
          <a:prstGeom prst="roundRect">
            <a:avLst>
              <a:gd name="adj" fmla="val 7500"/>
            </a:avLst>
          </a:prstGeom>
          <a:solidFill>
            <a:srgbClr val="F4F6F7"/>
          </a:solidFill>
          <a:ln w="12700">
            <a:solidFill>
              <a:srgbClr val="F4F6F7"/>
            </a:solidFill>
            <a:prstDash val="solid"/>
          </a:ln>
        </p:spPr>
      </p:sp>
      <p:sp>
        <p:nvSpPr>
          <p:cNvPr id="36" name="A06_wl_413c"/>
          <p:cNvSpPr/>
          <p:nvPr/>
        </p:nvSpPr>
        <p:spPr>
          <a:xfrm>
            <a:off x="4983480" y="4892040"/>
            <a:ext cx="777240" cy="777240"/>
          </a:xfrm>
          <a:prstGeom prst="ellipse">
            <a:avLst/>
          </a:prstGeom>
          <a:solidFill>
            <a:srgbClr val="2A9D8F"/>
          </a:solidFill>
          <a:ln w="12700">
            <a:solidFill>
              <a:srgbClr val="2A9D8F"/>
            </a:solidFill>
            <a:prstDash val="solid"/>
          </a:ln>
        </p:spPr>
      </p:sp>
      <p:pic>
        <p:nvPicPr>
          <p:cNvPr id="37" name="A06_wl_414i" descr="preencoded.png"/>
          <p:cNvPicPr>
            <a:picLocks noChangeAspect="1"/>
          </p:cNvPicPr>
          <p:nvPr/>
        </p:nvPicPr>
        <p:blipFill>
          <a:blip r:embed="rId9"/>
          <a:stretch>
            <a:fillRect/>
          </a:stretch>
        </p:blipFill>
        <p:spPr>
          <a:xfrm>
            <a:off x="5184648" y="5093208"/>
            <a:ext cx="384048" cy="384048"/>
          </a:xfrm>
          <a:prstGeom prst="rect">
            <a:avLst/>
          </a:prstGeom>
        </p:spPr>
      </p:pic>
      <p:sp>
        <p:nvSpPr>
          <p:cNvPr id="38" name="A06_wl_415"/>
          <p:cNvSpPr txBox="1"/>
          <p:nvPr/>
        </p:nvSpPr>
        <p:spPr>
          <a:xfrm>
            <a:off x="685800" y="4754880"/>
            <a:ext cx="4114800" cy="411480"/>
          </a:xfrm>
          <a:prstGeom prst="rect">
            <a:avLst/>
          </a:prstGeom>
          <a:noFill/>
          <a:ln/>
        </p:spPr>
        <p:txBody>
          <a:bodyPr wrap="square" lIns="0" tIns="0" rIns="0" bIns="0" rtlCol="0" anchor="t"/>
          <a:lstStyle/>
          <a:p>
            <a:pPr marL="0" indent="0" algn="r" rtl="1">
              <a:buNone/>
            </a:pPr>
            <a:r>
              <a:rPr lang="fa-IR" altLang="en-US" sz="1600" b="1" dirty="0">
                <a:solidFill>
                  <a:srgbClr val="2A9D8F"/>
                </a:solidFill>
                <a:latin typeface="Tahoma" pitchFamily="34" charset="0"/>
                <a:ea typeface="Tahoma" pitchFamily="34" charset="-122"/>
                <a:cs typeface="Tahoma" pitchFamily="34" charset="-120"/>
              </a:rPr>
              <a:t>۶. تفسیر غیرعلّی روابط</a:t>
            </a:r>
            <a:endParaRPr lang="fa-IR" sz="1600" dirty="0"/>
          </a:p>
        </p:txBody>
      </p:sp>
      <p:sp>
        <p:nvSpPr>
          <p:cNvPr id="39" name="A06_wl_416"/>
          <p:cNvSpPr txBox="1"/>
          <p:nvPr/>
        </p:nvSpPr>
        <p:spPr>
          <a:xfrm>
            <a:off x="685800" y="5212080"/>
            <a:ext cx="4114800" cy="731520"/>
          </a:xfrm>
          <a:prstGeom prst="rect">
            <a:avLst/>
          </a:prstGeom>
          <a:noFill/>
          <a:ln/>
        </p:spPr>
        <p:txBody>
          <a:bodyPr wrap="square" lIns="0" tIns="0" rIns="0" bIns="0" rtlCol="0" anchor="t"/>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روابط همبستگی‌اند نه علّی؛ نیاز به پژوهش‌های طولی و آزمایشی</a:t>
            </a:r>
            <a:endParaRPr lang="fa-IR"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450"/>
                                        <p:tgtEl>
                                          <p:spTgt spid="10"/>
                                        </p:tgtEl>
                                      </p:cBhvr>
                                    </p:animEffect>
                                  </p:childTnLst>
                                </p:cTn>
                              </p:par>
                              <p:par>
                                <p:cTn id="8" presetID="22" presetClass="entr" presetSubtype="2"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450"/>
                                        <p:tgtEl>
                                          <p:spTgt spid="11"/>
                                        </p:tgtEl>
                                      </p:cBhvr>
                                    </p:animEffect>
                                  </p:childTnLst>
                                </p:cTn>
                              </p:par>
                              <p:par>
                                <p:cTn id="11" presetID="22" presetClass="entr" presetSubtype="2"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50"/>
                                        <p:tgtEl>
                                          <p:spTgt spid="12"/>
                                        </p:tgtEl>
                                      </p:cBhvr>
                                    </p:animEffect>
                                  </p:childTnLst>
                                </p:cTn>
                              </p:par>
                              <p:par>
                                <p:cTn id="14" presetID="22" presetClass="entr" presetSubtype="2"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right)">
                                      <p:cBhvr>
                                        <p:cTn id="16" dur="450"/>
                                        <p:tgtEl>
                                          <p:spTgt spid="13"/>
                                        </p:tgtEl>
                                      </p:cBhvr>
                                    </p:animEffect>
                                  </p:childTnLst>
                                </p:cTn>
                              </p:par>
                              <p:par>
                                <p:cTn id="17" presetID="22" presetClass="entr" presetSubtype="2"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right)">
                                      <p:cBhvr>
                                        <p:cTn id="19" dur="450"/>
                                        <p:tgtEl>
                                          <p:spTgt spid="14"/>
                                        </p:tgtEl>
                                      </p:cBhvr>
                                    </p:animEffect>
                                  </p:childTnLst>
                                </p:cTn>
                              </p:par>
                            </p:childTnLst>
                          </p:cTn>
                        </p:par>
                        <p:par>
                          <p:cTn id="20" fill="hold">
                            <p:stCondLst>
                              <p:cond delay="300"/>
                            </p:stCondLst>
                            <p:childTnLst>
                              <p:par>
                                <p:cTn id="21" presetID="22" presetClass="entr" presetSubtype="2"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right)">
                                      <p:cBhvr>
                                        <p:cTn id="23" dur="450"/>
                                        <p:tgtEl>
                                          <p:spTgt spid="15"/>
                                        </p:tgtEl>
                                      </p:cBhvr>
                                    </p:animEffect>
                                  </p:childTnLst>
                                </p:cTn>
                              </p:par>
                              <p:par>
                                <p:cTn id="24" presetID="22" presetClass="entr" presetSubtype="2"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right)">
                                      <p:cBhvr>
                                        <p:cTn id="26" dur="450"/>
                                        <p:tgtEl>
                                          <p:spTgt spid="16"/>
                                        </p:tgtEl>
                                      </p:cBhvr>
                                    </p:animEffect>
                                  </p:childTnLst>
                                </p:cTn>
                              </p:par>
                              <p:par>
                                <p:cTn id="27" presetID="22" presetClass="entr" presetSubtype="2"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right)">
                                      <p:cBhvr>
                                        <p:cTn id="29" dur="450"/>
                                        <p:tgtEl>
                                          <p:spTgt spid="17"/>
                                        </p:tgtEl>
                                      </p:cBhvr>
                                    </p:animEffect>
                                  </p:childTnLst>
                                </p:cTn>
                              </p:par>
                              <p:par>
                                <p:cTn id="30" presetID="22" presetClass="entr" presetSubtype="2"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right)">
                                      <p:cBhvr>
                                        <p:cTn id="32" dur="450"/>
                                        <p:tgtEl>
                                          <p:spTgt spid="18"/>
                                        </p:tgtEl>
                                      </p:cBhvr>
                                    </p:animEffect>
                                  </p:childTnLst>
                                </p:cTn>
                              </p:par>
                              <p:par>
                                <p:cTn id="33" presetID="22" presetClass="entr" presetSubtype="2"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right)">
                                      <p:cBhvr>
                                        <p:cTn id="35" dur="450"/>
                                        <p:tgtEl>
                                          <p:spTgt spid="19"/>
                                        </p:tgtEl>
                                      </p:cBhvr>
                                    </p:animEffect>
                                  </p:childTnLst>
                                </p:cTn>
                              </p:par>
                            </p:childTnLst>
                          </p:cTn>
                        </p:par>
                        <p:par>
                          <p:cTn id="36" fill="hold">
                            <p:stCondLst>
                              <p:cond delay="600"/>
                            </p:stCondLst>
                            <p:childTnLst>
                              <p:par>
                                <p:cTn id="37" presetID="22" presetClass="entr" presetSubtype="2" fill="hold"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right)">
                                      <p:cBhvr>
                                        <p:cTn id="39" dur="450"/>
                                        <p:tgtEl>
                                          <p:spTgt spid="20"/>
                                        </p:tgtEl>
                                      </p:cBhvr>
                                    </p:animEffect>
                                  </p:childTnLst>
                                </p:cTn>
                              </p:par>
                              <p:par>
                                <p:cTn id="40" presetID="22" presetClass="entr" presetSubtype="2"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right)">
                                      <p:cBhvr>
                                        <p:cTn id="42" dur="450"/>
                                        <p:tgtEl>
                                          <p:spTgt spid="21"/>
                                        </p:tgtEl>
                                      </p:cBhvr>
                                    </p:animEffect>
                                  </p:childTnLst>
                                </p:cTn>
                              </p:par>
                              <p:par>
                                <p:cTn id="43" presetID="22" presetClass="entr" presetSubtype="2"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right)">
                                      <p:cBhvr>
                                        <p:cTn id="45" dur="450"/>
                                        <p:tgtEl>
                                          <p:spTgt spid="22"/>
                                        </p:tgtEl>
                                      </p:cBhvr>
                                    </p:animEffect>
                                  </p:childTnLst>
                                </p:cTn>
                              </p:par>
                              <p:par>
                                <p:cTn id="46" presetID="22" presetClass="entr" presetSubtype="2"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right)">
                                      <p:cBhvr>
                                        <p:cTn id="48" dur="450"/>
                                        <p:tgtEl>
                                          <p:spTgt spid="23"/>
                                        </p:tgtEl>
                                      </p:cBhvr>
                                    </p:animEffect>
                                  </p:childTnLst>
                                </p:cTn>
                              </p:par>
                              <p:par>
                                <p:cTn id="49" presetID="22" presetClass="entr" presetSubtype="2"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right)">
                                      <p:cBhvr>
                                        <p:cTn id="51" dur="450"/>
                                        <p:tgtEl>
                                          <p:spTgt spid="24"/>
                                        </p:tgtEl>
                                      </p:cBhvr>
                                    </p:animEffect>
                                  </p:childTnLst>
                                </p:cTn>
                              </p:par>
                            </p:childTnLst>
                          </p:cTn>
                        </p:par>
                        <p:par>
                          <p:cTn id="52" fill="hold">
                            <p:stCondLst>
                              <p:cond delay="900"/>
                            </p:stCondLst>
                            <p:childTnLst>
                              <p:par>
                                <p:cTn id="53" presetID="22" presetClass="entr" presetSubtype="2" fill="hold"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right)">
                                      <p:cBhvr>
                                        <p:cTn id="55" dur="450"/>
                                        <p:tgtEl>
                                          <p:spTgt spid="25"/>
                                        </p:tgtEl>
                                      </p:cBhvr>
                                    </p:animEffect>
                                  </p:childTnLst>
                                </p:cTn>
                              </p:par>
                              <p:par>
                                <p:cTn id="56" presetID="22" presetClass="entr" presetSubtype="2"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wipe(right)">
                                      <p:cBhvr>
                                        <p:cTn id="58" dur="450"/>
                                        <p:tgtEl>
                                          <p:spTgt spid="26"/>
                                        </p:tgtEl>
                                      </p:cBhvr>
                                    </p:animEffect>
                                  </p:childTnLst>
                                </p:cTn>
                              </p:par>
                              <p:par>
                                <p:cTn id="59" presetID="22" presetClass="entr" presetSubtype="2"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right)">
                                      <p:cBhvr>
                                        <p:cTn id="61" dur="450"/>
                                        <p:tgtEl>
                                          <p:spTgt spid="27"/>
                                        </p:tgtEl>
                                      </p:cBhvr>
                                    </p:animEffect>
                                  </p:childTnLst>
                                </p:cTn>
                              </p:par>
                              <p:par>
                                <p:cTn id="62" presetID="22" presetClass="entr" presetSubtype="2"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wipe(right)">
                                      <p:cBhvr>
                                        <p:cTn id="64" dur="450"/>
                                        <p:tgtEl>
                                          <p:spTgt spid="28"/>
                                        </p:tgtEl>
                                      </p:cBhvr>
                                    </p:animEffect>
                                  </p:childTnLst>
                                </p:cTn>
                              </p:par>
                              <p:par>
                                <p:cTn id="65" presetID="22" presetClass="entr" presetSubtype="2"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right)">
                                      <p:cBhvr>
                                        <p:cTn id="67" dur="450"/>
                                        <p:tgtEl>
                                          <p:spTgt spid="29"/>
                                        </p:tgtEl>
                                      </p:cBhvr>
                                    </p:animEffect>
                                  </p:childTnLst>
                                </p:cTn>
                              </p:par>
                            </p:childTnLst>
                          </p:cTn>
                        </p:par>
                        <p:par>
                          <p:cTn id="68" fill="hold">
                            <p:stCondLst>
                              <p:cond delay="1200"/>
                            </p:stCondLst>
                            <p:childTnLst>
                              <p:par>
                                <p:cTn id="69" presetID="22" presetClass="entr" presetSubtype="2" fill="hold" nodeType="after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wipe(right)">
                                      <p:cBhvr>
                                        <p:cTn id="71" dur="450"/>
                                        <p:tgtEl>
                                          <p:spTgt spid="30"/>
                                        </p:tgtEl>
                                      </p:cBhvr>
                                    </p:animEffect>
                                  </p:childTnLst>
                                </p:cTn>
                              </p:par>
                              <p:par>
                                <p:cTn id="72" presetID="22" presetClass="entr" presetSubtype="2" fill="hold"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right)">
                                      <p:cBhvr>
                                        <p:cTn id="74" dur="450"/>
                                        <p:tgtEl>
                                          <p:spTgt spid="31"/>
                                        </p:tgtEl>
                                      </p:cBhvr>
                                    </p:animEffect>
                                  </p:childTnLst>
                                </p:cTn>
                              </p:par>
                              <p:par>
                                <p:cTn id="75" presetID="22" presetClass="entr" presetSubtype="2" fill="hold"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wipe(right)">
                                      <p:cBhvr>
                                        <p:cTn id="77" dur="450"/>
                                        <p:tgtEl>
                                          <p:spTgt spid="32"/>
                                        </p:tgtEl>
                                      </p:cBhvr>
                                    </p:animEffect>
                                  </p:childTnLst>
                                </p:cTn>
                              </p:par>
                              <p:par>
                                <p:cTn id="78" presetID="22" presetClass="entr" presetSubtype="2" fill="hold"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wipe(right)">
                                      <p:cBhvr>
                                        <p:cTn id="80" dur="450"/>
                                        <p:tgtEl>
                                          <p:spTgt spid="33"/>
                                        </p:tgtEl>
                                      </p:cBhvr>
                                    </p:animEffect>
                                  </p:childTnLst>
                                </p:cTn>
                              </p:par>
                              <p:par>
                                <p:cTn id="81" presetID="22" presetClass="entr" presetSubtype="2" fill="hold" nodeType="with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wipe(right)">
                                      <p:cBhvr>
                                        <p:cTn id="83" dur="450"/>
                                        <p:tgtEl>
                                          <p:spTgt spid="34"/>
                                        </p:tgtEl>
                                      </p:cBhvr>
                                    </p:animEffect>
                                  </p:childTnLst>
                                </p:cTn>
                              </p:par>
                            </p:childTnLst>
                          </p:cTn>
                        </p:par>
                        <p:par>
                          <p:cTn id="84" fill="hold">
                            <p:stCondLst>
                              <p:cond delay="1500"/>
                            </p:stCondLst>
                            <p:childTnLst>
                              <p:par>
                                <p:cTn id="85" presetID="22" presetClass="entr" presetSubtype="2" fill="hold" nodeType="after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wipe(right)">
                                      <p:cBhvr>
                                        <p:cTn id="87" dur="450"/>
                                        <p:tgtEl>
                                          <p:spTgt spid="35"/>
                                        </p:tgtEl>
                                      </p:cBhvr>
                                    </p:animEffect>
                                  </p:childTnLst>
                                </p:cTn>
                              </p:par>
                              <p:par>
                                <p:cTn id="88" presetID="22" presetClass="entr" presetSubtype="2" fill="hold"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wipe(right)">
                                      <p:cBhvr>
                                        <p:cTn id="90" dur="450"/>
                                        <p:tgtEl>
                                          <p:spTgt spid="36"/>
                                        </p:tgtEl>
                                      </p:cBhvr>
                                    </p:animEffect>
                                  </p:childTnLst>
                                </p:cTn>
                              </p:par>
                              <p:par>
                                <p:cTn id="91" presetID="22" presetClass="entr" presetSubtype="2" fill="hold"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wipe(right)">
                                      <p:cBhvr>
                                        <p:cTn id="93" dur="450"/>
                                        <p:tgtEl>
                                          <p:spTgt spid="37"/>
                                        </p:tgtEl>
                                      </p:cBhvr>
                                    </p:animEffect>
                                  </p:childTnLst>
                                </p:cTn>
                              </p:par>
                              <p:par>
                                <p:cTn id="94" presetID="22" presetClass="entr" presetSubtype="2" fill="hold"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wipe(right)">
                                      <p:cBhvr>
                                        <p:cTn id="96" dur="450"/>
                                        <p:tgtEl>
                                          <p:spTgt spid="38"/>
                                        </p:tgtEl>
                                      </p:cBhvr>
                                    </p:animEffect>
                                  </p:childTnLst>
                                </p:cTn>
                              </p:par>
                              <p:par>
                                <p:cTn id="97" presetID="22" presetClass="entr" presetSubtype="2" fill="hold"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wipe(right)">
                                      <p:cBhvr>
                                        <p:cTn id="99"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پیشنهادهای پژوهشی</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۱۷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A01_wl_417b"/>
          <p:cNvSpPr/>
          <p:nvPr/>
        </p:nvSpPr>
        <p:spPr>
          <a:xfrm>
            <a:off x="6217920" y="1234440"/>
            <a:ext cx="5486400" cy="868680"/>
          </a:xfrm>
          <a:prstGeom prst="roundRect">
            <a:avLst>
              <a:gd name="adj" fmla="val 12632"/>
            </a:avLst>
          </a:prstGeom>
          <a:solidFill>
            <a:srgbClr val="F4F6F7"/>
          </a:solidFill>
          <a:ln w="9525">
            <a:solidFill>
              <a:srgbClr val="D5DEE1"/>
            </a:solidFill>
            <a:prstDash val="solid"/>
          </a:ln>
        </p:spPr>
      </p:sp>
      <p:sp>
        <p:nvSpPr>
          <p:cNvPr id="11" name="A01_wl_418c"/>
          <p:cNvSpPr/>
          <p:nvPr/>
        </p:nvSpPr>
        <p:spPr>
          <a:xfrm>
            <a:off x="10972800" y="1389888"/>
            <a:ext cx="548640" cy="548640"/>
          </a:xfrm>
          <a:prstGeom prst="ellipse">
            <a:avLst/>
          </a:prstGeom>
          <a:solidFill>
            <a:srgbClr val="0F5257"/>
          </a:solidFill>
          <a:ln w="12700">
            <a:solidFill>
              <a:srgbClr val="0F5257"/>
            </a:solidFill>
            <a:prstDash val="solid"/>
          </a:ln>
        </p:spPr>
      </p:sp>
      <p:sp>
        <p:nvSpPr>
          <p:cNvPr id="12" name="A01_wl_419"/>
          <p:cNvSpPr txBox="1"/>
          <p:nvPr/>
        </p:nvSpPr>
        <p:spPr>
          <a:xfrm>
            <a:off x="10972800" y="138988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۱</a:t>
            </a:r>
            <a:endParaRPr lang="fa-IR" sz="1600" dirty="0"/>
          </a:p>
        </p:txBody>
      </p:sp>
      <p:sp>
        <p:nvSpPr>
          <p:cNvPr id="13" name="A01_wl_420"/>
          <p:cNvSpPr txBox="1"/>
          <p:nvPr/>
        </p:nvSpPr>
        <p:spPr>
          <a:xfrm>
            <a:off x="6400800" y="128016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بررسی روابط در نمونه‌های متوازن‌تر از نظر جنسیت برای مقایسه زنان و مردان</a:t>
            </a:r>
            <a:endParaRPr lang="fa-IR" sz="1400" dirty="0"/>
          </a:p>
        </p:txBody>
      </p:sp>
      <p:sp>
        <p:nvSpPr>
          <p:cNvPr id="14" name="A02_wl_421b"/>
          <p:cNvSpPr/>
          <p:nvPr/>
        </p:nvSpPr>
        <p:spPr>
          <a:xfrm>
            <a:off x="6217920" y="2240280"/>
            <a:ext cx="5486400" cy="868680"/>
          </a:xfrm>
          <a:prstGeom prst="roundRect">
            <a:avLst>
              <a:gd name="adj" fmla="val 12632"/>
            </a:avLst>
          </a:prstGeom>
          <a:solidFill>
            <a:srgbClr val="FFFFFF"/>
          </a:solidFill>
          <a:ln w="9525">
            <a:solidFill>
              <a:srgbClr val="D5DEE1"/>
            </a:solidFill>
            <a:prstDash val="solid"/>
          </a:ln>
        </p:spPr>
      </p:sp>
      <p:sp>
        <p:nvSpPr>
          <p:cNvPr id="15" name="A02_wl_422c"/>
          <p:cNvSpPr/>
          <p:nvPr/>
        </p:nvSpPr>
        <p:spPr>
          <a:xfrm>
            <a:off x="10972800" y="2395728"/>
            <a:ext cx="548640" cy="548640"/>
          </a:xfrm>
          <a:prstGeom prst="ellipse">
            <a:avLst/>
          </a:prstGeom>
          <a:solidFill>
            <a:srgbClr val="2A9D8F"/>
          </a:solidFill>
          <a:ln w="12700">
            <a:solidFill>
              <a:srgbClr val="2A9D8F"/>
            </a:solidFill>
            <a:prstDash val="solid"/>
          </a:ln>
        </p:spPr>
      </p:sp>
      <p:sp>
        <p:nvSpPr>
          <p:cNvPr id="16" name="A02_wl_423"/>
          <p:cNvSpPr txBox="1"/>
          <p:nvPr/>
        </p:nvSpPr>
        <p:spPr>
          <a:xfrm>
            <a:off x="10972800" y="239572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۲</a:t>
            </a:r>
            <a:endParaRPr lang="fa-IR" sz="1600" dirty="0"/>
          </a:p>
        </p:txBody>
      </p:sp>
      <p:sp>
        <p:nvSpPr>
          <p:cNvPr id="17" name="A02_wl_424"/>
          <p:cNvSpPr txBox="1"/>
          <p:nvPr/>
        </p:nvSpPr>
        <p:spPr>
          <a:xfrm>
            <a:off x="6400800" y="228600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طرح‌های طولی برای بررسی تغییرات سبک‌های هویتی و حل تعارض در طول زمان</a:t>
            </a:r>
            <a:endParaRPr lang="fa-IR" sz="1400" dirty="0"/>
          </a:p>
        </p:txBody>
      </p:sp>
      <p:sp>
        <p:nvSpPr>
          <p:cNvPr id="18" name="A03_wl_425b"/>
          <p:cNvSpPr/>
          <p:nvPr/>
        </p:nvSpPr>
        <p:spPr>
          <a:xfrm>
            <a:off x="6217920" y="3246120"/>
            <a:ext cx="5486400" cy="868680"/>
          </a:xfrm>
          <a:prstGeom prst="roundRect">
            <a:avLst>
              <a:gd name="adj" fmla="val 12632"/>
            </a:avLst>
          </a:prstGeom>
          <a:solidFill>
            <a:srgbClr val="F4F6F7"/>
          </a:solidFill>
          <a:ln w="9525">
            <a:solidFill>
              <a:srgbClr val="D5DEE1"/>
            </a:solidFill>
            <a:prstDash val="solid"/>
          </a:ln>
        </p:spPr>
      </p:sp>
      <p:sp>
        <p:nvSpPr>
          <p:cNvPr id="19" name="A03_wl_426c"/>
          <p:cNvSpPr/>
          <p:nvPr/>
        </p:nvSpPr>
        <p:spPr>
          <a:xfrm>
            <a:off x="10972800" y="3401568"/>
            <a:ext cx="548640" cy="548640"/>
          </a:xfrm>
          <a:prstGeom prst="ellipse">
            <a:avLst/>
          </a:prstGeom>
          <a:solidFill>
            <a:srgbClr val="6D597A"/>
          </a:solidFill>
          <a:ln w="12700">
            <a:solidFill>
              <a:srgbClr val="6D597A"/>
            </a:solidFill>
            <a:prstDash val="solid"/>
          </a:ln>
        </p:spPr>
      </p:sp>
      <p:sp>
        <p:nvSpPr>
          <p:cNvPr id="20" name="A03_wl_427"/>
          <p:cNvSpPr txBox="1"/>
          <p:nvPr/>
        </p:nvSpPr>
        <p:spPr>
          <a:xfrm>
            <a:off x="10972800" y="340156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۳</a:t>
            </a:r>
            <a:endParaRPr lang="fa-IR" sz="1600" dirty="0"/>
          </a:p>
        </p:txBody>
      </p:sp>
      <p:sp>
        <p:nvSpPr>
          <p:cNvPr id="21" name="A03_wl_428"/>
          <p:cNvSpPr txBox="1"/>
          <p:nvPr/>
        </p:nvSpPr>
        <p:spPr>
          <a:xfrm>
            <a:off x="6400800" y="329184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بررسی سایر میانجی‌ها یا تعدیل‌گرها: سبک دلبستگی، تنظیم هیجان، حمایت اجتماعی، ذهنی‌سازی</a:t>
            </a:r>
            <a:endParaRPr lang="fa-IR" sz="1400" dirty="0"/>
          </a:p>
        </p:txBody>
      </p:sp>
      <p:sp>
        <p:nvSpPr>
          <p:cNvPr id="22" name="A04_wl_429b"/>
          <p:cNvSpPr/>
          <p:nvPr/>
        </p:nvSpPr>
        <p:spPr>
          <a:xfrm>
            <a:off x="6217920" y="4251960"/>
            <a:ext cx="5486400" cy="868680"/>
          </a:xfrm>
          <a:prstGeom prst="roundRect">
            <a:avLst>
              <a:gd name="adj" fmla="val 12632"/>
            </a:avLst>
          </a:prstGeom>
          <a:solidFill>
            <a:srgbClr val="FFFFFF"/>
          </a:solidFill>
          <a:ln w="9525">
            <a:solidFill>
              <a:srgbClr val="D5DEE1"/>
            </a:solidFill>
            <a:prstDash val="solid"/>
          </a:ln>
        </p:spPr>
      </p:sp>
      <p:sp>
        <p:nvSpPr>
          <p:cNvPr id="23" name="A04_wl_430c"/>
          <p:cNvSpPr/>
          <p:nvPr/>
        </p:nvSpPr>
        <p:spPr>
          <a:xfrm>
            <a:off x="10972800" y="4407408"/>
            <a:ext cx="548640" cy="548640"/>
          </a:xfrm>
          <a:prstGeom prst="ellipse">
            <a:avLst/>
          </a:prstGeom>
          <a:solidFill>
            <a:srgbClr val="D9674A"/>
          </a:solidFill>
          <a:ln w="12700">
            <a:solidFill>
              <a:srgbClr val="D9674A"/>
            </a:solidFill>
            <a:prstDash val="solid"/>
          </a:ln>
        </p:spPr>
      </p:sp>
      <p:sp>
        <p:nvSpPr>
          <p:cNvPr id="24" name="A04_wl_431"/>
          <p:cNvSpPr txBox="1"/>
          <p:nvPr/>
        </p:nvSpPr>
        <p:spPr>
          <a:xfrm>
            <a:off x="10972800" y="440740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۴</a:t>
            </a:r>
            <a:endParaRPr lang="fa-IR" sz="1600" dirty="0"/>
          </a:p>
        </p:txBody>
      </p:sp>
      <p:sp>
        <p:nvSpPr>
          <p:cNvPr id="25" name="A04_wl_432"/>
          <p:cNvSpPr txBox="1"/>
          <p:nvPr/>
        </p:nvSpPr>
        <p:spPr>
          <a:xfrm>
            <a:off x="6400800" y="429768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استفاده از روش‌های چندمنبعی (مصاحبه بالینی، گزارش نزدیکان) در کنار خودگزارشی</a:t>
            </a:r>
            <a:endParaRPr lang="fa-IR" sz="1400" dirty="0"/>
          </a:p>
        </p:txBody>
      </p:sp>
      <p:sp>
        <p:nvSpPr>
          <p:cNvPr id="26" name="A05_wl_433b"/>
          <p:cNvSpPr/>
          <p:nvPr/>
        </p:nvSpPr>
        <p:spPr>
          <a:xfrm>
            <a:off x="6217920" y="5257800"/>
            <a:ext cx="5486400" cy="868680"/>
          </a:xfrm>
          <a:prstGeom prst="roundRect">
            <a:avLst>
              <a:gd name="adj" fmla="val 12632"/>
            </a:avLst>
          </a:prstGeom>
          <a:solidFill>
            <a:srgbClr val="F4F6F7"/>
          </a:solidFill>
          <a:ln w="9525">
            <a:solidFill>
              <a:srgbClr val="D5DEE1"/>
            </a:solidFill>
            <a:prstDash val="solid"/>
          </a:ln>
        </p:spPr>
      </p:sp>
      <p:sp>
        <p:nvSpPr>
          <p:cNvPr id="27" name="A05_wl_434c"/>
          <p:cNvSpPr/>
          <p:nvPr/>
        </p:nvSpPr>
        <p:spPr>
          <a:xfrm>
            <a:off x="10972800" y="5413248"/>
            <a:ext cx="548640" cy="548640"/>
          </a:xfrm>
          <a:prstGeom prst="ellipse">
            <a:avLst/>
          </a:prstGeom>
          <a:solidFill>
            <a:srgbClr val="E9B44C"/>
          </a:solidFill>
          <a:ln w="12700">
            <a:solidFill>
              <a:srgbClr val="E9B44C"/>
            </a:solidFill>
            <a:prstDash val="solid"/>
          </a:ln>
        </p:spPr>
      </p:sp>
      <p:sp>
        <p:nvSpPr>
          <p:cNvPr id="28" name="A05_wl_435"/>
          <p:cNvSpPr txBox="1"/>
          <p:nvPr/>
        </p:nvSpPr>
        <p:spPr>
          <a:xfrm>
            <a:off x="10972800" y="541324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۵</a:t>
            </a:r>
            <a:endParaRPr lang="fa-IR" sz="1600" dirty="0"/>
          </a:p>
        </p:txBody>
      </p:sp>
      <p:sp>
        <p:nvSpPr>
          <p:cNvPr id="29" name="A05_wl_436"/>
          <p:cNvSpPr txBox="1"/>
          <p:nvPr/>
        </p:nvSpPr>
        <p:spPr>
          <a:xfrm>
            <a:off x="6400800" y="530352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بررسی جداگانه رابطه آسیب‌های کودکی با هر یک از سبک‌های هویتی</a:t>
            </a:r>
            <a:endParaRPr lang="fa-IR" sz="1400" dirty="0"/>
          </a:p>
        </p:txBody>
      </p:sp>
      <p:sp>
        <p:nvSpPr>
          <p:cNvPr id="30" name="A06_wl_437b"/>
          <p:cNvSpPr/>
          <p:nvPr/>
        </p:nvSpPr>
        <p:spPr>
          <a:xfrm>
            <a:off x="457200" y="1234440"/>
            <a:ext cx="5486400" cy="868680"/>
          </a:xfrm>
          <a:prstGeom prst="roundRect">
            <a:avLst>
              <a:gd name="adj" fmla="val 12632"/>
            </a:avLst>
          </a:prstGeom>
          <a:solidFill>
            <a:srgbClr val="FFFFFF"/>
          </a:solidFill>
          <a:ln w="9525">
            <a:solidFill>
              <a:srgbClr val="D5DEE1"/>
            </a:solidFill>
            <a:prstDash val="solid"/>
          </a:ln>
        </p:spPr>
      </p:sp>
      <p:sp>
        <p:nvSpPr>
          <p:cNvPr id="31" name="A06_wl_438c"/>
          <p:cNvSpPr/>
          <p:nvPr/>
        </p:nvSpPr>
        <p:spPr>
          <a:xfrm>
            <a:off x="5212080" y="1389888"/>
            <a:ext cx="548640" cy="548640"/>
          </a:xfrm>
          <a:prstGeom prst="ellipse">
            <a:avLst/>
          </a:prstGeom>
          <a:solidFill>
            <a:srgbClr val="0F5257"/>
          </a:solidFill>
          <a:ln w="12700">
            <a:solidFill>
              <a:srgbClr val="0F5257"/>
            </a:solidFill>
            <a:prstDash val="solid"/>
          </a:ln>
        </p:spPr>
      </p:sp>
      <p:sp>
        <p:nvSpPr>
          <p:cNvPr id="32" name="A06_wl_439"/>
          <p:cNvSpPr txBox="1"/>
          <p:nvPr/>
        </p:nvSpPr>
        <p:spPr>
          <a:xfrm>
            <a:off x="5212080" y="138988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۶</a:t>
            </a:r>
            <a:endParaRPr lang="fa-IR" sz="1600" dirty="0"/>
          </a:p>
        </p:txBody>
      </p:sp>
      <p:sp>
        <p:nvSpPr>
          <p:cNvPr id="33" name="A06_wl_440"/>
          <p:cNvSpPr txBox="1"/>
          <p:nvPr/>
        </p:nvSpPr>
        <p:spPr>
          <a:xfrm>
            <a:off x="640080" y="128016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بررسی بیشتر رابطه آسیب‌های کودکی با هویت هنجاری و سازوکارهای احتمالی آن</a:t>
            </a:r>
            <a:endParaRPr lang="fa-IR" sz="1400" dirty="0"/>
          </a:p>
        </p:txBody>
      </p:sp>
      <p:sp>
        <p:nvSpPr>
          <p:cNvPr id="34" name="A07_wl_441b"/>
          <p:cNvSpPr/>
          <p:nvPr/>
        </p:nvSpPr>
        <p:spPr>
          <a:xfrm>
            <a:off x="457200" y="2240280"/>
            <a:ext cx="5486400" cy="868680"/>
          </a:xfrm>
          <a:prstGeom prst="roundRect">
            <a:avLst>
              <a:gd name="adj" fmla="val 12632"/>
            </a:avLst>
          </a:prstGeom>
          <a:solidFill>
            <a:srgbClr val="F4F6F7"/>
          </a:solidFill>
          <a:ln w="9525">
            <a:solidFill>
              <a:srgbClr val="D5DEE1"/>
            </a:solidFill>
            <a:prstDash val="solid"/>
          </a:ln>
        </p:spPr>
      </p:sp>
      <p:sp>
        <p:nvSpPr>
          <p:cNvPr id="35" name="A07_wl_442c"/>
          <p:cNvSpPr/>
          <p:nvPr/>
        </p:nvSpPr>
        <p:spPr>
          <a:xfrm>
            <a:off x="5212080" y="2395728"/>
            <a:ext cx="548640" cy="548640"/>
          </a:xfrm>
          <a:prstGeom prst="ellipse">
            <a:avLst/>
          </a:prstGeom>
          <a:solidFill>
            <a:srgbClr val="2A9D8F"/>
          </a:solidFill>
          <a:ln w="12700">
            <a:solidFill>
              <a:srgbClr val="2A9D8F"/>
            </a:solidFill>
            <a:prstDash val="solid"/>
          </a:ln>
        </p:spPr>
      </p:sp>
      <p:sp>
        <p:nvSpPr>
          <p:cNvPr id="36" name="A07_wl_443"/>
          <p:cNvSpPr txBox="1"/>
          <p:nvPr/>
        </p:nvSpPr>
        <p:spPr>
          <a:xfrm>
            <a:off x="5212080" y="239572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۷</a:t>
            </a:r>
            <a:endParaRPr lang="fa-IR" sz="1600" dirty="0"/>
          </a:p>
        </p:txBody>
      </p:sp>
      <p:sp>
        <p:nvSpPr>
          <p:cNvPr id="37" name="A07_wl_444"/>
          <p:cNvSpPr txBox="1"/>
          <p:nvPr/>
        </p:nvSpPr>
        <p:spPr>
          <a:xfrm>
            <a:off x="640080" y="228600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بررسی جداگانه نقش هر یک از سبک‌های حل تعارض در ارتباط با سبک‌های هویتی</a:t>
            </a:r>
            <a:endParaRPr lang="fa-IR" sz="1400" dirty="0"/>
          </a:p>
        </p:txBody>
      </p:sp>
      <p:sp>
        <p:nvSpPr>
          <p:cNvPr id="38" name="A08_wl_445b"/>
          <p:cNvSpPr/>
          <p:nvPr/>
        </p:nvSpPr>
        <p:spPr>
          <a:xfrm>
            <a:off x="457200" y="3246120"/>
            <a:ext cx="5486400" cy="868680"/>
          </a:xfrm>
          <a:prstGeom prst="roundRect">
            <a:avLst>
              <a:gd name="adj" fmla="val 12632"/>
            </a:avLst>
          </a:prstGeom>
          <a:solidFill>
            <a:srgbClr val="FFFFFF"/>
          </a:solidFill>
          <a:ln w="9525">
            <a:solidFill>
              <a:srgbClr val="D5DEE1"/>
            </a:solidFill>
            <a:prstDash val="solid"/>
          </a:ln>
        </p:spPr>
      </p:sp>
      <p:sp>
        <p:nvSpPr>
          <p:cNvPr id="39" name="A08_wl_446c"/>
          <p:cNvSpPr/>
          <p:nvPr/>
        </p:nvSpPr>
        <p:spPr>
          <a:xfrm>
            <a:off x="5212080" y="3401568"/>
            <a:ext cx="548640" cy="548640"/>
          </a:xfrm>
          <a:prstGeom prst="ellipse">
            <a:avLst/>
          </a:prstGeom>
          <a:solidFill>
            <a:srgbClr val="6D597A"/>
          </a:solidFill>
          <a:ln w="12700">
            <a:solidFill>
              <a:srgbClr val="6D597A"/>
            </a:solidFill>
            <a:prstDash val="solid"/>
          </a:ln>
        </p:spPr>
      </p:sp>
      <p:sp>
        <p:nvSpPr>
          <p:cNvPr id="40" name="A08_wl_447"/>
          <p:cNvSpPr txBox="1"/>
          <p:nvPr/>
        </p:nvSpPr>
        <p:spPr>
          <a:xfrm>
            <a:off x="5212080" y="340156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۸</a:t>
            </a:r>
            <a:endParaRPr lang="fa-IR" sz="1600" dirty="0"/>
          </a:p>
        </p:txBody>
      </p:sp>
      <p:sp>
        <p:nvSpPr>
          <p:cNvPr id="41" name="A08_wl_448"/>
          <p:cNvSpPr txBox="1"/>
          <p:nvPr/>
        </p:nvSpPr>
        <p:spPr>
          <a:xfrm>
            <a:off x="640080" y="329184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آزمون مدل در گروه‌های دیگر: نوجوانان، زوج‌ها، شاغلان و جمعیت‌های بالینی</a:t>
            </a:r>
            <a:endParaRPr lang="fa-IR" sz="1400" dirty="0"/>
          </a:p>
        </p:txBody>
      </p:sp>
      <p:sp>
        <p:nvSpPr>
          <p:cNvPr id="42" name="A09_wl_449b"/>
          <p:cNvSpPr/>
          <p:nvPr/>
        </p:nvSpPr>
        <p:spPr>
          <a:xfrm>
            <a:off x="457200" y="4251960"/>
            <a:ext cx="5486400" cy="868680"/>
          </a:xfrm>
          <a:prstGeom prst="roundRect">
            <a:avLst>
              <a:gd name="adj" fmla="val 12632"/>
            </a:avLst>
          </a:prstGeom>
          <a:solidFill>
            <a:srgbClr val="F4F6F7"/>
          </a:solidFill>
          <a:ln w="9525">
            <a:solidFill>
              <a:srgbClr val="D5DEE1"/>
            </a:solidFill>
            <a:prstDash val="solid"/>
          </a:ln>
        </p:spPr>
      </p:sp>
      <p:sp>
        <p:nvSpPr>
          <p:cNvPr id="43" name="A09_wl_450c"/>
          <p:cNvSpPr/>
          <p:nvPr/>
        </p:nvSpPr>
        <p:spPr>
          <a:xfrm>
            <a:off x="5212080" y="4407408"/>
            <a:ext cx="548640" cy="548640"/>
          </a:xfrm>
          <a:prstGeom prst="ellipse">
            <a:avLst/>
          </a:prstGeom>
          <a:solidFill>
            <a:srgbClr val="D9674A"/>
          </a:solidFill>
          <a:ln w="12700">
            <a:solidFill>
              <a:srgbClr val="D9674A"/>
            </a:solidFill>
            <a:prstDash val="solid"/>
          </a:ln>
        </p:spPr>
      </p:sp>
      <p:sp>
        <p:nvSpPr>
          <p:cNvPr id="44" name="A09_wl_451"/>
          <p:cNvSpPr txBox="1"/>
          <p:nvPr/>
        </p:nvSpPr>
        <p:spPr>
          <a:xfrm>
            <a:off x="5212080" y="440740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۹</a:t>
            </a:r>
            <a:endParaRPr lang="fa-IR" sz="1600" dirty="0"/>
          </a:p>
        </p:txBody>
      </p:sp>
      <p:sp>
        <p:nvSpPr>
          <p:cNvPr id="45" name="A09_wl_452"/>
          <p:cNvSpPr txBox="1"/>
          <p:nvPr/>
        </p:nvSpPr>
        <p:spPr>
          <a:xfrm>
            <a:off x="640080" y="429768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طرح‌های مداخله‌ای: اثر آموزش حل تعارض سازنده بر کاهش سردرگمی/اجتناب و تقویت تعهد هویتی</a:t>
            </a:r>
            <a:endParaRPr lang="fa-IR" sz="1400" dirty="0"/>
          </a:p>
        </p:txBody>
      </p:sp>
      <p:sp>
        <p:nvSpPr>
          <p:cNvPr id="46" name="A10_wl_453b"/>
          <p:cNvSpPr/>
          <p:nvPr/>
        </p:nvSpPr>
        <p:spPr>
          <a:xfrm>
            <a:off x="457200" y="5257800"/>
            <a:ext cx="5486400" cy="868680"/>
          </a:xfrm>
          <a:prstGeom prst="roundRect">
            <a:avLst>
              <a:gd name="adj" fmla="val 12632"/>
            </a:avLst>
          </a:prstGeom>
          <a:solidFill>
            <a:srgbClr val="FFFFFF"/>
          </a:solidFill>
          <a:ln w="9525">
            <a:solidFill>
              <a:srgbClr val="D5DEE1"/>
            </a:solidFill>
            <a:prstDash val="solid"/>
          </a:ln>
        </p:spPr>
      </p:sp>
      <p:sp>
        <p:nvSpPr>
          <p:cNvPr id="47" name="A10_wl_454c"/>
          <p:cNvSpPr/>
          <p:nvPr/>
        </p:nvSpPr>
        <p:spPr>
          <a:xfrm>
            <a:off x="5212080" y="5413248"/>
            <a:ext cx="548640" cy="548640"/>
          </a:xfrm>
          <a:prstGeom prst="ellipse">
            <a:avLst/>
          </a:prstGeom>
          <a:solidFill>
            <a:srgbClr val="E9B44C"/>
          </a:solidFill>
          <a:ln w="12700">
            <a:solidFill>
              <a:srgbClr val="E9B44C"/>
            </a:solidFill>
            <a:prstDash val="solid"/>
          </a:ln>
        </p:spPr>
      </p:sp>
      <p:sp>
        <p:nvSpPr>
          <p:cNvPr id="48" name="A10_wl_455"/>
          <p:cNvSpPr txBox="1"/>
          <p:nvPr/>
        </p:nvSpPr>
        <p:spPr>
          <a:xfrm>
            <a:off x="5212080" y="5413248"/>
            <a:ext cx="548640" cy="548640"/>
          </a:xfrm>
          <a:prstGeom prst="rect">
            <a:avLst/>
          </a:prstGeom>
          <a:noFill/>
          <a:ln/>
        </p:spPr>
        <p:txBody>
          <a:bodyPr wrap="square" lIns="0" tIns="0" rIns="0" bIns="0" rtlCol="0" anchor="ctr"/>
          <a:lstStyle/>
          <a:p>
            <a:pPr marL="0" indent="0" algn="ctr" rtl="1">
              <a:buNone/>
            </a:pPr>
            <a:r>
              <a:rPr lang="fa-IR" altLang="en-US" sz="1600" b="1" dirty="0">
                <a:solidFill>
                  <a:srgbClr val="FFFFFF"/>
                </a:solidFill>
                <a:latin typeface="Tahoma" pitchFamily="34" charset="0"/>
                <a:ea typeface="Tahoma" pitchFamily="34" charset="-122"/>
                <a:cs typeface="Tahoma" pitchFamily="34" charset="-120"/>
              </a:rPr>
              <a:t>۱۰</a:t>
            </a:r>
            <a:endParaRPr lang="fa-IR" sz="1600" dirty="0"/>
          </a:p>
        </p:txBody>
      </p:sp>
      <p:sp>
        <p:nvSpPr>
          <p:cNvPr id="49" name="A10_wl_456"/>
          <p:cNvSpPr txBox="1"/>
          <p:nvPr/>
        </p:nvSpPr>
        <p:spPr>
          <a:xfrm>
            <a:off x="640080" y="5303520"/>
            <a:ext cx="4434840" cy="777240"/>
          </a:xfrm>
          <a:prstGeom prst="rect">
            <a:avLst/>
          </a:prstGeom>
          <a:noFill/>
          <a:ln/>
        </p:spPr>
        <p:txBody>
          <a:bodyPr wrap="square" lIns="0" tIns="0" rIns="0" bIns="0" rtlCol="0" anchor="ctr"/>
          <a:lstStyle/>
          <a:p>
            <a:pPr marL="0" indent="0" algn="r" rtl="1">
              <a:buNone/>
            </a:pPr>
            <a:r>
              <a:rPr lang="fa-IR" altLang="en-US" sz="1400" dirty="0">
                <a:solidFill>
                  <a:srgbClr val="263238"/>
                </a:solidFill>
                <a:latin typeface="Tahoma" pitchFamily="34" charset="0"/>
                <a:ea typeface="Tahoma" pitchFamily="34" charset="-122"/>
                <a:cs typeface="Tahoma" pitchFamily="34" charset="-120"/>
              </a:rPr>
              <a:t>افزودن تنظیم هیجان، سبک دلبستگی و طرحواره‌های ناسازگار اولیه به مدل‌های میانجی</a:t>
            </a:r>
            <a:endParaRPr lang="fa-IR"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450"/>
                                        <p:tgtEl>
                                          <p:spTgt spid="10"/>
                                        </p:tgtEl>
                                      </p:cBhvr>
                                    </p:animEffect>
                                  </p:childTnLst>
                                </p:cTn>
                              </p:par>
                              <p:par>
                                <p:cTn id="8" presetID="22" presetClass="entr" presetSubtype="2"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450"/>
                                        <p:tgtEl>
                                          <p:spTgt spid="11"/>
                                        </p:tgtEl>
                                      </p:cBhvr>
                                    </p:animEffect>
                                  </p:childTnLst>
                                </p:cTn>
                              </p:par>
                              <p:par>
                                <p:cTn id="11" presetID="22" presetClass="entr" presetSubtype="2"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50"/>
                                        <p:tgtEl>
                                          <p:spTgt spid="12"/>
                                        </p:tgtEl>
                                      </p:cBhvr>
                                    </p:animEffect>
                                  </p:childTnLst>
                                </p:cTn>
                              </p:par>
                              <p:par>
                                <p:cTn id="14" presetID="22" presetClass="entr" presetSubtype="2"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right)">
                                      <p:cBhvr>
                                        <p:cTn id="16" dur="450"/>
                                        <p:tgtEl>
                                          <p:spTgt spid="13"/>
                                        </p:tgtEl>
                                      </p:cBhvr>
                                    </p:animEffect>
                                  </p:childTnLst>
                                </p:cTn>
                              </p:par>
                            </p:childTnLst>
                          </p:cTn>
                        </p:par>
                        <p:par>
                          <p:cTn id="17" fill="hold">
                            <p:stCondLst>
                              <p:cond delay="300"/>
                            </p:stCondLst>
                            <p:childTnLst>
                              <p:par>
                                <p:cTn id="18" presetID="22" presetClass="entr" presetSubtype="2"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right)">
                                      <p:cBhvr>
                                        <p:cTn id="20" dur="450"/>
                                        <p:tgtEl>
                                          <p:spTgt spid="14"/>
                                        </p:tgtEl>
                                      </p:cBhvr>
                                    </p:animEffect>
                                  </p:childTnLst>
                                </p:cTn>
                              </p:par>
                              <p:par>
                                <p:cTn id="21" presetID="22" presetClass="entr" presetSubtype="2"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right)">
                                      <p:cBhvr>
                                        <p:cTn id="23" dur="450"/>
                                        <p:tgtEl>
                                          <p:spTgt spid="15"/>
                                        </p:tgtEl>
                                      </p:cBhvr>
                                    </p:animEffect>
                                  </p:childTnLst>
                                </p:cTn>
                              </p:par>
                              <p:par>
                                <p:cTn id="24" presetID="22" presetClass="entr" presetSubtype="2"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right)">
                                      <p:cBhvr>
                                        <p:cTn id="26" dur="450"/>
                                        <p:tgtEl>
                                          <p:spTgt spid="16"/>
                                        </p:tgtEl>
                                      </p:cBhvr>
                                    </p:animEffect>
                                  </p:childTnLst>
                                </p:cTn>
                              </p:par>
                              <p:par>
                                <p:cTn id="27" presetID="22" presetClass="entr" presetSubtype="2"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right)">
                                      <p:cBhvr>
                                        <p:cTn id="29" dur="450"/>
                                        <p:tgtEl>
                                          <p:spTgt spid="17"/>
                                        </p:tgtEl>
                                      </p:cBhvr>
                                    </p:animEffect>
                                  </p:childTnLst>
                                </p:cTn>
                              </p:par>
                            </p:childTnLst>
                          </p:cTn>
                        </p:par>
                        <p:par>
                          <p:cTn id="30" fill="hold">
                            <p:stCondLst>
                              <p:cond delay="600"/>
                            </p:stCondLst>
                            <p:childTnLst>
                              <p:par>
                                <p:cTn id="31" presetID="22" presetClass="entr" presetSubtype="2"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right)">
                                      <p:cBhvr>
                                        <p:cTn id="33" dur="450"/>
                                        <p:tgtEl>
                                          <p:spTgt spid="18"/>
                                        </p:tgtEl>
                                      </p:cBhvr>
                                    </p:animEffect>
                                  </p:childTnLst>
                                </p:cTn>
                              </p:par>
                              <p:par>
                                <p:cTn id="34" presetID="22" presetClass="entr" presetSubtype="2"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right)">
                                      <p:cBhvr>
                                        <p:cTn id="36" dur="450"/>
                                        <p:tgtEl>
                                          <p:spTgt spid="19"/>
                                        </p:tgtEl>
                                      </p:cBhvr>
                                    </p:animEffect>
                                  </p:childTnLst>
                                </p:cTn>
                              </p:par>
                              <p:par>
                                <p:cTn id="37" presetID="22" presetClass="entr" presetSubtype="2"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right)">
                                      <p:cBhvr>
                                        <p:cTn id="39" dur="450"/>
                                        <p:tgtEl>
                                          <p:spTgt spid="20"/>
                                        </p:tgtEl>
                                      </p:cBhvr>
                                    </p:animEffect>
                                  </p:childTnLst>
                                </p:cTn>
                              </p:par>
                              <p:par>
                                <p:cTn id="40" presetID="22" presetClass="entr" presetSubtype="2"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right)">
                                      <p:cBhvr>
                                        <p:cTn id="42" dur="450"/>
                                        <p:tgtEl>
                                          <p:spTgt spid="21"/>
                                        </p:tgtEl>
                                      </p:cBhvr>
                                    </p:animEffect>
                                  </p:childTnLst>
                                </p:cTn>
                              </p:par>
                            </p:childTnLst>
                          </p:cTn>
                        </p:par>
                        <p:par>
                          <p:cTn id="43" fill="hold">
                            <p:stCondLst>
                              <p:cond delay="900"/>
                            </p:stCondLst>
                            <p:childTnLst>
                              <p:par>
                                <p:cTn id="44" presetID="22" presetClass="entr" presetSubtype="2" fill="hold" nodeType="after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right)">
                                      <p:cBhvr>
                                        <p:cTn id="46" dur="450"/>
                                        <p:tgtEl>
                                          <p:spTgt spid="22"/>
                                        </p:tgtEl>
                                      </p:cBhvr>
                                    </p:animEffect>
                                  </p:childTnLst>
                                </p:cTn>
                              </p:par>
                              <p:par>
                                <p:cTn id="47" presetID="22" presetClass="entr" presetSubtype="2"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right)">
                                      <p:cBhvr>
                                        <p:cTn id="49" dur="450"/>
                                        <p:tgtEl>
                                          <p:spTgt spid="23"/>
                                        </p:tgtEl>
                                      </p:cBhvr>
                                    </p:animEffect>
                                  </p:childTnLst>
                                </p:cTn>
                              </p:par>
                              <p:par>
                                <p:cTn id="50" presetID="22" presetClass="entr" presetSubtype="2"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right)">
                                      <p:cBhvr>
                                        <p:cTn id="52" dur="450"/>
                                        <p:tgtEl>
                                          <p:spTgt spid="24"/>
                                        </p:tgtEl>
                                      </p:cBhvr>
                                    </p:animEffect>
                                  </p:childTnLst>
                                </p:cTn>
                              </p:par>
                              <p:par>
                                <p:cTn id="53" presetID="22" presetClass="entr" presetSubtype="2"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right)">
                                      <p:cBhvr>
                                        <p:cTn id="55" dur="450"/>
                                        <p:tgtEl>
                                          <p:spTgt spid="25"/>
                                        </p:tgtEl>
                                      </p:cBhvr>
                                    </p:animEffect>
                                  </p:childTnLst>
                                </p:cTn>
                              </p:par>
                            </p:childTnLst>
                          </p:cTn>
                        </p:par>
                        <p:par>
                          <p:cTn id="56" fill="hold">
                            <p:stCondLst>
                              <p:cond delay="1200"/>
                            </p:stCondLst>
                            <p:childTnLst>
                              <p:par>
                                <p:cTn id="57" presetID="22" presetClass="entr" presetSubtype="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450"/>
                                        <p:tgtEl>
                                          <p:spTgt spid="26"/>
                                        </p:tgtEl>
                                      </p:cBhvr>
                                    </p:animEffect>
                                  </p:childTnLst>
                                </p:cTn>
                              </p:par>
                              <p:par>
                                <p:cTn id="60" presetID="22" presetClass="entr" presetSubtype="2" fill="hold"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right)">
                                      <p:cBhvr>
                                        <p:cTn id="62" dur="450"/>
                                        <p:tgtEl>
                                          <p:spTgt spid="27"/>
                                        </p:tgtEl>
                                      </p:cBhvr>
                                    </p:animEffect>
                                  </p:childTnLst>
                                </p:cTn>
                              </p:par>
                              <p:par>
                                <p:cTn id="63" presetID="22" presetClass="entr" presetSubtype="2"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wipe(right)">
                                      <p:cBhvr>
                                        <p:cTn id="65" dur="450"/>
                                        <p:tgtEl>
                                          <p:spTgt spid="28"/>
                                        </p:tgtEl>
                                      </p:cBhvr>
                                    </p:animEffect>
                                  </p:childTnLst>
                                </p:cTn>
                              </p:par>
                              <p:par>
                                <p:cTn id="66" presetID="22" presetClass="entr" presetSubtype="2" fill="hold"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wipe(right)">
                                      <p:cBhvr>
                                        <p:cTn id="68" dur="450"/>
                                        <p:tgtEl>
                                          <p:spTgt spid="29"/>
                                        </p:tgtEl>
                                      </p:cBhvr>
                                    </p:animEffect>
                                  </p:childTnLst>
                                </p:cTn>
                              </p:par>
                            </p:childTnLst>
                          </p:cTn>
                        </p:par>
                        <p:par>
                          <p:cTn id="69" fill="hold">
                            <p:stCondLst>
                              <p:cond delay="1500"/>
                            </p:stCondLst>
                            <p:childTnLst>
                              <p:par>
                                <p:cTn id="70" presetID="22" presetClass="entr" presetSubtype="2" fill="hold" nodeType="after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wipe(right)">
                                      <p:cBhvr>
                                        <p:cTn id="72" dur="450"/>
                                        <p:tgtEl>
                                          <p:spTgt spid="30"/>
                                        </p:tgtEl>
                                      </p:cBhvr>
                                    </p:animEffect>
                                  </p:childTnLst>
                                </p:cTn>
                              </p:par>
                              <p:par>
                                <p:cTn id="73" presetID="22" presetClass="entr" presetSubtype="2"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wipe(right)">
                                      <p:cBhvr>
                                        <p:cTn id="75" dur="450"/>
                                        <p:tgtEl>
                                          <p:spTgt spid="31"/>
                                        </p:tgtEl>
                                      </p:cBhvr>
                                    </p:animEffect>
                                  </p:childTnLst>
                                </p:cTn>
                              </p:par>
                              <p:par>
                                <p:cTn id="76" presetID="22" presetClass="entr" presetSubtype="2"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wipe(right)">
                                      <p:cBhvr>
                                        <p:cTn id="78" dur="450"/>
                                        <p:tgtEl>
                                          <p:spTgt spid="32"/>
                                        </p:tgtEl>
                                      </p:cBhvr>
                                    </p:animEffect>
                                  </p:childTnLst>
                                </p:cTn>
                              </p:par>
                              <p:par>
                                <p:cTn id="79" presetID="22" presetClass="entr" presetSubtype="2"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wipe(right)">
                                      <p:cBhvr>
                                        <p:cTn id="81" dur="450"/>
                                        <p:tgtEl>
                                          <p:spTgt spid="33"/>
                                        </p:tgtEl>
                                      </p:cBhvr>
                                    </p:animEffect>
                                  </p:childTnLst>
                                </p:cTn>
                              </p:par>
                            </p:childTnLst>
                          </p:cTn>
                        </p:par>
                        <p:par>
                          <p:cTn id="82" fill="hold">
                            <p:stCondLst>
                              <p:cond delay="1800"/>
                            </p:stCondLst>
                            <p:childTnLst>
                              <p:par>
                                <p:cTn id="83" presetID="22" presetClass="entr" presetSubtype="2" fill="hold" nodeType="after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wipe(right)">
                                      <p:cBhvr>
                                        <p:cTn id="85" dur="450"/>
                                        <p:tgtEl>
                                          <p:spTgt spid="34"/>
                                        </p:tgtEl>
                                      </p:cBhvr>
                                    </p:animEffect>
                                  </p:childTnLst>
                                </p:cTn>
                              </p:par>
                              <p:par>
                                <p:cTn id="86" presetID="22" presetClass="entr" presetSubtype="2" fill="hold"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wipe(right)">
                                      <p:cBhvr>
                                        <p:cTn id="88" dur="450"/>
                                        <p:tgtEl>
                                          <p:spTgt spid="35"/>
                                        </p:tgtEl>
                                      </p:cBhvr>
                                    </p:animEffect>
                                  </p:childTnLst>
                                </p:cTn>
                              </p:par>
                              <p:par>
                                <p:cTn id="89" presetID="22" presetClass="entr" presetSubtype="2"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wipe(right)">
                                      <p:cBhvr>
                                        <p:cTn id="91" dur="450"/>
                                        <p:tgtEl>
                                          <p:spTgt spid="36"/>
                                        </p:tgtEl>
                                      </p:cBhvr>
                                    </p:animEffect>
                                  </p:childTnLst>
                                </p:cTn>
                              </p:par>
                              <p:par>
                                <p:cTn id="92" presetID="22" presetClass="entr" presetSubtype="2"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wipe(right)">
                                      <p:cBhvr>
                                        <p:cTn id="94" dur="450"/>
                                        <p:tgtEl>
                                          <p:spTgt spid="37"/>
                                        </p:tgtEl>
                                      </p:cBhvr>
                                    </p:animEffect>
                                  </p:childTnLst>
                                </p:cTn>
                              </p:par>
                            </p:childTnLst>
                          </p:cTn>
                        </p:par>
                        <p:par>
                          <p:cTn id="95" fill="hold">
                            <p:stCondLst>
                              <p:cond delay="2100"/>
                            </p:stCondLst>
                            <p:childTnLst>
                              <p:par>
                                <p:cTn id="96" presetID="22" presetClass="entr" presetSubtype="2" fill="hold" nodeType="after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wipe(right)">
                                      <p:cBhvr>
                                        <p:cTn id="98" dur="450"/>
                                        <p:tgtEl>
                                          <p:spTgt spid="38"/>
                                        </p:tgtEl>
                                      </p:cBhvr>
                                    </p:animEffect>
                                  </p:childTnLst>
                                </p:cTn>
                              </p:par>
                              <p:par>
                                <p:cTn id="99" presetID="22" presetClass="entr" presetSubtype="2" fill="hold"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wipe(right)">
                                      <p:cBhvr>
                                        <p:cTn id="101" dur="450"/>
                                        <p:tgtEl>
                                          <p:spTgt spid="39"/>
                                        </p:tgtEl>
                                      </p:cBhvr>
                                    </p:animEffect>
                                  </p:childTnLst>
                                </p:cTn>
                              </p:par>
                              <p:par>
                                <p:cTn id="102" presetID="22" presetClass="entr" presetSubtype="2" fill="hold"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wipe(right)">
                                      <p:cBhvr>
                                        <p:cTn id="104" dur="450"/>
                                        <p:tgtEl>
                                          <p:spTgt spid="40"/>
                                        </p:tgtEl>
                                      </p:cBhvr>
                                    </p:animEffect>
                                  </p:childTnLst>
                                </p:cTn>
                              </p:par>
                              <p:par>
                                <p:cTn id="105" presetID="22" presetClass="entr" presetSubtype="2" fill="hold"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wipe(right)">
                                      <p:cBhvr>
                                        <p:cTn id="107" dur="450"/>
                                        <p:tgtEl>
                                          <p:spTgt spid="41"/>
                                        </p:tgtEl>
                                      </p:cBhvr>
                                    </p:animEffect>
                                  </p:childTnLst>
                                </p:cTn>
                              </p:par>
                            </p:childTnLst>
                          </p:cTn>
                        </p:par>
                        <p:par>
                          <p:cTn id="108" fill="hold">
                            <p:stCondLst>
                              <p:cond delay="2400"/>
                            </p:stCondLst>
                            <p:childTnLst>
                              <p:par>
                                <p:cTn id="109" presetID="22" presetClass="entr" presetSubtype="2" fill="hold" nodeType="after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wipe(right)">
                                      <p:cBhvr>
                                        <p:cTn id="111" dur="450"/>
                                        <p:tgtEl>
                                          <p:spTgt spid="42"/>
                                        </p:tgtEl>
                                      </p:cBhvr>
                                    </p:animEffect>
                                  </p:childTnLst>
                                </p:cTn>
                              </p:par>
                              <p:par>
                                <p:cTn id="112" presetID="22" presetClass="entr" presetSubtype="2" fill="hold" nodeType="with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wipe(right)">
                                      <p:cBhvr>
                                        <p:cTn id="114" dur="450"/>
                                        <p:tgtEl>
                                          <p:spTgt spid="43"/>
                                        </p:tgtEl>
                                      </p:cBhvr>
                                    </p:animEffect>
                                  </p:childTnLst>
                                </p:cTn>
                              </p:par>
                              <p:par>
                                <p:cTn id="115" presetID="22" presetClass="entr" presetSubtype="2" fill="hold" nodeType="withEffect">
                                  <p:stCondLst>
                                    <p:cond delay="0"/>
                                  </p:stCondLst>
                                  <p:childTnLst>
                                    <p:set>
                                      <p:cBhvr>
                                        <p:cTn id="116" dur="1" fill="hold">
                                          <p:stCondLst>
                                            <p:cond delay="0"/>
                                          </p:stCondLst>
                                        </p:cTn>
                                        <p:tgtEl>
                                          <p:spTgt spid="44"/>
                                        </p:tgtEl>
                                        <p:attrNameLst>
                                          <p:attrName>style.visibility</p:attrName>
                                        </p:attrNameLst>
                                      </p:cBhvr>
                                      <p:to>
                                        <p:strVal val="visible"/>
                                      </p:to>
                                    </p:set>
                                    <p:animEffect transition="in" filter="wipe(right)">
                                      <p:cBhvr>
                                        <p:cTn id="117" dur="450"/>
                                        <p:tgtEl>
                                          <p:spTgt spid="44"/>
                                        </p:tgtEl>
                                      </p:cBhvr>
                                    </p:animEffect>
                                  </p:childTnLst>
                                </p:cTn>
                              </p:par>
                              <p:par>
                                <p:cTn id="118" presetID="22" presetClass="entr" presetSubtype="2" fill="hold" nodeType="withEffect">
                                  <p:stCondLst>
                                    <p:cond delay="0"/>
                                  </p:stCondLst>
                                  <p:childTnLst>
                                    <p:set>
                                      <p:cBhvr>
                                        <p:cTn id="119" dur="1" fill="hold">
                                          <p:stCondLst>
                                            <p:cond delay="0"/>
                                          </p:stCondLst>
                                        </p:cTn>
                                        <p:tgtEl>
                                          <p:spTgt spid="45"/>
                                        </p:tgtEl>
                                        <p:attrNameLst>
                                          <p:attrName>style.visibility</p:attrName>
                                        </p:attrNameLst>
                                      </p:cBhvr>
                                      <p:to>
                                        <p:strVal val="visible"/>
                                      </p:to>
                                    </p:set>
                                    <p:animEffect transition="in" filter="wipe(right)">
                                      <p:cBhvr>
                                        <p:cTn id="120" dur="450"/>
                                        <p:tgtEl>
                                          <p:spTgt spid="45"/>
                                        </p:tgtEl>
                                      </p:cBhvr>
                                    </p:animEffect>
                                  </p:childTnLst>
                                </p:cTn>
                              </p:par>
                            </p:childTnLst>
                          </p:cTn>
                        </p:par>
                        <p:par>
                          <p:cTn id="121" fill="hold">
                            <p:stCondLst>
                              <p:cond delay="2700"/>
                            </p:stCondLst>
                            <p:childTnLst>
                              <p:par>
                                <p:cTn id="122" presetID="22" presetClass="entr" presetSubtype="2" fill="hold" nodeType="afterEffect">
                                  <p:stCondLst>
                                    <p:cond delay="0"/>
                                  </p:stCondLst>
                                  <p:childTnLst>
                                    <p:set>
                                      <p:cBhvr>
                                        <p:cTn id="123" dur="1" fill="hold">
                                          <p:stCondLst>
                                            <p:cond delay="0"/>
                                          </p:stCondLst>
                                        </p:cTn>
                                        <p:tgtEl>
                                          <p:spTgt spid="46"/>
                                        </p:tgtEl>
                                        <p:attrNameLst>
                                          <p:attrName>style.visibility</p:attrName>
                                        </p:attrNameLst>
                                      </p:cBhvr>
                                      <p:to>
                                        <p:strVal val="visible"/>
                                      </p:to>
                                    </p:set>
                                    <p:animEffect transition="in" filter="wipe(right)">
                                      <p:cBhvr>
                                        <p:cTn id="124" dur="450"/>
                                        <p:tgtEl>
                                          <p:spTgt spid="46"/>
                                        </p:tgtEl>
                                      </p:cBhvr>
                                    </p:animEffect>
                                  </p:childTnLst>
                                </p:cTn>
                              </p:par>
                              <p:par>
                                <p:cTn id="125" presetID="22" presetClass="entr" presetSubtype="2" fill="hold" nodeType="withEffect">
                                  <p:stCondLst>
                                    <p:cond delay="0"/>
                                  </p:stCondLst>
                                  <p:childTnLst>
                                    <p:set>
                                      <p:cBhvr>
                                        <p:cTn id="126" dur="1" fill="hold">
                                          <p:stCondLst>
                                            <p:cond delay="0"/>
                                          </p:stCondLst>
                                        </p:cTn>
                                        <p:tgtEl>
                                          <p:spTgt spid="47"/>
                                        </p:tgtEl>
                                        <p:attrNameLst>
                                          <p:attrName>style.visibility</p:attrName>
                                        </p:attrNameLst>
                                      </p:cBhvr>
                                      <p:to>
                                        <p:strVal val="visible"/>
                                      </p:to>
                                    </p:set>
                                    <p:animEffect transition="in" filter="wipe(right)">
                                      <p:cBhvr>
                                        <p:cTn id="127" dur="450"/>
                                        <p:tgtEl>
                                          <p:spTgt spid="47"/>
                                        </p:tgtEl>
                                      </p:cBhvr>
                                    </p:animEffect>
                                  </p:childTnLst>
                                </p:cTn>
                              </p:par>
                              <p:par>
                                <p:cTn id="128" presetID="22" presetClass="entr" presetSubtype="2" fill="hold" nodeType="withEffect">
                                  <p:stCondLst>
                                    <p:cond delay="0"/>
                                  </p:stCondLst>
                                  <p:childTnLst>
                                    <p:set>
                                      <p:cBhvr>
                                        <p:cTn id="129" dur="1" fill="hold">
                                          <p:stCondLst>
                                            <p:cond delay="0"/>
                                          </p:stCondLst>
                                        </p:cTn>
                                        <p:tgtEl>
                                          <p:spTgt spid="48"/>
                                        </p:tgtEl>
                                        <p:attrNameLst>
                                          <p:attrName>style.visibility</p:attrName>
                                        </p:attrNameLst>
                                      </p:cBhvr>
                                      <p:to>
                                        <p:strVal val="visible"/>
                                      </p:to>
                                    </p:set>
                                    <p:animEffect transition="in" filter="wipe(right)">
                                      <p:cBhvr>
                                        <p:cTn id="130" dur="450"/>
                                        <p:tgtEl>
                                          <p:spTgt spid="48"/>
                                        </p:tgtEl>
                                      </p:cBhvr>
                                    </p:animEffect>
                                  </p:childTnLst>
                                </p:cTn>
                              </p:par>
                              <p:par>
                                <p:cTn id="131" presetID="22" presetClass="entr" presetSubtype="2" fill="hold" nodeType="withEffect">
                                  <p:stCondLst>
                                    <p:cond delay="0"/>
                                  </p:stCondLst>
                                  <p:childTnLst>
                                    <p:set>
                                      <p:cBhvr>
                                        <p:cTn id="132" dur="1" fill="hold">
                                          <p:stCondLst>
                                            <p:cond delay="0"/>
                                          </p:stCondLst>
                                        </p:cTn>
                                        <p:tgtEl>
                                          <p:spTgt spid="49"/>
                                        </p:tgtEl>
                                        <p:attrNameLst>
                                          <p:attrName>style.visibility</p:attrName>
                                        </p:attrNameLst>
                                      </p:cBhvr>
                                      <p:to>
                                        <p:strVal val="visible"/>
                                      </p:to>
                                    </p:set>
                                    <p:animEffect transition="in" filter="wipe(right)">
                                      <p:cBhvr>
                                        <p:cTn id="133"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05840" y="5532120"/>
            <a:ext cx="2377440" cy="2377440"/>
          </a:xfrm>
          <a:prstGeom prst="ellipse">
            <a:avLst/>
          </a:prstGeom>
          <a:solidFill>
            <a:srgbClr val="0F5257">
              <a:alpha val="7000"/>
            </a:srgbClr>
          </a:solidFill>
          <a:ln w="12700">
            <a:solidFill>
              <a:srgbClr val="0F5257">
                <a:alpha val="0"/>
              </a:srgbClr>
            </a:solidFill>
            <a:prstDash val="solid"/>
          </a:ln>
        </p:spPr>
      </p:sp>
      <p:sp>
        <p:nvSpPr>
          <p:cNvPr id="3" name="Shape 1"/>
          <p:cNvSpPr/>
          <p:nvPr/>
        </p:nvSpPr>
        <p:spPr>
          <a:xfrm>
            <a:off x="1051560" y="6126480"/>
            <a:ext cx="411480" cy="411480"/>
          </a:xfrm>
          <a:prstGeom prst="ellipse">
            <a:avLst/>
          </a:prstGeom>
          <a:solidFill>
            <a:srgbClr val="D9674A">
              <a:alpha val="25000"/>
            </a:srgbClr>
          </a:solidFill>
          <a:ln w="12700">
            <a:solidFill>
              <a:srgbClr val="D9674A">
                <a:alpha val="0"/>
              </a:srgbClr>
            </a:solidFill>
            <a:prstDash val="solid"/>
          </a:ln>
        </p:spPr>
      </p:sp>
      <p:sp>
        <p:nvSpPr>
          <p:cNvPr id="4" name="Shape 2"/>
          <p:cNvSpPr/>
          <p:nvPr/>
        </p:nvSpPr>
        <p:spPr>
          <a:xfrm>
            <a:off x="11475720" y="-320040"/>
            <a:ext cx="1005840" cy="1005840"/>
          </a:xfrm>
          <a:prstGeom prst="ellipse">
            <a:avLst/>
          </a:prstGeom>
          <a:solidFill>
            <a:srgbClr val="6D597A">
              <a:alpha val="10000"/>
            </a:srgbClr>
          </a:solidFill>
          <a:ln w="12700">
            <a:solidFill>
              <a:srgbClr val="6D597A">
                <a:alpha val="0"/>
              </a:srgbClr>
            </a:solidFill>
            <a:prstDash val="solid"/>
          </a:ln>
        </p:spPr>
      </p:sp>
      <p:sp>
        <p:nvSpPr>
          <p:cNvPr id="5" name="Shape 3"/>
          <p:cNvSpPr/>
          <p:nvPr/>
        </p:nvSpPr>
        <p:spPr>
          <a:xfrm>
            <a:off x="10927080" y="347472"/>
            <a:ext cx="658368" cy="658368"/>
          </a:xfrm>
          <a:prstGeom prst="ellipse">
            <a:avLst/>
          </a:prstGeom>
          <a:solidFill>
            <a:srgbClr val="0F5257"/>
          </a:solidFill>
          <a:ln w="12700">
            <a:solidFill>
              <a:srgbClr val="0F5257"/>
            </a:solidFill>
            <a:prstDash val="solid"/>
          </a:ln>
        </p:spPr>
      </p:sp>
      <p:pic>
        <p:nvPicPr>
          <p:cNvPr id="6" name="Image 0" descr="preencoded.png"/>
          <p:cNvPicPr>
            <a:picLocks noChangeAspect="1"/>
          </p:cNvPicPr>
          <p:nvPr/>
        </p:nvPicPr>
        <p:blipFill>
          <a:blip r:embed="rId3"/>
          <a:stretch>
            <a:fillRect/>
          </a:stretch>
        </p:blipFill>
        <p:spPr>
          <a:xfrm>
            <a:off x="11071921" y="492313"/>
            <a:ext cx="368686" cy="368686"/>
          </a:xfrm>
          <a:prstGeom prst="rect">
            <a:avLst/>
          </a:prstGeom>
        </p:spPr>
      </p:pic>
      <p:sp>
        <p:nvSpPr>
          <p:cNvPr id="7" name="Text 4"/>
          <p:cNvSpPr txBox="1"/>
          <p:nvPr/>
        </p:nvSpPr>
        <p:spPr>
          <a:xfrm>
            <a:off x="548640" y="329184"/>
            <a:ext cx="10195560" cy="658368"/>
          </a:xfrm>
          <a:prstGeom prst="rect">
            <a:avLst/>
          </a:prstGeom>
          <a:noFill/>
          <a:ln/>
        </p:spPr>
        <p:txBody>
          <a:bodyPr wrap="square" lIns="0" tIns="0" rIns="0" bIns="0" rtlCol="0" anchor="ctr"/>
          <a:lstStyle/>
          <a:p>
            <a:pPr marL="0" indent="0" algn="r" rtl="1">
              <a:buNone/>
            </a:pPr>
            <a:r>
              <a:rPr lang="fa-IR" altLang="en-US" sz="2800" b="1" dirty="0">
                <a:solidFill>
                  <a:srgbClr val="0F5257"/>
                </a:solidFill>
                <a:latin typeface="Tahoma" pitchFamily="34" charset="0"/>
                <a:ea typeface="Tahoma" pitchFamily="34" charset="-122"/>
                <a:cs typeface="Tahoma" pitchFamily="34" charset="-120"/>
              </a:rPr>
              <a:t>پیشنهادهای کاربردی</a:t>
            </a:r>
            <a:endParaRPr lang="fa-IR" sz="2800" dirty="0"/>
          </a:p>
        </p:txBody>
      </p:sp>
      <p:sp>
        <p:nvSpPr>
          <p:cNvPr id="8" name="Text 5"/>
          <p:cNvSpPr txBox="1"/>
          <p:nvPr/>
        </p:nvSpPr>
        <p:spPr>
          <a:xfrm>
            <a:off x="457200" y="6419088"/>
            <a:ext cx="1097280" cy="274320"/>
          </a:xfrm>
          <a:prstGeom prst="rect">
            <a:avLst/>
          </a:prstGeom>
          <a:noFill/>
          <a:ln/>
        </p:spPr>
        <p:txBody>
          <a:bodyPr wrap="square" lIns="0" tIns="0" rIns="0" bIns="0" rtlCol="0" anchor="t"/>
          <a:lstStyle/>
          <a:p>
            <a:pPr marL="0" indent="0" algn="l">
              <a:buNone/>
            </a:pPr>
            <a:r>
              <a:rPr lang="fa-IR" altLang="en-US" sz="1000" dirty="0">
                <a:solidFill>
                  <a:srgbClr val="6B7B83"/>
                </a:solidFill>
                <a:latin typeface="Tahoma" pitchFamily="34" charset="0"/>
                <a:ea typeface="Tahoma" pitchFamily="34" charset="-122"/>
                <a:cs typeface="Tahoma" pitchFamily="34" charset="-120"/>
              </a:rPr>
              <a:t>۱۸ / ۱۹</a:t>
            </a:r>
            <a:endParaRPr lang="fa-IR" sz="1000" dirty="0"/>
          </a:p>
        </p:txBody>
      </p:sp>
      <p:sp>
        <p:nvSpPr>
          <p:cNvPr id="9" name="Text 6"/>
          <p:cNvSpPr txBox="1"/>
          <p:nvPr/>
        </p:nvSpPr>
        <p:spPr>
          <a:xfrm>
            <a:off x="5760720" y="6419088"/>
            <a:ext cx="5943600" cy="274320"/>
          </a:xfrm>
          <a:prstGeom prst="rect">
            <a:avLst/>
          </a:prstGeom>
          <a:noFill/>
          <a:ln/>
        </p:spPr>
        <p:txBody>
          <a:bodyPr wrap="square" lIns="0" tIns="0" rIns="0" bIns="0" rtlCol="0" anchor="t"/>
          <a:lstStyle/>
          <a:p>
            <a:pPr marL="0" indent="0" algn="r" rtl="1">
              <a:buNone/>
            </a:pPr>
            <a:r>
              <a:rPr lang="fa-IR" altLang="en-US" sz="1000" dirty="0">
                <a:solidFill>
                  <a:srgbClr val="6B7B83"/>
                </a:solidFill>
                <a:latin typeface="Tahoma" pitchFamily="34" charset="0"/>
                <a:ea typeface="Tahoma" pitchFamily="34" charset="-122"/>
                <a:cs typeface="Tahoma" pitchFamily="34" charset="-120"/>
              </a:rPr>
              <a:t>دفاع از پایان‌نامه کارشناسی ارشد روانشناسی بالینی  |  پریسا باقری</a:t>
            </a:r>
            <a:endParaRPr lang="fa-IR" sz="1000" dirty="0"/>
          </a:p>
        </p:txBody>
      </p:sp>
      <p:sp>
        <p:nvSpPr>
          <p:cNvPr id="10" name="A01_z_457b"/>
          <p:cNvSpPr/>
          <p:nvPr/>
        </p:nvSpPr>
        <p:spPr>
          <a:xfrm>
            <a:off x="9034272" y="1280160"/>
            <a:ext cx="2670048" cy="2377440"/>
          </a:xfrm>
          <a:prstGeom prst="roundRect">
            <a:avLst>
              <a:gd name="adj" fmla="val 4615"/>
            </a:avLst>
          </a:prstGeom>
          <a:solidFill>
            <a:srgbClr val="E6F2F1"/>
          </a:solidFill>
          <a:ln w="12700">
            <a:solidFill>
              <a:srgbClr val="E6F2F1"/>
            </a:solidFill>
            <a:prstDash val="solid"/>
          </a:ln>
        </p:spPr>
      </p:sp>
      <p:sp>
        <p:nvSpPr>
          <p:cNvPr id="11" name="A01_z_458c"/>
          <p:cNvSpPr/>
          <p:nvPr/>
        </p:nvSpPr>
        <p:spPr>
          <a:xfrm>
            <a:off x="10067544" y="1444752"/>
            <a:ext cx="603504" cy="603504"/>
          </a:xfrm>
          <a:prstGeom prst="ellipse">
            <a:avLst/>
          </a:prstGeom>
          <a:solidFill>
            <a:srgbClr val="0F5257"/>
          </a:solidFill>
          <a:ln w="12700">
            <a:solidFill>
              <a:srgbClr val="0F5257"/>
            </a:solidFill>
            <a:prstDash val="solid"/>
          </a:ln>
        </p:spPr>
      </p:sp>
      <p:pic>
        <p:nvPicPr>
          <p:cNvPr id="12" name="A01_z_458i" descr="preencoded.png"/>
          <p:cNvPicPr>
            <a:picLocks noChangeAspect="1"/>
          </p:cNvPicPr>
          <p:nvPr/>
        </p:nvPicPr>
        <p:blipFill>
          <a:blip r:embed="rId4"/>
          <a:stretch>
            <a:fillRect/>
          </a:stretch>
        </p:blipFill>
        <p:spPr>
          <a:xfrm>
            <a:off x="10200315" y="1577523"/>
            <a:ext cx="337962" cy="337962"/>
          </a:xfrm>
          <a:prstGeom prst="rect">
            <a:avLst/>
          </a:prstGeom>
        </p:spPr>
      </p:pic>
      <p:sp>
        <p:nvSpPr>
          <p:cNvPr id="13" name="A01_z_459"/>
          <p:cNvSpPr txBox="1"/>
          <p:nvPr/>
        </p:nvSpPr>
        <p:spPr>
          <a:xfrm>
            <a:off x="9171432" y="2103120"/>
            <a:ext cx="2395728" cy="566928"/>
          </a:xfrm>
          <a:prstGeom prst="rect">
            <a:avLst/>
          </a:prstGeom>
          <a:noFill/>
          <a:ln/>
        </p:spPr>
        <p:txBody>
          <a:bodyPr wrap="square" lIns="0" tIns="0" rIns="0" bIns="0" rtlCol="0" anchor="ctr"/>
          <a:lstStyle/>
          <a:p>
            <a:pPr marL="0" indent="0" algn="ctr" rtl="1">
              <a:buNone/>
            </a:pPr>
            <a:r>
              <a:rPr lang="fa-IR" altLang="en-US" sz="1400" b="1" dirty="0">
                <a:solidFill>
                  <a:srgbClr val="0F5257"/>
                </a:solidFill>
                <a:latin typeface="Tahoma" pitchFamily="34" charset="0"/>
                <a:ea typeface="Tahoma" pitchFamily="34" charset="-122"/>
                <a:cs typeface="Tahoma" pitchFamily="34" charset="-120"/>
              </a:rPr>
              <a:t>مراکز مشاوره دانشجویی</a:t>
            </a:r>
            <a:endParaRPr lang="fa-IR" sz="1400" dirty="0"/>
          </a:p>
        </p:txBody>
      </p:sp>
      <p:sp>
        <p:nvSpPr>
          <p:cNvPr id="14" name="A01_z_460"/>
          <p:cNvSpPr txBox="1"/>
          <p:nvPr/>
        </p:nvSpPr>
        <p:spPr>
          <a:xfrm>
            <a:off x="9217152" y="2697480"/>
            <a:ext cx="2304288" cy="86868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ارزیابی سابقه تجربه‌های نامطلوب کودکی در بررسی مشکلات بین‌فردی</a:t>
            </a:r>
            <a:endParaRPr lang="fa-IR" sz="1300" dirty="0"/>
          </a:p>
        </p:txBody>
      </p:sp>
      <p:sp>
        <p:nvSpPr>
          <p:cNvPr id="15" name="A02_z_461b"/>
          <p:cNvSpPr/>
          <p:nvPr/>
        </p:nvSpPr>
        <p:spPr>
          <a:xfrm>
            <a:off x="6174943" y="1280160"/>
            <a:ext cx="2670048" cy="2377440"/>
          </a:xfrm>
          <a:prstGeom prst="roundRect">
            <a:avLst>
              <a:gd name="adj" fmla="val 4615"/>
            </a:avLst>
          </a:prstGeom>
          <a:solidFill>
            <a:srgbClr val="FBECE7"/>
          </a:solidFill>
          <a:ln w="12700">
            <a:solidFill>
              <a:srgbClr val="FBECE7"/>
            </a:solidFill>
            <a:prstDash val="solid"/>
          </a:ln>
        </p:spPr>
      </p:sp>
      <p:sp>
        <p:nvSpPr>
          <p:cNvPr id="16" name="A02_z_462c"/>
          <p:cNvSpPr/>
          <p:nvPr/>
        </p:nvSpPr>
        <p:spPr>
          <a:xfrm>
            <a:off x="7208215" y="1444752"/>
            <a:ext cx="603504" cy="603504"/>
          </a:xfrm>
          <a:prstGeom prst="ellipse">
            <a:avLst/>
          </a:prstGeom>
          <a:solidFill>
            <a:srgbClr val="D9674A"/>
          </a:solidFill>
          <a:ln w="12700">
            <a:solidFill>
              <a:srgbClr val="D9674A"/>
            </a:solidFill>
            <a:prstDash val="solid"/>
          </a:ln>
        </p:spPr>
      </p:sp>
      <p:pic>
        <p:nvPicPr>
          <p:cNvPr id="17" name="A02_z_462i" descr="preencoded.png"/>
          <p:cNvPicPr>
            <a:picLocks noChangeAspect="1"/>
          </p:cNvPicPr>
          <p:nvPr/>
        </p:nvPicPr>
        <p:blipFill>
          <a:blip r:embed="rId5"/>
          <a:stretch>
            <a:fillRect/>
          </a:stretch>
        </p:blipFill>
        <p:spPr>
          <a:xfrm>
            <a:off x="7340986" y="1577523"/>
            <a:ext cx="337962" cy="337962"/>
          </a:xfrm>
          <a:prstGeom prst="rect">
            <a:avLst/>
          </a:prstGeom>
        </p:spPr>
      </p:pic>
      <p:sp>
        <p:nvSpPr>
          <p:cNvPr id="18" name="A02_z_463"/>
          <p:cNvSpPr txBox="1"/>
          <p:nvPr/>
        </p:nvSpPr>
        <p:spPr>
          <a:xfrm>
            <a:off x="6312103" y="2103120"/>
            <a:ext cx="2395728" cy="566928"/>
          </a:xfrm>
          <a:prstGeom prst="rect">
            <a:avLst/>
          </a:prstGeom>
          <a:noFill/>
          <a:ln/>
        </p:spPr>
        <p:txBody>
          <a:bodyPr wrap="square" lIns="0" tIns="0" rIns="0" bIns="0" rtlCol="0" anchor="ctr"/>
          <a:lstStyle/>
          <a:p>
            <a:pPr marL="0" indent="0" algn="ctr" rtl="1">
              <a:buNone/>
            </a:pPr>
            <a:r>
              <a:rPr lang="fa-IR" altLang="en-US" sz="1400" b="1" dirty="0">
                <a:solidFill>
                  <a:srgbClr val="D9674A"/>
                </a:solidFill>
                <a:latin typeface="Tahoma" pitchFamily="34" charset="0"/>
                <a:ea typeface="Tahoma" pitchFamily="34" charset="-122"/>
                <a:cs typeface="Tahoma" pitchFamily="34" charset="-120"/>
              </a:rPr>
              <a:t>آموزش حل تعارض سازنده</a:t>
            </a:r>
            <a:endParaRPr lang="fa-IR" sz="1400" dirty="0"/>
          </a:p>
        </p:txBody>
      </p:sp>
      <p:sp>
        <p:nvSpPr>
          <p:cNvPr id="19" name="A02_z_464"/>
          <p:cNvSpPr txBox="1"/>
          <p:nvPr/>
        </p:nvSpPr>
        <p:spPr>
          <a:xfrm>
            <a:off x="6357823" y="2697480"/>
            <a:ext cx="2304288" cy="86868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گفت‌وگوی مؤثر، روشن‌سازی برداشت‌ها و راه‌حل‌های سودمند متقابل</a:t>
            </a:r>
            <a:endParaRPr lang="fa-IR" sz="1300" dirty="0"/>
          </a:p>
        </p:txBody>
      </p:sp>
      <p:sp>
        <p:nvSpPr>
          <p:cNvPr id="20" name="A03_z_465b"/>
          <p:cNvSpPr/>
          <p:nvPr/>
        </p:nvSpPr>
        <p:spPr>
          <a:xfrm>
            <a:off x="3315614" y="1280160"/>
            <a:ext cx="2670048" cy="2377440"/>
          </a:xfrm>
          <a:prstGeom prst="roundRect">
            <a:avLst>
              <a:gd name="adj" fmla="val 4615"/>
            </a:avLst>
          </a:prstGeom>
          <a:solidFill>
            <a:srgbClr val="EFEAF3"/>
          </a:solidFill>
          <a:ln w="12700">
            <a:solidFill>
              <a:srgbClr val="EFEAF3"/>
            </a:solidFill>
            <a:prstDash val="solid"/>
          </a:ln>
        </p:spPr>
      </p:sp>
      <p:sp>
        <p:nvSpPr>
          <p:cNvPr id="21" name="A03_z_466c"/>
          <p:cNvSpPr/>
          <p:nvPr/>
        </p:nvSpPr>
        <p:spPr>
          <a:xfrm>
            <a:off x="4348886" y="1444752"/>
            <a:ext cx="603504" cy="603504"/>
          </a:xfrm>
          <a:prstGeom prst="ellipse">
            <a:avLst/>
          </a:prstGeom>
          <a:solidFill>
            <a:srgbClr val="6D597A"/>
          </a:solidFill>
          <a:ln w="12700">
            <a:solidFill>
              <a:srgbClr val="6D597A"/>
            </a:solidFill>
            <a:prstDash val="solid"/>
          </a:ln>
        </p:spPr>
      </p:sp>
      <p:pic>
        <p:nvPicPr>
          <p:cNvPr id="22" name="A03_z_466i" descr="preencoded.png"/>
          <p:cNvPicPr>
            <a:picLocks noChangeAspect="1"/>
          </p:cNvPicPr>
          <p:nvPr/>
        </p:nvPicPr>
        <p:blipFill>
          <a:blip r:embed="rId6"/>
          <a:stretch>
            <a:fillRect/>
          </a:stretch>
        </p:blipFill>
        <p:spPr>
          <a:xfrm>
            <a:off x="4481657" y="1577523"/>
            <a:ext cx="337962" cy="337962"/>
          </a:xfrm>
          <a:prstGeom prst="rect">
            <a:avLst/>
          </a:prstGeom>
        </p:spPr>
      </p:pic>
      <p:sp>
        <p:nvSpPr>
          <p:cNvPr id="23" name="A03_z_467"/>
          <p:cNvSpPr txBox="1"/>
          <p:nvPr/>
        </p:nvSpPr>
        <p:spPr>
          <a:xfrm>
            <a:off x="3452774" y="2103120"/>
            <a:ext cx="2395728" cy="566928"/>
          </a:xfrm>
          <a:prstGeom prst="rect">
            <a:avLst/>
          </a:prstGeom>
          <a:noFill/>
          <a:ln/>
        </p:spPr>
        <p:txBody>
          <a:bodyPr wrap="square" lIns="0" tIns="0" rIns="0" bIns="0" rtlCol="0" anchor="ctr"/>
          <a:lstStyle/>
          <a:p>
            <a:pPr marL="0" indent="0" algn="ctr" rtl="1">
              <a:buNone/>
            </a:pPr>
            <a:r>
              <a:rPr lang="fa-IR" altLang="en-US" sz="1400" b="1" dirty="0">
                <a:solidFill>
                  <a:srgbClr val="6D597A"/>
                </a:solidFill>
                <a:latin typeface="Tahoma" pitchFamily="34" charset="0"/>
                <a:ea typeface="Tahoma" pitchFamily="34" charset="-122"/>
                <a:cs typeface="Tahoma" pitchFamily="34" charset="-120"/>
              </a:rPr>
              <a:t>توجه به مسائل هویتی</a:t>
            </a:r>
            <a:endParaRPr lang="fa-IR" sz="1400" dirty="0"/>
          </a:p>
        </p:txBody>
      </p:sp>
      <p:sp>
        <p:nvSpPr>
          <p:cNvPr id="24" name="A03_z_468"/>
          <p:cNvSpPr txBox="1"/>
          <p:nvPr/>
        </p:nvSpPr>
        <p:spPr>
          <a:xfrm>
            <a:off x="3498494" y="2697480"/>
            <a:ext cx="2304288" cy="86868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اجتناب از تصمیم‌گیری و دشواری تعهد در دانشجویان دارای سابقه آسیب</a:t>
            </a:r>
            <a:endParaRPr lang="fa-IR" sz="1300" dirty="0"/>
          </a:p>
        </p:txBody>
      </p:sp>
      <p:sp>
        <p:nvSpPr>
          <p:cNvPr id="25" name="A04_z_469b"/>
          <p:cNvSpPr/>
          <p:nvPr/>
        </p:nvSpPr>
        <p:spPr>
          <a:xfrm>
            <a:off x="456286" y="1280160"/>
            <a:ext cx="2670048" cy="2377440"/>
          </a:xfrm>
          <a:prstGeom prst="roundRect">
            <a:avLst>
              <a:gd name="adj" fmla="val 4615"/>
            </a:avLst>
          </a:prstGeom>
          <a:solidFill>
            <a:srgbClr val="E6F2F1"/>
          </a:solidFill>
          <a:ln w="12700">
            <a:solidFill>
              <a:srgbClr val="E6F2F1"/>
            </a:solidFill>
            <a:prstDash val="solid"/>
          </a:ln>
        </p:spPr>
      </p:sp>
      <p:sp>
        <p:nvSpPr>
          <p:cNvPr id="26" name="A04_z_470c"/>
          <p:cNvSpPr/>
          <p:nvPr/>
        </p:nvSpPr>
        <p:spPr>
          <a:xfrm>
            <a:off x="1489558" y="1444752"/>
            <a:ext cx="603504" cy="603504"/>
          </a:xfrm>
          <a:prstGeom prst="ellipse">
            <a:avLst/>
          </a:prstGeom>
          <a:solidFill>
            <a:srgbClr val="2A9D8F"/>
          </a:solidFill>
          <a:ln w="12700">
            <a:solidFill>
              <a:srgbClr val="2A9D8F"/>
            </a:solidFill>
            <a:prstDash val="solid"/>
          </a:ln>
        </p:spPr>
      </p:sp>
      <p:pic>
        <p:nvPicPr>
          <p:cNvPr id="27" name="A04_z_470i" descr="preencoded.png"/>
          <p:cNvPicPr>
            <a:picLocks noChangeAspect="1"/>
          </p:cNvPicPr>
          <p:nvPr/>
        </p:nvPicPr>
        <p:blipFill>
          <a:blip r:embed="rId7"/>
          <a:stretch>
            <a:fillRect/>
          </a:stretch>
        </p:blipFill>
        <p:spPr>
          <a:xfrm>
            <a:off x="1622328" y="1577523"/>
            <a:ext cx="337962" cy="337962"/>
          </a:xfrm>
          <a:prstGeom prst="rect">
            <a:avLst/>
          </a:prstGeom>
        </p:spPr>
      </p:pic>
      <p:sp>
        <p:nvSpPr>
          <p:cNvPr id="28" name="A04_z_471"/>
          <p:cNvSpPr txBox="1"/>
          <p:nvPr/>
        </p:nvSpPr>
        <p:spPr>
          <a:xfrm>
            <a:off x="593446" y="2103120"/>
            <a:ext cx="2395728" cy="566928"/>
          </a:xfrm>
          <a:prstGeom prst="rect">
            <a:avLst/>
          </a:prstGeom>
          <a:noFill/>
          <a:ln/>
        </p:spPr>
        <p:txBody>
          <a:bodyPr wrap="square" lIns="0" tIns="0" rIns="0" bIns="0" rtlCol="0" anchor="ctr"/>
          <a:lstStyle/>
          <a:p>
            <a:pPr marL="0" indent="0" algn="ctr" rtl="1">
              <a:buNone/>
            </a:pPr>
            <a:r>
              <a:rPr lang="fa-IR" altLang="en-US" sz="1400" b="1" dirty="0">
                <a:solidFill>
                  <a:srgbClr val="2A9D8F"/>
                </a:solidFill>
                <a:latin typeface="Tahoma" pitchFamily="34" charset="0"/>
                <a:ea typeface="Tahoma" pitchFamily="34" charset="-122"/>
                <a:cs typeface="Tahoma" pitchFamily="34" charset="-120"/>
              </a:rPr>
              <a:t>تقویت فرایندهای هویتی</a:t>
            </a:r>
            <a:endParaRPr lang="fa-IR" sz="1400" dirty="0"/>
          </a:p>
        </p:txBody>
      </p:sp>
      <p:sp>
        <p:nvSpPr>
          <p:cNvPr id="29" name="A04_z_472"/>
          <p:cNvSpPr txBox="1"/>
          <p:nvPr/>
        </p:nvSpPr>
        <p:spPr>
          <a:xfrm>
            <a:off x="639166" y="2697480"/>
            <a:ext cx="2304288" cy="86868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خودآگاهی، بررسی ارزش‌ها و اهداف و تصمیم‌های پایدار</a:t>
            </a:r>
            <a:endParaRPr lang="fa-IR" sz="1300" dirty="0"/>
          </a:p>
        </p:txBody>
      </p:sp>
      <p:sp>
        <p:nvSpPr>
          <p:cNvPr id="30" name="A05_z_473b"/>
          <p:cNvSpPr/>
          <p:nvPr/>
        </p:nvSpPr>
        <p:spPr>
          <a:xfrm>
            <a:off x="9034272" y="3886200"/>
            <a:ext cx="2670048" cy="2377440"/>
          </a:xfrm>
          <a:prstGeom prst="roundRect">
            <a:avLst>
              <a:gd name="adj" fmla="val 4615"/>
            </a:avLst>
          </a:prstGeom>
          <a:solidFill>
            <a:srgbClr val="E6F2F1"/>
          </a:solidFill>
          <a:ln w="12700">
            <a:solidFill>
              <a:srgbClr val="E6F2F1"/>
            </a:solidFill>
            <a:prstDash val="solid"/>
          </a:ln>
        </p:spPr>
      </p:sp>
      <p:sp>
        <p:nvSpPr>
          <p:cNvPr id="31" name="A05_z_474c"/>
          <p:cNvSpPr/>
          <p:nvPr/>
        </p:nvSpPr>
        <p:spPr>
          <a:xfrm>
            <a:off x="10067544" y="4050792"/>
            <a:ext cx="603504" cy="603504"/>
          </a:xfrm>
          <a:prstGeom prst="ellipse">
            <a:avLst/>
          </a:prstGeom>
          <a:solidFill>
            <a:srgbClr val="0F5257"/>
          </a:solidFill>
          <a:ln w="12700">
            <a:solidFill>
              <a:srgbClr val="0F5257"/>
            </a:solidFill>
            <a:prstDash val="solid"/>
          </a:ln>
        </p:spPr>
      </p:sp>
      <p:pic>
        <p:nvPicPr>
          <p:cNvPr id="32" name="A05_z_474i" descr="preencoded.png"/>
          <p:cNvPicPr>
            <a:picLocks noChangeAspect="1"/>
          </p:cNvPicPr>
          <p:nvPr/>
        </p:nvPicPr>
        <p:blipFill>
          <a:blip r:embed="rId8"/>
          <a:stretch>
            <a:fillRect/>
          </a:stretch>
        </p:blipFill>
        <p:spPr>
          <a:xfrm>
            <a:off x="10200315" y="4183563"/>
            <a:ext cx="337962" cy="337962"/>
          </a:xfrm>
          <a:prstGeom prst="rect">
            <a:avLst/>
          </a:prstGeom>
        </p:spPr>
      </p:pic>
      <p:sp>
        <p:nvSpPr>
          <p:cNvPr id="33" name="A05_z_475"/>
          <p:cNvSpPr txBox="1"/>
          <p:nvPr/>
        </p:nvSpPr>
        <p:spPr>
          <a:xfrm>
            <a:off x="9171432" y="4709160"/>
            <a:ext cx="2395728" cy="566928"/>
          </a:xfrm>
          <a:prstGeom prst="rect">
            <a:avLst/>
          </a:prstGeom>
          <a:noFill/>
          <a:ln/>
        </p:spPr>
        <p:txBody>
          <a:bodyPr wrap="square" lIns="0" tIns="0" rIns="0" bIns="0" rtlCol="0" anchor="ctr"/>
          <a:lstStyle/>
          <a:p>
            <a:pPr marL="0" indent="0" algn="ctr" rtl="1">
              <a:buNone/>
            </a:pPr>
            <a:r>
              <a:rPr lang="fa-IR" altLang="en-US" sz="1400" b="1" dirty="0">
                <a:solidFill>
                  <a:srgbClr val="0F5257"/>
                </a:solidFill>
                <a:latin typeface="Tahoma" pitchFamily="34" charset="0"/>
                <a:ea typeface="Tahoma" pitchFamily="34" charset="-122"/>
                <a:cs typeface="Tahoma" pitchFamily="34" charset="-120"/>
              </a:rPr>
              <a:t>پیشگیری و ارتقای سلامت روان</a:t>
            </a:r>
            <a:endParaRPr lang="fa-IR" sz="1400" dirty="0"/>
          </a:p>
        </p:txBody>
      </p:sp>
      <p:sp>
        <p:nvSpPr>
          <p:cNvPr id="34" name="A05_z_476"/>
          <p:cNvSpPr txBox="1"/>
          <p:nvPr/>
        </p:nvSpPr>
        <p:spPr>
          <a:xfrm>
            <a:off x="9217152" y="5303520"/>
            <a:ext cx="2304288" cy="86868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گنجاندن آموزش حل تعارض در برنامه‌های مراکز مشاوره دانشگاه‌ها</a:t>
            </a:r>
            <a:endParaRPr lang="fa-IR" sz="1300" dirty="0"/>
          </a:p>
        </p:txBody>
      </p:sp>
      <p:sp>
        <p:nvSpPr>
          <p:cNvPr id="35" name="A06_z_477b"/>
          <p:cNvSpPr/>
          <p:nvPr/>
        </p:nvSpPr>
        <p:spPr>
          <a:xfrm>
            <a:off x="6174943" y="3886200"/>
            <a:ext cx="2670048" cy="2377440"/>
          </a:xfrm>
          <a:prstGeom prst="roundRect">
            <a:avLst>
              <a:gd name="adj" fmla="val 4615"/>
            </a:avLst>
          </a:prstGeom>
          <a:solidFill>
            <a:srgbClr val="FBECE7"/>
          </a:solidFill>
          <a:ln w="12700">
            <a:solidFill>
              <a:srgbClr val="FBECE7"/>
            </a:solidFill>
            <a:prstDash val="solid"/>
          </a:ln>
        </p:spPr>
      </p:sp>
      <p:sp>
        <p:nvSpPr>
          <p:cNvPr id="36" name="A06_z_478c"/>
          <p:cNvSpPr/>
          <p:nvPr/>
        </p:nvSpPr>
        <p:spPr>
          <a:xfrm>
            <a:off x="7208215" y="4050792"/>
            <a:ext cx="603504" cy="603504"/>
          </a:xfrm>
          <a:prstGeom prst="ellipse">
            <a:avLst/>
          </a:prstGeom>
          <a:solidFill>
            <a:srgbClr val="D9674A"/>
          </a:solidFill>
          <a:ln w="12700">
            <a:solidFill>
              <a:srgbClr val="D9674A"/>
            </a:solidFill>
            <a:prstDash val="solid"/>
          </a:ln>
        </p:spPr>
      </p:sp>
      <p:pic>
        <p:nvPicPr>
          <p:cNvPr id="37" name="A06_z_478i" descr="preencoded.png"/>
          <p:cNvPicPr>
            <a:picLocks noChangeAspect="1"/>
          </p:cNvPicPr>
          <p:nvPr/>
        </p:nvPicPr>
        <p:blipFill>
          <a:blip r:embed="rId9"/>
          <a:stretch>
            <a:fillRect/>
          </a:stretch>
        </p:blipFill>
        <p:spPr>
          <a:xfrm>
            <a:off x="7340986" y="4183563"/>
            <a:ext cx="337962" cy="337962"/>
          </a:xfrm>
          <a:prstGeom prst="rect">
            <a:avLst/>
          </a:prstGeom>
        </p:spPr>
      </p:pic>
      <p:sp>
        <p:nvSpPr>
          <p:cNvPr id="38" name="A06_z_479"/>
          <p:cNvSpPr txBox="1"/>
          <p:nvPr/>
        </p:nvSpPr>
        <p:spPr>
          <a:xfrm>
            <a:off x="6312103" y="4709160"/>
            <a:ext cx="2395728" cy="566928"/>
          </a:xfrm>
          <a:prstGeom prst="rect">
            <a:avLst/>
          </a:prstGeom>
          <a:noFill/>
          <a:ln/>
        </p:spPr>
        <p:txBody>
          <a:bodyPr wrap="square" lIns="0" tIns="0" rIns="0" bIns="0" rtlCol="0" anchor="ctr"/>
          <a:lstStyle/>
          <a:p>
            <a:pPr marL="0" indent="0" algn="ctr" rtl="1">
              <a:buNone/>
            </a:pPr>
            <a:r>
              <a:rPr lang="fa-IR" altLang="en-US" sz="1400" b="1" dirty="0">
                <a:solidFill>
                  <a:srgbClr val="D9674A"/>
                </a:solidFill>
                <a:latin typeface="Tahoma" pitchFamily="34" charset="0"/>
                <a:ea typeface="Tahoma" pitchFamily="34" charset="-122"/>
                <a:cs typeface="Tahoma" pitchFamily="34" charset="-120"/>
              </a:rPr>
              <a:t>فراتر از پیامدهای هیجانی</a:t>
            </a:r>
            <a:endParaRPr lang="fa-IR" sz="1400" dirty="0"/>
          </a:p>
        </p:txBody>
      </p:sp>
      <p:sp>
        <p:nvSpPr>
          <p:cNvPr id="39" name="A06_z_480"/>
          <p:cNvSpPr txBox="1"/>
          <p:nvPr/>
        </p:nvSpPr>
        <p:spPr>
          <a:xfrm>
            <a:off x="6357823" y="5303520"/>
            <a:ext cx="2304288" cy="86868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توجه به مهارت‌های ارتباطی در مداخلات افراد دارای سابقه آسیب</a:t>
            </a:r>
            <a:endParaRPr lang="fa-IR" sz="1300" dirty="0"/>
          </a:p>
        </p:txBody>
      </p:sp>
      <p:sp>
        <p:nvSpPr>
          <p:cNvPr id="40" name="A07_z_481b"/>
          <p:cNvSpPr/>
          <p:nvPr/>
        </p:nvSpPr>
        <p:spPr>
          <a:xfrm>
            <a:off x="3315614" y="3886200"/>
            <a:ext cx="2670048" cy="2377440"/>
          </a:xfrm>
          <a:prstGeom prst="roundRect">
            <a:avLst>
              <a:gd name="adj" fmla="val 4615"/>
            </a:avLst>
          </a:prstGeom>
          <a:solidFill>
            <a:srgbClr val="EFEAF3"/>
          </a:solidFill>
          <a:ln w="12700">
            <a:solidFill>
              <a:srgbClr val="EFEAF3"/>
            </a:solidFill>
            <a:prstDash val="solid"/>
          </a:ln>
        </p:spPr>
      </p:sp>
      <p:sp>
        <p:nvSpPr>
          <p:cNvPr id="41" name="A07_z_482c"/>
          <p:cNvSpPr/>
          <p:nvPr/>
        </p:nvSpPr>
        <p:spPr>
          <a:xfrm>
            <a:off x="4348886" y="4050792"/>
            <a:ext cx="603504" cy="603504"/>
          </a:xfrm>
          <a:prstGeom prst="ellipse">
            <a:avLst/>
          </a:prstGeom>
          <a:solidFill>
            <a:srgbClr val="6D597A"/>
          </a:solidFill>
          <a:ln w="12700">
            <a:solidFill>
              <a:srgbClr val="6D597A"/>
            </a:solidFill>
            <a:prstDash val="solid"/>
          </a:ln>
        </p:spPr>
      </p:sp>
      <p:pic>
        <p:nvPicPr>
          <p:cNvPr id="42" name="A07_z_482i" descr="preencoded.png"/>
          <p:cNvPicPr>
            <a:picLocks noChangeAspect="1"/>
          </p:cNvPicPr>
          <p:nvPr/>
        </p:nvPicPr>
        <p:blipFill>
          <a:blip r:embed="rId10"/>
          <a:stretch>
            <a:fillRect/>
          </a:stretch>
        </p:blipFill>
        <p:spPr>
          <a:xfrm>
            <a:off x="4481657" y="4183563"/>
            <a:ext cx="337962" cy="337962"/>
          </a:xfrm>
          <a:prstGeom prst="rect">
            <a:avLst/>
          </a:prstGeom>
        </p:spPr>
      </p:pic>
      <p:sp>
        <p:nvSpPr>
          <p:cNvPr id="43" name="A07_z_483"/>
          <p:cNvSpPr txBox="1"/>
          <p:nvPr/>
        </p:nvSpPr>
        <p:spPr>
          <a:xfrm>
            <a:off x="3452774" y="4709160"/>
            <a:ext cx="2395728" cy="566928"/>
          </a:xfrm>
          <a:prstGeom prst="rect">
            <a:avLst/>
          </a:prstGeom>
          <a:noFill/>
          <a:ln/>
        </p:spPr>
        <p:txBody>
          <a:bodyPr wrap="square" lIns="0" tIns="0" rIns="0" bIns="0" rtlCol="0" anchor="ctr"/>
          <a:lstStyle/>
          <a:p>
            <a:pPr marL="0" indent="0" algn="ctr" rtl="1">
              <a:buNone/>
            </a:pPr>
            <a:r>
              <a:rPr lang="fa-IR" altLang="en-US" sz="1400" b="1" dirty="0">
                <a:solidFill>
                  <a:srgbClr val="6D597A"/>
                </a:solidFill>
                <a:latin typeface="Tahoma" pitchFamily="34" charset="0"/>
                <a:ea typeface="Tahoma" pitchFamily="34" charset="-122"/>
                <a:cs typeface="Tahoma" pitchFamily="34" charset="-120"/>
              </a:rPr>
              <a:t>جایگزینی الگوهای اجتنابی</a:t>
            </a:r>
            <a:endParaRPr lang="fa-IR" sz="1400" dirty="0"/>
          </a:p>
        </p:txBody>
      </p:sp>
      <p:sp>
        <p:nvSpPr>
          <p:cNvPr id="44" name="A07_z_484"/>
          <p:cNvSpPr txBox="1"/>
          <p:nvPr/>
        </p:nvSpPr>
        <p:spPr>
          <a:xfrm>
            <a:off x="3498494" y="5303520"/>
            <a:ext cx="2304288" cy="86868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گفت‌وگوی سازنده، بررسی نیازهای طرفین و حل مسئله به جای کناره‌گیری</a:t>
            </a:r>
            <a:endParaRPr lang="fa-IR" sz="1300" dirty="0"/>
          </a:p>
        </p:txBody>
      </p:sp>
      <p:sp>
        <p:nvSpPr>
          <p:cNvPr id="45" name="A08_z_485b"/>
          <p:cNvSpPr/>
          <p:nvPr/>
        </p:nvSpPr>
        <p:spPr>
          <a:xfrm>
            <a:off x="456286" y="3886200"/>
            <a:ext cx="2670048" cy="2377440"/>
          </a:xfrm>
          <a:prstGeom prst="roundRect">
            <a:avLst>
              <a:gd name="adj" fmla="val 4615"/>
            </a:avLst>
          </a:prstGeom>
          <a:solidFill>
            <a:srgbClr val="E6F2F1"/>
          </a:solidFill>
          <a:ln w="12700">
            <a:solidFill>
              <a:srgbClr val="E6F2F1"/>
            </a:solidFill>
            <a:prstDash val="solid"/>
          </a:ln>
        </p:spPr>
      </p:sp>
      <p:sp>
        <p:nvSpPr>
          <p:cNvPr id="46" name="A08_z_486c"/>
          <p:cNvSpPr/>
          <p:nvPr/>
        </p:nvSpPr>
        <p:spPr>
          <a:xfrm>
            <a:off x="1489558" y="4050792"/>
            <a:ext cx="603504" cy="603504"/>
          </a:xfrm>
          <a:prstGeom prst="ellipse">
            <a:avLst/>
          </a:prstGeom>
          <a:solidFill>
            <a:srgbClr val="2A9D8F"/>
          </a:solidFill>
          <a:ln w="12700">
            <a:solidFill>
              <a:srgbClr val="2A9D8F"/>
            </a:solidFill>
            <a:prstDash val="solid"/>
          </a:ln>
        </p:spPr>
      </p:sp>
      <p:pic>
        <p:nvPicPr>
          <p:cNvPr id="47" name="A08_z_486i" descr="preencoded.png"/>
          <p:cNvPicPr>
            <a:picLocks noChangeAspect="1"/>
          </p:cNvPicPr>
          <p:nvPr/>
        </p:nvPicPr>
        <p:blipFill>
          <a:blip r:embed="rId11"/>
          <a:stretch>
            <a:fillRect/>
          </a:stretch>
        </p:blipFill>
        <p:spPr>
          <a:xfrm>
            <a:off x="1622328" y="4183563"/>
            <a:ext cx="337962" cy="337962"/>
          </a:xfrm>
          <a:prstGeom prst="rect">
            <a:avLst/>
          </a:prstGeom>
        </p:spPr>
      </p:pic>
      <p:sp>
        <p:nvSpPr>
          <p:cNvPr id="48" name="A08_z_487"/>
          <p:cNvSpPr txBox="1"/>
          <p:nvPr/>
        </p:nvSpPr>
        <p:spPr>
          <a:xfrm>
            <a:off x="593446" y="4709160"/>
            <a:ext cx="2395728" cy="566928"/>
          </a:xfrm>
          <a:prstGeom prst="rect">
            <a:avLst/>
          </a:prstGeom>
          <a:noFill/>
          <a:ln/>
        </p:spPr>
        <p:txBody>
          <a:bodyPr wrap="square" lIns="0" tIns="0" rIns="0" bIns="0" rtlCol="0" anchor="ctr"/>
          <a:lstStyle/>
          <a:p>
            <a:pPr marL="0" indent="0" algn="ctr" rtl="1">
              <a:buNone/>
            </a:pPr>
            <a:r>
              <a:rPr lang="fa-IR" altLang="en-US" sz="1400" b="1" dirty="0">
                <a:solidFill>
                  <a:srgbClr val="2A9D8F"/>
                </a:solidFill>
                <a:latin typeface="Tahoma" pitchFamily="34" charset="0"/>
                <a:ea typeface="Tahoma" pitchFamily="34" charset="-122"/>
                <a:cs typeface="Tahoma" pitchFamily="34" charset="-120"/>
              </a:rPr>
              <a:t>کارگاه‌های مهارت‌های زندگی</a:t>
            </a:r>
            <a:endParaRPr lang="fa-IR" sz="1400" dirty="0"/>
          </a:p>
        </p:txBody>
      </p:sp>
      <p:sp>
        <p:nvSpPr>
          <p:cNvPr id="49" name="A08_z_488"/>
          <p:cNvSpPr txBox="1"/>
          <p:nvPr/>
        </p:nvSpPr>
        <p:spPr>
          <a:xfrm>
            <a:off x="639166" y="5303520"/>
            <a:ext cx="2304288" cy="868680"/>
          </a:xfrm>
          <a:prstGeom prst="rect">
            <a:avLst/>
          </a:prstGeom>
          <a:noFill/>
          <a:ln/>
        </p:spPr>
        <p:txBody>
          <a:bodyPr wrap="square" lIns="0" tIns="0" rIns="0" bIns="0" rtlCol="0" anchor="t"/>
          <a:lstStyle/>
          <a:p>
            <a:pPr marL="0" indent="0" algn="ctr" rtl="1">
              <a:buNone/>
            </a:pPr>
            <a:r>
              <a:rPr lang="fa-IR" altLang="en-US" sz="1300" dirty="0">
                <a:solidFill>
                  <a:srgbClr val="263238"/>
                </a:solidFill>
                <a:latin typeface="Tahoma" pitchFamily="34" charset="0"/>
                <a:ea typeface="Tahoma" pitchFamily="34" charset="-122"/>
                <a:cs typeface="Tahoma" pitchFamily="34" charset="-120"/>
              </a:rPr>
              <a:t>آموزش توأم حل تعارض، تصمیم‌گیری، خودشناسی و ارزش‌ها</a:t>
            </a:r>
            <a:endParaRPr lang="fa-IR" sz="13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450" fill="hold"/>
                                        <p:tgtEl>
                                          <p:spTgt spid="10"/>
                                        </p:tgtEl>
                                        <p:attrNameLst>
                                          <p:attrName>ppt_w</p:attrName>
                                        </p:attrNameLst>
                                      </p:cBhvr>
                                      <p:tavLst>
                                        <p:tav tm="0">
                                          <p:val>
                                            <p:fltVal val="0"/>
                                          </p:val>
                                        </p:tav>
                                        <p:tav tm="100000">
                                          <p:val>
                                            <p:strVal val="#ppt_w"/>
                                          </p:val>
                                        </p:tav>
                                      </p:tavLst>
                                    </p:anim>
                                    <p:anim calcmode="lin" valueType="num">
                                      <p:cBhvr>
                                        <p:cTn id="8" dur="450" fill="hold"/>
                                        <p:tgtEl>
                                          <p:spTgt spid="10"/>
                                        </p:tgtEl>
                                        <p:attrNameLst>
                                          <p:attrName>ppt_h</p:attrName>
                                        </p:attrNameLst>
                                      </p:cBhvr>
                                      <p:tavLst>
                                        <p:tav tm="0">
                                          <p:val>
                                            <p:fltVal val="0"/>
                                          </p:val>
                                        </p:tav>
                                        <p:tav tm="100000">
                                          <p:val>
                                            <p:strVal val="#ppt_h"/>
                                          </p:val>
                                        </p:tav>
                                      </p:tavLst>
                                    </p:anim>
                                    <p:animEffect transition="in" filter="fade">
                                      <p:cBhvr>
                                        <p:cTn id="9" dur="45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450" fill="hold"/>
                                        <p:tgtEl>
                                          <p:spTgt spid="11"/>
                                        </p:tgtEl>
                                        <p:attrNameLst>
                                          <p:attrName>ppt_w</p:attrName>
                                        </p:attrNameLst>
                                      </p:cBhvr>
                                      <p:tavLst>
                                        <p:tav tm="0">
                                          <p:val>
                                            <p:fltVal val="0"/>
                                          </p:val>
                                        </p:tav>
                                        <p:tav tm="100000">
                                          <p:val>
                                            <p:strVal val="#ppt_w"/>
                                          </p:val>
                                        </p:tav>
                                      </p:tavLst>
                                    </p:anim>
                                    <p:anim calcmode="lin" valueType="num">
                                      <p:cBhvr>
                                        <p:cTn id="13" dur="450" fill="hold"/>
                                        <p:tgtEl>
                                          <p:spTgt spid="11"/>
                                        </p:tgtEl>
                                        <p:attrNameLst>
                                          <p:attrName>ppt_h</p:attrName>
                                        </p:attrNameLst>
                                      </p:cBhvr>
                                      <p:tavLst>
                                        <p:tav tm="0">
                                          <p:val>
                                            <p:fltVal val="0"/>
                                          </p:val>
                                        </p:tav>
                                        <p:tav tm="100000">
                                          <p:val>
                                            <p:strVal val="#ppt_h"/>
                                          </p:val>
                                        </p:tav>
                                      </p:tavLst>
                                    </p:anim>
                                    <p:animEffect transition="in" filter="fade">
                                      <p:cBhvr>
                                        <p:cTn id="14" dur="450"/>
                                        <p:tgtEl>
                                          <p:spTgt spid="11"/>
                                        </p:tgtEl>
                                      </p:cBhvr>
                                    </p:animEffect>
                                  </p:childTnLst>
                                </p:cTn>
                              </p:par>
                              <p:par>
                                <p:cTn id="15" presetID="53" presetClass="entr" presetSubtype="16"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450" fill="hold"/>
                                        <p:tgtEl>
                                          <p:spTgt spid="12"/>
                                        </p:tgtEl>
                                        <p:attrNameLst>
                                          <p:attrName>ppt_w</p:attrName>
                                        </p:attrNameLst>
                                      </p:cBhvr>
                                      <p:tavLst>
                                        <p:tav tm="0">
                                          <p:val>
                                            <p:fltVal val="0"/>
                                          </p:val>
                                        </p:tav>
                                        <p:tav tm="100000">
                                          <p:val>
                                            <p:strVal val="#ppt_w"/>
                                          </p:val>
                                        </p:tav>
                                      </p:tavLst>
                                    </p:anim>
                                    <p:anim calcmode="lin" valueType="num">
                                      <p:cBhvr>
                                        <p:cTn id="18" dur="450" fill="hold"/>
                                        <p:tgtEl>
                                          <p:spTgt spid="12"/>
                                        </p:tgtEl>
                                        <p:attrNameLst>
                                          <p:attrName>ppt_h</p:attrName>
                                        </p:attrNameLst>
                                      </p:cBhvr>
                                      <p:tavLst>
                                        <p:tav tm="0">
                                          <p:val>
                                            <p:fltVal val="0"/>
                                          </p:val>
                                        </p:tav>
                                        <p:tav tm="100000">
                                          <p:val>
                                            <p:strVal val="#ppt_h"/>
                                          </p:val>
                                        </p:tav>
                                      </p:tavLst>
                                    </p:anim>
                                    <p:animEffect transition="in" filter="fade">
                                      <p:cBhvr>
                                        <p:cTn id="19" dur="450"/>
                                        <p:tgtEl>
                                          <p:spTgt spid="12"/>
                                        </p:tgtEl>
                                      </p:cBhvr>
                                    </p:animEffect>
                                  </p:childTnLst>
                                </p:cTn>
                              </p:par>
                              <p:par>
                                <p:cTn id="20" presetID="53" presetClass="entr" presetSubtype="16"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450" fill="hold"/>
                                        <p:tgtEl>
                                          <p:spTgt spid="13"/>
                                        </p:tgtEl>
                                        <p:attrNameLst>
                                          <p:attrName>ppt_w</p:attrName>
                                        </p:attrNameLst>
                                      </p:cBhvr>
                                      <p:tavLst>
                                        <p:tav tm="0">
                                          <p:val>
                                            <p:fltVal val="0"/>
                                          </p:val>
                                        </p:tav>
                                        <p:tav tm="100000">
                                          <p:val>
                                            <p:strVal val="#ppt_w"/>
                                          </p:val>
                                        </p:tav>
                                      </p:tavLst>
                                    </p:anim>
                                    <p:anim calcmode="lin" valueType="num">
                                      <p:cBhvr>
                                        <p:cTn id="23" dur="450" fill="hold"/>
                                        <p:tgtEl>
                                          <p:spTgt spid="13"/>
                                        </p:tgtEl>
                                        <p:attrNameLst>
                                          <p:attrName>ppt_h</p:attrName>
                                        </p:attrNameLst>
                                      </p:cBhvr>
                                      <p:tavLst>
                                        <p:tav tm="0">
                                          <p:val>
                                            <p:fltVal val="0"/>
                                          </p:val>
                                        </p:tav>
                                        <p:tav tm="100000">
                                          <p:val>
                                            <p:strVal val="#ppt_h"/>
                                          </p:val>
                                        </p:tav>
                                      </p:tavLst>
                                    </p:anim>
                                    <p:animEffect transition="in" filter="fade">
                                      <p:cBhvr>
                                        <p:cTn id="24" dur="450"/>
                                        <p:tgtEl>
                                          <p:spTgt spid="13"/>
                                        </p:tgtEl>
                                      </p:cBhvr>
                                    </p:animEffect>
                                  </p:childTnLst>
                                </p:cTn>
                              </p:par>
                              <p:par>
                                <p:cTn id="25" presetID="53" presetClass="entr" presetSubtype="16"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450" fill="hold"/>
                                        <p:tgtEl>
                                          <p:spTgt spid="14"/>
                                        </p:tgtEl>
                                        <p:attrNameLst>
                                          <p:attrName>ppt_w</p:attrName>
                                        </p:attrNameLst>
                                      </p:cBhvr>
                                      <p:tavLst>
                                        <p:tav tm="0">
                                          <p:val>
                                            <p:fltVal val="0"/>
                                          </p:val>
                                        </p:tav>
                                        <p:tav tm="100000">
                                          <p:val>
                                            <p:strVal val="#ppt_w"/>
                                          </p:val>
                                        </p:tav>
                                      </p:tavLst>
                                    </p:anim>
                                    <p:anim calcmode="lin" valueType="num">
                                      <p:cBhvr>
                                        <p:cTn id="28" dur="450" fill="hold"/>
                                        <p:tgtEl>
                                          <p:spTgt spid="14"/>
                                        </p:tgtEl>
                                        <p:attrNameLst>
                                          <p:attrName>ppt_h</p:attrName>
                                        </p:attrNameLst>
                                      </p:cBhvr>
                                      <p:tavLst>
                                        <p:tav tm="0">
                                          <p:val>
                                            <p:fltVal val="0"/>
                                          </p:val>
                                        </p:tav>
                                        <p:tav tm="100000">
                                          <p:val>
                                            <p:strVal val="#ppt_h"/>
                                          </p:val>
                                        </p:tav>
                                      </p:tavLst>
                                    </p:anim>
                                    <p:animEffect transition="in" filter="fade">
                                      <p:cBhvr>
                                        <p:cTn id="29" dur="450"/>
                                        <p:tgtEl>
                                          <p:spTgt spid="14"/>
                                        </p:tgtEl>
                                      </p:cBhvr>
                                    </p:animEffect>
                                  </p:childTnLst>
                                </p:cTn>
                              </p:par>
                            </p:childTnLst>
                          </p:cTn>
                        </p:par>
                        <p:par>
                          <p:cTn id="30" fill="hold">
                            <p:stCondLst>
                              <p:cond delay="300"/>
                            </p:stCondLst>
                            <p:childTnLst>
                              <p:par>
                                <p:cTn id="31" presetID="53" presetClass="entr" presetSubtype="16" fill="hold" nodeType="after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450" fill="hold"/>
                                        <p:tgtEl>
                                          <p:spTgt spid="15"/>
                                        </p:tgtEl>
                                        <p:attrNameLst>
                                          <p:attrName>ppt_w</p:attrName>
                                        </p:attrNameLst>
                                      </p:cBhvr>
                                      <p:tavLst>
                                        <p:tav tm="0">
                                          <p:val>
                                            <p:fltVal val="0"/>
                                          </p:val>
                                        </p:tav>
                                        <p:tav tm="100000">
                                          <p:val>
                                            <p:strVal val="#ppt_w"/>
                                          </p:val>
                                        </p:tav>
                                      </p:tavLst>
                                    </p:anim>
                                    <p:anim calcmode="lin" valueType="num">
                                      <p:cBhvr>
                                        <p:cTn id="34" dur="450" fill="hold"/>
                                        <p:tgtEl>
                                          <p:spTgt spid="15"/>
                                        </p:tgtEl>
                                        <p:attrNameLst>
                                          <p:attrName>ppt_h</p:attrName>
                                        </p:attrNameLst>
                                      </p:cBhvr>
                                      <p:tavLst>
                                        <p:tav tm="0">
                                          <p:val>
                                            <p:fltVal val="0"/>
                                          </p:val>
                                        </p:tav>
                                        <p:tav tm="100000">
                                          <p:val>
                                            <p:strVal val="#ppt_h"/>
                                          </p:val>
                                        </p:tav>
                                      </p:tavLst>
                                    </p:anim>
                                    <p:animEffect transition="in" filter="fade">
                                      <p:cBhvr>
                                        <p:cTn id="35" dur="450"/>
                                        <p:tgtEl>
                                          <p:spTgt spid="15"/>
                                        </p:tgtEl>
                                      </p:cBhvr>
                                    </p:animEffect>
                                  </p:childTnLst>
                                </p:cTn>
                              </p:par>
                              <p:par>
                                <p:cTn id="36" presetID="53" presetClass="entr" presetSubtype="16"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p:cTn id="38" dur="450" fill="hold"/>
                                        <p:tgtEl>
                                          <p:spTgt spid="16"/>
                                        </p:tgtEl>
                                        <p:attrNameLst>
                                          <p:attrName>ppt_w</p:attrName>
                                        </p:attrNameLst>
                                      </p:cBhvr>
                                      <p:tavLst>
                                        <p:tav tm="0">
                                          <p:val>
                                            <p:fltVal val="0"/>
                                          </p:val>
                                        </p:tav>
                                        <p:tav tm="100000">
                                          <p:val>
                                            <p:strVal val="#ppt_w"/>
                                          </p:val>
                                        </p:tav>
                                      </p:tavLst>
                                    </p:anim>
                                    <p:anim calcmode="lin" valueType="num">
                                      <p:cBhvr>
                                        <p:cTn id="39" dur="450" fill="hold"/>
                                        <p:tgtEl>
                                          <p:spTgt spid="16"/>
                                        </p:tgtEl>
                                        <p:attrNameLst>
                                          <p:attrName>ppt_h</p:attrName>
                                        </p:attrNameLst>
                                      </p:cBhvr>
                                      <p:tavLst>
                                        <p:tav tm="0">
                                          <p:val>
                                            <p:fltVal val="0"/>
                                          </p:val>
                                        </p:tav>
                                        <p:tav tm="100000">
                                          <p:val>
                                            <p:strVal val="#ppt_h"/>
                                          </p:val>
                                        </p:tav>
                                      </p:tavLst>
                                    </p:anim>
                                    <p:animEffect transition="in" filter="fade">
                                      <p:cBhvr>
                                        <p:cTn id="40" dur="450"/>
                                        <p:tgtEl>
                                          <p:spTgt spid="16"/>
                                        </p:tgtEl>
                                      </p:cBhvr>
                                    </p:animEffect>
                                  </p:childTnLst>
                                </p:cTn>
                              </p:par>
                              <p:par>
                                <p:cTn id="41" presetID="53" presetClass="entr" presetSubtype="16"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450" fill="hold"/>
                                        <p:tgtEl>
                                          <p:spTgt spid="17"/>
                                        </p:tgtEl>
                                        <p:attrNameLst>
                                          <p:attrName>ppt_w</p:attrName>
                                        </p:attrNameLst>
                                      </p:cBhvr>
                                      <p:tavLst>
                                        <p:tav tm="0">
                                          <p:val>
                                            <p:fltVal val="0"/>
                                          </p:val>
                                        </p:tav>
                                        <p:tav tm="100000">
                                          <p:val>
                                            <p:strVal val="#ppt_w"/>
                                          </p:val>
                                        </p:tav>
                                      </p:tavLst>
                                    </p:anim>
                                    <p:anim calcmode="lin" valueType="num">
                                      <p:cBhvr>
                                        <p:cTn id="44" dur="450" fill="hold"/>
                                        <p:tgtEl>
                                          <p:spTgt spid="17"/>
                                        </p:tgtEl>
                                        <p:attrNameLst>
                                          <p:attrName>ppt_h</p:attrName>
                                        </p:attrNameLst>
                                      </p:cBhvr>
                                      <p:tavLst>
                                        <p:tav tm="0">
                                          <p:val>
                                            <p:fltVal val="0"/>
                                          </p:val>
                                        </p:tav>
                                        <p:tav tm="100000">
                                          <p:val>
                                            <p:strVal val="#ppt_h"/>
                                          </p:val>
                                        </p:tav>
                                      </p:tavLst>
                                    </p:anim>
                                    <p:animEffect transition="in" filter="fade">
                                      <p:cBhvr>
                                        <p:cTn id="45" dur="450"/>
                                        <p:tgtEl>
                                          <p:spTgt spid="17"/>
                                        </p:tgtEl>
                                      </p:cBhvr>
                                    </p:animEffect>
                                  </p:childTnLst>
                                </p:cTn>
                              </p:par>
                              <p:par>
                                <p:cTn id="46" presetID="53" presetClass="entr" presetSubtype="16"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p:cTn id="48" dur="450" fill="hold"/>
                                        <p:tgtEl>
                                          <p:spTgt spid="18"/>
                                        </p:tgtEl>
                                        <p:attrNameLst>
                                          <p:attrName>ppt_w</p:attrName>
                                        </p:attrNameLst>
                                      </p:cBhvr>
                                      <p:tavLst>
                                        <p:tav tm="0">
                                          <p:val>
                                            <p:fltVal val="0"/>
                                          </p:val>
                                        </p:tav>
                                        <p:tav tm="100000">
                                          <p:val>
                                            <p:strVal val="#ppt_w"/>
                                          </p:val>
                                        </p:tav>
                                      </p:tavLst>
                                    </p:anim>
                                    <p:anim calcmode="lin" valueType="num">
                                      <p:cBhvr>
                                        <p:cTn id="49" dur="450" fill="hold"/>
                                        <p:tgtEl>
                                          <p:spTgt spid="18"/>
                                        </p:tgtEl>
                                        <p:attrNameLst>
                                          <p:attrName>ppt_h</p:attrName>
                                        </p:attrNameLst>
                                      </p:cBhvr>
                                      <p:tavLst>
                                        <p:tav tm="0">
                                          <p:val>
                                            <p:fltVal val="0"/>
                                          </p:val>
                                        </p:tav>
                                        <p:tav tm="100000">
                                          <p:val>
                                            <p:strVal val="#ppt_h"/>
                                          </p:val>
                                        </p:tav>
                                      </p:tavLst>
                                    </p:anim>
                                    <p:animEffect transition="in" filter="fade">
                                      <p:cBhvr>
                                        <p:cTn id="50" dur="450"/>
                                        <p:tgtEl>
                                          <p:spTgt spid="18"/>
                                        </p:tgtEl>
                                      </p:cBhvr>
                                    </p:animEffect>
                                  </p:childTnLst>
                                </p:cTn>
                              </p:par>
                              <p:par>
                                <p:cTn id="51" presetID="53" presetClass="entr" presetSubtype="16"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p:cTn id="53" dur="450" fill="hold"/>
                                        <p:tgtEl>
                                          <p:spTgt spid="19"/>
                                        </p:tgtEl>
                                        <p:attrNameLst>
                                          <p:attrName>ppt_w</p:attrName>
                                        </p:attrNameLst>
                                      </p:cBhvr>
                                      <p:tavLst>
                                        <p:tav tm="0">
                                          <p:val>
                                            <p:fltVal val="0"/>
                                          </p:val>
                                        </p:tav>
                                        <p:tav tm="100000">
                                          <p:val>
                                            <p:strVal val="#ppt_w"/>
                                          </p:val>
                                        </p:tav>
                                      </p:tavLst>
                                    </p:anim>
                                    <p:anim calcmode="lin" valueType="num">
                                      <p:cBhvr>
                                        <p:cTn id="54" dur="450" fill="hold"/>
                                        <p:tgtEl>
                                          <p:spTgt spid="19"/>
                                        </p:tgtEl>
                                        <p:attrNameLst>
                                          <p:attrName>ppt_h</p:attrName>
                                        </p:attrNameLst>
                                      </p:cBhvr>
                                      <p:tavLst>
                                        <p:tav tm="0">
                                          <p:val>
                                            <p:fltVal val="0"/>
                                          </p:val>
                                        </p:tav>
                                        <p:tav tm="100000">
                                          <p:val>
                                            <p:strVal val="#ppt_h"/>
                                          </p:val>
                                        </p:tav>
                                      </p:tavLst>
                                    </p:anim>
                                    <p:animEffect transition="in" filter="fade">
                                      <p:cBhvr>
                                        <p:cTn id="55" dur="450"/>
                                        <p:tgtEl>
                                          <p:spTgt spid="19"/>
                                        </p:tgtEl>
                                      </p:cBhvr>
                                    </p:animEffect>
                                  </p:childTnLst>
                                </p:cTn>
                              </p:par>
                            </p:childTnLst>
                          </p:cTn>
                        </p:par>
                        <p:par>
                          <p:cTn id="56" fill="hold">
                            <p:stCondLst>
                              <p:cond delay="600"/>
                            </p:stCondLst>
                            <p:childTnLst>
                              <p:par>
                                <p:cTn id="57" presetID="53" presetClass="entr" presetSubtype="16" fill="hold" nodeType="after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p:cTn id="59" dur="450" fill="hold"/>
                                        <p:tgtEl>
                                          <p:spTgt spid="20"/>
                                        </p:tgtEl>
                                        <p:attrNameLst>
                                          <p:attrName>ppt_w</p:attrName>
                                        </p:attrNameLst>
                                      </p:cBhvr>
                                      <p:tavLst>
                                        <p:tav tm="0">
                                          <p:val>
                                            <p:fltVal val="0"/>
                                          </p:val>
                                        </p:tav>
                                        <p:tav tm="100000">
                                          <p:val>
                                            <p:strVal val="#ppt_w"/>
                                          </p:val>
                                        </p:tav>
                                      </p:tavLst>
                                    </p:anim>
                                    <p:anim calcmode="lin" valueType="num">
                                      <p:cBhvr>
                                        <p:cTn id="60" dur="450" fill="hold"/>
                                        <p:tgtEl>
                                          <p:spTgt spid="20"/>
                                        </p:tgtEl>
                                        <p:attrNameLst>
                                          <p:attrName>ppt_h</p:attrName>
                                        </p:attrNameLst>
                                      </p:cBhvr>
                                      <p:tavLst>
                                        <p:tav tm="0">
                                          <p:val>
                                            <p:fltVal val="0"/>
                                          </p:val>
                                        </p:tav>
                                        <p:tav tm="100000">
                                          <p:val>
                                            <p:strVal val="#ppt_h"/>
                                          </p:val>
                                        </p:tav>
                                      </p:tavLst>
                                    </p:anim>
                                    <p:animEffect transition="in" filter="fade">
                                      <p:cBhvr>
                                        <p:cTn id="61" dur="450"/>
                                        <p:tgtEl>
                                          <p:spTgt spid="20"/>
                                        </p:tgtEl>
                                      </p:cBhvr>
                                    </p:animEffect>
                                  </p:childTnLst>
                                </p:cTn>
                              </p:par>
                              <p:par>
                                <p:cTn id="62" presetID="53" presetClass="entr" presetSubtype="16"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p:cTn id="64" dur="450" fill="hold"/>
                                        <p:tgtEl>
                                          <p:spTgt spid="21"/>
                                        </p:tgtEl>
                                        <p:attrNameLst>
                                          <p:attrName>ppt_w</p:attrName>
                                        </p:attrNameLst>
                                      </p:cBhvr>
                                      <p:tavLst>
                                        <p:tav tm="0">
                                          <p:val>
                                            <p:fltVal val="0"/>
                                          </p:val>
                                        </p:tav>
                                        <p:tav tm="100000">
                                          <p:val>
                                            <p:strVal val="#ppt_w"/>
                                          </p:val>
                                        </p:tav>
                                      </p:tavLst>
                                    </p:anim>
                                    <p:anim calcmode="lin" valueType="num">
                                      <p:cBhvr>
                                        <p:cTn id="65" dur="450" fill="hold"/>
                                        <p:tgtEl>
                                          <p:spTgt spid="21"/>
                                        </p:tgtEl>
                                        <p:attrNameLst>
                                          <p:attrName>ppt_h</p:attrName>
                                        </p:attrNameLst>
                                      </p:cBhvr>
                                      <p:tavLst>
                                        <p:tav tm="0">
                                          <p:val>
                                            <p:fltVal val="0"/>
                                          </p:val>
                                        </p:tav>
                                        <p:tav tm="100000">
                                          <p:val>
                                            <p:strVal val="#ppt_h"/>
                                          </p:val>
                                        </p:tav>
                                      </p:tavLst>
                                    </p:anim>
                                    <p:animEffect transition="in" filter="fade">
                                      <p:cBhvr>
                                        <p:cTn id="66" dur="450"/>
                                        <p:tgtEl>
                                          <p:spTgt spid="21"/>
                                        </p:tgtEl>
                                      </p:cBhvr>
                                    </p:animEffect>
                                  </p:childTnLst>
                                </p:cTn>
                              </p:par>
                              <p:par>
                                <p:cTn id="67" presetID="53" presetClass="entr" presetSubtype="16"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p:cTn id="69" dur="450" fill="hold"/>
                                        <p:tgtEl>
                                          <p:spTgt spid="22"/>
                                        </p:tgtEl>
                                        <p:attrNameLst>
                                          <p:attrName>ppt_w</p:attrName>
                                        </p:attrNameLst>
                                      </p:cBhvr>
                                      <p:tavLst>
                                        <p:tav tm="0">
                                          <p:val>
                                            <p:fltVal val="0"/>
                                          </p:val>
                                        </p:tav>
                                        <p:tav tm="100000">
                                          <p:val>
                                            <p:strVal val="#ppt_w"/>
                                          </p:val>
                                        </p:tav>
                                      </p:tavLst>
                                    </p:anim>
                                    <p:anim calcmode="lin" valueType="num">
                                      <p:cBhvr>
                                        <p:cTn id="70" dur="450" fill="hold"/>
                                        <p:tgtEl>
                                          <p:spTgt spid="22"/>
                                        </p:tgtEl>
                                        <p:attrNameLst>
                                          <p:attrName>ppt_h</p:attrName>
                                        </p:attrNameLst>
                                      </p:cBhvr>
                                      <p:tavLst>
                                        <p:tav tm="0">
                                          <p:val>
                                            <p:fltVal val="0"/>
                                          </p:val>
                                        </p:tav>
                                        <p:tav tm="100000">
                                          <p:val>
                                            <p:strVal val="#ppt_h"/>
                                          </p:val>
                                        </p:tav>
                                      </p:tavLst>
                                    </p:anim>
                                    <p:animEffect transition="in" filter="fade">
                                      <p:cBhvr>
                                        <p:cTn id="71" dur="450"/>
                                        <p:tgtEl>
                                          <p:spTgt spid="22"/>
                                        </p:tgtEl>
                                      </p:cBhvr>
                                    </p:animEffect>
                                  </p:childTnLst>
                                </p:cTn>
                              </p:par>
                              <p:par>
                                <p:cTn id="72" presetID="53" presetClass="entr" presetSubtype="16"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anim calcmode="lin" valueType="num">
                                      <p:cBhvr>
                                        <p:cTn id="74" dur="450" fill="hold"/>
                                        <p:tgtEl>
                                          <p:spTgt spid="23"/>
                                        </p:tgtEl>
                                        <p:attrNameLst>
                                          <p:attrName>ppt_w</p:attrName>
                                        </p:attrNameLst>
                                      </p:cBhvr>
                                      <p:tavLst>
                                        <p:tav tm="0">
                                          <p:val>
                                            <p:fltVal val="0"/>
                                          </p:val>
                                        </p:tav>
                                        <p:tav tm="100000">
                                          <p:val>
                                            <p:strVal val="#ppt_w"/>
                                          </p:val>
                                        </p:tav>
                                      </p:tavLst>
                                    </p:anim>
                                    <p:anim calcmode="lin" valueType="num">
                                      <p:cBhvr>
                                        <p:cTn id="75" dur="450" fill="hold"/>
                                        <p:tgtEl>
                                          <p:spTgt spid="23"/>
                                        </p:tgtEl>
                                        <p:attrNameLst>
                                          <p:attrName>ppt_h</p:attrName>
                                        </p:attrNameLst>
                                      </p:cBhvr>
                                      <p:tavLst>
                                        <p:tav tm="0">
                                          <p:val>
                                            <p:fltVal val="0"/>
                                          </p:val>
                                        </p:tav>
                                        <p:tav tm="100000">
                                          <p:val>
                                            <p:strVal val="#ppt_h"/>
                                          </p:val>
                                        </p:tav>
                                      </p:tavLst>
                                    </p:anim>
                                    <p:animEffect transition="in" filter="fade">
                                      <p:cBhvr>
                                        <p:cTn id="76" dur="450"/>
                                        <p:tgtEl>
                                          <p:spTgt spid="23"/>
                                        </p:tgtEl>
                                      </p:cBhvr>
                                    </p:animEffect>
                                  </p:childTnLst>
                                </p:cTn>
                              </p:par>
                              <p:par>
                                <p:cTn id="77" presetID="53" presetClass="entr" presetSubtype="16" fill="hold"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p:cTn id="79" dur="450" fill="hold"/>
                                        <p:tgtEl>
                                          <p:spTgt spid="24"/>
                                        </p:tgtEl>
                                        <p:attrNameLst>
                                          <p:attrName>ppt_w</p:attrName>
                                        </p:attrNameLst>
                                      </p:cBhvr>
                                      <p:tavLst>
                                        <p:tav tm="0">
                                          <p:val>
                                            <p:fltVal val="0"/>
                                          </p:val>
                                        </p:tav>
                                        <p:tav tm="100000">
                                          <p:val>
                                            <p:strVal val="#ppt_w"/>
                                          </p:val>
                                        </p:tav>
                                      </p:tavLst>
                                    </p:anim>
                                    <p:anim calcmode="lin" valueType="num">
                                      <p:cBhvr>
                                        <p:cTn id="80" dur="450" fill="hold"/>
                                        <p:tgtEl>
                                          <p:spTgt spid="24"/>
                                        </p:tgtEl>
                                        <p:attrNameLst>
                                          <p:attrName>ppt_h</p:attrName>
                                        </p:attrNameLst>
                                      </p:cBhvr>
                                      <p:tavLst>
                                        <p:tav tm="0">
                                          <p:val>
                                            <p:fltVal val="0"/>
                                          </p:val>
                                        </p:tav>
                                        <p:tav tm="100000">
                                          <p:val>
                                            <p:strVal val="#ppt_h"/>
                                          </p:val>
                                        </p:tav>
                                      </p:tavLst>
                                    </p:anim>
                                    <p:animEffect transition="in" filter="fade">
                                      <p:cBhvr>
                                        <p:cTn id="81" dur="450"/>
                                        <p:tgtEl>
                                          <p:spTgt spid="24"/>
                                        </p:tgtEl>
                                      </p:cBhvr>
                                    </p:animEffect>
                                  </p:childTnLst>
                                </p:cTn>
                              </p:par>
                            </p:childTnLst>
                          </p:cTn>
                        </p:par>
                        <p:par>
                          <p:cTn id="82" fill="hold">
                            <p:stCondLst>
                              <p:cond delay="900"/>
                            </p:stCondLst>
                            <p:childTnLst>
                              <p:par>
                                <p:cTn id="83" presetID="53" presetClass="entr" presetSubtype="16" fill="hold" nodeType="after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p:cTn id="85" dur="450" fill="hold"/>
                                        <p:tgtEl>
                                          <p:spTgt spid="25"/>
                                        </p:tgtEl>
                                        <p:attrNameLst>
                                          <p:attrName>ppt_w</p:attrName>
                                        </p:attrNameLst>
                                      </p:cBhvr>
                                      <p:tavLst>
                                        <p:tav tm="0">
                                          <p:val>
                                            <p:fltVal val="0"/>
                                          </p:val>
                                        </p:tav>
                                        <p:tav tm="100000">
                                          <p:val>
                                            <p:strVal val="#ppt_w"/>
                                          </p:val>
                                        </p:tav>
                                      </p:tavLst>
                                    </p:anim>
                                    <p:anim calcmode="lin" valueType="num">
                                      <p:cBhvr>
                                        <p:cTn id="86" dur="450" fill="hold"/>
                                        <p:tgtEl>
                                          <p:spTgt spid="25"/>
                                        </p:tgtEl>
                                        <p:attrNameLst>
                                          <p:attrName>ppt_h</p:attrName>
                                        </p:attrNameLst>
                                      </p:cBhvr>
                                      <p:tavLst>
                                        <p:tav tm="0">
                                          <p:val>
                                            <p:fltVal val="0"/>
                                          </p:val>
                                        </p:tav>
                                        <p:tav tm="100000">
                                          <p:val>
                                            <p:strVal val="#ppt_h"/>
                                          </p:val>
                                        </p:tav>
                                      </p:tavLst>
                                    </p:anim>
                                    <p:animEffect transition="in" filter="fade">
                                      <p:cBhvr>
                                        <p:cTn id="87" dur="450"/>
                                        <p:tgtEl>
                                          <p:spTgt spid="25"/>
                                        </p:tgtEl>
                                      </p:cBhvr>
                                    </p:animEffect>
                                  </p:childTnLst>
                                </p:cTn>
                              </p:par>
                              <p:par>
                                <p:cTn id="88" presetID="53" presetClass="entr" presetSubtype="16" fill="hold" nodeType="withEffect">
                                  <p:stCondLst>
                                    <p:cond delay="0"/>
                                  </p:stCondLst>
                                  <p:childTnLst>
                                    <p:set>
                                      <p:cBhvr>
                                        <p:cTn id="89" dur="1" fill="hold">
                                          <p:stCondLst>
                                            <p:cond delay="0"/>
                                          </p:stCondLst>
                                        </p:cTn>
                                        <p:tgtEl>
                                          <p:spTgt spid="26"/>
                                        </p:tgtEl>
                                        <p:attrNameLst>
                                          <p:attrName>style.visibility</p:attrName>
                                        </p:attrNameLst>
                                      </p:cBhvr>
                                      <p:to>
                                        <p:strVal val="visible"/>
                                      </p:to>
                                    </p:set>
                                    <p:anim calcmode="lin" valueType="num">
                                      <p:cBhvr>
                                        <p:cTn id="90" dur="450" fill="hold"/>
                                        <p:tgtEl>
                                          <p:spTgt spid="26"/>
                                        </p:tgtEl>
                                        <p:attrNameLst>
                                          <p:attrName>ppt_w</p:attrName>
                                        </p:attrNameLst>
                                      </p:cBhvr>
                                      <p:tavLst>
                                        <p:tav tm="0">
                                          <p:val>
                                            <p:fltVal val="0"/>
                                          </p:val>
                                        </p:tav>
                                        <p:tav tm="100000">
                                          <p:val>
                                            <p:strVal val="#ppt_w"/>
                                          </p:val>
                                        </p:tav>
                                      </p:tavLst>
                                    </p:anim>
                                    <p:anim calcmode="lin" valueType="num">
                                      <p:cBhvr>
                                        <p:cTn id="91" dur="450" fill="hold"/>
                                        <p:tgtEl>
                                          <p:spTgt spid="26"/>
                                        </p:tgtEl>
                                        <p:attrNameLst>
                                          <p:attrName>ppt_h</p:attrName>
                                        </p:attrNameLst>
                                      </p:cBhvr>
                                      <p:tavLst>
                                        <p:tav tm="0">
                                          <p:val>
                                            <p:fltVal val="0"/>
                                          </p:val>
                                        </p:tav>
                                        <p:tav tm="100000">
                                          <p:val>
                                            <p:strVal val="#ppt_h"/>
                                          </p:val>
                                        </p:tav>
                                      </p:tavLst>
                                    </p:anim>
                                    <p:animEffect transition="in" filter="fade">
                                      <p:cBhvr>
                                        <p:cTn id="92" dur="450"/>
                                        <p:tgtEl>
                                          <p:spTgt spid="26"/>
                                        </p:tgtEl>
                                      </p:cBhvr>
                                    </p:animEffect>
                                  </p:childTnLst>
                                </p:cTn>
                              </p:par>
                              <p:par>
                                <p:cTn id="93" presetID="53" presetClass="entr" presetSubtype="16" fill="hold" nodeType="withEffect">
                                  <p:stCondLst>
                                    <p:cond delay="0"/>
                                  </p:stCondLst>
                                  <p:childTnLst>
                                    <p:set>
                                      <p:cBhvr>
                                        <p:cTn id="94" dur="1" fill="hold">
                                          <p:stCondLst>
                                            <p:cond delay="0"/>
                                          </p:stCondLst>
                                        </p:cTn>
                                        <p:tgtEl>
                                          <p:spTgt spid="27"/>
                                        </p:tgtEl>
                                        <p:attrNameLst>
                                          <p:attrName>style.visibility</p:attrName>
                                        </p:attrNameLst>
                                      </p:cBhvr>
                                      <p:to>
                                        <p:strVal val="visible"/>
                                      </p:to>
                                    </p:set>
                                    <p:anim calcmode="lin" valueType="num">
                                      <p:cBhvr>
                                        <p:cTn id="95" dur="450" fill="hold"/>
                                        <p:tgtEl>
                                          <p:spTgt spid="27"/>
                                        </p:tgtEl>
                                        <p:attrNameLst>
                                          <p:attrName>ppt_w</p:attrName>
                                        </p:attrNameLst>
                                      </p:cBhvr>
                                      <p:tavLst>
                                        <p:tav tm="0">
                                          <p:val>
                                            <p:fltVal val="0"/>
                                          </p:val>
                                        </p:tav>
                                        <p:tav tm="100000">
                                          <p:val>
                                            <p:strVal val="#ppt_w"/>
                                          </p:val>
                                        </p:tav>
                                      </p:tavLst>
                                    </p:anim>
                                    <p:anim calcmode="lin" valueType="num">
                                      <p:cBhvr>
                                        <p:cTn id="96" dur="450" fill="hold"/>
                                        <p:tgtEl>
                                          <p:spTgt spid="27"/>
                                        </p:tgtEl>
                                        <p:attrNameLst>
                                          <p:attrName>ppt_h</p:attrName>
                                        </p:attrNameLst>
                                      </p:cBhvr>
                                      <p:tavLst>
                                        <p:tav tm="0">
                                          <p:val>
                                            <p:fltVal val="0"/>
                                          </p:val>
                                        </p:tav>
                                        <p:tav tm="100000">
                                          <p:val>
                                            <p:strVal val="#ppt_h"/>
                                          </p:val>
                                        </p:tav>
                                      </p:tavLst>
                                    </p:anim>
                                    <p:animEffect transition="in" filter="fade">
                                      <p:cBhvr>
                                        <p:cTn id="97" dur="450"/>
                                        <p:tgtEl>
                                          <p:spTgt spid="27"/>
                                        </p:tgtEl>
                                      </p:cBhvr>
                                    </p:animEffect>
                                  </p:childTnLst>
                                </p:cTn>
                              </p:par>
                              <p:par>
                                <p:cTn id="98" presetID="53" presetClass="entr" presetSubtype="16" fill="hold" nodeType="with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p:cTn id="100" dur="450" fill="hold"/>
                                        <p:tgtEl>
                                          <p:spTgt spid="28"/>
                                        </p:tgtEl>
                                        <p:attrNameLst>
                                          <p:attrName>ppt_w</p:attrName>
                                        </p:attrNameLst>
                                      </p:cBhvr>
                                      <p:tavLst>
                                        <p:tav tm="0">
                                          <p:val>
                                            <p:fltVal val="0"/>
                                          </p:val>
                                        </p:tav>
                                        <p:tav tm="100000">
                                          <p:val>
                                            <p:strVal val="#ppt_w"/>
                                          </p:val>
                                        </p:tav>
                                      </p:tavLst>
                                    </p:anim>
                                    <p:anim calcmode="lin" valueType="num">
                                      <p:cBhvr>
                                        <p:cTn id="101" dur="450" fill="hold"/>
                                        <p:tgtEl>
                                          <p:spTgt spid="28"/>
                                        </p:tgtEl>
                                        <p:attrNameLst>
                                          <p:attrName>ppt_h</p:attrName>
                                        </p:attrNameLst>
                                      </p:cBhvr>
                                      <p:tavLst>
                                        <p:tav tm="0">
                                          <p:val>
                                            <p:fltVal val="0"/>
                                          </p:val>
                                        </p:tav>
                                        <p:tav tm="100000">
                                          <p:val>
                                            <p:strVal val="#ppt_h"/>
                                          </p:val>
                                        </p:tav>
                                      </p:tavLst>
                                    </p:anim>
                                    <p:animEffect transition="in" filter="fade">
                                      <p:cBhvr>
                                        <p:cTn id="102" dur="450"/>
                                        <p:tgtEl>
                                          <p:spTgt spid="28"/>
                                        </p:tgtEl>
                                      </p:cBhvr>
                                    </p:animEffect>
                                  </p:childTnLst>
                                </p:cTn>
                              </p:par>
                              <p:par>
                                <p:cTn id="103" presetID="53" presetClass="entr" presetSubtype="16" fill="hold" nodeType="with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p:cTn id="105" dur="450" fill="hold"/>
                                        <p:tgtEl>
                                          <p:spTgt spid="29"/>
                                        </p:tgtEl>
                                        <p:attrNameLst>
                                          <p:attrName>ppt_w</p:attrName>
                                        </p:attrNameLst>
                                      </p:cBhvr>
                                      <p:tavLst>
                                        <p:tav tm="0">
                                          <p:val>
                                            <p:fltVal val="0"/>
                                          </p:val>
                                        </p:tav>
                                        <p:tav tm="100000">
                                          <p:val>
                                            <p:strVal val="#ppt_w"/>
                                          </p:val>
                                        </p:tav>
                                      </p:tavLst>
                                    </p:anim>
                                    <p:anim calcmode="lin" valueType="num">
                                      <p:cBhvr>
                                        <p:cTn id="106" dur="450" fill="hold"/>
                                        <p:tgtEl>
                                          <p:spTgt spid="29"/>
                                        </p:tgtEl>
                                        <p:attrNameLst>
                                          <p:attrName>ppt_h</p:attrName>
                                        </p:attrNameLst>
                                      </p:cBhvr>
                                      <p:tavLst>
                                        <p:tav tm="0">
                                          <p:val>
                                            <p:fltVal val="0"/>
                                          </p:val>
                                        </p:tav>
                                        <p:tav tm="100000">
                                          <p:val>
                                            <p:strVal val="#ppt_h"/>
                                          </p:val>
                                        </p:tav>
                                      </p:tavLst>
                                    </p:anim>
                                    <p:animEffect transition="in" filter="fade">
                                      <p:cBhvr>
                                        <p:cTn id="107" dur="450"/>
                                        <p:tgtEl>
                                          <p:spTgt spid="29"/>
                                        </p:tgtEl>
                                      </p:cBhvr>
                                    </p:animEffect>
                                  </p:childTnLst>
                                </p:cTn>
                              </p:par>
                            </p:childTnLst>
                          </p:cTn>
                        </p:par>
                        <p:par>
                          <p:cTn id="108" fill="hold">
                            <p:stCondLst>
                              <p:cond delay="1200"/>
                            </p:stCondLst>
                            <p:childTnLst>
                              <p:par>
                                <p:cTn id="109" presetID="53" presetClass="entr" presetSubtype="16" fill="hold" nodeType="afterEffect">
                                  <p:stCondLst>
                                    <p:cond delay="0"/>
                                  </p:stCondLst>
                                  <p:childTnLst>
                                    <p:set>
                                      <p:cBhvr>
                                        <p:cTn id="110" dur="1" fill="hold">
                                          <p:stCondLst>
                                            <p:cond delay="0"/>
                                          </p:stCondLst>
                                        </p:cTn>
                                        <p:tgtEl>
                                          <p:spTgt spid="30"/>
                                        </p:tgtEl>
                                        <p:attrNameLst>
                                          <p:attrName>style.visibility</p:attrName>
                                        </p:attrNameLst>
                                      </p:cBhvr>
                                      <p:to>
                                        <p:strVal val="visible"/>
                                      </p:to>
                                    </p:set>
                                    <p:anim calcmode="lin" valueType="num">
                                      <p:cBhvr>
                                        <p:cTn id="111" dur="450" fill="hold"/>
                                        <p:tgtEl>
                                          <p:spTgt spid="30"/>
                                        </p:tgtEl>
                                        <p:attrNameLst>
                                          <p:attrName>ppt_w</p:attrName>
                                        </p:attrNameLst>
                                      </p:cBhvr>
                                      <p:tavLst>
                                        <p:tav tm="0">
                                          <p:val>
                                            <p:fltVal val="0"/>
                                          </p:val>
                                        </p:tav>
                                        <p:tav tm="100000">
                                          <p:val>
                                            <p:strVal val="#ppt_w"/>
                                          </p:val>
                                        </p:tav>
                                      </p:tavLst>
                                    </p:anim>
                                    <p:anim calcmode="lin" valueType="num">
                                      <p:cBhvr>
                                        <p:cTn id="112" dur="450" fill="hold"/>
                                        <p:tgtEl>
                                          <p:spTgt spid="30"/>
                                        </p:tgtEl>
                                        <p:attrNameLst>
                                          <p:attrName>ppt_h</p:attrName>
                                        </p:attrNameLst>
                                      </p:cBhvr>
                                      <p:tavLst>
                                        <p:tav tm="0">
                                          <p:val>
                                            <p:fltVal val="0"/>
                                          </p:val>
                                        </p:tav>
                                        <p:tav tm="100000">
                                          <p:val>
                                            <p:strVal val="#ppt_h"/>
                                          </p:val>
                                        </p:tav>
                                      </p:tavLst>
                                    </p:anim>
                                    <p:animEffect transition="in" filter="fade">
                                      <p:cBhvr>
                                        <p:cTn id="113" dur="450"/>
                                        <p:tgtEl>
                                          <p:spTgt spid="30"/>
                                        </p:tgtEl>
                                      </p:cBhvr>
                                    </p:animEffect>
                                  </p:childTnLst>
                                </p:cTn>
                              </p:par>
                              <p:par>
                                <p:cTn id="114" presetID="53" presetClass="entr" presetSubtype="16" fill="hold" nodeType="withEffect">
                                  <p:stCondLst>
                                    <p:cond delay="0"/>
                                  </p:stCondLst>
                                  <p:childTnLst>
                                    <p:set>
                                      <p:cBhvr>
                                        <p:cTn id="115" dur="1" fill="hold">
                                          <p:stCondLst>
                                            <p:cond delay="0"/>
                                          </p:stCondLst>
                                        </p:cTn>
                                        <p:tgtEl>
                                          <p:spTgt spid="31"/>
                                        </p:tgtEl>
                                        <p:attrNameLst>
                                          <p:attrName>style.visibility</p:attrName>
                                        </p:attrNameLst>
                                      </p:cBhvr>
                                      <p:to>
                                        <p:strVal val="visible"/>
                                      </p:to>
                                    </p:set>
                                    <p:anim calcmode="lin" valueType="num">
                                      <p:cBhvr>
                                        <p:cTn id="116" dur="450" fill="hold"/>
                                        <p:tgtEl>
                                          <p:spTgt spid="31"/>
                                        </p:tgtEl>
                                        <p:attrNameLst>
                                          <p:attrName>ppt_w</p:attrName>
                                        </p:attrNameLst>
                                      </p:cBhvr>
                                      <p:tavLst>
                                        <p:tav tm="0">
                                          <p:val>
                                            <p:fltVal val="0"/>
                                          </p:val>
                                        </p:tav>
                                        <p:tav tm="100000">
                                          <p:val>
                                            <p:strVal val="#ppt_w"/>
                                          </p:val>
                                        </p:tav>
                                      </p:tavLst>
                                    </p:anim>
                                    <p:anim calcmode="lin" valueType="num">
                                      <p:cBhvr>
                                        <p:cTn id="117" dur="450" fill="hold"/>
                                        <p:tgtEl>
                                          <p:spTgt spid="31"/>
                                        </p:tgtEl>
                                        <p:attrNameLst>
                                          <p:attrName>ppt_h</p:attrName>
                                        </p:attrNameLst>
                                      </p:cBhvr>
                                      <p:tavLst>
                                        <p:tav tm="0">
                                          <p:val>
                                            <p:fltVal val="0"/>
                                          </p:val>
                                        </p:tav>
                                        <p:tav tm="100000">
                                          <p:val>
                                            <p:strVal val="#ppt_h"/>
                                          </p:val>
                                        </p:tav>
                                      </p:tavLst>
                                    </p:anim>
                                    <p:animEffect transition="in" filter="fade">
                                      <p:cBhvr>
                                        <p:cTn id="118" dur="450"/>
                                        <p:tgtEl>
                                          <p:spTgt spid="31"/>
                                        </p:tgtEl>
                                      </p:cBhvr>
                                    </p:animEffect>
                                  </p:childTnLst>
                                </p:cTn>
                              </p:par>
                              <p:par>
                                <p:cTn id="119" presetID="53" presetClass="entr" presetSubtype="16" fill="hold" nodeType="withEffect">
                                  <p:stCondLst>
                                    <p:cond delay="0"/>
                                  </p:stCondLst>
                                  <p:childTnLst>
                                    <p:set>
                                      <p:cBhvr>
                                        <p:cTn id="120" dur="1" fill="hold">
                                          <p:stCondLst>
                                            <p:cond delay="0"/>
                                          </p:stCondLst>
                                        </p:cTn>
                                        <p:tgtEl>
                                          <p:spTgt spid="32"/>
                                        </p:tgtEl>
                                        <p:attrNameLst>
                                          <p:attrName>style.visibility</p:attrName>
                                        </p:attrNameLst>
                                      </p:cBhvr>
                                      <p:to>
                                        <p:strVal val="visible"/>
                                      </p:to>
                                    </p:set>
                                    <p:anim calcmode="lin" valueType="num">
                                      <p:cBhvr>
                                        <p:cTn id="121" dur="450" fill="hold"/>
                                        <p:tgtEl>
                                          <p:spTgt spid="32"/>
                                        </p:tgtEl>
                                        <p:attrNameLst>
                                          <p:attrName>ppt_w</p:attrName>
                                        </p:attrNameLst>
                                      </p:cBhvr>
                                      <p:tavLst>
                                        <p:tav tm="0">
                                          <p:val>
                                            <p:fltVal val="0"/>
                                          </p:val>
                                        </p:tav>
                                        <p:tav tm="100000">
                                          <p:val>
                                            <p:strVal val="#ppt_w"/>
                                          </p:val>
                                        </p:tav>
                                      </p:tavLst>
                                    </p:anim>
                                    <p:anim calcmode="lin" valueType="num">
                                      <p:cBhvr>
                                        <p:cTn id="122" dur="450" fill="hold"/>
                                        <p:tgtEl>
                                          <p:spTgt spid="32"/>
                                        </p:tgtEl>
                                        <p:attrNameLst>
                                          <p:attrName>ppt_h</p:attrName>
                                        </p:attrNameLst>
                                      </p:cBhvr>
                                      <p:tavLst>
                                        <p:tav tm="0">
                                          <p:val>
                                            <p:fltVal val="0"/>
                                          </p:val>
                                        </p:tav>
                                        <p:tav tm="100000">
                                          <p:val>
                                            <p:strVal val="#ppt_h"/>
                                          </p:val>
                                        </p:tav>
                                      </p:tavLst>
                                    </p:anim>
                                    <p:animEffect transition="in" filter="fade">
                                      <p:cBhvr>
                                        <p:cTn id="123" dur="450"/>
                                        <p:tgtEl>
                                          <p:spTgt spid="32"/>
                                        </p:tgtEl>
                                      </p:cBhvr>
                                    </p:animEffect>
                                  </p:childTnLst>
                                </p:cTn>
                              </p:par>
                              <p:par>
                                <p:cTn id="124" presetID="53" presetClass="entr" presetSubtype="16" fill="hold" nodeType="withEffect">
                                  <p:stCondLst>
                                    <p:cond delay="0"/>
                                  </p:stCondLst>
                                  <p:childTnLst>
                                    <p:set>
                                      <p:cBhvr>
                                        <p:cTn id="125" dur="1" fill="hold">
                                          <p:stCondLst>
                                            <p:cond delay="0"/>
                                          </p:stCondLst>
                                        </p:cTn>
                                        <p:tgtEl>
                                          <p:spTgt spid="33"/>
                                        </p:tgtEl>
                                        <p:attrNameLst>
                                          <p:attrName>style.visibility</p:attrName>
                                        </p:attrNameLst>
                                      </p:cBhvr>
                                      <p:to>
                                        <p:strVal val="visible"/>
                                      </p:to>
                                    </p:set>
                                    <p:anim calcmode="lin" valueType="num">
                                      <p:cBhvr>
                                        <p:cTn id="126" dur="450" fill="hold"/>
                                        <p:tgtEl>
                                          <p:spTgt spid="33"/>
                                        </p:tgtEl>
                                        <p:attrNameLst>
                                          <p:attrName>ppt_w</p:attrName>
                                        </p:attrNameLst>
                                      </p:cBhvr>
                                      <p:tavLst>
                                        <p:tav tm="0">
                                          <p:val>
                                            <p:fltVal val="0"/>
                                          </p:val>
                                        </p:tav>
                                        <p:tav tm="100000">
                                          <p:val>
                                            <p:strVal val="#ppt_w"/>
                                          </p:val>
                                        </p:tav>
                                      </p:tavLst>
                                    </p:anim>
                                    <p:anim calcmode="lin" valueType="num">
                                      <p:cBhvr>
                                        <p:cTn id="127" dur="450" fill="hold"/>
                                        <p:tgtEl>
                                          <p:spTgt spid="33"/>
                                        </p:tgtEl>
                                        <p:attrNameLst>
                                          <p:attrName>ppt_h</p:attrName>
                                        </p:attrNameLst>
                                      </p:cBhvr>
                                      <p:tavLst>
                                        <p:tav tm="0">
                                          <p:val>
                                            <p:fltVal val="0"/>
                                          </p:val>
                                        </p:tav>
                                        <p:tav tm="100000">
                                          <p:val>
                                            <p:strVal val="#ppt_h"/>
                                          </p:val>
                                        </p:tav>
                                      </p:tavLst>
                                    </p:anim>
                                    <p:animEffect transition="in" filter="fade">
                                      <p:cBhvr>
                                        <p:cTn id="128" dur="450"/>
                                        <p:tgtEl>
                                          <p:spTgt spid="33"/>
                                        </p:tgtEl>
                                      </p:cBhvr>
                                    </p:animEffect>
                                  </p:childTnLst>
                                </p:cTn>
                              </p:par>
                              <p:par>
                                <p:cTn id="129" presetID="53" presetClass="entr" presetSubtype="16" fill="hold" nodeType="withEffect">
                                  <p:stCondLst>
                                    <p:cond delay="0"/>
                                  </p:stCondLst>
                                  <p:childTnLst>
                                    <p:set>
                                      <p:cBhvr>
                                        <p:cTn id="130" dur="1" fill="hold">
                                          <p:stCondLst>
                                            <p:cond delay="0"/>
                                          </p:stCondLst>
                                        </p:cTn>
                                        <p:tgtEl>
                                          <p:spTgt spid="34"/>
                                        </p:tgtEl>
                                        <p:attrNameLst>
                                          <p:attrName>style.visibility</p:attrName>
                                        </p:attrNameLst>
                                      </p:cBhvr>
                                      <p:to>
                                        <p:strVal val="visible"/>
                                      </p:to>
                                    </p:set>
                                    <p:anim calcmode="lin" valueType="num">
                                      <p:cBhvr>
                                        <p:cTn id="131" dur="450" fill="hold"/>
                                        <p:tgtEl>
                                          <p:spTgt spid="34"/>
                                        </p:tgtEl>
                                        <p:attrNameLst>
                                          <p:attrName>ppt_w</p:attrName>
                                        </p:attrNameLst>
                                      </p:cBhvr>
                                      <p:tavLst>
                                        <p:tav tm="0">
                                          <p:val>
                                            <p:fltVal val="0"/>
                                          </p:val>
                                        </p:tav>
                                        <p:tav tm="100000">
                                          <p:val>
                                            <p:strVal val="#ppt_w"/>
                                          </p:val>
                                        </p:tav>
                                      </p:tavLst>
                                    </p:anim>
                                    <p:anim calcmode="lin" valueType="num">
                                      <p:cBhvr>
                                        <p:cTn id="132" dur="450" fill="hold"/>
                                        <p:tgtEl>
                                          <p:spTgt spid="34"/>
                                        </p:tgtEl>
                                        <p:attrNameLst>
                                          <p:attrName>ppt_h</p:attrName>
                                        </p:attrNameLst>
                                      </p:cBhvr>
                                      <p:tavLst>
                                        <p:tav tm="0">
                                          <p:val>
                                            <p:fltVal val="0"/>
                                          </p:val>
                                        </p:tav>
                                        <p:tav tm="100000">
                                          <p:val>
                                            <p:strVal val="#ppt_h"/>
                                          </p:val>
                                        </p:tav>
                                      </p:tavLst>
                                    </p:anim>
                                    <p:animEffect transition="in" filter="fade">
                                      <p:cBhvr>
                                        <p:cTn id="133" dur="450"/>
                                        <p:tgtEl>
                                          <p:spTgt spid="34"/>
                                        </p:tgtEl>
                                      </p:cBhvr>
                                    </p:animEffect>
                                  </p:childTnLst>
                                </p:cTn>
                              </p:par>
                            </p:childTnLst>
                          </p:cTn>
                        </p:par>
                        <p:par>
                          <p:cTn id="134" fill="hold">
                            <p:stCondLst>
                              <p:cond delay="1500"/>
                            </p:stCondLst>
                            <p:childTnLst>
                              <p:par>
                                <p:cTn id="135" presetID="53" presetClass="entr" presetSubtype="16" fill="hold" nodeType="afterEffect">
                                  <p:stCondLst>
                                    <p:cond delay="0"/>
                                  </p:stCondLst>
                                  <p:childTnLst>
                                    <p:set>
                                      <p:cBhvr>
                                        <p:cTn id="136" dur="1" fill="hold">
                                          <p:stCondLst>
                                            <p:cond delay="0"/>
                                          </p:stCondLst>
                                        </p:cTn>
                                        <p:tgtEl>
                                          <p:spTgt spid="35"/>
                                        </p:tgtEl>
                                        <p:attrNameLst>
                                          <p:attrName>style.visibility</p:attrName>
                                        </p:attrNameLst>
                                      </p:cBhvr>
                                      <p:to>
                                        <p:strVal val="visible"/>
                                      </p:to>
                                    </p:set>
                                    <p:anim calcmode="lin" valueType="num">
                                      <p:cBhvr>
                                        <p:cTn id="137" dur="450" fill="hold"/>
                                        <p:tgtEl>
                                          <p:spTgt spid="35"/>
                                        </p:tgtEl>
                                        <p:attrNameLst>
                                          <p:attrName>ppt_w</p:attrName>
                                        </p:attrNameLst>
                                      </p:cBhvr>
                                      <p:tavLst>
                                        <p:tav tm="0">
                                          <p:val>
                                            <p:fltVal val="0"/>
                                          </p:val>
                                        </p:tav>
                                        <p:tav tm="100000">
                                          <p:val>
                                            <p:strVal val="#ppt_w"/>
                                          </p:val>
                                        </p:tav>
                                      </p:tavLst>
                                    </p:anim>
                                    <p:anim calcmode="lin" valueType="num">
                                      <p:cBhvr>
                                        <p:cTn id="138" dur="450" fill="hold"/>
                                        <p:tgtEl>
                                          <p:spTgt spid="35"/>
                                        </p:tgtEl>
                                        <p:attrNameLst>
                                          <p:attrName>ppt_h</p:attrName>
                                        </p:attrNameLst>
                                      </p:cBhvr>
                                      <p:tavLst>
                                        <p:tav tm="0">
                                          <p:val>
                                            <p:fltVal val="0"/>
                                          </p:val>
                                        </p:tav>
                                        <p:tav tm="100000">
                                          <p:val>
                                            <p:strVal val="#ppt_h"/>
                                          </p:val>
                                        </p:tav>
                                      </p:tavLst>
                                    </p:anim>
                                    <p:animEffect transition="in" filter="fade">
                                      <p:cBhvr>
                                        <p:cTn id="139" dur="450"/>
                                        <p:tgtEl>
                                          <p:spTgt spid="35"/>
                                        </p:tgtEl>
                                      </p:cBhvr>
                                    </p:animEffect>
                                  </p:childTnLst>
                                </p:cTn>
                              </p:par>
                              <p:par>
                                <p:cTn id="140" presetID="53" presetClass="entr" presetSubtype="16" fill="hold" nodeType="withEffect">
                                  <p:stCondLst>
                                    <p:cond delay="0"/>
                                  </p:stCondLst>
                                  <p:childTnLst>
                                    <p:set>
                                      <p:cBhvr>
                                        <p:cTn id="141" dur="1" fill="hold">
                                          <p:stCondLst>
                                            <p:cond delay="0"/>
                                          </p:stCondLst>
                                        </p:cTn>
                                        <p:tgtEl>
                                          <p:spTgt spid="36"/>
                                        </p:tgtEl>
                                        <p:attrNameLst>
                                          <p:attrName>style.visibility</p:attrName>
                                        </p:attrNameLst>
                                      </p:cBhvr>
                                      <p:to>
                                        <p:strVal val="visible"/>
                                      </p:to>
                                    </p:set>
                                    <p:anim calcmode="lin" valueType="num">
                                      <p:cBhvr>
                                        <p:cTn id="142" dur="450" fill="hold"/>
                                        <p:tgtEl>
                                          <p:spTgt spid="36"/>
                                        </p:tgtEl>
                                        <p:attrNameLst>
                                          <p:attrName>ppt_w</p:attrName>
                                        </p:attrNameLst>
                                      </p:cBhvr>
                                      <p:tavLst>
                                        <p:tav tm="0">
                                          <p:val>
                                            <p:fltVal val="0"/>
                                          </p:val>
                                        </p:tav>
                                        <p:tav tm="100000">
                                          <p:val>
                                            <p:strVal val="#ppt_w"/>
                                          </p:val>
                                        </p:tav>
                                      </p:tavLst>
                                    </p:anim>
                                    <p:anim calcmode="lin" valueType="num">
                                      <p:cBhvr>
                                        <p:cTn id="143" dur="450" fill="hold"/>
                                        <p:tgtEl>
                                          <p:spTgt spid="36"/>
                                        </p:tgtEl>
                                        <p:attrNameLst>
                                          <p:attrName>ppt_h</p:attrName>
                                        </p:attrNameLst>
                                      </p:cBhvr>
                                      <p:tavLst>
                                        <p:tav tm="0">
                                          <p:val>
                                            <p:fltVal val="0"/>
                                          </p:val>
                                        </p:tav>
                                        <p:tav tm="100000">
                                          <p:val>
                                            <p:strVal val="#ppt_h"/>
                                          </p:val>
                                        </p:tav>
                                      </p:tavLst>
                                    </p:anim>
                                    <p:animEffect transition="in" filter="fade">
                                      <p:cBhvr>
                                        <p:cTn id="144" dur="450"/>
                                        <p:tgtEl>
                                          <p:spTgt spid="36"/>
                                        </p:tgtEl>
                                      </p:cBhvr>
                                    </p:animEffect>
                                  </p:childTnLst>
                                </p:cTn>
                              </p:par>
                              <p:par>
                                <p:cTn id="145" presetID="53" presetClass="entr" presetSubtype="16" fill="hold" nodeType="withEffect">
                                  <p:stCondLst>
                                    <p:cond delay="0"/>
                                  </p:stCondLst>
                                  <p:childTnLst>
                                    <p:set>
                                      <p:cBhvr>
                                        <p:cTn id="146" dur="1" fill="hold">
                                          <p:stCondLst>
                                            <p:cond delay="0"/>
                                          </p:stCondLst>
                                        </p:cTn>
                                        <p:tgtEl>
                                          <p:spTgt spid="37"/>
                                        </p:tgtEl>
                                        <p:attrNameLst>
                                          <p:attrName>style.visibility</p:attrName>
                                        </p:attrNameLst>
                                      </p:cBhvr>
                                      <p:to>
                                        <p:strVal val="visible"/>
                                      </p:to>
                                    </p:set>
                                    <p:anim calcmode="lin" valueType="num">
                                      <p:cBhvr>
                                        <p:cTn id="147" dur="450" fill="hold"/>
                                        <p:tgtEl>
                                          <p:spTgt spid="37"/>
                                        </p:tgtEl>
                                        <p:attrNameLst>
                                          <p:attrName>ppt_w</p:attrName>
                                        </p:attrNameLst>
                                      </p:cBhvr>
                                      <p:tavLst>
                                        <p:tav tm="0">
                                          <p:val>
                                            <p:fltVal val="0"/>
                                          </p:val>
                                        </p:tav>
                                        <p:tav tm="100000">
                                          <p:val>
                                            <p:strVal val="#ppt_w"/>
                                          </p:val>
                                        </p:tav>
                                      </p:tavLst>
                                    </p:anim>
                                    <p:anim calcmode="lin" valueType="num">
                                      <p:cBhvr>
                                        <p:cTn id="148" dur="450" fill="hold"/>
                                        <p:tgtEl>
                                          <p:spTgt spid="37"/>
                                        </p:tgtEl>
                                        <p:attrNameLst>
                                          <p:attrName>ppt_h</p:attrName>
                                        </p:attrNameLst>
                                      </p:cBhvr>
                                      <p:tavLst>
                                        <p:tav tm="0">
                                          <p:val>
                                            <p:fltVal val="0"/>
                                          </p:val>
                                        </p:tav>
                                        <p:tav tm="100000">
                                          <p:val>
                                            <p:strVal val="#ppt_h"/>
                                          </p:val>
                                        </p:tav>
                                      </p:tavLst>
                                    </p:anim>
                                    <p:animEffect transition="in" filter="fade">
                                      <p:cBhvr>
                                        <p:cTn id="149" dur="450"/>
                                        <p:tgtEl>
                                          <p:spTgt spid="37"/>
                                        </p:tgtEl>
                                      </p:cBhvr>
                                    </p:animEffect>
                                  </p:childTnLst>
                                </p:cTn>
                              </p:par>
                              <p:par>
                                <p:cTn id="150" presetID="53" presetClass="entr" presetSubtype="16" fill="hold" nodeType="withEffect">
                                  <p:stCondLst>
                                    <p:cond delay="0"/>
                                  </p:stCondLst>
                                  <p:childTnLst>
                                    <p:set>
                                      <p:cBhvr>
                                        <p:cTn id="151" dur="1" fill="hold">
                                          <p:stCondLst>
                                            <p:cond delay="0"/>
                                          </p:stCondLst>
                                        </p:cTn>
                                        <p:tgtEl>
                                          <p:spTgt spid="38"/>
                                        </p:tgtEl>
                                        <p:attrNameLst>
                                          <p:attrName>style.visibility</p:attrName>
                                        </p:attrNameLst>
                                      </p:cBhvr>
                                      <p:to>
                                        <p:strVal val="visible"/>
                                      </p:to>
                                    </p:set>
                                    <p:anim calcmode="lin" valueType="num">
                                      <p:cBhvr>
                                        <p:cTn id="152" dur="450" fill="hold"/>
                                        <p:tgtEl>
                                          <p:spTgt spid="38"/>
                                        </p:tgtEl>
                                        <p:attrNameLst>
                                          <p:attrName>ppt_w</p:attrName>
                                        </p:attrNameLst>
                                      </p:cBhvr>
                                      <p:tavLst>
                                        <p:tav tm="0">
                                          <p:val>
                                            <p:fltVal val="0"/>
                                          </p:val>
                                        </p:tav>
                                        <p:tav tm="100000">
                                          <p:val>
                                            <p:strVal val="#ppt_w"/>
                                          </p:val>
                                        </p:tav>
                                      </p:tavLst>
                                    </p:anim>
                                    <p:anim calcmode="lin" valueType="num">
                                      <p:cBhvr>
                                        <p:cTn id="153" dur="450" fill="hold"/>
                                        <p:tgtEl>
                                          <p:spTgt spid="38"/>
                                        </p:tgtEl>
                                        <p:attrNameLst>
                                          <p:attrName>ppt_h</p:attrName>
                                        </p:attrNameLst>
                                      </p:cBhvr>
                                      <p:tavLst>
                                        <p:tav tm="0">
                                          <p:val>
                                            <p:fltVal val="0"/>
                                          </p:val>
                                        </p:tav>
                                        <p:tav tm="100000">
                                          <p:val>
                                            <p:strVal val="#ppt_h"/>
                                          </p:val>
                                        </p:tav>
                                      </p:tavLst>
                                    </p:anim>
                                    <p:animEffect transition="in" filter="fade">
                                      <p:cBhvr>
                                        <p:cTn id="154" dur="450"/>
                                        <p:tgtEl>
                                          <p:spTgt spid="38"/>
                                        </p:tgtEl>
                                      </p:cBhvr>
                                    </p:animEffect>
                                  </p:childTnLst>
                                </p:cTn>
                              </p:par>
                              <p:par>
                                <p:cTn id="155" presetID="53" presetClass="entr" presetSubtype="16" fill="hold" nodeType="withEffect">
                                  <p:stCondLst>
                                    <p:cond delay="0"/>
                                  </p:stCondLst>
                                  <p:childTnLst>
                                    <p:set>
                                      <p:cBhvr>
                                        <p:cTn id="156" dur="1" fill="hold">
                                          <p:stCondLst>
                                            <p:cond delay="0"/>
                                          </p:stCondLst>
                                        </p:cTn>
                                        <p:tgtEl>
                                          <p:spTgt spid="39"/>
                                        </p:tgtEl>
                                        <p:attrNameLst>
                                          <p:attrName>style.visibility</p:attrName>
                                        </p:attrNameLst>
                                      </p:cBhvr>
                                      <p:to>
                                        <p:strVal val="visible"/>
                                      </p:to>
                                    </p:set>
                                    <p:anim calcmode="lin" valueType="num">
                                      <p:cBhvr>
                                        <p:cTn id="157" dur="450" fill="hold"/>
                                        <p:tgtEl>
                                          <p:spTgt spid="39"/>
                                        </p:tgtEl>
                                        <p:attrNameLst>
                                          <p:attrName>ppt_w</p:attrName>
                                        </p:attrNameLst>
                                      </p:cBhvr>
                                      <p:tavLst>
                                        <p:tav tm="0">
                                          <p:val>
                                            <p:fltVal val="0"/>
                                          </p:val>
                                        </p:tav>
                                        <p:tav tm="100000">
                                          <p:val>
                                            <p:strVal val="#ppt_w"/>
                                          </p:val>
                                        </p:tav>
                                      </p:tavLst>
                                    </p:anim>
                                    <p:anim calcmode="lin" valueType="num">
                                      <p:cBhvr>
                                        <p:cTn id="158" dur="450" fill="hold"/>
                                        <p:tgtEl>
                                          <p:spTgt spid="39"/>
                                        </p:tgtEl>
                                        <p:attrNameLst>
                                          <p:attrName>ppt_h</p:attrName>
                                        </p:attrNameLst>
                                      </p:cBhvr>
                                      <p:tavLst>
                                        <p:tav tm="0">
                                          <p:val>
                                            <p:fltVal val="0"/>
                                          </p:val>
                                        </p:tav>
                                        <p:tav tm="100000">
                                          <p:val>
                                            <p:strVal val="#ppt_h"/>
                                          </p:val>
                                        </p:tav>
                                      </p:tavLst>
                                    </p:anim>
                                    <p:animEffect transition="in" filter="fade">
                                      <p:cBhvr>
                                        <p:cTn id="159" dur="450"/>
                                        <p:tgtEl>
                                          <p:spTgt spid="39"/>
                                        </p:tgtEl>
                                      </p:cBhvr>
                                    </p:animEffect>
                                  </p:childTnLst>
                                </p:cTn>
                              </p:par>
                            </p:childTnLst>
                          </p:cTn>
                        </p:par>
                        <p:par>
                          <p:cTn id="160" fill="hold">
                            <p:stCondLst>
                              <p:cond delay="1800"/>
                            </p:stCondLst>
                            <p:childTnLst>
                              <p:par>
                                <p:cTn id="161" presetID="53" presetClass="entr" presetSubtype="16" fill="hold" nodeType="afterEffect">
                                  <p:stCondLst>
                                    <p:cond delay="0"/>
                                  </p:stCondLst>
                                  <p:childTnLst>
                                    <p:set>
                                      <p:cBhvr>
                                        <p:cTn id="162" dur="1" fill="hold">
                                          <p:stCondLst>
                                            <p:cond delay="0"/>
                                          </p:stCondLst>
                                        </p:cTn>
                                        <p:tgtEl>
                                          <p:spTgt spid="40"/>
                                        </p:tgtEl>
                                        <p:attrNameLst>
                                          <p:attrName>style.visibility</p:attrName>
                                        </p:attrNameLst>
                                      </p:cBhvr>
                                      <p:to>
                                        <p:strVal val="visible"/>
                                      </p:to>
                                    </p:set>
                                    <p:anim calcmode="lin" valueType="num">
                                      <p:cBhvr>
                                        <p:cTn id="163" dur="450" fill="hold"/>
                                        <p:tgtEl>
                                          <p:spTgt spid="40"/>
                                        </p:tgtEl>
                                        <p:attrNameLst>
                                          <p:attrName>ppt_w</p:attrName>
                                        </p:attrNameLst>
                                      </p:cBhvr>
                                      <p:tavLst>
                                        <p:tav tm="0">
                                          <p:val>
                                            <p:fltVal val="0"/>
                                          </p:val>
                                        </p:tav>
                                        <p:tav tm="100000">
                                          <p:val>
                                            <p:strVal val="#ppt_w"/>
                                          </p:val>
                                        </p:tav>
                                      </p:tavLst>
                                    </p:anim>
                                    <p:anim calcmode="lin" valueType="num">
                                      <p:cBhvr>
                                        <p:cTn id="164" dur="450" fill="hold"/>
                                        <p:tgtEl>
                                          <p:spTgt spid="40"/>
                                        </p:tgtEl>
                                        <p:attrNameLst>
                                          <p:attrName>ppt_h</p:attrName>
                                        </p:attrNameLst>
                                      </p:cBhvr>
                                      <p:tavLst>
                                        <p:tav tm="0">
                                          <p:val>
                                            <p:fltVal val="0"/>
                                          </p:val>
                                        </p:tav>
                                        <p:tav tm="100000">
                                          <p:val>
                                            <p:strVal val="#ppt_h"/>
                                          </p:val>
                                        </p:tav>
                                      </p:tavLst>
                                    </p:anim>
                                    <p:animEffect transition="in" filter="fade">
                                      <p:cBhvr>
                                        <p:cTn id="165" dur="450"/>
                                        <p:tgtEl>
                                          <p:spTgt spid="40"/>
                                        </p:tgtEl>
                                      </p:cBhvr>
                                    </p:animEffect>
                                  </p:childTnLst>
                                </p:cTn>
                              </p:par>
                              <p:par>
                                <p:cTn id="166" presetID="53" presetClass="entr" presetSubtype="16" fill="hold" nodeType="withEffect">
                                  <p:stCondLst>
                                    <p:cond delay="0"/>
                                  </p:stCondLst>
                                  <p:childTnLst>
                                    <p:set>
                                      <p:cBhvr>
                                        <p:cTn id="167" dur="1" fill="hold">
                                          <p:stCondLst>
                                            <p:cond delay="0"/>
                                          </p:stCondLst>
                                        </p:cTn>
                                        <p:tgtEl>
                                          <p:spTgt spid="41"/>
                                        </p:tgtEl>
                                        <p:attrNameLst>
                                          <p:attrName>style.visibility</p:attrName>
                                        </p:attrNameLst>
                                      </p:cBhvr>
                                      <p:to>
                                        <p:strVal val="visible"/>
                                      </p:to>
                                    </p:set>
                                    <p:anim calcmode="lin" valueType="num">
                                      <p:cBhvr>
                                        <p:cTn id="168" dur="450" fill="hold"/>
                                        <p:tgtEl>
                                          <p:spTgt spid="41"/>
                                        </p:tgtEl>
                                        <p:attrNameLst>
                                          <p:attrName>ppt_w</p:attrName>
                                        </p:attrNameLst>
                                      </p:cBhvr>
                                      <p:tavLst>
                                        <p:tav tm="0">
                                          <p:val>
                                            <p:fltVal val="0"/>
                                          </p:val>
                                        </p:tav>
                                        <p:tav tm="100000">
                                          <p:val>
                                            <p:strVal val="#ppt_w"/>
                                          </p:val>
                                        </p:tav>
                                      </p:tavLst>
                                    </p:anim>
                                    <p:anim calcmode="lin" valueType="num">
                                      <p:cBhvr>
                                        <p:cTn id="169" dur="450" fill="hold"/>
                                        <p:tgtEl>
                                          <p:spTgt spid="41"/>
                                        </p:tgtEl>
                                        <p:attrNameLst>
                                          <p:attrName>ppt_h</p:attrName>
                                        </p:attrNameLst>
                                      </p:cBhvr>
                                      <p:tavLst>
                                        <p:tav tm="0">
                                          <p:val>
                                            <p:fltVal val="0"/>
                                          </p:val>
                                        </p:tav>
                                        <p:tav tm="100000">
                                          <p:val>
                                            <p:strVal val="#ppt_h"/>
                                          </p:val>
                                        </p:tav>
                                      </p:tavLst>
                                    </p:anim>
                                    <p:animEffect transition="in" filter="fade">
                                      <p:cBhvr>
                                        <p:cTn id="170" dur="450"/>
                                        <p:tgtEl>
                                          <p:spTgt spid="41"/>
                                        </p:tgtEl>
                                      </p:cBhvr>
                                    </p:animEffect>
                                  </p:childTnLst>
                                </p:cTn>
                              </p:par>
                              <p:par>
                                <p:cTn id="171" presetID="53" presetClass="entr" presetSubtype="16" fill="hold" nodeType="withEffect">
                                  <p:stCondLst>
                                    <p:cond delay="0"/>
                                  </p:stCondLst>
                                  <p:childTnLst>
                                    <p:set>
                                      <p:cBhvr>
                                        <p:cTn id="172" dur="1" fill="hold">
                                          <p:stCondLst>
                                            <p:cond delay="0"/>
                                          </p:stCondLst>
                                        </p:cTn>
                                        <p:tgtEl>
                                          <p:spTgt spid="42"/>
                                        </p:tgtEl>
                                        <p:attrNameLst>
                                          <p:attrName>style.visibility</p:attrName>
                                        </p:attrNameLst>
                                      </p:cBhvr>
                                      <p:to>
                                        <p:strVal val="visible"/>
                                      </p:to>
                                    </p:set>
                                    <p:anim calcmode="lin" valueType="num">
                                      <p:cBhvr>
                                        <p:cTn id="173" dur="450" fill="hold"/>
                                        <p:tgtEl>
                                          <p:spTgt spid="42"/>
                                        </p:tgtEl>
                                        <p:attrNameLst>
                                          <p:attrName>ppt_w</p:attrName>
                                        </p:attrNameLst>
                                      </p:cBhvr>
                                      <p:tavLst>
                                        <p:tav tm="0">
                                          <p:val>
                                            <p:fltVal val="0"/>
                                          </p:val>
                                        </p:tav>
                                        <p:tav tm="100000">
                                          <p:val>
                                            <p:strVal val="#ppt_w"/>
                                          </p:val>
                                        </p:tav>
                                      </p:tavLst>
                                    </p:anim>
                                    <p:anim calcmode="lin" valueType="num">
                                      <p:cBhvr>
                                        <p:cTn id="174" dur="450" fill="hold"/>
                                        <p:tgtEl>
                                          <p:spTgt spid="42"/>
                                        </p:tgtEl>
                                        <p:attrNameLst>
                                          <p:attrName>ppt_h</p:attrName>
                                        </p:attrNameLst>
                                      </p:cBhvr>
                                      <p:tavLst>
                                        <p:tav tm="0">
                                          <p:val>
                                            <p:fltVal val="0"/>
                                          </p:val>
                                        </p:tav>
                                        <p:tav tm="100000">
                                          <p:val>
                                            <p:strVal val="#ppt_h"/>
                                          </p:val>
                                        </p:tav>
                                      </p:tavLst>
                                    </p:anim>
                                    <p:animEffect transition="in" filter="fade">
                                      <p:cBhvr>
                                        <p:cTn id="175" dur="450"/>
                                        <p:tgtEl>
                                          <p:spTgt spid="42"/>
                                        </p:tgtEl>
                                      </p:cBhvr>
                                    </p:animEffect>
                                  </p:childTnLst>
                                </p:cTn>
                              </p:par>
                              <p:par>
                                <p:cTn id="176" presetID="53" presetClass="entr" presetSubtype="16" fill="hold" nodeType="withEffect">
                                  <p:stCondLst>
                                    <p:cond delay="0"/>
                                  </p:stCondLst>
                                  <p:childTnLst>
                                    <p:set>
                                      <p:cBhvr>
                                        <p:cTn id="177" dur="1" fill="hold">
                                          <p:stCondLst>
                                            <p:cond delay="0"/>
                                          </p:stCondLst>
                                        </p:cTn>
                                        <p:tgtEl>
                                          <p:spTgt spid="43"/>
                                        </p:tgtEl>
                                        <p:attrNameLst>
                                          <p:attrName>style.visibility</p:attrName>
                                        </p:attrNameLst>
                                      </p:cBhvr>
                                      <p:to>
                                        <p:strVal val="visible"/>
                                      </p:to>
                                    </p:set>
                                    <p:anim calcmode="lin" valueType="num">
                                      <p:cBhvr>
                                        <p:cTn id="178" dur="450" fill="hold"/>
                                        <p:tgtEl>
                                          <p:spTgt spid="43"/>
                                        </p:tgtEl>
                                        <p:attrNameLst>
                                          <p:attrName>ppt_w</p:attrName>
                                        </p:attrNameLst>
                                      </p:cBhvr>
                                      <p:tavLst>
                                        <p:tav tm="0">
                                          <p:val>
                                            <p:fltVal val="0"/>
                                          </p:val>
                                        </p:tav>
                                        <p:tav tm="100000">
                                          <p:val>
                                            <p:strVal val="#ppt_w"/>
                                          </p:val>
                                        </p:tav>
                                      </p:tavLst>
                                    </p:anim>
                                    <p:anim calcmode="lin" valueType="num">
                                      <p:cBhvr>
                                        <p:cTn id="179" dur="450" fill="hold"/>
                                        <p:tgtEl>
                                          <p:spTgt spid="43"/>
                                        </p:tgtEl>
                                        <p:attrNameLst>
                                          <p:attrName>ppt_h</p:attrName>
                                        </p:attrNameLst>
                                      </p:cBhvr>
                                      <p:tavLst>
                                        <p:tav tm="0">
                                          <p:val>
                                            <p:fltVal val="0"/>
                                          </p:val>
                                        </p:tav>
                                        <p:tav tm="100000">
                                          <p:val>
                                            <p:strVal val="#ppt_h"/>
                                          </p:val>
                                        </p:tav>
                                      </p:tavLst>
                                    </p:anim>
                                    <p:animEffect transition="in" filter="fade">
                                      <p:cBhvr>
                                        <p:cTn id="180" dur="450"/>
                                        <p:tgtEl>
                                          <p:spTgt spid="43"/>
                                        </p:tgtEl>
                                      </p:cBhvr>
                                    </p:animEffect>
                                  </p:childTnLst>
                                </p:cTn>
                              </p:par>
                              <p:par>
                                <p:cTn id="181" presetID="53" presetClass="entr" presetSubtype="16" fill="hold" nodeType="withEffect">
                                  <p:stCondLst>
                                    <p:cond delay="0"/>
                                  </p:stCondLst>
                                  <p:childTnLst>
                                    <p:set>
                                      <p:cBhvr>
                                        <p:cTn id="182" dur="1" fill="hold">
                                          <p:stCondLst>
                                            <p:cond delay="0"/>
                                          </p:stCondLst>
                                        </p:cTn>
                                        <p:tgtEl>
                                          <p:spTgt spid="44"/>
                                        </p:tgtEl>
                                        <p:attrNameLst>
                                          <p:attrName>style.visibility</p:attrName>
                                        </p:attrNameLst>
                                      </p:cBhvr>
                                      <p:to>
                                        <p:strVal val="visible"/>
                                      </p:to>
                                    </p:set>
                                    <p:anim calcmode="lin" valueType="num">
                                      <p:cBhvr>
                                        <p:cTn id="183" dur="450" fill="hold"/>
                                        <p:tgtEl>
                                          <p:spTgt spid="44"/>
                                        </p:tgtEl>
                                        <p:attrNameLst>
                                          <p:attrName>ppt_w</p:attrName>
                                        </p:attrNameLst>
                                      </p:cBhvr>
                                      <p:tavLst>
                                        <p:tav tm="0">
                                          <p:val>
                                            <p:fltVal val="0"/>
                                          </p:val>
                                        </p:tav>
                                        <p:tav tm="100000">
                                          <p:val>
                                            <p:strVal val="#ppt_w"/>
                                          </p:val>
                                        </p:tav>
                                      </p:tavLst>
                                    </p:anim>
                                    <p:anim calcmode="lin" valueType="num">
                                      <p:cBhvr>
                                        <p:cTn id="184" dur="450" fill="hold"/>
                                        <p:tgtEl>
                                          <p:spTgt spid="44"/>
                                        </p:tgtEl>
                                        <p:attrNameLst>
                                          <p:attrName>ppt_h</p:attrName>
                                        </p:attrNameLst>
                                      </p:cBhvr>
                                      <p:tavLst>
                                        <p:tav tm="0">
                                          <p:val>
                                            <p:fltVal val="0"/>
                                          </p:val>
                                        </p:tav>
                                        <p:tav tm="100000">
                                          <p:val>
                                            <p:strVal val="#ppt_h"/>
                                          </p:val>
                                        </p:tav>
                                      </p:tavLst>
                                    </p:anim>
                                    <p:animEffect transition="in" filter="fade">
                                      <p:cBhvr>
                                        <p:cTn id="185" dur="450"/>
                                        <p:tgtEl>
                                          <p:spTgt spid="44"/>
                                        </p:tgtEl>
                                      </p:cBhvr>
                                    </p:animEffect>
                                  </p:childTnLst>
                                </p:cTn>
                              </p:par>
                            </p:childTnLst>
                          </p:cTn>
                        </p:par>
                        <p:par>
                          <p:cTn id="186" fill="hold">
                            <p:stCondLst>
                              <p:cond delay="2100"/>
                            </p:stCondLst>
                            <p:childTnLst>
                              <p:par>
                                <p:cTn id="187" presetID="53" presetClass="entr" presetSubtype="16" fill="hold" nodeType="afterEffect">
                                  <p:stCondLst>
                                    <p:cond delay="0"/>
                                  </p:stCondLst>
                                  <p:childTnLst>
                                    <p:set>
                                      <p:cBhvr>
                                        <p:cTn id="188" dur="1" fill="hold">
                                          <p:stCondLst>
                                            <p:cond delay="0"/>
                                          </p:stCondLst>
                                        </p:cTn>
                                        <p:tgtEl>
                                          <p:spTgt spid="45"/>
                                        </p:tgtEl>
                                        <p:attrNameLst>
                                          <p:attrName>style.visibility</p:attrName>
                                        </p:attrNameLst>
                                      </p:cBhvr>
                                      <p:to>
                                        <p:strVal val="visible"/>
                                      </p:to>
                                    </p:set>
                                    <p:anim calcmode="lin" valueType="num">
                                      <p:cBhvr>
                                        <p:cTn id="189" dur="450" fill="hold"/>
                                        <p:tgtEl>
                                          <p:spTgt spid="45"/>
                                        </p:tgtEl>
                                        <p:attrNameLst>
                                          <p:attrName>ppt_w</p:attrName>
                                        </p:attrNameLst>
                                      </p:cBhvr>
                                      <p:tavLst>
                                        <p:tav tm="0">
                                          <p:val>
                                            <p:fltVal val="0"/>
                                          </p:val>
                                        </p:tav>
                                        <p:tav tm="100000">
                                          <p:val>
                                            <p:strVal val="#ppt_w"/>
                                          </p:val>
                                        </p:tav>
                                      </p:tavLst>
                                    </p:anim>
                                    <p:anim calcmode="lin" valueType="num">
                                      <p:cBhvr>
                                        <p:cTn id="190" dur="450" fill="hold"/>
                                        <p:tgtEl>
                                          <p:spTgt spid="45"/>
                                        </p:tgtEl>
                                        <p:attrNameLst>
                                          <p:attrName>ppt_h</p:attrName>
                                        </p:attrNameLst>
                                      </p:cBhvr>
                                      <p:tavLst>
                                        <p:tav tm="0">
                                          <p:val>
                                            <p:fltVal val="0"/>
                                          </p:val>
                                        </p:tav>
                                        <p:tav tm="100000">
                                          <p:val>
                                            <p:strVal val="#ppt_h"/>
                                          </p:val>
                                        </p:tav>
                                      </p:tavLst>
                                    </p:anim>
                                    <p:animEffect transition="in" filter="fade">
                                      <p:cBhvr>
                                        <p:cTn id="191" dur="450"/>
                                        <p:tgtEl>
                                          <p:spTgt spid="45"/>
                                        </p:tgtEl>
                                      </p:cBhvr>
                                    </p:animEffect>
                                  </p:childTnLst>
                                </p:cTn>
                              </p:par>
                              <p:par>
                                <p:cTn id="192" presetID="53" presetClass="entr" presetSubtype="16" fill="hold" nodeType="withEffect">
                                  <p:stCondLst>
                                    <p:cond delay="0"/>
                                  </p:stCondLst>
                                  <p:childTnLst>
                                    <p:set>
                                      <p:cBhvr>
                                        <p:cTn id="193" dur="1" fill="hold">
                                          <p:stCondLst>
                                            <p:cond delay="0"/>
                                          </p:stCondLst>
                                        </p:cTn>
                                        <p:tgtEl>
                                          <p:spTgt spid="46"/>
                                        </p:tgtEl>
                                        <p:attrNameLst>
                                          <p:attrName>style.visibility</p:attrName>
                                        </p:attrNameLst>
                                      </p:cBhvr>
                                      <p:to>
                                        <p:strVal val="visible"/>
                                      </p:to>
                                    </p:set>
                                    <p:anim calcmode="lin" valueType="num">
                                      <p:cBhvr>
                                        <p:cTn id="194" dur="450" fill="hold"/>
                                        <p:tgtEl>
                                          <p:spTgt spid="46"/>
                                        </p:tgtEl>
                                        <p:attrNameLst>
                                          <p:attrName>ppt_w</p:attrName>
                                        </p:attrNameLst>
                                      </p:cBhvr>
                                      <p:tavLst>
                                        <p:tav tm="0">
                                          <p:val>
                                            <p:fltVal val="0"/>
                                          </p:val>
                                        </p:tav>
                                        <p:tav tm="100000">
                                          <p:val>
                                            <p:strVal val="#ppt_w"/>
                                          </p:val>
                                        </p:tav>
                                      </p:tavLst>
                                    </p:anim>
                                    <p:anim calcmode="lin" valueType="num">
                                      <p:cBhvr>
                                        <p:cTn id="195" dur="450" fill="hold"/>
                                        <p:tgtEl>
                                          <p:spTgt spid="46"/>
                                        </p:tgtEl>
                                        <p:attrNameLst>
                                          <p:attrName>ppt_h</p:attrName>
                                        </p:attrNameLst>
                                      </p:cBhvr>
                                      <p:tavLst>
                                        <p:tav tm="0">
                                          <p:val>
                                            <p:fltVal val="0"/>
                                          </p:val>
                                        </p:tav>
                                        <p:tav tm="100000">
                                          <p:val>
                                            <p:strVal val="#ppt_h"/>
                                          </p:val>
                                        </p:tav>
                                      </p:tavLst>
                                    </p:anim>
                                    <p:animEffect transition="in" filter="fade">
                                      <p:cBhvr>
                                        <p:cTn id="196" dur="450"/>
                                        <p:tgtEl>
                                          <p:spTgt spid="46"/>
                                        </p:tgtEl>
                                      </p:cBhvr>
                                    </p:animEffect>
                                  </p:childTnLst>
                                </p:cTn>
                              </p:par>
                              <p:par>
                                <p:cTn id="197" presetID="53" presetClass="entr" presetSubtype="16" fill="hold" nodeType="withEffect">
                                  <p:stCondLst>
                                    <p:cond delay="0"/>
                                  </p:stCondLst>
                                  <p:childTnLst>
                                    <p:set>
                                      <p:cBhvr>
                                        <p:cTn id="198" dur="1" fill="hold">
                                          <p:stCondLst>
                                            <p:cond delay="0"/>
                                          </p:stCondLst>
                                        </p:cTn>
                                        <p:tgtEl>
                                          <p:spTgt spid="47"/>
                                        </p:tgtEl>
                                        <p:attrNameLst>
                                          <p:attrName>style.visibility</p:attrName>
                                        </p:attrNameLst>
                                      </p:cBhvr>
                                      <p:to>
                                        <p:strVal val="visible"/>
                                      </p:to>
                                    </p:set>
                                    <p:anim calcmode="lin" valueType="num">
                                      <p:cBhvr>
                                        <p:cTn id="199" dur="450" fill="hold"/>
                                        <p:tgtEl>
                                          <p:spTgt spid="47"/>
                                        </p:tgtEl>
                                        <p:attrNameLst>
                                          <p:attrName>ppt_w</p:attrName>
                                        </p:attrNameLst>
                                      </p:cBhvr>
                                      <p:tavLst>
                                        <p:tav tm="0">
                                          <p:val>
                                            <p:fltVal val="0"/>
                                          </p:val>
                                        </p:tav>
                                        <p:tav tm="100000">
                                          <p:val>
                                            <p:strVal val="#ppt_w"/>
                                          </p:val>
                                        </p:tav>
                                      </p:tavLst>
                                    </p:anim>
                                    <p:anim calcmode="lin" valueType="num">
                                      <p:cBhvr>
                                        <p:cTn id="200" dur="450" fill="hold"/>
                                        <p:tgtEl>
                                          <p:spTgt spid="47"/>
                                        </p:tgtEl>
                                        <p:attrNameLst>
                                          <p:attrName>ppt_h</p:attrName>
                                        </p:attrNameLst>
                                      </p:cBhvr>
                                      <p:tavLst>
                                        <p:tav tm="0">
                                          <p:val>
                                            <p:fltVal val="0"/>
                                          </p:val>
                                        </p:tav>
                                        <p:tav tm="100000">
                                          <p:val>
                                            <p:strVal val="#ppt_h"/>
                                          </p:val>
                                        </p:tav>
                                      </p:tavLst>
                                    </p:anim>
                                    <p:animEffect transition="in" filter="fade">
                                      <p:cBhvr>
                                        <p:cTn id="201" dur="450"/>
                                        <p:tgtEl>
                                          <p:spTgt spid="47"/>
                                        </p:tgtEl>
                                      </p:cBhvr>
                                    </p:animEffect>
                                  </p:childTnLst>
                                </p:cTn>
                              </p:par>
                              <p:par>
                                <p:cTn id="202" presetID="53" presetClass="entr" presetSubtype="16" fill="hold" nodeType="withEffect">
                                  <p:stCondLst>
                                    <p:cond delay="0"/>
                                  </p:stCondLst>
                                  <p:childTnLst>
                                    <p:set>
                                      <p:cBhvr>
                                        <p:cTn id="203" dur="1" fill="hold">
                                          <p:stCondLst>
                                            <p:cond delay="0"/>
                                          </p:stCondLst>
                                        </p:cTn>
                                        <p:tgtEl>
                                          <p:spTgt spid="48"/>
                                        </p:tgtEl>
                                        <p:attrNameLst>
                                          <p:attrName>style.visibility</p:attrName>
                                        </p:attrNameLst>
                                      </p:cBhvr>
                                      <p:to>
                                        <p:strVal val="visible"/>
                                      </p:to>
                                    </p:set>
                                    <p:anim calcmode="lin" valueType="num">
                                      <p:cBhvr>
                                        <p:cTn id="204" dur="450" fill="hold"/>
                                        <p:tgtEl>
                                          <p:spTgt spid="48"/>
                                        </p:tgtEl>
                                        <p:attrNameLst>
                                          <p:attrName>ppt_w</p:attrName>
                                        </p:attrNameLst>
                                      </p:cBhvr>
                                      <p:tavLst>
                                        <p:tav tm="0">
                                          <p:val>
                                            <p:fltVal val="0"/>
                                          </p:val>
                                        </p:tav>
                                        <p:tav tm="100000">
                                          <p:val>
                                            <p:strVal val="#ppt_w"/>
                                          </p:val>
                                        </p:tav>
                                      </p:tavLst>
                                    </p:anim>
                                    <p:anim calcmode="lin" valueType="num">
                                      <p:cBhvr>
                                        <p:cTn id="205" dur="450" fill="hold"/>
                                        <p:tgtEl>
                                          <p:spTgt spid="48"/>
                                        </p:tgtEl>
                                        <p:attrNameLst>
                                          <p:attrName>ppt_h</p:attrName>
                                        </p:attrNameLst>
                                      </p:cBhvr>
                                      <p:tavLst>
                                        <p:tav tm="0">
                                          <p:val>
                                            <p:fltVal val="0"/>
                                          </p:val>
                                        </p:tav>
                                        <p:tav tm="100000">
                                          <p:val>
                                            <p:strVal val="#ppt_h"/>
                                          </p:val>
                                        </p:tav>
                                      </p:tavLst>
                                    </p:anim>
                                    <p:animEffect transition="in" filter="fade">
                                      <p:cBhvr>
                                        <p:cTn id="206" dur="450"/>
                                        <p:tgtEl>
                                          <p:spTgt spid="48"/>
                                        </p:tgtEl>
                                      </p:cBhvr>
                                    </p:animEffect>
                                  </p:childTnLst>
                                </p:cTn>
                              </p:par>
                              <p:par>
                                <p:cTn id="207" presetID="53" presetClass="entr" presetSubtype="16" fill="hold" nodeType="withEffect">
                                  <p:stCondLst>
                                    <p:cond delay="0"/>
                                  </p:stCondLst>
                                  <p:childTnLst>
                                    <p:set>
                                      <p:cBhvr>
                                        <p:cTn id="208" dur="1" fill="hold">
                                          <p:stCondLst>
                                            <p:cond delay="0"/>
                                          </p:stCondLst>
                                        </p:cTn>
                                        <p:tgtEl>
                                          <p:spTgt spid="49"/>
                                        </p:tgtEl>
                                        <p:attrNameLst>
                                          <p:attrName>style.visibility</p:attrName>
                                        </p:attrNameLst>
                                      </p:cBhvr>
                                      <p:to>
                                        <p:strVal val="visible"/>
                                      </p:to>
                                    </p:set>
                                    <p:anim calcmode="lin" valueType="num">
                                      <p:cBhvr>
                                        <p:cTn id="209" dur="450" fill="hold"/>
                                        <p:tgtEl>
                                          <p:spTgt spid="49"/>
                                        </p:tgtEl>
                                        <p:attrNameLst>
                                          <p:attrName>ppt_w</p:attrName>
                                        </p:attrNameLst>
                                      </p:cBhvr>
                                      <p:tavLst>
                                        <p:tav tm="0">
                                          <p:val>
                                            <p:fltVal val="0"/>
                                          </p:val>
                                        </p:tav>
                                        <p:tav tm="100000">
                                          <p:val>
                                            <p:strVal val="#ppt_w"/>
                                          </p:val>
                                        </p:tav>
                                      </p:tavLst>
                                    </p:anim>
                                    <p:anim calcmode="lin" valueType="num">
                                      <p:cBhvr>
                                        <p:cTn id="210" dur="450" fill="hold"/>
                                        <p:tgtEl>
                                          <p:spTgt spid="49"/>
                                        </p:tgtEl>
                                        <p:attrNameLst>
                                          <p:attrName>ppt_h</p:attrName>
                                        </p:attrNameLst>
                                      </p:cBhvr>
                                      <p:tavLst>
                                        <p:tav tm="0">
                                          <p:val>
                                            <p:fltVal val="0"/>
                                          </p:val>
                                        </p:tav>
                                        <p:tav tm="100000">
                                          <p:val>
                                            <p:strVal val="#ppt_h"/>
                                          </p:val>
                                        </p:tav>
                                      </p:tavLst>
                                    </p:anim>
                                    <p:animEffect transition="in" filter="fade">
                                      <p:cBhvr>
                                        <p:cTn id="211"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80160" y="-1280160"/>
            <a:ext cx="3840480" cy="3840480"/>
          </a:xfrm>
          <a:prstGeom prst="ellipse">
            <a:avLst/>
          </a:prstGeom>
          <a:solidFill>
            <a:srgbClr val="0F5257">
              <a:alpha val="8000"/>
            </a:srgbClr>
          </a:solidFill>
          <a:ln w="12700">
            <a:solidFill>
              <a:srgbClr val="0F5257">
                <a:alpha val="0"/>
              </a:srgbClr>
            </a:solidFill>
            <a:prstDash val="solid"/>
          </a:ln>
        </p:spPr>
      </p:sp>
      <p:sp>
        <p:nvSpPr>
          <p:cNvPr id="3" name="Shape 1"/>
          <p:cNvSpPr/>
          <p:nvPr/>
        </p:nvSpPr>
        <p:spPr>
          <a:xfrm>
            <a:off x="9875520" y="4206240"/>
            <a:ext cx="3657600" cy="3657600"/>
          </a:xfrm>
          <a:prstGeom prst="ellipse">
            <a:avLst/>
          </a:prstGeom>
          <a:solidFill>
            <a:srgbClr val="D9674A">
              <a:alpha val="8000"/>
            </a:srgbClr>
          </a:solidFill>
          <a:ln w="12700">
            <a:solidFill>
              <a:srgbClr val="D9674A">
                <a:alpha val="0"/>
              </a:srgbClr>
            </a:solidFill>
            <a:prstDash val="solid"/>
          </a:ln>
        </p:spPr>
      </p:sp>
      <p:sp>
        <p:nvSpPr>
          <p:cNvPr id="4" name="Shape 2"/>
          <p:cNvSpPr/>
          <p:nvPr/>
        </p:nvSpPr>
        <p:spPr>
          <a:xfrm>
            <a:off x="10607040" y="914400"/>
            <a:ext cx="640080" cy="640080"/>
          </a:xfrm>
          <a:prstGeom prst="ellipse">
            <a:avLst/>
          </a:prstGeom>
          <a:solidFill>
            <a:srgbClr val="6D597A">
              <a:alpha val="20000"/>
            </a:srgbClr>
          </a:solidFill>
          <a:ln w="12700">
            <a:solidFill>
              <a:srgbClr val="6D597A">
                <a:alpha val="0"/>
              </a:srgbClr>
            </a:solidFill>
            <a:prstDash val="solid"/>
          </a:ln>
        </p:spPr>
      </p:sp>
      <p:sp>
        <p:nvSpPr>
          <p:cNvPr id="5" name="Shape 3"/>
          <p:cNvSpPr/>
          <p:nvPr/>
        </p:nvSpPr>
        <p:spPr>
          <a:xfrm>
            <a:off x="1463040" y="5669280"/>
            <a:ext cx="411480" cy="411480"/>
          </a:xfrm>
          <a:prstGeom prst="ellipse">
            <a:avLst/>
          </a:prstGeom>
          <a:solidFill>
            <a:srgbClr val="E9B44C">
              <a:alpha val="45000"/>
            </a:srgbClr>
          </a:solidFill>
          <a:ln w="12700">
            <a:solidFill>
              <a:srgbClr val="E9B44C">
                <a:alpha val="0"/>
              </a:srgbClr>
            </a:solidFill>
            <a:prstDash val="solid"/>
          </a:ln>
        </p:spPr>
      </p:sp>
      <p:sp>
        <p:nvSpPr>
          <p:cNvPr id="6" name="A01_z_489c"/>
          <p:cNvSpPr/>
          <p:nvPr/>
        </p:nvSpPr>
        <p:spPr>
          <a:xfrm>
            <a:off x="5596128" y="1097280"/>
            <a:ext cx="1005840" cy="1005840"/>
          </a:xfrm>
          <a:prstGeom prst="ellipse">
            <a:avLst/>
          </a:prstGeom>
          <a:solidFill>
            <a:srgbClr val="0F5257"/>
          </a:solidFill>
          <a:ln w="12700">
            <a:solidFill>
              <a:srgbClr val="0F5257"/>
            </a:solidFill>
            <a:prstDash val="solid"/>
          </a:ln>
        </p:spPr>
      </p:sp>
      <p:pic>
        <p:nvPicPr>
          <p:cNvPr id="7" name="A01_z_489i" descr="preencoded.png"/>
          <p:cNvPicPr>
            <a:picLocks noChangeAspect="1"/>
          </p:cNvPicPr>
          <p:nvPr/>
        </p:nvPicPr>
        <p:blipFill>
          <a:blip r:embed="rId3"/>
          <a:stretch>
            <a:fillRect/>
          </a:stretch>
        </p:blipFill>
        <p:spPr>
          <a:xfrm>
            <a:off x="5817413" y="1318565"/>
            <a:ext cx="563270" cy="563270"/>
          </a:xfrm>
          <a:prstGeom prst="rect">
            <a:avLst/>
          </a:prstGeom>
        </p:spPr>
      </p:pic>
      <p:sp>
        <p:nvSpPr>
          <p:cNvPr id="8" name="A02_z_490"/>
          <p:cNvSpPr txBox="1"/>
          <p:nvPr/>
        </p:nvSpPr>
        <p:spPr>
          <a:xfrm>
            <a:off x="1371600" y="2331720"/>
            <a:ext cx="9445752" cy="1097280"/>
          </a:xfrm>
          <a:prstGeom prst="rect">
            <a:avLst/>
          </a:prstGeom>
          <a:noFill/>
          <a:ln/>
        </p:spPr>
        <p:txBody>
          <a:bodyPr wrap="square" lIns="0" tIns="0" rIns="0" bIns="0" rtlCol="0" anchor="ctr"/>
          <a:lstStyle/>
          <a:p>
            <a:pPr marL="0" indent="0" algn="ctr" rtl="1">
              <a:buNone/>
            </a:pPr>
            <a:r>
              <a:rPr lang="fa-IR" altLang="en-US" sz="4800" b="1" dirty="0">
                <a:solidFill>
                  <a:srgbClr val="0F5257"/>
                </a:solidFill>
                <a:latin typeface="Tahoma" pitchFamily="34" charset="0"/>
                <a:ea typeface="Tahoma" pitchFamily="34" charset="-122"/>
                <a:cs typeface="Tahoma" pitchFamily="34" charset="-120"/>
              </a:rPr>
              <a:t>سپاس از توجه شما</a:t>
            </a:r>
            <a:endParaRPr lang="fa-IR" sz="4800" dirty="0"/>
          </a:p>
        </p:txBody>
      </p:sp>
      <p:sp>
        <p:nvSpPr>
          <p:cNvPr id="9" name="A03_f_491"/>
          <p:cNvSpPr txBox="1"/>
          <p:nvPr/>
        </p:nvSpPr>
        <p:spPr>
          <a:xfrm>
            <a:off x="1371600" y="3611880"/>
            <a:ext cx="9445752" cy="457200"/>
          </a:xfrm>
          <a:prstGeom prst="rect">
            <a:avLst/>
          </a:prstGeom>
          <a:noFill/>
          <a:ln/>
        </p:spPr>
        <p:txBody>
          <a:bodyPr wrap="square" lIns="0" tIns="0" rIns="0" bIns="0" rtlCol="0" anchor="t"/>
          <a:lstStyle/>
          <a:p>
            <a:pPr marL="0" indent="0" algn="ctr" rtl="1">
              <a:buNone/>
            </a:pPr>
            <a:r>
              <a:rPr lang="fa-IR" altLang="en-US" sz="1800" dirty="0">
                <a:solidFill>
                  <a:srgbClr val="263238"/>
                </a:solidFill>
                <a:latin typeface="Tahoma" pitchFamily="34" charset="0"/>
                <a:ea typeface="Tahoma" pitchFamily="34" charset="-122"/>
                <a:cs typeface="Tahoma" pitchFamily="34" charset="-120"/>
              </a:rPr>
              <a:t>با تشکر و قدردانی از استاد راهنمای گرامی، سرکار خانم دکتر فاطمه حسنی</a:t>
            </a:r>
            <a:endParaRPr lang="fa-IR" sz="1800" dirty="0"/>
          </a:p>
        </p:txBody>
      </p:sp>
      <p:sp>
        <p:nvSpPr>
          <p:cNvPr id="10" name="A03_f_492"/>
          <p:cNvSpPr txBox="1"/>
          <p:nvPr/>
        </p:nvSpPr>
        <p:spPr>
          <a:xfrm>
            <a:off x="1371600" y="4069080"/>
            <a:ext cx="9445752" cy="457200"/>
          </a:xfrm>
          <a:prstGeom prst="rect">
            <a:avLst/>
          </a:prstGeom>
          <a:noFill/>
          <a:ln/>
        </p:spPr>
        <p:txBody>
          <a:bodyPr wrap="square" lIns="0" tIns="0" rIns="0" bIns="0" rtlCol="0" anchor="t"/>
          <a:lstStyle/>
          <a:p>
            <a:pPr marL="0" indent="0" algn="ctr" rtl="1">
              <a:buNone/>
            </a:pPr>
            <a:r>
              <a:rPr lang="fa-IR" altLang="en-US" sz="1800" dirty="0">
                <a:solidFill>
                  <a:srgbClr val="263238"/>
                </a:solidFill>
                <a:latin typeface="Tahoma" pitchFamily="34" charset="0"/>
                <a:ea typeface="Tahoma" pitchFamily="34" charset="-122"/>
                <a:cs typeface="Tahoma" pitchFamily="34" charset="-120"/>
              </a:rPr>
              <a:t>و اساتید محترم داور و همه حاضران ارجمند</a:t>
            </a:r>
            <a:endParaRPr lang="fa-IR" sz="1800" dirty="0"/>
          </a:p>
        </p:txBody>
      </p:sp>
      <p:sp>
        <p:nvSpPr>
          <p:cNvPr id="11" name="A04_z_493b"/>
          <p:cNvSpPr/>
          <p:nvPr/>
        </p:nvSpPr>
        <p:spPr>
          <a:xfrm>
            <a:off x="3355848" y="4983480"/>
            <a:ext cx="5486400" cy="640080"/>
          </a:xfrm>
          <a:prstGeom prst="roundRect">
            <a:avLst>
              <a:gd name="adj" fmla="val 17143"/>
            </a:avLst>
          </a:prstGeom>
          <a:solidFill>
            <a:srgbClr val="E6F2F1"/>
          </a:solidFill>
          <a:ln w="12700">
            <a:solidFill>
              <a:srgbClr val="E6F2F1"/>
            </a:solidFill>
            <a:prstDash val="solid"/>
          </a:ln>
        </p:spPr>
      </p:sp>
      <p:sp>
        <p:nvSpPr>
          <p:cNvPr id="12" name="A04_z_494"/>
          <p:cNvSpPr txBox="1"/>
          <p:nvPr/>
        </p:nvSpPr>
        <p:spPr>
          <a:xfrm>
            <a:off x="3355848" y="4983480"/>
            <a:ext cx="5486400" cy="640080"/>
          </a:xfrm>
          <a:prstGeom prst="rect">
            <a:avLst/>
          </a:prstGeom>
          <a:noFill/>
          <a:ln/>
        </p:spPr>
        <p:txBody>
          <a:bodyPr wrap="square" lIns="0" tIns="0" rIns="0" bIns="0" rtlCol="0" anchor="ctr"/>
          <a:lstStyle/>
          <a:p>
            <a:pPr marL="0" indent="0" algn="ctr" rtl="1">
              <a:buNone/>
            </a:pPr>
            <a:r>
              <a:rPr lang="fa-IR" altLang="en-US" sz="1500" b="1" dirty="0">
                <a:solidFill>
                  <a:srgbClr val="0F5257"/>
                </a:solidFill>
                <a:latin typeface="Tahoma" pitchFamily="34" charset="0"/>
                <a:ea typeface="Tahoma" pitchFamily="34" charset="-122"/>
                <a:cs typeface="Tahoma" pitchFamily="34" charset="-120"/>
              </a:rPr>
              <a:t>آماده پاسخگویی به پرسش‌های شما هستم</a:t>
            </a:r>
            <a:endParaRPr lang="fa-IR" sz="15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450" fill="hold"/>
                                        <p:tgtEl>
                                          <p:spTgt spid="6"/>
                                        </p:tgtEl>
                                        <p:attrNameLst>
                                          <p:attrName>ppt_w</p:attrName>
                                        </p:attrNameLst>
                                      </p:cBhvr>
                                      <p:tavLst>
                                        <p:tav tm="0">
                                          <p:val>
                                            <p:fltVal val="0"/>
                                          </p:val>
                                        </p:tav>
                                        <p:tav tm="100000">
                                          <p:val>
                                            <p:strVal val="#ppt_w"/>
                                          </p:val>
                                        </p:tav>
                                      </p:tavLst>
                                    </p:anim>
                                    <p:anim calcmode="lin" valueType="num">
                                      <p:cBhvr>
                                        <p:cTn id="8" dur="450" fill="hold"/>
                                        <p:tgtEl>
                                          <p:spTgt spid="6"/>
                                        </p:tgtEl>
                                        <p:attrNameLst>
                                          <p:attrName>ppt_h</p:attrName>
                                        </p:attrNameLst>
                                      </p:cBhvr>
                                      <p:tavLst>
                                        <p:tav tm="0">
                                          <p:val>
                                            <p:fltVal val="0"/>
                                          </p:val>
                                        </p:tav>
                                        <p:tav tm="100000">
                                          <p:val>
                                            <p:strVal val="#ppt_h"/>
                                          </p:val>
                                        </p:tav>
                                      </p:tavLst>
                                    </p:anim>
                                    <p:animEffect transition="in" filter="fade">
                                      <p:cBhvr>
                                        <p:cTn id="9" dur="450"/>
                                        <p:tgtEl>
                                          <p:spTgt spid="6"/>
                                        </p:tgtEl>
                                      </p:cBhvr>
                                    </p:animEffect>
                                  </p:childTnLst>
                                </p:cTn>
                              </p:par>
                              <p:par>
                                <p:cTn id="10" presetID="53" presetClass="entr" presetSubtype="16"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450" fill="hold"/>
                                        <p:tgtEl>
                                          <p:spTgt spid="7"/>
                                        </p:tgtEl>
                                        <p:attrNameLst>
                                          <p:attrName>ppt_w</p:attrName>
                                        </p:attrNameLst>
                                      </p:cBhvr>
                                      <p:tavLst>
                                        <p:tav tm="0">
                                          <p:val>
                                            <p:fltVal val="0"/>
                                          </p:val>
                                        </p:tav>
                                        <p:tav tm="100000">
                                          <p:val>
                                            <p:strVal val="#ppt_w"/>
                                          </p:val>
                                        </p:tav>
                                      </p:tavLst>
                                    </p:anim>
                                    <p:anim calcmode="lin" valueType="num">
                                      <p:cBhvr>
                                        <p:cTn id="13" dur="450" fill="hold"/>
                                        <p:tgtEl>
                                          <p:spTgt spid="7"/>
                                        </p:tgtEl>
                                        <p:attrNameLst>
                                          <p:attrName>ppt_h</p:attrName>
                                        </p:attrNameLst>
                                      </p:cBhvr>
                                      <p:tavLst>
                                        <p:tav tm="0">
                                          <p:val>
                                            <p:fltVal val="0"/>
                                          </p:val>
                                        </p:tav>
                                        <p:tav tm="100000">
                                          <p:val>
                                            <p:strVal val="#ppt_h"/>
                                          </p:val>
                                        </p:tav>
                                      </p:tavLst>
                                    </p:anim>
                                    <p:animEffect transition="in" filter="fade">
                                      <p:cBhvr>
                                        <p:cTn id="14" dur="450"/>
                                        <p:tgtEl>
                                          <p:spTgt spid="7"/>
                                        </p:tgtEl>
                                      </p:cBhvr>
                                    </p:animEffect>
                                  </p:childTnLst>
                                </p:cTn>
                              </p:par>
                            </p:childTnLst>
                          </p:cTn>
                        </p:par>
                        <p:par>
                          <p:cTn id="15" fill="hold">
                            <p:stCondLst>
                              <p:cond delay="300"/>
                            </p:stCondLst>
                            <p:childTnLst>
                              <p:par>
                                <p:cTn id="16" presetID="53" presetClass="entr" presetSubtype="16"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450" fill="hold"/>
                                        <p:tgtEl>
                                          <p:spTgt spid="8"/>
                                        </p:tgtEl>
                                        <p:attrNameLst>
                                          <p:attrName>ppt_w</p:attrName>
                                        </p:attrNameLst>
                                      </p:cBhvr>
                                      <p:tavLst>
                                        <p:tav tm="0">
                                          <p:val>
                                            <p:fltVal val="0"/>
                                          </p:val>
                                        </p:tav>
                                        <p:tav tm="100000">
                                          <p:val>
                                            <p:strVal val="#ppt_w"/>
                                          </p:val>
                                        </p:tav>
                                      </p:tavLst>
                                    </p:anim>
                                    <p:anim calcmode="lin" valueType="num">
                                      <p:cBhvr>
                                        <p:cTn id="19" dur="450" fill="hold"/>
                                        <p:tgtEl>
                                          <p:spTgt spid="8"/>
                                        </p:tgtEl>
                                        <p:attrNameLst>
                                          <p:attrName>ppt_h</p:attrName>
                                        </p:attrNameLst>
                                      </p:cBhvr>
                                      <p:tavLst>
                                        <p:tav tm="0">
                                          <p:val>
                                            <p:fltVal val="0"/>
                                          </p:val>
                                        </p:tav>
                                        <p:tav tm="100000">
                                          <p:val>
                                            <p:strVal val="#ppt_h"/>
                                          </p:val>
                                        </p:tav>
                                      </p:tavLst>
                                    </p:anim>
                                    <p:animEffect transition="in" filter="fade">
                                      <p:cBhvr>
                                        <p:cTn id="20" dur="450"/>
                                        <p:tgtEl>
                                          <p:spTgt spid="8"/>
                                        </p:tgtEl>
                                      </p:cBhvr>
                                    </p:animEffect>
                                  </p:childTnLst>
                                </p:cTn>
                              </p:par>
                            </p:childTnLst>
                          </p:cTn>
                        </p:par>
                        <p:par>
                          <p:cTn id="21" fill="hold">
                            <p:stCondLst>
                              <p:cond delay="600"/>
                            </p:stCondLst>
                            <p:childTnLst>
                              <p:par>
                                <p:cTn id="22" presetID="10"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childTnLst>
                          </p:cTn>
                        </p:par>
                        <p:par>
                          <p:cTn id="28" fill="hold">
                            <p:stCondLst>
                              <p:cond delay="900"/>
                            </p:stCondLst>
                            <p:childTnLst>
                              <p:par>
                                <p:cTn id="29" presetID="53" presetClass="entr" presetSubtype="16"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450" fill="hold"/>
                                        <p:tgtEl>
                                          <p:spTgt spid="11"/>
                                        </p:tgtEl>
                                        <p:attrNameLst>
                                          <p:attrName>ppt_w</p:attrName>
                                        </p:attrNameLst>
                                      </p:cBhvr>
                                      <p:tavLst>
                                        <p:tav tm="0">
                                          <p:val>
                                            <p:fltVal val="0"/>
                                          </p:val>
                                        </p:tav>
                                        <p:tav tm="100000">
                                          <p:val>
                                            <p:strVal val="#ppt_w"/>
                                          </p:val>
                                        </p:tav>
                                      </p:tavLst>
                                    </p:anim>
                                    <p:anim calcmode="lin" valueType="num">
                                      <p:cBhvr>
                                        <p:cTn id="32" dur="450" fill="hold"/>
                                        <p:tgtEl>
                                          <p:spTgt spid="11"/>
                                        </p:tgtEl>
                                        <p:attrNameLst>
                                          <p:attrName>ppt_h</p:attrName>
                                        </p:attrNameLst>
                                      </p:cBhvr>
                                      <p:tavLst>
                                        <p:tav tm="0">
                                          <p:val>
                                            <p:fltVal val="0"/>
                                          </p:val>
                                        </p:tav>
                                        <p:tav tm="100000">
                                          <p:val>
                                            <p:strVal val="#ppt_h"/>
                                          </p:val>
                                        </p:tav>
                                      </p:tavLst>
                                    </p:anim>
                                    <p:animEffect transition="in" filter="fade">
                                      <p:cBhvr>
                                        <p:cTn id="33" dur="450"/>
                                        <p:tgtEl>
                                          <p:spTgt spid="11"/>
                                        </p:tgtEl>
                                      </p:cBhvr>
                                    </p:animEffect>
                                  </p:childTnLst>
                                </p:cTn>
                              </p:par>
                              <p:par>
                                <p:cTn id="34" presetID="53" presetClass="entr" presetSubtype="16"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450" fill="hold"/>
                                        <p:tgtEl>
                                          <p:spTgt spid="12"/>
                                        </p:tgtEl>
                                        <p:attrNameLst>
                                          <p:attrName>ppt_w</p:attrName>
                                        </p:attrNameLst>
                                      </p:cBhvr>
                                      <p:tavLst>
                                        <p:tav tm="0">
                                          <p:val>
                                            <p:fltVal val="0"/>
                                          </p:val>
                                        </p:tav>
                                        <p:tav tm="100000">
                                          <p:val>
                                            <p:strVal val="#ppt_w"/>
                                          </p:val>
                                        </p:tav>
                                      </p:tavLst>
                                    </p:anim>
                                    <p:anim calcmode="lin" valueType="num">
                                      <p:cBhvr>
                                        <p:cTn id="37" dur="450" fill="hold"/>
                                        <p:tgtEl>
                                          <p:spTgt spid="12"/>
                                        </p:tgtEl>
                                        <p:attrNameLst>
                                          <p:attrName>ppt_h</p:attrName>
                                        </p:attrNameLst>
                                      </p:cBhvr>
                                      <p:tavLst>
                                        <p:tav tm="0">
                                          <p:val>
                                            <p:fltVal val="0"/>
                                          </p:val>
                                        </p:tav>
                                        <p:tav tm="100000">
                                          <p:val>
                                            <p:strVal val="#ppt_h"/>
                                          </p:val>
                                        </p:tav>
                                      </p:tavLst>
                                    </p:anim>
                                    <p:animEffect transition="in" filter="fade">
                                      <p:cBhvr>
                                        <p:cTn id="38"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3190</Words>
  <Application>Microsoft Office PowerPoint</Application>
  <PresentationFormat>Widescreen</PresentationFormat>
  <Paragraphs>550</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B Koodak</vt:lpstr>
      <vt:lpstr>Tahoma</vt:lpstr>
      <vt:lpstr>Vazir Black</vt:lpstr>
      <vt:lpstr>Vazir FD-WOL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دفاع از پایان‌نامه - پریسا باقری</dc:title>
  <dc:subject>PptxGenJS Presentation</dc:subject>
  <dc:creator>پریسا باقری</dc:creator>
  <cp:lastModifiedBy>Rashid Bagheri</cp:lastModifiedBy>
  <cp:revision>18</cp:revision>
  <dcterms:created xsi:type="dcterms:W3CDTF">2026-10-13T20:50:45Z</dcterms:created>
  <dcterms:modified xsi:type="dcterms:W3CDTF">2026-10-13T21:32:52Z</dcterms:modified>
</cp:coreProperties>
</file>